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13afbafdb54362" /><Relationship Type="http://schemas.openxmlformats.org/officeDocument/2006/relationships/extended-properties" Target="/docProps/app.xml" Id="R2ecfc78aa3ea4e41" /><Relationship Type="http://schemas.openxmlformats.org/officeDocument/2006/relationships/officeDocument" Target="/ppt/presentation.xml" Id="R092ad1fddf1c413f" /></Relationships>
</file>

<file path=ppt/presentation.xml><?xml version="1.0" encoding="utf-8"?>
<p:presentation xmlns:p="http://schemas.openxmlformats.org/presentationml/2006/main">
  <p:sldMasterIdLst>
    <p:sldMasterId xmlns:r="http://schemas.openxmlformats.org/officeDocument/2006/relationships" id="2147483648" r:id="R949d16e1f2864dc4"/>
  </p:sldMasterIdLst>
  <p:notesMasterIdLst>
    <p:notesMasterId xmlns:r="http://schemas.openxmlformats.org/officeDocument/2006/relationships" r:id="R78e84baed97245b1"/>
  </p:notesMasterIdLst>
  <p:sldIdLst>
    <p:sldId xmlns:r="http://schemas.openxmlformats.org/officeDocument/2006/relationships" id="256" r:id="Rd09c3c662b2b473c"/>
    <p:sldId xmlns:r="http://schemas.openxmlformats.org/officeDocument/2006/relationships" id="257" r:id="R1bcc3b83160649e2"/>
    <p:sldId xmlns:r="http://schemas.openxmlformats.org/officeDocument/2006/relationships" id="258" r:id="Re4f52944a0304e87"/>
    <p:sldId xmlns:r="http://schemas.openxmlformats.org/officeDocument/2006/relationships" id="259" r:id="R0c3ff49b7db64a2c"/>
    <p:sldId xmlns:r="http://schemas.openxmlformats.org/officeDocument/2006/relationships" id="260" r:id="Rb0409e1ed82e4ee5"/>
    <p:sldId xmlns:r="http://schemas.openxmlformats.org/officeDocument/2006/relationships" id="261" r:id="R3ae3cbc922cf469f"/>
    <p:sldId xmlns:r="http://schemas.openxmlformats.org/officeDocument/2006/relationships" id="262" r:id="Red464f77b5ca4634"/>
    <p:sldId xmlns:r="http://schemas.openxmlformats.org/officeDocument/2006/relationships" id="263" r:id="Rf4df35fb2f0047eb"/>
    <p:sldId xmlns:r="http://schemas.openxmlformats.org/officeDocument/2006/relationships" id="264" r:id="R805a3c45b8904e31"/>
    <p:sldId xmlns:r="http://schemas.openxmlformats.org/officeDocument/2006/relationships" id="265" r:id="R406c99a6a702402a"/>
    <p:sldId xmlns:r="http://schemas.openxmlformats.org/officeDocument/2006/relationships" id="266" r:id="Rdfb39ae0028d4457"/>
    <p:sldId xmlns:r="http://schemas.openxmlformats.org/officeDocument/2006/relationships" id="267" r:id="Rf7cc6e1497094323"/>
    <p:sldId xmlns:r="http://schemas.openxmlformats.org/officeDocument/2006/relationships" id="268" r:id="R514baeab33fa413d"/>
    <p:sldId xmlns:r="http://schemas.openxmlformats.org/officeDocument/2006/relationships" id="269" r:id="Rf82138d3f6ca47bf"/>
    <p:sldId xmlns:r="http://schemas.openxmlformats.org/officeDocument/2006/relationships" id="270" r:id="Reb1fa8abf928483f"/>
    <p:sldId xmlns:r="http://schemas.openxmlformats.org/officeDocument/2006/relationships" id="271" r:id="R17be18798f114492"/>
    <p:sldId xmlns:r="http://schemas.openxmlformats.org/officeDocument/2006/relationships" id="272" r:id="R45043809c0b84efb"/>
    <p:sldId xmlns:r="http://schemas.openxmlformats.org/officeDocument/2006/relationships" id="273" r:id="Rb044a6b7a84d461e"/>
    <p:sldId xmlns:r="http://schemas.openxmlformats.org/officeDocument/2006/relationships" id="274" r:id="R12cb367bf5fd4600"/>
    <p:sldId xmlns:r="http://schemas.openxmlformats.org/officeDocument/2006/relationships" id="275" r:id="Rd5610c7d36d84d6d"/>
    <p:sldId xmlns:r="http://schemas.openxmlformats.org/officeDocument/2006/relationships" id="276" r:id="Rccef4e0098e34c83"/>
    <p:sldId xmlns:r="http://schemas.openxmlformats.org/officeDocument/2006/relationships" id="277" r:id="Red0678d0673544fe"/>
    <p:sldId xmlns:r="http://schemas.openxmlformats.org/officeDocument/2006/relationships" id="278" r:id="Re5adf4cbf1c048db"/>
    <p:sldId xmlns:r="http://schemas.openxmlformats.org/officeDocument/2006/relationships" id="279" r:id="Rbef2330a9fd14a92"/>
    <p:sldId xmlns:r="http://schemas.openxmlformats.org/officeDocument/2006/relationships" id="280" r:id="R6669fcf111064a89"/>
    <p:sldId xmlns:r="http://schemas.openxmlformats.org/officeDocument/2006/relationships" id="281" r:id="R91ea3a3e6fcb47c7"/>
    <p:sldId xmlns:r="http://schemas.openxmlformats.org/officeDocument/2006/relationships" id="282" r:id="Rb4b774cf2e1b4df5"/>
    <p:sldId xmlns:r="http://schemas.openxmlformats.org/officeDocument/2006/relationships" id="283" r:id="Rd8dd7720dfb74b0d"/>
    <p:sldId xmlns:r="http://schemas.openxmlformats.org/officeDocument/2006/relationships" id="284" r:id="R8d3051ee88dc49bc"/>
    <p:sldId xmlns:r="http://schemas.openxmlformats.org/officeDocument/2006/relationships" id="285" r:id="R09f1cad446574375"/>
    <p:sldId xmlns:r="http://schemas.openxmlformats.org/officeDocument/2006/relationships" id="286" r:id="R0b67f61098d5487f"/>
    <p:sldId xmlns:r="http://schemas.openxmlformats.org/officeDocument/2006/relationships" id="287" r:id="R4e202c4a89bb4f8e"/>
    <p:sldId xmlns:r="http://schemas.openxmlformats.org/officeDocument/2006/relationships" id="288" r:id="Rb9ac560b6bc64e0c"/>
    <p:sldId xmlns:r="http://schemas.openxmlformats.org/officeDocument/2006/relationships" id="289" r:id="Rb913c6ad98654692"/>
    <p:sldId xmlns:r="http://schemas.openxmlformats.org/officeDocument/2006/relationships" id="290" r:id="R53daba97cd2945bf"/>
    <p:sldId xmlns:r="http://schemas.openxmlformats.org/officeDocument/2006/relationships" id="291" r:id="Rca418d21f3964ac2"/>
    <p:sldId xmlns:r="http://schemas.openxmlformats.org/officeDocument/2006/relationships" id="292" r:id="R044ff4524f224a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bc27c749b64ee4" /><Relationship Type="http://schemas.openxmlformats.org/officeDocument/2006/relationships/slideMaster" Target="/ppt/slideMasters/slideMaster1.xml" Id="R949d16e1f2864dc4" /><Relationship Type="http://schemas.openxmlformats.org/officeDocument/2006/relationships/notesMaster" Target="/ppt/notesMasters/notesMaster1.xml" Id="R78e84baed97245b1" /><Relationship Type="http://schemas.openxmlformats.org/officeDocument/2006/relationships/presProps" Target="/ppt/presProps.xml" Id="R36e5f63822e24689" /><Relationship Type="http://schemas.openxmlformats.org/officeDocument/2006/relationships/tableStyles" Target="/ppt/tableStyles.xml" Id="R27215c0790224a9c" /><Relationship Type="http://schemas.openxmlformats.org/officeDocument/2006/relationships/slide" Target="/ppt/slides/slide1.xml" Id="Rd09c3c662b2b473c" /><Relationship Type="http://schemas.openxmlformats.org/officeDocument/2006/relationships/slide" Target="/ppt/slides/slide2.xml" Id="R1bcc3b83160649e2" /><Relationship Type="http://schemas.openxmlformats.org/officeDocument/2006/relationships/slide" Target="/ppt/slides/slide3.xml" Id="Re4f52944a0304e87" /><Relationship Type="http://schemas.openxmlformats.org/officeDocument/2006/relationships/slide" Target="/ppt/slides/slide4.xml" Id="R0c3ff49b7db64a2c" /><Relationship Type="http://schemas.openxmlformats.org/officeDocument/2006/relationships/slide" Target="/ppt/slides/slide5.xml" Id="Rb0409e1ed82e4ee5" /><Relationship Type="http://schemas.openxmlformats.org/officeDocument/2006/relationships/slide" Target="/ppt/slides/slide6.xml" Id="R3ae3cbc922cf469f" /><Relationship Type="http://schemas.openxmlformats.org/officeDocument/2006/relationships/slide" Target="/ppt/slides/slide7.xml" Id="Red464f77b5ca4634" /><Relationship Type="http://schemas.openxmlformats.org/officeDocument/2006/relationships/slide" Target="/ppt/slides/slide8.xml" Id="Rf4df35fb2f0047eb" /><Relationship Type="http://schemas.openxmlformats.org/officeDocument/2006/relationships/slide" Target="/ppt/slides/slide9.xml" Id="R805a3c45b8904e31" /><Relationship Type="http://schemas.openxmlformats.org/officeDocument/2006/relationships/slide" Target="/ppt/slides/slide10.xml" Id="R406c99a6a702402a" /><Relationship Type="http://schemas.openxmlformats.org/officeDocument/2006/relationships/slide" Target="/ppt/slides/slide11.xml" Id="Rdfb39ae0028d4457" /><Relationship Type="http://schemas.openxmlformats.org/officeDocument/2006/relationships/slide" Target="/ppt/slides/slide12.xml" Id="Rf7cc6e1497094323" /><Relationship Type="http://schemas.openxmlformats.org/officeDocument/2006/relationships/slide" Target="/ppt/slides/slide13.xml" Id="R514baeab33fa413d" /><Relationship Type="http://schemas.openxmlformats.org/officeDocument/2006/relationships/slide" Target="/ppt/slides/slide14.xml" Id="Rf82138d3f6ca47bf" /><Relationship Type="http://schemas.openxmlformats.org/officeDocument/2006/relationships/slide" Target="/ppt/slides/slide15.xml" Id="Reb1fa8abf928483f" /><Relationship Type="http://schemas.openxmlformats.org/officeDocument/2006/relationships/slide" Target="/ppt/slides/slide16.xml" Id="R17be18798f114492" /><Relationship Type="http://schemas.openxmlformats.org/officeDocument/2006/relationships/slide" Target="/ppt/slides/slide17.xml" Id="R45043809c0b84efb" /><Relationship Type="http://schemas.openxmlformats.org/officeDocument/2006/relationships/slide" Target="/ppt/slides/slide18.xml" Id="Rb044a6b7a84d461e" /><Relationship Type="http://schemas.openxmlformats.org/officeDocument/2006/relationships/slide" Target="/ppt/slides/slide19.xml" Id="R12cb367bf5fd4600" /><Relationship Type="http://schemas.openxmlformats.org/officeDocument/2006/relationships/slide" Target="/ppt/slides/slide20.xml" Id="Rd5610c7d36d84d6d" /><Relationship Type="http://schemas.openxmlformats.org/officeDocument/2006/relationships/slide" Target="/ppt/slides/slide21.xml" Id="Rccef4e0098e34c83" /><Relationship Type="http://schemas.openxmlformats.org/officeDocument/2006/relationships/slide" Target="/ppt/slides/slide22.xml" Id="Red0678d0673544fe" /><Relationship Type="http://schemas.openxmlformats.org/officeDocument/2006/relationships/slide" Target="/ppt/slides/slide23.xml" Id="Re5adf4cbf1c048db" /><Relationship Type="http://schemas.openxmlformats.org/officeDocument/2006/relationships/slide" Target="/ppt/slides/slide24.xml" Id="Rbef2330a9fd14a92" /><Relationship Type="http://schemas.openxmlformats.org/officeDocument/2006/relationships/slide" Target="/ppt/slides/slide25.xml" Id="R6669fcf111064a89" /><Relationship Type="http://schemas.openxmlformats.org/officeDocument/2006/relationships/slide" Target="/ppt/slides/slide26.xml" Id="R91ea3a3e6fcb47c7" /><Relationship Type="http://schemas.openxmlformats.org/officeDocument/2006/relationships/slide" Target="/ppt/slides/slide27.xml" Id="Rb4b774cf2e1b4df5" /><Relationship Type="http://schemas.openxmlformats.org/officeDocument/2006/relationships/slide" Target="/ppt/slides/slide28.xml" Id="Rd8dd7720dfb74b0d" /><Relationship Type="http://schemas.openxmlformats.org/officeDocument/2006/relationships/slide" Target="/ppt/slides/slide29.xml" Id="R8d3051ee88dc49bc" /><Relationship Type="http://schemas.openxmlformats.org/officeDocument/2006/relationships/slide" Target="/ppt/slides/slide30.xml" Id="R09f1cad446574375" /><Relationship Type="http://schemas.openxmlformats.org/officeDocument/2006/relationships/slide" Target="/ppt/slides/slide31.xml" Id="R0b67f61098d5487f" /><Relationship Type="http://schemas.openxmlformats.org/officeDocument/2006/relationships/slide" Target="/ppt/slides/slide32.xml" Id="R4e202c4a89bb4f8e" /><Relationship Type="http://schemas.openxmlformats.org/officeDocument/2006/relationships/slide" Target="/ppt/slides/slide33.xml" Id="Rb9ac560b6bc64e0c" /><Relationship Type="http://schemas.openxmlformats.org/officeDocument/2006/relationships/slide" Target="/ppt/slides/slide34.xml" Id="Rb913c6ad98654692" /><Relationship Type="http://schemas.openxmlformats.org/officeDocument/2006/relationships/slide" Target="/ppt/slides/slide35.xml" Id="R53daba97cd2945bf" /><Relationship Type="http://schemas.openxmlformats.org/officeDocument/2006/relationships/slide" Target="/ppt/slides/slide36.xml" Id="Rca418d21f3964ac2" /><Relationship Type="http://schemas.openxmlformats.org/officeDocument/2006/relationships/slide" Target="/ppt/slides/slide37.xml" Id="R044ff4524f224a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a7be50a9fb4a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679b72aae54225" /><Relationship Type="http://schemas.openxmlformats.org/officeDocument/2006/relationships/notesMaster" Target="/ppt/notesMasters/notesMaster1.xml" Id="R12de36c982b946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636550b8d24509" /><Relationship Type="http://schemas.openxmlformats.org/officeDocument/2006/relationships/notesMaster" Target="/ppt/notesMasters/notesMaster1.xml" Id="R7a23102e79bb42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f918ba6bd0434b" /><Relationship Type="http://schemas.openxmlformats.org/officeDocument/2006/relationships/notesMaster" Target="/ppt/notesMasters/notesMaster1.xml" Id="R3282036fea6a4b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2f90c7e63d4b47" /><Relationship Type="http://schemas.openxmlformats.org/officeDocument/2006/relationships/notesMaster" Target="/ppt/notesMasters/notesMaster1.xml" Id="Raf36e1090a9841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ae349ca9eb494b" /><Relationship Type="http://schemas.openxmlformats.org/officeDocument/2006/relationships/notesMaster" Target="/ppt/notesMasters/notesMaster1.xml" Id="Ra744eeb68f4841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b1d30bfc894425" /><Relationship Type="http://schemas.openxmlformats.org/officeDocument/2006/relationships/notesMaster" Target="/ppt/notesMasters/notesMaster1.xml" Id="R068d48415b6e4b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c65ee3473049af" /><Relationship Type="http://schemas.openxmlformats.org/officeDocument/2006/relationships/notesMaster" Target="/ppt/notesMasters/notesMaster1.xml" Id="R469ccd6ef1a04b1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f8e5d4d5254ae4" /><Relationship Type="http://schemas.openxmlformats.org/officeDocument/2006/relationships/notesMaster" Target="/ppt/notesMasters/notesMaster1.xml" Id="R3c4cdb8aee9542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9b30280c5a4f8d" /><Relationship Type="http://schemas.openxmlformats.org/officeDocument/2006/relationships/notesMaster" Target="/ppt/notesMasters/notesMaster1.xml" Id="R290e3423661a43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6dc129565a4973" /><Relationship Type="http://schemas.openxmlformats.org/officeDocument/2006/relationships/notesMaster" Target="/ppt/notesMasters/notesMaster1.xml" Id="R53da211402334a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7aaa959c7e94bac" /><Relationship Type="http://schemas.openxmlformats.org/officeDocument/2006/relationships/notesMaster" Target="/ppt/notesMasters/notesMaster1.xml" Id="Rc712ecab866947b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2a2b1b1c434eec" /><Relationship Type="http://schemas.openxmlformats.org/officeDocument/2006/relationships/notesMaster" Target="/ppt/notesMasters/notesMaster1.xml" Id="R3c0f9094f2f34f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7420456a7b4c16" /><Relationship Type="http://schemas.openxmlformats.org/officeDocument/2006/relationships/notesMaster" Target="/ppt/notesMasters/notesMaster1.xml" Id="R6abeb6a364d846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9a88821af544a8" /><Relationship Type="http://schemas.openxmlformats.org/officeDocument/2006/relationships/notesMaster" Target="/ppt/notesMasters/notesMaster1.xml" Id="R19d4aa3c668b40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2da6e13b47944d1" /><Relationship Type="http://schemas.openxmlformats.org/officeDocument/2006/relationships/notesMaster" Target="/ppt/notesMasters/notesMaster1.xml" Id="R6c07924cd55c44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d744fd90be64abb" /><Relationship Type="http://schemas.openxmlformats.org/officeDocument/2006/relationships/notesMaster" Target="/ppt/notesMasters/notesMaster1.xml" Id="R0a3c6ca8ffc04a0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267f6e355e43d0" /><Relationship Type="http://schemas.openxmlformats.org/officeDocument/2006/relationships/notesMaster" Target="/ppt/notesMasters/notesMaster1.xml" Id="R328b8adde66c40f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2daa612e274b2e" /><Relationship Type="http://schemas.openxmlformats.org/officeDocument/2006/relationships/notesMaster" Target="/ppt/notesMasters/notesMaster1.xml" Id="R4d72560726e84a1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b86badb97924656" /><Relationship Type="http://schemas.openxmlformats.org/officeDocument/2006/relationships/notesMaster" Target="/ppt/notesMasters/notesMaster1.xml" Id="R65cca1fd777a4b7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2179898addc4182" /><Relationship Type="http://schemas.openxmlformats.org/officeDocument/2006/relationships/notesMaster" Target="/ppt/notesMasters/notesMaster1.xml" Id="Reb5880b45a0c44b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c61b2c322154324" /><Relationship Type="http://schemas.openxmlformats.org/officeDocument/2006/relationships/notesMaster" Target="/ppt/notesMasters/notesMaster1.xml" Id="R586714af41cd436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001b7e3e4c44a7" /><Relationship Type="http://schemas.openxmlformats.org/officeDocument/2006/relationships/notesMaster" Target="/ppt/notesMasters/notesMaster1.xml" Id="R84fb44e40c5943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290e82c3ec34633" /><Relationship Type="http://schemas.openxmlformats.org/officeDocument/2006/relationships/notesMaster" Target="/ppt/notesMasters/notesMaster1.xml" Id="R200754427e2441b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3754714582e48e1" /><Relationship Type="http://schemas.openxmlformats.org/officeDocument/2006/relationships/notesMaster" Target="/ppt/notesMasters/notesMaster1.xml" Id="R27cd54d548a443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67b38ba921940c4" /><Relationship Type="http://schemas.openxmlformats.org/officeDocument/2006/relationships/notesMaster" Target="/ppt/notesMasters/notesMaster1.xml" Id="R4e41cbb3bc6b45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7f7e9e1d23f4d30" /><Relationship Type="http://schemas.openxmlformats.org/officeDocument/2006/relationships/notesMaster" Target="/ppt/notesMasters/notesMaster1.xml" Id="R84a655b8b6f6457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ebe0cd0d6154cb7" /><Relationship Type="http://schemas.openxmlformats.org/officeDocument/2006/relationships/notesMaster" Target="/ppt/notesMasters/notesMaster1.xml" Id="Rcd25ee48467c4d6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103027d05ed496b" /><Relationship Type="http://schemas.openxmlformats.org/officeDocument/2006/relationships/notesMaster" Target="/ppt/notesMasters/notesMaster1.xml" Id="R54cea7982f13423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391d3df2eab4d52" /><Relationship Type="http://schemas.openxmlformats.org/officeDocument/2006/relationships/notesMaster" Target="/ppt/notesMasters/notesMaster1.xml" Id="R6eb76489a4484d8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5a0946065354a6e" /><Relationship Type="http://schemas.openxmlformats.org/officeDocument/2006/relationships/notesMaster" Target="/ppt/notesMasters/notesMaster1.xml" Id="Rd01e863feec94ca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54c99750e6345ce" /><Relationship Type="http://schemas.openxmlformats.org/officeDocument/2006/relationships/notesMaster" Target="/ppt/notesMasters/notesMaster1.xml" Id="R9480e6e0ef37441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469f4e60bf5436b" /><Relationship Type="http://schemas.openxmlformats.org/officeDocument/2006/relationships/notesMaster" Target="/ppt/notesMasters/notesMaster1.xml" Id="Rb9fd617a4338447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d568ea9a07b43e4" /><Relationship Type="http://schemas.openxmlformats.org/officeDocument/2006/relationships/notesMaster" Target="/ppt/notesMasters/notesMaster1.xml" Id="R1448eba6a8cb42f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562e95286934471" /><Relationship Type="http://schemas.openxmlformats.org/officeDocument/2006/relationships/notesMaster" Target="/ppt/notesMasters/notesMaster1.xml" Id="R5b1403c1a03e409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00764609c38408d" /><Relationship Type="http://schemas.openxmlformats.org/officeDocument/2006/relationships/notesMaster" Target="/ppt/notesMasters/notesMaster1.xml" Id="R49ef1ba8820a4f3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a75a15c8f7148cf" /><Relationship Type="http://schemas.openxmlformats.org/officeDocument/2006/relationships/notesMaster" Target="/ppt/notesMasters/notesMaster1.xml" Id="R3ff65c9590df4a3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58fbd7a7025441c" /><Relationship Type="http://schemas.openxmlformats.org/officeDocument/2006/relationships/notesMaster" Target="/ppt/notesMasters/notesMaster1.xml" Id="Rf8fe50fb1d124a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Frame DETR as a change in the output representation, not merely a Transformer added to a detector.</a:t>
            </a:r>
          </a:p>
          <a:p xmlns:a="http://schemas.openxmlformats.org/drawingml/2006/main">
            <a:r>
              <a:t/>
            </a:r>
          </a:p>
          <a:p xmlns:a="http://schemas.openxmlformats.org/drawingml/2006/main">
            <a:r>
              <a:t>Suggested spoken explanation: Traditional detectors create many candidate boxes and clean them up. DETR asks a fixed set of learned slots to produce one unordered set. We will make every step concrete with the same five-query example.</a:t>
            </a:r>
          </a:p>
          <a:p xmlns:a="http://schemas.openxmlformats.org/drawingml/2006/main">
            <a:r>
              <a:t/>
            </a:r>
          </a:p>
          <a:p xmlns:a="http://schemas.openxmlformats.org/drawingml/2006/main">
            <a:r>
              <a:t>Important technical caveat: Original DETR is a CNN–Transformer detector, not a pure Vision Transformer, and end-to-end does not mean literally zero post-processing.</a:t>
            </a:r>
          </a:p>
          <a:p xmlns:a="http://schemas.openxmlformats.org/drawingml/2006/main">
            <a:r>
              <a:t/>
            </a:r>
          </a:p>
          <a:p xmlns:a="http://schemas.openxmlformats.org/drawingml/2006/main">
            <a:r>
              <a:t>Transition: First, see the duplicate-box problem that motivates the set formulation.</a:t>
            </a:r>
          </a:p>
          <a:p xmlns:a="http://schemas.openxmlformats.org/drawingml/2006/main">
            <a:r>
              <a:t/>
            </a:r>
          </a:p>
          <a:p xmlns:a="http://schemas.openxmlformats.org/drawingml/2006/main">
            <a:r>
              <a:t>Estimated time: 1.5 minutes</a:t>
            </a:r>
          </a:p>
          <a:p xmlns:a="http://schemas.openxmlformats.org/drawingml/2006/main">
            <a:r>
              <a:t/>
            </a:r>
          </a:p>
          <a:p xmlns:a="http://schemas.openxmlformats.org/drawingml/2006/main">
            <a:r>
              <a:t>[Sources]</a:t>
            </a:r>
          </a:p>
          <a:p xmlns:a="http://schemas.openxmlformats.org/drawingml/2006/main">
            <a:r>
              <a:t>- Carion et al., “End-to-End Object Detection with Transformers,” Abstract and Fig. 1–2: https://arxiv.org/abs/2005.12872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Motivate set prediction through a visible duplicate-removal problem.</a:t>
            </a:r>
          </a:p>
          <a:p xmlns:a="http://schemas.openxmlformats.org/drawingml/2006/main">
            <a:r>
              <a:t/>
            </a:r>
          </a:p>
          <a:p xmlns:a="http://schemas.openxmlformats.org/drawingml/2006/main">
            <a:r>
              <a:t>Suggested spoken explanation: Dense detectors intentionally predict many overlapping candidates. NMS then keeps the highest score and suppresses neighbors. DETR tries to learn a representation where only one slot owns each real object.</a:t>
            </a:r>
          </a:p>
          <a:p xmlns:a="http://schemas.openxmlformats.org/drawingml/2006/main">
            <a:r>
              <a:t/>
            </a:r>
          </a:p>
          <a:p xmlns:a="http://schemas.openxmlformats.org/drawingml/2006/main">
            <a:r>
              <a:t>Important technical caveat: Older detectors are not merely heuristics; their backbones and heads are learned. Modern detector families vary, so this is a conceptual contrast.</a:t>
            </a:r>
          </a:p>
          <a:p xmlns:a="http://schemas.openxmlformats.org/drawingml/2006/main">
            <a:r>
              <a:t/>
            </a:r>
          </a:p>
          <a:p xmlns:a="http://schemas.openxmlformats.org/drawingml/2006/main">
            <a:r>
              <a:t>Transition: What does the pipeline look like when the output itself is a set?</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[Sources]</a:t>
            </a:r>
          </a:p>
          <a:p xmlns:a="http://schemas.openxmlformats.org/drawingml/2006/main">
            <a:r>
              <a:t>- Carion et al., Fig. 1 and §1: https://arxiv.org/abs/2005.12872</a:t>
            </a:r>
          </a:p>
          <a:p xmlns:a="http://schemas.openxmlformats.org/drawingml/2006/main">
            <a:r>
              <a:t>- Original teaching image created for this deck; no external visual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Contrast candidate engineering with direct set prediction.</a:t>
            </a:r>
          </a:p>
          <a:p xmlns:a="http://schemas.openxmlformats.org/drawingml/2006/main">
            <a:r>
              <a:t/>
            </a:r>
          </a:p>
          <a:p xmlns:a="http://schemas.openxmlformats.org/drawingml/2006/main">
            <a:r>
              <a:t>Suggested spoken explanation: The output is a fixed-size collection of slots, while the real-object subset is variable. Because the ground truth is an unordered set, training needs a loss that is invariant to annotation order.</a:t>
            </a:r>
          </a:p>
          <a:p xmlns:a="http://schemas.openxmlformats.org/drawingml/2006/main">
            <a:r>
              <a:t/>
            </a:r>
          </a:p>
          <a:p xmlns:a="http://schemas.openxmlformats.org/drawingml/2006/main">
            <a:r>
              <a:t>Important technical caveat: At inference DETR still rescales coordinates and filters low-confidence or no-object predictions; ‘end-to-end’ refers to removing the usual anchor/proposal/NMS detection pipeline.</a:t>
            </a:r>
          </a:p>
          <a:p xmlns:a="http://schemas.openxmlformats.org/drawingml/2006/main">
            <a:r>
              <a:t/>
            </a:r>
          </a:p>
          <a:p xmlns:a="http://schemas.openxmlformats.org/drawingml/2006/main">
            <a:r>
              <a:t>Transition: Before one example enters the network, which parameters are already meaningful?</a:t>
            </a:r>
          </a:p>
          <a:p xmlns:a="http://schemas.openxmlformats.org/drawingml/2006/main">
            <a:r>
              <a:t/>
            </a:r>
          </a:p>
          <a:p xmlns:a="http://schemas.openxmlformats.org/drawingml/2006/main">
            <a:r>
              <a:t>Estimated time: 2 minutes</a:t>
            </a:r>
          </a:p>
          <a:p xmlns:a="http://schemas.openxmlformats.org/drawingml/2006/main">
            <a:r>
              <a:t/>
            </a:r>
          </a:p>
          <a:p xmlns:a="http://schemas.openxmlformats.org/drawingml/2006/main">
            <a:r>
              <a:t>[Sources]</a:t>
            </a:r>
          </a:p>
          <a:p xmlns:a="http://schemas.openxmlformats.org/drawingml/2006/main">
            <a:r>
              <a:t>- Carion et al., §3.1 and Fig. 1–2: https://arxiv.org/abs/2005.12872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Separate pretrained visual features from newly learned set-prediction machinery.</a:t>
            </a:r>
          </a:p>
          <a:p xmlns:a="http://schemas.openxmlformats.org/drawingml/2006/main">
            <a:r>
              <a:t/>
            </a:r>
          </a:p>
          <a:p xmlns:a="http://schemas.openxmlformats.org/drawingml/2006/main">
            <a:r>
              <a:t>Suggested spoken explanation: Original DETR starts with an ImageNet-pretrained ResNet. The projection, Transformer, query embeddings, and prediction heads are learned for detection. The official recipe uses a smaller backbone learning rate.</a:t>
            </a:r>
          </a:p>
          <a:p xmlns:a="http://schemas.openxmlformats.org/drawingml/2006/main">
            <a:r>
              <a:t/>
            </a:r>
          </a:p>
          <a:p xmlns:a="http://schemas.openxmlformats.org/drawingml/2006/main">
            <a:r>
              <a:t>Important technical caveat: Exact initialization and optimizer settings vary by reproduction. Pretraining does not assign meanings to the object queries.</a:t>
            </a:r>
          </a:p>
          <a:p xmlns:a="http://schemas.openxmlformats.org/drawingml/2006/main">
            <a:r>
              <a:t/>
            </a:r>
          </a:p>
          <a:p xmlns:a="http://schemas.openxmlformats.org/drawingml/2006/main">
            <a:r>
              <a:t>Transition: Now feed one concrete training sample through these parameters.</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Short version: Say only: pretrained backbone, new query/Transformer/head parameters, smaller backbone learning rate.</a:t>
            </a:r>
          </a:p>
          <a:p xmlns:a="http://schemas.openxmlformats.org/drawingml/2006/main">
            <a:r>
              <a:t/>
            </a:r>
          </a:p>
          <a:p xmlns:a="http://schemas.openxmlformats.org/drawingml/2006/main">
            <a:r>
              <a:t>[Sources]</a:t>
            </a:r>
          </a:p>
          <a:p xmlns:a="http://schemas.openxmlformats.org/drawingml/2006/main">
            <a:r>
              <a:t>- Carion et al., §3.2 and §4.1: https://arxiv.org/abs/2005.12872</a:t>
            </a:r>
          </a:p>
          <a:p xmlns:a="http://schemas.openxmlformats.org/drawingml/2006/main">
            <a:r>
              <a:t>- Official DETR training options: https://github.com/facebookresearch/detr/blob/main/main.py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Establish the stable worked example and emphasize unordered ground truth.</a:t>
            </a:r>
          </a:p>
          <a:p xmlns:a="http://schemas.openxmlformats.org/drawingml/2006/main">
            <a:r>
              <a:t/>
            </a:r>
          </a:p>
          <a:p xmlns:a="http://schemas.openxmlformats.org/drawingml/2006/main">
            <a:r>
              <a:t>Suggested spoken explanation: This image contains exactly three annotated objects. Each target has a class and normalized box. The data loader does not say Q1 is person or Q2 is dog; responsibility will be chosen after the forward pass.</a:t>
            </a:r>
          </a:p>
          <a:p xmlns:a="http://schemas.openxmlformats.org/drawingml/2006/main">
            <a:r>
              <a:t/>
            </a:r>
          </a:p>
          <a:p xmlns:a="http://schemas.openxmlformats.org/drawingml/2006/main">
            <a:r>
              <a:t>Important technical caveat: The displayed boxes and class set are pedagogical. Real training also handles padding masks, augmentation, and variable image sizes.</a:t>
            </a:r>
          </a:p>
          <a:p xmlns:a="http://schemas.openxmlformats.org/drawingml/2006/main">
            <a:r>
              <a:t/>
            </a:r>
          </a:p>
          <a:p xmlns:a="http://schemas.openxmlformats.org/drawingml/2006/main">
            <a:r>
              <a:t>Transition: What tensors does the model emit before it knows which query owns which target?</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[Sources]</a:t>
            </a:r>
          </a:p>
          <a:p xmlns:a="http://schemas.openxmlformats.org/drawingml/2006/main">
            <a:r>
              <a:t>- Carion et al., §3.1–3.2: https://arxiv.org/abs/2005.12872</a:t>
            </a:r>
          </a:p>
          <a:p xmlns:a="http://schemas.openxmlformats.org/drawingml/2006/main">
            <a:r>
              <a:t>- Original teaching image created for this deck; no external visual asset.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Anchor the architecture discussion in the original paper figure.</a:t>
            </a:r>
          </a:p>
          <a:p xmlns:a="http://schemas.openxmlformats.org/drawingml/2006/main">
            <a:r>
              <a:t/>
            </a:r>
          </a:p>
          <a:p xmlns:a="http://schemas.openxmlformats.org/drawingml/2006/main">
            <a:r>
              <a:t>Suggested spoken explanation: This is the paper's Figure 2, cropped without page margins. Keep the whole signal path visible before zooming into individual components. The same figure will remain fixed while one region is highlighted at a time.</a:t>
            </a:r>
          </a:p>
          <a:p xmlns:a="http://schemas.openxmlformats.org/drawingml/2006/main">
            <a:r>
              <a:t/>
            </a:r>
          </a:p>
          <a:p xmlns:a="http://schemas.openxmlformats.org/drawingml/2006/main">
            <a:r>
              <a:t>Important technical caveat: The paper figure is reproduced exactly as a crop; the blue teaching callout below it is external annotation.</a:t>
            </a:r>
          </a:p>
          <a:p xmlns:a="http://schemas.openxmlformats.org/drawingml/2006/main">
            <a:r>
              <a:t/>
            </a:r>
          </a:p>
          <a:p xmlns:a="http://schemas.openxmlformats.org/drawingml/2006/main">
            <a:r>
              <a:t>Transition: Begin at the left edge with the convolutional backbone.</a:t>
            </a:r>
          </a:p>
          <a:p xmlns:a="http://schemas.openxmlformats.org/drawingml/2006/main">
            <a:r>
              <a:t/>
            </a:r>
          </a:p>
          <a:p xmlns:a="http://schemas.openxmlformats.org/drawingml/2006/main">
            <a:r>
              <a:t>Estimated time: 1.5 minutes</a:t>
            </a:r>
          </a:p>
          <a:p xmlns:a="http://schemas.openxmlformats.org/drawingml/2006/main">
            <a:r>
              <a:t/>
            </a:r>
          </a:p>
          <a:p xmlns:a="http://schemas.openxmlformats.org/drawingml/2006/main">
            <a:r>
              <a:t>[Sources]</a:t>
            </a:r>
          </a:p>
          <a:p xmlns:a="http://schemas.openxmlformats.org/drawingml/2006/main">
            <a:r>
              <a:t>- Carion et al., Fig. 2, PDF page 7: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Locate the backbone and positional encoding in the original architecture.</a:t>
            </a:r>
          </a:p>
          <a:p xmlns:a="http://schemas.openxmlformats.org/drawingml/2006/main">
            <a:r>
              <a:t/>
            </a:r>
          </a:p>
          <a:p xmlns:a="http://schemas.openxmlformats.org/drawingml/2006/main">
            <a:r>
              <a:t>Suggested spoken explanation: The ResNet produces a lower-resolution feature map. A 1×1 projection changes its channel dimension, and positional encoding preserves spatial identity before the encoder.</a:t>
            </a:r>
          </a:p>
          <a:p xmlns:a="http://schemas.openxmlformats.org/drawingml/2006/main">
            <a:r>
              <a:t/>
            </a:r>
          </a:p>
          <a:p xmlns:a="http://schemas.openxmlformats.org/drawingml/2006/main">
            <a:r>
              <a:t>Important technical caveat: The highlight is an external overlay; the underlying scientific figure is unchanged.</a:t>
            </a:r>
          </a:p>
          <a:p xmlns:a="http://schemas.openxmlformats.org/drawingml/2006/main">
            <a:r>
              <a:t/>
            </a:r>
          </a:p>
          <a:p xmlns:a="http://schemas.openxmlformats.org/drawingml/2006/main">
            <a:r>
              <a:t>Transition: Next, follow those spatial features into the encoder.</a:t>
            </a:r>
          </a:p>
          <a:p xmlns:a="http://schemas.openxmlformats.org/drawingml/2006/main">
            <a:r>
              <a:t/>
            </a:r>
          </a:p>
          <a:p xmlns:a="http://schemas.openxmlformats.org/drawingml/2006/main">
            <a:r>
              <a:t>Estimated time: 1.2 minutes</a:t>
            </a:r>
          </a:p>
          <a:p xmlns:a="http://schemas.openxmlformats.org/drawingml/2006/main">
            <a:r>
              <a:t/>
            </a:r>
          </a:p>
          <a:p xmlns:a="http://schemas.openxmlformats.org/drawingml/2006/main">
            <a:r>
              <a:t>[Sources]</a:t>
            </a:r>
          </a:p>
          <a:p xmlns:a="http://schemas.openxmlformats.org/drawingml/2006/main">
            <a:r>
              <a:t>- Carion et al., Fig. 2 and §3.2, PDF pages 6–7: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Locate the encoder and connect it to contextualized image memory.</a:t>
            </a:r>
          </a:p>
          <a:p xmlns:a="http://schemas.openxmlformats.org/drawingml/2006/main">
            <a:r>
              <a:t/>
            </a:r>
          </a:p>
          <a:p xmlns:a="http://schemas.openxmlformats.org/drawingml/2006/main">
            <a:r>
              <a:t>Suggested spoken explanation: The flattened CNN grid enters the Transformer encoder. Self-attention lets each position combine local appearance with global scene context.</a:t>
            </a:r>
          </a:p>
          <a:p xmlns:a="http://schemas.openxmlformats.org/drawingml/2006/main">
            <a:r>
              <a:t/>
            </a:r>
          </a:p>
          <a:p xmlns:a="http://schemas.openxmlformats.org/drawingml/2006/main">
            <a:r>
              <a:t>Important technical caveat: The encoder output is still a spatial memory, not a finalized list of object instances.</a:t>
            </a:r>
          </a:p>
          <a:p xmlns:a="http://schemas.openxmlformats.org/drawingml/2006/main">
            <a:r>
              <a:t/>
            </a:r>
          </a:p>
          <a:p xmlns:a="http://schemas.openxmlformats.org/drawingml/2006/main">
            <a:r>
              <a:t>Transition: The decoder will turn a fixed set of slots into object-level representations.</a:t>
            </a:r>
          </a:p>
          <a:p xmlns:a="http://schemas.openxmlformats.org/drawingml/2006/main">
            <a:r>
              <a:t/>
            </a:r>
          </a:p>
          <a:p xmlns:a="http://schemas.openxmlformats.org/drawingml/2006/main">
            <a:r>
              <a:t>Estimated time: 1.2 minutes</a:t>
            </a:r>
          </a:p>
          <a:p xmlns:a="http://schemas.openxmlformats.org/drawingml/2006/main">
            <a:r>
              <a:t/>
            </a:r>
          </a:p>
          <a:p xmlns:a="http://schemas.openxmlformats.org/drawingml/2006/main">
            <a:r>
              <a:t>[Sources]</a:t>
            </a:r>
          </a:p>
          <a:p xmlns:a="http://schemas.openxmlformats.org/drawingml/2006/main">
            <a:r>
              <a:t>- Carion et al., Fig. 2 and §3.2, PDF pages 6–7: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Locate the decoder and explain its parallel role.</a:t>
            </a:r>
          </a:p>
          <a:p xmlns:a="http://schemas.openxmlformats.org/drawingml/2006/main">
            <a:r>
              <a:t/>
            </a:r>
          </a:p>
          <a:p xmlns:a="http://schemas.openxmlformats.org/drawingml/2006/main">
            <a:r>
              <a:t>Suggested spoken explanation: Unlike an autoregressive language decoder, DETR updates all N object slots in parallel at every decoder layer. Each slot can interact with other slots and retrieve from encoded image memory.</a:t>
            </a:r>
          </a:p>
          <a:p xmlns:a="http://schemas.openxmlformats.org/drawingml/2006/main">
            <a:r>
              <a:t/>
            </a:r>
          </a:p>
          <a:p xmlns:a="http://schemas.openxmlformats.org/drawingml/2006/main">
            <a:r>
              <a:t>Important technical caveat: Parallel decoding does not itself guarantee unique detections; one-to-one supervision supplies that pressure.</a:t>
            </a:r>
          </a:p>
          <a:p xmlns:a="http://schemas.openxmlformats.org/drawingml/2006/main">
            <a:r>
              <a:t/>
            </a:r>
          </a:p>
          <a:p xmlns:a="http://schemas.openxmlformats.org/drawingml/2006/main">
            <a:r>
              <a:t>Transition: What exactly enters the bottom of this decoder?</a:t>
            </a:r>
          </a:p>
          <a:p xmlns:a="http://schemas.openxmlformats.org/drawingml/2006/main">
            <a:r>
              <a:t/>
            </a:r>
          </a:p>
          <a:p xmlns:a="http://schemas.openxmlformats.org/drawingml/2006/main">
            <a:r>
              <a:t>Estimated time: 1.2 minutes</a:t>
            </a:r>
          </a:p>
          <a:p xmlns:a="http://schemas.openxmlformats.org/drawingml/2006/main">
            <a:r>
              <a:t/>
            </a:r>
          </a:p>
          <a:p xmlns:a="http://schemas.openxmlformats.org/drawingml/2006/main">
            <a:r>
              <a:t>[Sources]</a:t>
            </a:r>
          </a:p>
          <a:p xmlns:a="http://schemas.openxmlformats.org/drawingml/2006/main">
            <a:r>
              <a:t>- Carion et al., Fig. 2 and §3.2, PDF page 7: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Point to the object-query embeddings in the paper figure.</a:t>
            </a:r>
          </a:p>
          <a:p xmlns:a="http://schemas.openxmlformats.org/drawingml/2006/main">
            <a:r>
              <a:t/>
            </a:r>
          </a:p>
          <a:p xmlns:a="http://schemas.openxmlformats.org/drawingml/2006/main">
            <a:r>
              <a:t>Suggested spoken explanation: The colored squares beneath the decoder are the learned object queries. They distinguish slots, are shared across images, and become useful only through matching and loss.</a:t>
            </a:r>
          </a:p>
          <a:p xmlns:a="http://schemas.openxmlformats.org/drawingml/2006/main">
            <a:r>
              <a:t/>
            </a:r>
          </a:p>
          <a:p xmlns:a="http://schemas.openxmlformats.org/drawingml/2006/main">
            <a:r>
              <a:t>Important technical caveat: The four colors in the original figure illustrate different slots; they do not encode permanent object classes.</a:t>
            </a:r>
          </a:p>
          <a:p xmlns:a="http://schemas.openxmlformats.org/drawingml/2006/main">
            <a:r>
              <a:t/>
            </a:r>
          </a:p>
          <a:p xmlns:a="http://schemas.openxmlformats.org/drawingml/2006/main">
            <a:r>
              <a:t>Transition: Each updated slot now passes through the shared prediction heads.</a:t>
            </a:r>
          </a:p>
          <a:p xmlns:a="http://schemas.openxmlformats.org/drawingml/2006/main">
            <a:r>
              <a:t/>
            </a:r>
          </a:p>
          <a:p xmlns:a="http://schemas.openxmlformats.org/drawingml/2006/main">
            <a:r>
              <a:t>Estimated time: 1.2 minutes</a:t>
            </a:r>
          </a:p>
          <a:p xmlns:a="http://schemas.openxmlformats.org/drawingml/2006/main">
            <a:r>
              <a:t/>
            </a:r>
          </a:p>
          <a:p xmlns:a="http://schemas.openxmlformats.org/drawingml/2006/main">
            <a:r>
              <a:t>[Sources]</a:t>
            </a:r>
          </a:p>
          <a:p xmlns:a="http://schemas.openxmlformats.org/drawingml/2006/main">
            <a:r>
              <a:t>- Carion et al., Fig. 2 and §3.2, PDF page 7: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Locate the class/no-object and box heads in the original architecture.</a:t>
            </a:r>
          </a:p>
          <a:p xmlns:a="http://schemas.openxmlformats.org/drawingml/2006/main">
            <a:r>
              <a:t/>
            </a:r>
          </a:p>
          <a:p xmlns:a="http://schemas.openxmlformats.org/drawingml/2006/main">
            <a:r>
              <a:t>Suggested spoken explanation: Every decoder slot passes through the same prediction modules. One head produces class probabilities including no-object; the other predicts normalized center, width, and height coordinates.</a:t>
            </a:r>
          </a:p>
          <a:p xmlns:a="http://schemas.openxmlformats.org/drawingml/2006/main">
            <a:r>
              <a:t/>
            </a:r>
          </a:p>
          <a:p xmlns:a="http://schemas.openxmlformats.org/drawingml/2006/main">
            <a:r>
              <a:t>Important technical caveat: ‘Shared’ means the head parameters are reused for every query, not that all queries receive the same output.</a:t>
            </a:r>
          </a:p>
          <a:p xmlns:a="http://schemas.openxmlformats.org/drawingml/2006/main">
            <a:r>
              <a:t/>
            </a:r>
          </a:p>
          <a:p xmlns:a="http://schemas.openxmlformats.org/drawingml/2006/main">
            <a:r>
              <a:t>Transition: Now translate the paper figure into explicit tensor shapes.</a:t>
            </a:r>
          </a:p>
          <a:p xmlns:a="http://schemas.openxmlformats.org/drawingml/2006/main">
            <a:r>
              <a:t/>
            </a:r>
          </a:p>
          <a:p xmlns:a="http://schemas.openxmlformats.org/drawingml/2006/main">
            <a:r>
              <a:t>Estimated time: 1.2 minutes</a:t>
            </a:r>
          </a:p>
          <a:p xmlns:a="http://schemas.openxmlformats.org/drawingml/2006/main">
            <a:r>
              <a:t/>
            </a:r>
          </a:p>
          <a:p xmlns:a="http://schemas.openxmlformats.org/drawingml/2006/main">
            <a:r>
              <a:t>[Sources]</a:t>
            </a:r>
          </a:p>
          <a:p xmlns:a="http://schemas.openxmlformats.org/drawingml/2006/main">
            <a:r>
              <a:t>- Carion et al., Fig. 2 and §3.2, PDF page 7: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Trace the forward-pass shapes into class and box tensors.</a:t>
            </a:r>
          </a:p>
          <a:p xmlns:a="http://schemas.openxmlformats.org/drawingml/2006/main">
            <a:r>
              <a:t/>
            </a:r>
          </a:p>
          <a:p xmlns:a="http://schemas.openxmlformats.org/drawingml/2006/main">
            <a:r>
              <a:t>Suggested spoken explanation: The CNN creates a spatial feature map, the encoder contextualizes image tokens, and the decoder returns one representation per query. Shared heads produce logits over C plus no-object and four normalized box coordinates.</a:t>
            </a:r>
          </a:p>
          <a:p xmlns:a="http://schemas.openxmlformats.org/drawingml/2006/main">
            <a:r>
              <a:t/>
            </a:r>
          </a:p>
          <a:p xmlns:a="http://schemas.openxmlformats.org/drawingml/2006/main">
            <a:r>
              <a:t>Important technical caveat: The worked example displays five queries for readability; standard COCO DETR uses 100. Exact H′ and W′ depend on image size, padding, and backbone stride.</a:t>
            </a:r>
          </a:p>
          <a:p xmlns:a="http://schemas.openxmlformats.org/drawingml/2006/main">
            <a:r>
              <a:t/>
            </a:r>
          </a:p>
          <a:p xmlns:a="http://schemas.openxmlformats.org/drawingml/2006/main">
            <a:r>
              <a:t>Transition: Before assigning those predictions, clarify what a query actually is.</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[Sources]</a:t>
            </a:r>
          </a:p>
          <a:p xmlns:a="http://schemas.openxmlformats.org/drawingml/2006/main">
            <a:r>
              <a:t>- Carion et al., Fig. 2 and §3.2–3.3: https://arxiv.org/abs/2005.12872</a:t>
            </a:r>
          </a:p>
          <a:p xmlns:a="http://schemas.openxmlformats.org/drawingml/2006/main">
            <a:r>
              <a:t>- Official model outputs: https://github.com/facebookresearch/detr/blob/main/models/detr.py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Replace the anchor misconception with the learned-slot mental model.</a:t>
            </a:r>
          </a:p>
          <a:p xmlns:a="http://schemas.openxmlformats.org/drawingml/2006/main">
            <a:r>
              <a:t/>
            </a:r>
          </a:p>
          <a:p xmlns:a="http://schemas.openxmlformats.org/drawingml/2006/main">
            <a:r>
              <a:t>Suggested spoken explanation: An object query is a trainable vector that identifies one decoder output slot. The decoder starts with zero target content in the official implementation and uses the query embedding as query-position identity. Its meaning emerges through training.</a:t>
            </a:r>
          </a:p>
          <a:p xmlns:a="http://schemas.openxmlformats.org/drawingml/2006/main">
            <a:r>
              <a:t/>
            </a:r>
          </a:p>
          <a:p xmlns:a="http://schemas.openxmlformats.org/drawingml/2006/main">
            <a:r>
              <a:t>Important technical caveat: Queries can develop preferences, but they are not guaranteed permanent semantic slots such as ‘dog query’ across all images.</a:t>
            </a:r>
          </a:p>
          <a:p xmlns:a="http://schemas.openxmlformats.org/drawingml/2006/main">
            <a:r>
              <a:t/>
            </a:r>
          </a:p>
          <a:p xmlns:a="http://schemas.openxmlformats.org/drawingml/2006/main">
            <a:r>
              <a:t>Transition: If a query is not born at a location, how can it learn where to look?</a:t>
            </a:r>
          </a:p>
          <a:p xmlns:a="http://schemas.openxmlformats.org/drawingml/2006/main">
            <a:r>
              <a:t/>
            </a:r>
          </a:p>
          <a:p xmlns:a="http://schemas.openxmlformats.org/drawingml/2006/main">
            <a:r>
              <a:t>Estimated time: 3 minutes</a:t>
            </a:r>
          </a:p>
          <a:p xmlns:a="http://schemas.openxmlformats.org/drawingml/2006/main">
            <a:r>
              <a:t/>
            </a:r>
          </a:p>
          <a:p xmlns:a="http://schemas.openxmlformats.org/drawingml/2006/main">
            <a:r>
              <a:t>[Sources]</a:t>
            </a:r>
          </a:p>
          <a:p xmlns:a="http://schemas.openxmlformats.org/drawingml/2006/main">
            <a:r>
              <a:t>- Carion et al., §3.2: https://arxiv.org/abs/2005.12872</a:t>
            </a:r>
          </a:p>
          <a:p xmlns:a="http://schemas.openxmlformats.org/drawingml/2006/main">
            <a:r>
              <a:t>- Official Transformer initialization of target content and query positions: https://github.com/facebookresearch/detr/blob/main/models/transformer.py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Connect cross-attention to learning through an explicit feedback loop.</a:t>
            </a:r>
          </a:p>
          <a:p xmlns:a="http://schemas.openxmlformats.org/drawingml/2006/main">
            <a:r>
              <a:t/>
            </a:r>
          </a:p>
          <a:p xmlns:a="http://schemas.openxmlformats.org/drawingml/2006/main">
            <a:r>
              <a:t>Suggested spoken explanation: A query uses cross-attention to weight encoded image locations. Its current state produces a class and box; after matching, the loss sends gradients into attention projections and the query embedding. Repeated updates make useful evidence easier to retrieve.</a:t>
            </a:r>
          </a:p>
          <a:p xmlns:a="http://schemas.openxmlformats.org/drawingml/2006/main">
            <a:r>
              <a:t/>
            </a:r>
          </a:p>
          <a:p xmlns:a="http://schemas.openxmlformats.org/drawingml/2006/main">
            <a:r>
              <a:t>Important technical caveat: The colored regions are an intuition, not literal segmentation masks. Attention maps need not be perfectly localized or directly interpretable.</a:t>
            </a:r>
          </a:p>
          <a:p xmlns:a="http://schemas.openxmlformats.org/drawingml/2006/main">
            <a:r>
              <a:t/>
            </a:r>
          </a:p>
          <a:p xmlns:a="http://schemas.openxmlformats.org/drawingml/2006/main">
            <a:r>
              <a:t>Transition: Now freeze the forward pass and inspect the five predictions competing for three objects.</a:t>
            </a:r>
          </a:p>
          <a:p xmlns:a="http://schemas.openxmlformats.org/drawingml/2006/main">
            <a:r>
              <a:t/>
            </a:r>
          </a:p>
          <a:p xmlns:a="http://schemas.openxmlformats.org/drawingml/2006/main">
            <a:r>
              <a:t>Estimated time: 3 minutes</a:t>
            </a:r>
          </a:p>
          <a:p xmlns:a="http://schemas.openxmlformats.org/drawingml/2006/main">
            <a:r>
              <a:t/>
            </a:r>
          </a:p>
          <a:p xmlns:a="http://schemas.openxmlformats.org/drawingml/2006/main">
            <a:r>
              <a:t>[Sources]</a:t>
            </a:r>
          </a:p>
          <a:p xmlns:a="http://schemas.openxmlformats.org/drawingml/2006/main">
            <a:r>
              <a:t>- Carion et al., §3.2 and Fig. 5: https://arxiv.org/abs/2005.12872</a:t>
            </a:r>
          </a:p>
          <a:p xmlns:a="http://schemas.openxmlformats.org/drawingml/2006/main">
            <a:r>
              <a:t>- Original teaching image and annotations created for this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Create the need for global one-to-one responsibility assignment.</a:t>
            </a:r>
          </a:p>
          <a:p xmlns:a="http://schemas.openxmlformats.org/drawingml/2006/main">
            <a:r>
              <a:t/>
            </a:r>
          </a:p>
          <a:p xmlns:a="http://schemas.openxmlformats.org/drawingml/2006/main">
            <a:r>
              <a:t>Suggested spoken explanation: These are the same canonical five outputs used through the rest of the deck. Q2 and Q4 both resemble the dog, but only one can own that ground-truth object. A global assignment must also leave good choices for person and bicycle.</a:t>
            </a:r>
          </a:p>
          <a:p xmlns:a="http://schemas.openxmlformats.org/drawingml/2006/main">
            <a:r>
              <a:t/>
            </a:r>
          </a:p>
          <a:p xmlns:a="http://schemas.openxmlformats.org/drawingml/2006/main">
            <a:r>
              <a:t>Important technical caveat: Prediction scores and boxes are illustrative but internally consistent with the later cost matrix.</a:t>
            </a:r>
          </a:p>
          <a:p xmlns:a="http://schemas.openxmlformats.org/drawingml/2006/main">
            <a:r>
              <a:t/>
            </a:r>
          </a:p>
          <a:p xmlns:a="http://schemas.openxmlformats.org/drawingml/2006/main">
            <a:r>
              <a:t>Transition: Let us open one cell of that matrix and see what a cost contains.</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[Sources]</a:t>
            </a:r>
          </a:p>
          <a:p xmlns:a="http://schemas.openxmlformats.org/drawingml/2006/main">
            <a:r>
              <a:t>- Carion et al., §3.1 and Eq. 1–2: https://arxiv.org/abs/2005.12872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Show the exact source equation for optimal bipartite matching before teaching its components.</a:t>
            </a:r>
          </a:p>
          <a:p xmlns:a="http://schemas.openxmlformats.org/drawingml/2006/main">
            <a:r>
              <a:t/>
            </a:r>
          </a:p>
          <a:p xmlns:a="http://schemas.openxmlformats.org/drawingml/2006/main">
            <a:r>
              <a:t>Suggested spoken explanation: Equation 1 searches over all permutations of N predictions and chooses the assignment with minimum summed matching cost. We will unpack the pairwise cost before returning to the full assignment.</a:t>
            </a:r>
          </a:p>
          <a:p xmlns:a="http://schemas.openxmlformats.org/drawingml/2006/main">
            <a:r>
              <a:t/>
            </a:r>
          </a:p>
          <a:p xmlns:a="http://schemas.openxmlformats.org/drawingml/2006/main">
            <a:r>
              <a:t>Important technical caveat: This is a precise high-resolution crop from PDF page 5; no symbols were redrawn or altered.</a:t>
            </a:r>
          </a:p>
          <a:p xmlns:a="http://schemas.openxmlformats.org/drawingml/2006/main">
            <a:r>
              <a:t/>
            </a:r>
          </a:p>
          <a:p xmlns:a="http://schemas.openxmlformats.org/drawingml/2006/main">
            <a:r>
              <a:t>Transition: Reproduce the equation as scalable math and read it in three steps.</a:t>
            </a:r>
          </a:p>
          <a:p xmlns:a="http://schemas.openxmlformats.org/drawingml/2006/main">
            <a:r>
              <a:t/>
            </a:r>
          </a:p>
          <a:p xmlns:a="http://schemas.openxmlformats.org/drawingml/2006/main">
            <a:r>
              <a:t>Estimated time: 1.5 minutes</a:t>
            </a:r>
          </a:p>
          <a:p xmlns:a="http://schemas.openxmlformats.org/drawingml/2006/main">
            <a:r>
              <a:t/>
            </a:r>
          </a:p>
          <a:p xmlns:a="http://schemas.openxmlformats.org/drawingml/2006/main">
            <a:r>
              <a:t>[Sources]</a:t>
            </a:r>
          </a:p>
          <a:p xmlns:a="http://schemas.openxmlformats.org/drawingml/2006/main">
            <a:r>
              <a:t>- Carion et al., Eq. (1), PDF page 5: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Reproduce Equation 1 as scalable teaching math and translate its three operations.</a:t>
            </a:r>
          </a:p>
          <a:p xmlns:a="http://schemas.openxmlformats.org/drawingml/2006/main">
            <a:r>
              <a:t/>
            </a:r>
          </a:p>
          <a:p xmlns:a="http://schemas.openxmlformats.org/drawingml/2006/main">
            <a:r>
              <a:t>Suggested spoken explanation: Sigma ranges over one-to-one permutations. For each candidate permutation, sum the pairwise matching costs. Sigma-hat is the permutation with the smallest total.</a:t>
            </a:r>
          </a:p>
          <a:p xmlns:a="http://schemas.openxmlformats.org/drawingml/2006/main">
            <a:r>
              <a:t/>
            </a:r>
          </a:p>
          <a:p xmlns:a="http://schemas.openxmlformats.org/drawingml/2006/main">
            <a:r>
              <a:t>Important technical caveat: The formula is an exact reproduction of Eq. 1; the boxes below are external teaching annotations.</a:t>
            </a:r>
          </a:p>
          <a:p xmlns:a="http://schemas.openxmlformats.org/drawingml/2006/main">
            <a:r>
              <a:t/>
            </a:r>
          </a:p>
          <a:p xmlns:a="http://schemas.openxmlformats.org/drawingml/2006/main">
            <a:r>
              <a:t>Transition: Zoom into the pairwise L-match term.</a:t>
            </a:r>
          </a:p>
          <a:p xmlns:a="http://schemas.openxmlformats.org/drawingml/2006/main">
            <a:r>
              <a:t/>
            </a:r>
          </a:p>
          <a:p xmlns:a="http://schemas.openxmlformats.org/drawingml/2006/main">
            <a:r>
              <a:t>Estimated time: 1.8 minutes</a:t>
            </a:r>
          </a:p>
          <a:p xmlns:a="http://schemas.openxmlformats.org/drawingml/2006/main">
            <a:r>
              <a:t/>
            </a:r>
          </a:p>
          <a:p xmlns:a="http://schemas.openxmlformats.org/drawingml/2006/main">
            <a:r>
              <a:t>[Sources]</a:t>
            </a:r>
          </a:p>
          <a:p xmlns:a="http://schemas.openxmlformats.org/drawingml/2006/main">
            <a:r>
              <a:t>- Carion et al., Eq. (1), PDF page 5: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Summarize the paper’s pairwise matching cost without showing a dense prose crop.</a:t>
            </a:r>
          </a:p>
          <a:p xmlns:a="http://schemas.openxmlformats.org/drawingml/2006/main">
            <a:r>
              <a:t/>
            </a:r>
          </a:p>
          <a:p xmlns:a="http://schemas.openxmlformats.org/drawingml/2006/main">
            <a:r>
              <a:t>Suggested spoken explanation: The matcher asks three simple questions. Is the class plausible? Are the four normalized coordinates close? Do the regions agree geometrically? A good pair has a low combined cost.</a:t>
            </a:r>
          </a:p>
          <a:p xmlns:a="http://schemas.openxmlformats.org/drawingml/2006/main">
            <a:r>
              <a:t/>
            </a:r>
          </a:p>
          <a:p xmlns:a="http://schemas.openxmlformats.org/drawingml/2006/main">
            <a:r>
              <a:t>Important technical caveat: The paper groups L1 and generalized IoU inside L-box. This slide separates them only for teaching clarity and is therefore labeled adapted.</a:t>
            </a:r>
          </a:p>
          <a:p xmlns:a="http://schemas.openxmlformats.org/drawingml/2006/main">
            <a:r>
              <a:t/>
            </a:r>
          </a:p>
          <a:p xmlns:a="http://schemas.openxmlformats.org/drawingml/2006/main">
            <a:r>
              <a:t>Transition: Now write the same summary as a compact selectable formula.</a:t>
            </a:r>
          </a:p>
          <a:p xmlns:a="http://schemas.openxmlformats.org/drawingml/2006/main">
            <a:r>
              <a:t/>
            </a:r>
          </a:p>
          <a:p xmlns:a="http://schemas.openxmlformats.org/drawingml/2006/main">
            <a:r>
              <a:t>Estimated time: 1.5 minutes</a:t>
            </a:r>
          </a:p>
          <a:p xmlns:a="http://schemas.openxmlformats.org/drawingml/2006/main">
            <a:r>
              <a:t/>
            </a:r>
          </a:p>
          <a:p xmlns:a="http://schemas.openxmlformats.org/drawingml/2006/main">
            <a:r>
              <a:t>[Sources]</a:t>
            </a:r>
          </a:p>
          <a:p xmlns:a="http://schemas.openxmlformats.org/drawingml/2006/main">
            <a:r>
              <a:t>- Carion et al., matching-cost definition after Eq. (1), PDF page 5, and bounding-box loss, PDF page 6: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Preview the three pairwise signals before explaining each independently.</a:t>
            </a:r>
          </a:p>
          <a:p xmlns:a="http://schemas.openxmlformats.org/drawingml/2006/main">
            <a:r>
              <a:t/>
            </a:r>
          </a:p>
          <a:p xmlns:a="http://schemas.openxmlformats.org/drawingml/2006/main">
            <a:r>
              <a:t>Suggested spoken explanation: A low-cost pair must agree in class and geometry. The paper writes class probability plus a box loss; the box loss combines L1 and generalized IoU. The next three slides isolate these terms.</a:t>
            </a:r>
          </a:p>
          <a:p xmlns:a="http://schemas.openxmlformats.org/drawingml/2006/main">
            <a:r>
              <a:t/>
            </a:r>
          </a:p>
          <a:p xmlns:a="http://schemas.openxmlformats.org/drawingml/2006/main">
            <a:r>
              <a:t>Important technical caveat: This is a pedagogical decomposition of the paper's unnumbered matching-cost definition and box-loss definition.</a:t>
            </a:r>
          </a:p>
          <a:p xmlns:a="http://schemas.openxmlformats.org/drawingml/2006/main">
            <a:r>
              <a:t/>
            </a:r>
          </a:p>
          <a:p xmlns:a="http://schemas.openxmlformats.org/drawingml/2006/main">
            <a:r>
              <a:t>Transition: First isolate class compatibility.</a:t>
            </a:r>
          </a:p>
          <a:p xmlns:a="http://schemas.openxmlformats.org/drawingml/2006/main">
            <a:r>
              <a:t/>
            </a:r>
          </a:p>
          <a:p xmlns:a="http://schemas.openxmlformats.org/drawingml/2006/main">
            <a:r>
              <a:t>Estimated time: 1.5 minutes</a:t>
            </a:r>
          </a:p>
          <a:p xmlns:a="http://schemas.openxmlformats.org/drawingml/2006/main">
            <a:r>
              <a:t/>
            </a:r>
          </a:p>
          <a:p xmlns:a="http://schemas.openxmlformats.org/drawingml/2006/main">
            <a:r>
              <a:t>[Sources]</a:t>
            </a:r>
          </a:p>
          <a:p xmlns:a="http://schemas.openxmlformats.org/drawingml/2006/main">
            <a:r>
              <a:t>- Carion et al., matching-cost definition after Eq. (1), PDF page 5, and bounding-box loss, PDF page 6: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Isolate the classification component of the paper's matching cost.</a:t>
            </a:r>
          </a:p>
          <a:p xmlns:a="http://schemas.openxmlformats.org/drawingml/2006/main">
            <a:r>
              <a:t/>
            </a:r>
          </a:p>
          <a:p xmlns:a="http://schemas.openxmlformats.org/drawingml/2006/main">
            <a:r>
              <a:t>Suggested spoken explanation: For a real target, the paper rewards a prediction that assigns high probability to the target class by using negative probability. Adding one gives the equivalent positive penalty 1 minus probability, which is easier to read in our numeric example.</a:t>
            </a:r>
          </a:p>
          <a:p xmlns:a="http://schemas.openxmlformats.org/drawingml/2006/main">
            <a:r>
              <a:t/>
            </a:r>
          </a:p>
          <a:p xmlns:a="http://schemas.openxmlformats.org/drawingml/2006/main">
            <a:r>
              <a:t>Important technical caveat: The paper uses probability, not cross-entropy, for matching. The no-object indicator is part of the padded mathematical formulation.</a:t>
            </a:r>
          </a:p>
          <a:p xmlns:a="http://schemas.openxmlformats.org/drawingml/2006/main">
            <a:r>
              <a:t/>
            </a:r>
          </a:p>
          <a:p xmlns:a="http://schemas.openxmlformats.org/drawingml/2006/main">
            <a:r>
              <a:t>Transition: Class compatibility is not enough; compare the box coordinates.</a:t>
            </a:r>
          </a:p>
          <a:p xmlns:a="http://schemas.openxmlformats.org/drawingml/2006/main">
            <a:r>
              <a:t/>
            </a:r>
          </a:p>
          <a:p xmlns:a="http://schemas.openxmlformats.org/drawingml/2006/main">
            <a:r>
              <a:t>Estimated time: 1.8 minutes</a:t>
            </a:r>
          </a:p>
          <a:p xmlns:a="http://schemas.openxmlformats.org/drawingml/2006/main">
            <a:r>
              <a:t/>
            </a:r>
          </a:p>
          <a:p xmlns:a="http://schemas.openxmlformats.org/drawingml/2006/main">
            <a:r>
              <a:t>[Sources]</a:t>
            </a:r>
          </a:p>
          <a:p xmlns:a="http://schemas.openxmlformats.org/drawingml/2006/main">
            <a:r>
              <a:t>- Carion et al., matching-cost definition after Eq. (1), PDF page 5: references/detr_paper.pdf</a:t>
            </a:r>
          </a:p>
          <a:p xmlns:a="http://schemas.openxmlformats.org/drawingml/2006/main">
            <a:r>
              <a:t>- Official matcher cost_class: https://github.com/facebookresearch/detr/blob/main/models/matcher.py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Explain the L1 coordinate component independently.</a:t>
            </a:r>
          </a:p>
          <a:p xmlns:a="http://schemas.openxmlformats.org/drawingml/2006/main">
            <a:r>
              <a:t/>
            </a:r>
          </a:p>
          <a:p xmlns:a="http://schemas.openxmlformats.org/drawingml/2006/main">
            <a:r>
              <a:t>Suggested spoken explanation: Represent both boxes as normalized center x, center y, width, and height. L1 adds the absolute difference in each coordinate. The coefficient controls how much this coordinate agreement contributes.</a:t>
            </a:r>
          </a:p>
          <a:p xmlns:a="http://schemas.openxmlformats.org/drawingml/2006/main">
            <a:r>
              <a:t/>
            </a:r>
          </a:p>
          <a:p xmlns:a="http://schemas.openxmlformats.org/drawingml/2006/main">
            <a:r>
              <a:t>Important technical caveat: Direct normalized boxes are not anchor offsets. Equal coordinate errors can have different spatial effects for small and large boxes.</a:t>
            </a:r>
          </a:p>
          <a:p xmlns:a="http://schemas.openxmlformats.org/drawingml/2006/main">
            <a:r>
              <a:t/>
            </a:r>
          </a:p>
          <a:p xmlns:a="http://schemas.openxmlformats.org/drawingml/2006/main">
            <a:r>
              <a:t>Transition: Coordinate closeness still misses whether the two regions overlap well.</a:t>
            </a:r>
          </a:p>
          <a:p xmlns:a="http://schemas.openxmlformats.org/drawingml/2006/main">
            <a:r>
              <a:t/>
            </a:r>
          </a:p>
          <a:p xmlns:a="http://schemas.openxmlformats.org/drawingml/2006/main">
            <a:r>
              <a:t>Estimated time: 1.8 minutes</a:t>
            </a:r>
          </a:p>
          <a:p xmlns:a="http://schemas.openxmlformats.org/drawingml/2006/main">
            <a:r>
              <a:t/>
            </a:r>
          </a:p>
          <a:p xmlns:a="http://schemas.openxmlformats.org/drawingml/2006/main">
            <a:r>
              <a:t>[Sources]</a:t>
            </a:r>
          </a:p>
          <a:p xmlns:a="http://schemas.openxmlformats.org/drawingml/2006/main">
            <a:r>
              <a:t>- Carion et al., bounding-box loss paragraph, PDF page 6: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Define generalized IoU, the enclosing box C, and why the loss remains informative without overlap.</a:t>
            </a:r>
          </a:p>
          <a:p xmlns:a="http://schemas.openxmlformats.org/drawingml/2006/main">
            <a:r>
              <a:t/>
            </a:r>
          </a:p>
          <a:p xmlns:a="http://schemas.openxmlformats.org/drawingml/2006/main">
            <a:r>
              <a:t>Suggested spoken explanation: Start with ordinary IoU. Then draw C, the smallest box enclosing both prediction A and target B. GIoU subtracts the fraction of C not covered by either box. The loss is one minus GIoU. A perfect match has loss zero; separated boxes receive a larger loss because the unused enclosing area grows.</a:t>
            </a:r>
          </a:p>
          <a:p xmlns:a="http://schemas.openxmlformats.org/drawingml/2006/main">
            <a:r>
              <a:t/>
            </a:r>
          </a:p>
          <a:p xmlns:a="http://schemas.openxmlformats.org/drawingml/2006/main">
            <a:r>
              <a:t>Important technical caveat: GIoU ranges from −1 to 1, so 1 − GIoU ranges from 0 to 2. The exact GIoU definition originates in Rezatofighi et al.; DETR combines this scale-aware geometric term with L1 coordinate loss.</a:t>
            </a:r>
          </a:p>
          <a:p xmlns:a="http://schemas.openxmlformats.org/drawingml/2006/main">
            <a:r>
              <a:t/>
            </a:r>
          </a:p>
          <a:p xmlns:a="http://schemas.openxmlformats.org/drawingml/2006/main">
            <a:r>
              <a:t>Transition: Now combine classification, L1, and GIoU for Q2 and the dog.</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[Sources]</a:t>
            </a:r>
          </a:p>
          <a:p xmlns:a="http://schemas.openxmlformats.org/drawingml/2006/main">
            <a:r>
              <a:t>- Carion et al., bounding-box loss paragraph, PDF page 6: references/detr_paper.pdf</a:t>
            </a:r>
          </a:p>
          <a:p xmlns:a="http://schemas.openxmlformats.org/drawingml/2006/main">
            <a:r>
              <a:t>- Rezatofighi et al., “Generalized Intersection over Union,” Eq. (3)–(5): https://arxiv.org/abs/1902.09630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Demystify one cost-matrix cell with an explicit numeric calculation.</a:t>
            </a:r>
          </a:p>
          <a:p xmlns:a="http://schemas.openxmlformats.org/drawingml/2006/main">
            <a:r>
              <a:t/>
            </a:r>
          </a:p>
          <a:p xmlns:a="http://schemas.openxmlformats.org/drawingml/2006/main">
            <a:r>
              <a:t>Suggested spoken explanation: For each prediction–target pair, combine a classification term with weighted L1 and GIoU box terms. In this illustrative Q2–dog cell, the three components sum to 0.50. Repeat this for every query and every real target.</a:t>
            </a:r>
          </a:p>
          <a:p xmlns:a="http://schemas.openxmlformats.org/drawingml/2006/main">
            <a:r>
              <a:t/>
            </a:r>
          </a:p>
          <a:p xmlns:a="http://schemas.openxmlformats.org/drawingml/2006/main">
            <a:r>
              <a:t>Important technical caveat: These component numbers are pedagogical. The paper and official matcher use negative target-class probability for assignment, not cross-entropy, and use configurable weights.</a:t>
            </a:r>
          </a:p>
          <a:p xmlns:a="http://schemas.openxmlformats.org/drawingml/2006/main">
            <a:r>
              <a:t/>
            </a:r>
          </a:p>
          <a:p xmlns:a="http://schemas.openxmlformats.org/drawingml/2006/main">
            <a:r>
              <a:t>Transition: Now reveal all fifteen pairwise costs and choose a global assignment.</a:t>
            </a:r>
          </a:p>
          <a:p xmlns:a="http://schemas.openxmlformats.org/drawingml/2006/main">
            <a:r>
              <a:t/>
            </a:r>
          </a:p>
          <a:p xmlns:a="http://schemas.openxmlformats.org/drawingml/2006/main">
            <a:r>
              <a:t>Estimated time: 3 minutes</a:t>
            </a:r>
          </a:p>
          <a:p xmlns:a="http://schemas.openxmlformats.org/drawingml/2006/main">
            <a:r>
              <a:t/>
            </a:r>
          </a:p>
          <a:p xmlns:a="http://schemas.openxmlformats.org/drawingml/2006/main">
            <a:r>
              <a:t>[Sources]</a:t>
            </a:r>
          </a:p>
          <a:p xmlns:a="http://schemas.openxmlformats.org/drawingml/2006/main">
            <a:r>
              <a:t>- Carion et al., Eq. 1–2 and §3.1: https://arxiv.org/abs/2005.12872</a:t>
            </a:r>
          </a:p>
          <a:p xmlns:a="http://schemas.openxmlformats.org/drawingml/2006/main">
            <a:r>
              <a:t>- Official matching cost: https://github.com/facebookresearch/detr/blob/main/models/matcher.py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Show the global minimum one-to-one assignment and distinguish paper notation from code.</a:t>
            </a:r>
          </a:p>
          <a:p xmlns:a="http://schemas.openxmlformats.org/drawingml/2006/main">
            <a:r>
              <a:t/>
            </a:r>
          </a:p>
          <a:p xmlns:a="http://schemas.openxmlformats.org/drawingml/2006/main">
            <a:r>
              <a:t>Suggested spoken explanation: Hungarian matching selects Q1–person, Q2–dog, and Q3–bicycle together. Q4 cannot also own dog. The paper describes targets padded with no-object to N; the common implementation solves a rectangular N-predictions by M-real-targets matrix, then treats unmatched predictions as no-object. The FYI link is optional reading; do not explain the algorithm’s internal steps during this talk.</a:t>
            </a:r>
          </a:p>
          <a:p xmlns:a="http://schemas.openxmlformats.org/drawingml/2006/main">
            <a:r>
              <a:t/>
            </a:r>
          </a:p>
          <a:p xmlns:a="http://schemas.openxmlformats.org/drawingml/2006/main">
            <a:r>
              <a:t>Important technical caveat: Matching is per image and recomputed from current predictions. It is not inference-time NMS.</a:t>
            </a:r>
          </a:p>
          <a:p xmlns:a="http://schemas.openxmlformats.org/drawingml/2006/main">
            <a:r>
              <a:t/>
            </a:r>
          </a:p>
          <a:p xmlns:a="http://schemas.openxmlformats.org/drawingml/2006/main">
            <a:r>
              <a:t>Transition: This choice is discrete. Does the assignment operation itself receive gradients?</a:t>
            </a:r>
          </a:p>
          <a:p xmlns:a="http://schemas.openxmlformats.org/drawingml/2006/main">
            <a:r>
              <a:t/>
            </a:r>
          </a:p>
          <a:p xmlns:a="http://schemas.openxmlformats.org/drawingml/2006/main">
            <a:r>
              <a:t>Estimated time: 3 minutes</a:t>
            </a:r>
          </a:p>
          <a:p xmlns:a="http://schemas.openxmlformats.org/drawingml/2006/main">
            <a:r>
              <a:t/>
            </a:r>
          </a:p>
          <a:p xmlns:a="http://schemas.openxmlformats.org/drawingml/2006/main">
            <a:r>
              <a:t>[Sources]</a:t>
            </a:r>
          </a:p>
          <a:p xmlns:a="http://schemas.openxmlformats.org/drawingml/2006/main">
            <a:r>
              <a:t>- Carion et al., Eq. 1–2 and §3.1: https://arxiv.org/abs/2005.12872</a:t>
            </a:r>
          </a:p>
          <a:p xmlns:a="http://schemas.openxmlformats.org/drawingml/2006/main">
            <a:r>
              <a:t>- Official rectangular matcher: https://github.com/facebookresearch/detr/blob/main/models/matcher.py</a:t>
            </a:r>
          </a:p>
          <a:p xmlns:a="http://schemas.openxmlformats.org/drawingml/2006/main">
            <a:r>
              <a:t>- FYI tutorial supplied by the user: https://towardsdatascience.com/hungarian-algorithm-and-its-applications-in-computer-vision/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Place a clear no-gradient boundary around the discrete assignment.</a:t>
            </a:r>
          </a:p>
          <a:p xmlns:a="http://schemas.openxmlformats.org/drawingml/2006/main">
            <a:r>
              <a:t/>
            </a:r>
          </a:p>
          <a:p xmlns:a="http://schemas.openxmlformats.org/drawingml/2006/main">
            <a:r>
              <a:t>Suggested spoken explanation: The matcher returns integer index pairs. We stop there, use those pairs to build differentiable losses, and backpropagate from the losses. After the optimizer changes the network, the next batch or step computes a new assignment.</a:t>
            </a:r>
          </a:p>
          <a:p xmlns:a="http://schemas.openxmlformats.org/drawingml/2006/main">
            <a:r>
              <a:t/>
            </a:r>
          </a:p>
          <a:p xmlns:a="http://schemas.openxmlformats.org/drawingml/2006/main">
            <a:r>
              <a:t>Important technical caveat: Matching still changes the learning signal because it selects which losses are applied; ‘no gradient through matching’ does not mean matching is irrelevant.</a:t>
            </a:r>
          </a:p>
          <a:p xmlns:a="http://schemas.openxmlformats.org/drawingml/2006/main">
            <a:r>
              <a:t/>
            </a:r>
          </a:p>
          <a:p xmlns:a="http://schemas.openxmlformats.org/drawingml/2006/main">
            <a:r>
              <a:t>Transition: With the pairs frozen, what class target does every query receive?</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[Sources]</a:t>
            </a:r>
          </a:p>
          <a:p xmlns:a="http://schemas.openxmlformats.org/drawingml/2006/main">
            <a:r>
              <a:t>- Official matcher uses SciPy linear_sum_assignment and returns indices: https://github.com/facebookresearch/detr/blob/main/models/matcher.py</a:t>
            </a:r>
          </a:p>
          <a:p xmlns:a="http://schemas.openxmlformats.org/drawingml/2006/main">
            <a:r>
              <a:t>- Official SetCriterion consumes matcher indices: https://github.com/facebookresearch/detr/blob/main/models/detr.py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Show the exact source equation for the post-matching Hungarian training loss.</a:t>
            </a:r>
          </a:p>
          <a:p xmlns:a="http://schemas.openxmlformats.org/drawingml/2006/main">
            <a:r>
              <a:t/>
            </a:r>
          </a:p>
          <a:p xmlns:a="http://schemas.openxmlformats.org/drawingml/2006/main">
            <a:r>
              <a:t>Suggested spoken explanation: Equation 2 uses the assignment selected by Equation 1. The class term applies to every padded target, including no-object, while the indicator switches the box loss off for no-object.</a:t>
            </a:r>
          </a:p>
          <a:p xmlns:a="http://schemas.openxmlformats.org/drawingml/2006/main">
            <a:r>
              <a:t/>
            </a:r>
          </a:p>
          <a:p xmlns:a="http://schemas.openxmlformats.org/drawingml/2006/main">
            <a:r>
              <a:t>Important technical caveat: The discrete assignment is already fixed here; Equation 2's differentiable terms provide gradients, not the Hungarian solver.</a:t>
            </a:r>
          </a:p>
          <a:p xmlns:a="http://schemas.openxmlformats.org/drawingml/2006/main">
            <a:r>
              <a:t/>
            </a:r>
          </a:p>
          <a:p xmlns:a="http://schemas.openxmlformats.org/drawingml/2006/main">
            <a:r>
              <a:t>Transition: Translate the padded equation into the five concrete class targets.</a:t>
            </a:r>
          </a:p>
          <a:p xmlns:a="http://schemas.openxmlformats.org/drawingml/2006/main">
            <a:r>
              <a:t/>
            </a:r>
          </a:p>
          <a:p xmlns:a="http://schemas.openxmlformats.org/drawingml/2006/main">
            <a:r>
              <a:t>Estimated time: 1.5 minutes</a:t>
            </a:r>
          </a:p>
          <a:p xmlns:a="http://schemas.openxmlformats.org/drawingml/2006/main">
            <a:r>
              <a:t/>
            </a:r>
          </a:p>
          <a:p xmlns:a="http://schemas.openxmlformats.org/drawingml/2006/main">
            <a:r>
              <a:t>[Sources]</a:t>
            </a:r>
          </a:p>
          <a:p xmlns:a="http://schemas.openxmlformats.org/drawingml/2006/main">
            <a:r>
              <a:t>- Carion et al., Eq. (2), PDF page 5: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Show exactly how a variable-size set becomes fixed-size class supervision.</a:t>
            </a:r>
          </a:p>
          <a:p xmlns:a="http://schemas.openxmlformats.org/drawingml/2006/main">
            <a:r>
              <a:t/>
            </a:r>
          </a:p>
          <a:p xmlns:a="http://schemas.openxmlformats.org/drawingml/2006/main">
            <a:r>
              <a:t>Suggested spoken explanation: Initialize every query target as no-object, then overwrite the matched indices with person, dog, and bicycle. Cross-entropy therefore trains all five queries. In the original criterion, the no-object class receives a lower relative weight.</a:t>
            </a:r>
          </a:p>
          <a:p xmlns:a="http://schemas.openxmlformats.org/drawingml/2006/main">
            <a:r>
              <a:t/>
            </a:r>
          </a:p>
          <a:p xmlns:a="http://schemas.openxmlformats.org/drawingml/2006/main">
            <a:r>
              <a:t>Important technical caveat: No-object is a classification target, not an extra ground-truth box. Its weight controls class imbalance but does not remove its supervision.</a:t>
            </a:r>
          </a:p>
          <a:p xmlns:a="http://schemas.openxmlformats.org/drawingml/2006/main">
            <a:r>
              <a:t/>
            </a:r>
          </a:p>
          <a:p xmlns:a="http://schemas.openxmlformats.org/drawingml/2006/main">
            <a:r>
              <a:t>Transition: Class targets exist for all queries—but do box targets also exist for all queries?</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[Sources]</a:t>
            </a:r>
          </a:p>
          <a:p xmlns:a="http://schemas.openxmlformats.org/drawingml/2006/main">
            <a:r>
              <a:t>- Carion et al., Eq. 3 and §3.1: https://arxiv.org/abs/2005.12872</a:t>
            </a:r>
          </a:p>
          <a:p xmlns:a="http://schemas.openxmlformats.org/drawingml/2006/main">
            <a:r>
              <a:t>- Official target class construction and eos_coef: https://github.com/facebookresearch/detr/blob/main/models/detr.py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Summarize the paper’s box loss without reproducing its full paragraph.</a:t>
            </a:r>
          </a:p>
          <a:p xmlns:a="http://schemas.openxmlformats.org/drawingml/2006/main">
            <a:r>
              <a:t/>
            </a:r>
          </a:p>
          <a:p xmlns:a="http://schemas.openxmlformats.org/drawingml/2006/main">
            <a:r>
              <a:t>Suggested spoken explanation: DETR combines two complementary signals. L1 compares normalized center and size coordinates. GIoU evaluates the spatial relationship between the regions, including their enclosing gap. Coefficients balance the two terms.</a:t>
            </a:r>
          </a:p>
          <a:p xmlns:a="http://schemas.openxmlformats.org/drawingml/2006/main">
            <a:r>
              <a:t/>
            </a:r>
          </a:p>
          <a:p xmlns:a="http://schemas.openxmlformats.org/drawingml/2006/main">
            <a:r>
              <a:t>Important technical caveat: The paper calls the geometric term L-iou and specifies that it is generalized IoU loss. This slide uses L-GIoU explicitly for beginner clarity and is labeled adapted.</a:t>
            </a:r>
          </a:p>
          <a:p xmlns:a="http://schemas.openxmlformats.org/drawingml/2006/main">
            <a:r>
              <a:t/>
            </a:r>
          </a:p>
          <a:p xmlns:a="http://schemas.openxmlformats.org/drawingml/2006/main">
            <a:r>
              <a:t>Transition: Apply this combined box loss only to the three matched predictions.</a:t>
            </a:r>
          </a:p>
          <a:p xmlns:a="http://schemas.openxmlformats.org/drawingml/2006/main">
            <a:r>
              <a:t/>
            </a:r>
          </a:p>
          <a:p xmlns:a="http://schemas.openxmlformats.org/drawingml/2006/main">
            <a:r>
              <a:t>Estimated time: 1.5 minutes</a:t>
            </a:r>
          </a:p>
          <a:p xmlns:a="http://schemas.openxmlformats.org/drawingml/2006/main">
            <a:r>
              <a:t/>
            </a:r>
          </a:p>
          <a:p xmlns:a="http://schemas.openxmlformats.org/drawingml/2006/main">
            <a:r>
              <a:t>[Sources]</a:t>
            </a:r>
          </a:p>
          <a:p xmlns:a="http://schemas.openxmlformats.org/drawingml/2006/main">
            <a:r>
              <a:t>- Carion et al., bounding-box loss paragraph, PDF page 6: references/detr_paper.pdf</a:t>
            </a:r>
          </a:p>
          <a:p xmlns:a="http://schemas.openxmlformats.org/drawingml/2006/main">
            <a:r>
              <a:t>- Rezatofighi et al., “Generalized Intersection over Union”: https://arxiv.org/abs/1902.09630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Separate all-query classification supervision from matched-only box regression.</a:t>
            </a:r>
          </a:p>
          <a:p xmlns:a="http://schemas.openxmlformats.org/drawingml/2006/main">
            <a:r>
              <a:t/>
            </a:r>
          </a:p>
          <a:p xmlns:a="http://schemas.openxmlformats.org/drawingml/2006/main">
            <a:r>
              <a:t>Suggested spoken explanation: Every query is classified. Only matched queries have a real target box, so only Q1–Q3 receive L1 and generalized-IoU box losses. Q4 and Q5 learn to say no-object but are not pulled toward arbitrary coordinates.</a:t>
            </a:r>
          </a:p>
          <a:p xmlns:a="http://schemas.openxmlformats.org/drawingml/2006/main">
            <a:r>
              <a:t/>
            </a:r>
          </a:p>
          <a:p xmlns:a="http://schemas.openxmlformats.org/drawingml/2006/main">
            <a:r>
              <a:t>Important technical caveat: Predicted boxes still exist for unmatched queries; they are simply excluded from box loss for this sample.</a:t>
            </a:r>
          </a:p>
          <a:p xmlns:a="http://schemas.openxmlformats.org/drawingml/2006/main">
            <a:r>
              <a:t/>
            </a:r>
          </a:p>
          <a:p xmlns:a="http://schemas.openxmlformats.org/drawingml/2006/main">
            <a:r>
              <a:t>Transition: The matcher also used class and box terms. Are those terms the same as the training loss?</a:t>
            </a:r>
          </a:p>
          <a:p xmlns:a="http://schemas.openxmlformats.org/drawingml/2006/main">
            <a:r>
              <a:t/>
            </a:r>
          </a:p>
          <a:p xmlns:a="http://schemas.openxmlformats.org/drawingml/2006/main">
            <a:r>
              <a:t>Estimated time: 2 minutes</a:t>
            </a:r>
          </a:p>
          <a:p xmlns:a="http://schemas.openxmlformats.org/drawingml/2006/main">
            <a:r>
              <a:t/>
            </a:r>
          </a:p>
          <a:p xmlns:a="http://schemas.openxmlformats.org/drawingml/2006/main">
            <a:r>
              <a:t>[Sources]</a:t>
            </a:r>
          </a:p>
          <a:p xmlns:a="http://schemas.openxmlformats.org/drawingml/2006/main">
            <a:r>
              <a:t>- Carion et al., Eq. 2–3 and §3.1: https://arxiv.org/abs/2005.12872</a:t>
            </a:r>
          </a:p>
          <a:p xmlns:a="http://schemas.openxmlformats.org/drawingml/2006/main">
            <a:r>
              <a:t>- Official losses_boxes and losses_labels: https://github.com/facebookresearch/detr/blob/main/models/detr.py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Reproduce Equation 2 as scalable teaching math and annotate its logical order.</a:t>
            </a:r>
          </a:p>
          <a:p xmlns:a="http://schemas.openxmlformats.org/drawingml/2006/main">
            <a:r>
              <a:t/>
            </a:r>
          </a:p>
          <a:p xmlns:a="http://schemas.openxmlformats.org/drawingml/2006/main">
            <a:r>
              <a:t>Suggested spoken explanation: First freeze the assignment sigma-hat from Equation 1. Then compute negative log class probability for every slot and add box loss only when the target is not no-object. These terms backpropagate.</a:t>
            </a:r>
          </a:p>
          <a:p xmlns:a="http://schemas.openxmlformats.org/drawingml/2006/main">
            <a:r>
              <a:t/>
            </a:r>
          </a:p>
          <a:p xmlns:a="http://schemas.openxmlformats.org/drawingml/2006/main">
            <a:r>
              <a:t>Important technical caveat: The formula is an exact symbolic reproduction of Eq. 2; the three colored boxes below are external teaching annotations.</a:t>
            </a:r>
          </a:p>
          <a:p xmlns:a="http://schemas.openxmlformats.org/drawingml/2006/main">
            <a:r>
              <a:t/>
            </a:r>
          </a:p>
          <a:p xmlns:a="http://schemas.openxmlformats.org/drawingml/2006/main">
            <a:r>
              <a:t>Transition: Now contrast this differentiable loss with the cost used only to choose responsibility.</a:t>
            </a:r>
          </a:p>
          <a:p xmlns:a="http://schemas.openxmlformats.org/drawingml/2006/main">
            <a:r>
              <a:t/>
            </a:r>
          </a:p>
          <a:p xmlns:a="http://schemas.openxmlformats.org/drawingml/2006/main">
            <a:r>
              <a:t>Estimated time: 2 minutes</a:t>
            </a:r>
          </a:p>
          <a:p xmlns:a="http://schemas.openxmlformats.org/drawingml/2006/main">
            <a:r>
              <a:t/>
            </a:r>
          </a:p>
          <a:p xmlns:a="http://schemas.openxmlformats.org/drawingml/2006/main">
            <a:r>
              <a:t>[Sources]</a:t>
            </a:r>
          </a:p>
          <a:p xmlns:a="http://schemas.openxmlformats.org/drawingml/2006/main">
            <a:r>
              <a:t>- Carion et al., Eq. (2), PDF page 5: references/detr_paper.pdf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Prevent the common mistake of treating assignment cost and optimization loss as identical.</a:t>
            </a:r>
          </a:p>
          <a:p xmlns:a="http://schemas.openxmlformats.org/drawingml/2006/main">
            <a:r>
              <a:t/>
            </a:r>
          </a:p>
          <a:p xmlns:a="http://schemas.openxmlformats.org/drawingml/2006/main">
            <a:r>
              <a:t>Suggested spoken explanation: Both use class and box quality, but their jobs differ. Matching cost chooses pairs and uses negative class probability in the paper/code. Training loss uses cross-entropy classification, matched box losses, and auxiliary losses, then backpropagates.</a:t>
            </a:r>
          </a:p>
          <a:p xmlns:a="http://schemas.openxmlformats.org/drawingml/2006/main">
            <a:r>
              <a:t/>
            </a:r>
          </a:p>
          <a:p xmlns:a="http://schemas.openxmlformats.org/drawingml/2006/main">
            <a:r>
              <a:t>Important technical caveat: Changing either set of weights can change training; similar terms do not make the operations interchangeable.</a:t>
            </a:r>
          </a:p>
          <a:p xmlns:a="http://schemas.openxmlformats.org/drawingml/2006/main">
            <a:r>
              <a:t/>
            </a:r>
          </a:p>
          <a:p xmlns:a="http://schemas.openxmlformats.org/drawingml/2006/main">
            <a:r>
              <a:t>Transition: Why does DETR add losses before the final decoder output?</a:t>
            </a:r>
          </a:p>
          <a:p xmlns:a="http://schemas.openxmlformats.org/drawingml/2006/main">
            <a:r>
              <a:t/>
            </a:r>
          </a:p>
          <a:p xmlns:a="http://schemas.openxmlformats.org/drawingml/2006/main">
            <a:r>
              <a:t>Estimated time: 2 minutes</a:t>
            </a:r>
          </a:p>
          <a:p xmlns:a="http://schemas.openxmlformats.org/drawingml/2006/main">
            <a:r>
              <a:t/>
            </a:r>
          </a:p>
          <a:p xmlns:a="http://schemas.openxmlformats.org/drawingml/2006/main">
            <a:r>
              <a:t>[Sources]</a:t>
            </a:r>
          </a:p>
          <a:p xmlns:a="http://schemas.openxmlformats.org/drawingml/2006/main">
            <a:r>
              <a:t>- Carion et al., Eq. 2–3: https://arxiv.org/abs/2005.12872</a:t>
            </a:r>
          </a:p>
          <a:p xmlns:a="http://schemas.openxmlformats.org/drawingml/2006/main">
            <a:r>
              <a:t>- Official matcher and criterion: https://github.com/facebookresearch/detr/tree/main/models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Explain deep supervision and its implementation nuance.</a:t>
            </a:r>
          </a:p>
          <a:p xmlns:a="http://schemas.openxmlformats.org/drawingml/2006/main">
            <a:r>
              <a:t/>
            </a:r>
          </a:p>
          <a:p xmlns:a="http://schemas.openxmlformats.org/drawingml/2006/main">
            <a:r>
              <a:t>Suggested spoken explanation: Original DETR predicts classes and boxes at intermediate decoder layers and applies the same kinds of losses there. This gives early layers a direct learning signal instead of forcing all credit through the final layer.</a:t>
            </a:r>
          </a:p>
          <a:p xmlns:a="http://schemas.openxmlformats.org/drawingml/2006/main">
            <a:r>
              <a:t/>
            </a:r>
          </a:p>
          <a:p xmlns:a="http://schemas.openxmlformats.org/drawingml/2006/main">
            <a:r>
              <a:t>Important technical caveat: In the official code, matching is recomputed for each auxiliary output; the assignments can differ across layers.</a:t>
            </a:r>
          </a:p>
          <a:p xmlns:a="http://schemas.openxmlformats.org/drawingml/2006/main">
            <a:r>
              <a:t/>
            </a:r>
          </a:p>
          <a:p xmlns:a="http://schemas.openxmlformats.org/drawingml/2006/main">
            <a:r>
              <a:t>Transition: Combine all losses and follow the gradients through the whole detector.</a:t>
            </a:r>
          </a:p>
          <a:p xmlns:a="http://schemas.openxmlformats.org/drawingml/2006/main">
            <a:r>
              <a:t/>
            </a:r>
          </a:p>
          <a:p xmlns:a="http://schemas.openxmlformats.org/drawingml/2006/main">
            <a:r>
              <a:t>Estimated time: 2 minutes</a:t>
            </a:r>
          </a:p>
          <a:p xmlns:a="http://schemas.openxmlformats.org/drawingml/2006/main">
            <a:r>
              <a:t/>
            </a:r>
          </a:p>
          <a:p xmlns:a="http://schemas.openxmlformats.org/drawingml/2006/main">
            <a:r>
              <a:t>Short version: State that every decoder layer is supervised; omit the per-layer rematching nuance.</a:t>
            </a:r>
          </a:p>
          <a:p xmlns:a="http://schemas.openxmlformats.org/drawingml/2006/main">
            <a:r>
              <a:t/>
            </a:r>
          </a:p>
          <a:p xmlns:a="http://schemas.openxmlformats.org/drawingml/2006/main">
            <a:r>
              <a:t>[Sources]</a:t>
            </a:r>
          </a:p>
          <a:p xmlns:a="http://schemas.openxmlformats.org/drawingml/2006/main">
            <a:r>
              <a:t>- Carion et al., §3.2 and §4.1: https://arxiv.org/abs/2005.12872</a:t>
            </a:r>
          </a:p>
          <a:p xmlns:a="http://schemas.openxmlformats.org/drawingml/2006/main">
            <a:r>
              <a:t>- Official auxiliary criterion loop: https://github.com/facebookresearch/detr/blob/main/models/detr.py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Trace the differentiable learning signal into every trainable module.</a:t>
            </a:r>
          </a:p>
          <a:p xmlns:a="http://schemas.openxmlformats.org/drawingml/2006/main">
            <a:r>
              <a:t/>
            </a:r>
          </a:p>
          <a:p xmlns:a="http://schemas.openxmlformats.org/drawingml/2006/main">
            <a:r>
              <a:t>Suggested spoken explanation: Loss gradients update the shared heads, decoder attention and feed-forward layers, learned query embeddings, encoder, projection, and backbone. The optimizer changes parameters; the next forward pass creates a new cost matrix and possibly a new assignment.</a:t>
            </a:r>
          </a:p>
          <a:p xmlns:a="http://schemas.openxmlformats.org/drawingml/2006/main">
            <a:r>
              <a:t/>
            </a:r>
          </a:p>
          <a:p xmlns:a="http://schemas.openxmlformats.org/drawingml/2006/main">
            <a:r>
              <a:t>Important technical caveat: The Hungarian solver is absent from this gradient chain. The original recipe uses AdamW, gradient clipping, and a smaller backbone learning rate, but exact hyperparameters depend on the training setup.</a:t>
            </a:r>
          </a:p>
          <a:p xmlns:a="http://schemas.openxmlformats.org/drawingml/2006/main">
            <a:r>
              <a:t/>
            </a:r>
          </a:p>
          <a:p xmlns:a="http://schemas.openxmlformats.org/drawingml/2006/main">
            <a:r>
              <a:t>Transition: What repeated behavior emerges after many such updates?</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[Sources]</a:t>
            </a:r>
          </a:p>
          <a:p xmlns:a="http://schemas.openxmlformats.org/drawingml/2006/main">
            <a:r>
              <a:t>- Carion et al., §4.1 training details: https://arxiv.org/abs/2005.12872</a:t>
            </a:r>
          </a:p>
          <a:p xmlns:a="http://schemas.openxmlformats.org/drawingml/2006/main">
            <a:r>
              <a:t>- Official optimizer groups and clipping: https://github.com/facebookresearch/detr/blob/main/main.py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Explain specialization as an emergent feedback loop rather than a hard-coded role.</a:t>
            </a:r>
          </a:p>
          <a:p xmlns:a="http://schemas.openxmlformats.org/drawingml/2006/main">
            <a:r>
              <a:t/>
            </a:r>
          </a:p>
          <a:p xmlns:a="http://schemas.openxmlformats.org/drawingml/2006/main">
            <a:r>
              <a:t>Suggested spoken explanation: Queries start interchangeable except for their learned embeddings. Small accidental differences affect matching. The matched query receives a useful gradient, so it may become cheaper for similar spatial or scale patterns later. Repetition produces specialization.</a:t>
            </a:r>
          </a:p>
          <a:p xmlns:a="http://schemas.openxmlformats.org/drawingml/2006/main">
            <a:r>
              <a:t/>
            </a:r>
          </a:p>
          <a:p xmlns:a="http://schemas.openxmlformats.org/drawingml/2006/main">
            <a:r>
              <a:t>Important technical caveat: A query is not guaranteed to become ‘the dog query.’ The paper observes spatial and box-pattern specialization, while assignments remain image-dependent.</a:t>
            </a:r>
          </a:p>
          <a:p xmlns:a="http://schemas.openxmlformats.org/drawingml/2006/main">
            <a:r>
              <a:t/>
            </a:r>
          </a:p>
          <a:p xmlns:a="http://schemas.openxmlformats.org/drawingml/2006/main">
            <a:r>
              <a:t>Transition: Apply the same logic to the duplicate dog prediction Q4.</a:t>
            </a:r>
          </a:p>
          <a:p xmlns:a="http://schemas.openxmlformats.org/drawingml/2006/main">
            <a:r>
              <a:t/>
            </a:r>
          </a:p>
          <a:p xmlns:a="http://schemas.openxmlformats.org/drawingml/2006/main">
            <a:r>
              <a:t>Estimated time: 3 minutes</a:t>
            </a:r>
          </a:p>
          <a:p xmlns:a="http://schemas.openxmlformats.org/drawingml/2006/main">
            <a:r>
              <a:t/>
            </a:r>
          </a:p>
          <a:p xmlns:a="http://schemas.openxmlformats.org/drawingml/2006/main">
            <a:r>
              <a:t>[Sources]</a:t>
            </a:r>
          </a:p>
          <a:p xmlns:a="http://schemas.openxmlformats.org/drawingml/2006/main">
            <a:r>
              <a:t>- Carion et al., §4.2 query-slot analysis and Fig. 7: https://arxiv.org/abs/2005.12872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Connect duplicate reduction to one-to-one supervision and unmatched no-object pressure.</a:t>
            </a:r>
          </a:p>
          <a:p xmlns:a="http://schemas.openxmlformats.org/drawingml/2006/main">
            <a:r>
              <a:t/>
            </a:r>
          </a:p>
          <a:p xmlns:a="http://schemas.openxmlformats.org/drawingml/2006/main">
            <a:r>
              <a:t>Suggested spoken explanation: Q2 owns dog and is trained toward dog. Q4 loses the one-to-one competition and is trained toward no-object, so confident duplicates are penalized. Query self-attention may support coordination, but the set loss creates the essential supervision.</a:t>
            </a:r>
          </a:p>
          <a:p xmlns:a="http://schemas.openxmlformats.org/drawingml/2006/main">
            <a:r>
              <a:t/>
            </a:r>
          </a:p>
          <a:p xmlns:a="http://schemas.openxmlformats.org/drawingml/2006/main">
            <a:r>
              <a:t>Important technical caveat: DETR can still make errors or duplicate-like predictions; ‘NMS-free’ describes the standard formulation and inference pipeline, not perfect uniqueness.</a:t>
            </a:r>
          </a:p>
          <a:p xmlns:a="http://schemas.openxmlformats.org/drawingml/2006/main">
            <a:r>
              <a:t/>
            </a:r>
          </a:p>
          <a:p xmlns:a="http://schemas.openxmlformats.org/drawingml/2006/main">
            <a:r>
              <a:t>Transition: If the idea is so clean, why was original DETR difficult to train?</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[Sources]</a:t>
            </a:r>
          </a:p>
          <a:p xmlns:a="http://schemas.openxmlformats.org/drawingml/2006/main">
            <a:r>
              <a:t>- Carion et al., §3.1 and §4.2: https://arxiv.org/abs/2005.12872</a:t>
            </a:r>
          </a:p>
          <a:p xmlns:a="http://schemas.openxmlformats.org/drawingml/2006/main">
            <a:r>
              <a:t>- Official inference filtering example: https://github.com/facebookresearch/detr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Explain the optimization price of removing strong detector priors and motivate later variants.</a:t>
            </a:r>
          </a:p>
          <a:p xmlns:a="http://schemas.openxmlformats.org/drawingml/2006/main">
            <a:r>
              <a:t/>
            </a:r>
          </a:p>
          <a:p xmlns:a="http://schemas.openxmlformats.org/drawingml/2006/main">
            <a:r>
              <a:t>Suggested spoken explanation: Original DETR needed a long schedule and struggled especially with small objects. Later methods add sparse multi-scale attention, more explicit spatial query formulations, and denoising or improved assignment training.</a:t>
            </a:r>
          </a:p>
          <a:p xmlns:a="http://schemas.openxmlformats.org/drawingml/2006/main">
            <a:r>
              <a:t/>
            </a:r>
          </a:p>
          <a:p xmlns:a="http://schemas.openxmlformats.org/drawingml/2006/main">
            <a:r>
              <a:t>Important technical caveat: Variants differ substantially; do not present all of them as one unified architecture or imply that every improvement comes from the same mechanism.</a:t>
            </a:r>
          </a:p>
          <a:p xmlns:a="http://schemas.openxmlformats.org/drawingml/2006/main">
            <a:r>
              <a:t/>
            </a:r>
          </a:p>
          <a:p xmlns:a="http://schemas.openxmlformats.org/drawingml/2006/main">
            <a:r>
              <a:t>Transition: Finally, keep the query-set idea and change the output from boxes to masks.</a:t>
            </a:r>
          </a:p>
          <a:p xmlns:a="http://schemas.openxmlformats.org/drawingml/2006/main">
            <a:r>
              <a:t/>
            </a:r>
          </a:p>
          <a:p xmlns:a="http://schemas.openxmlformats.org/drawingml/2006/main">
            <a:r>
              <a:t>Estimated time: 2 minutes</a:t>
            </a:r>
          </a:p>
          <a:p xmlns:a="http://schemas.openxmlformats.org/drawingml/2006/main">
            <a:r>
              <a:t/>
            </a:r>
          </a:p>
          <a:p xmlns:a="http://schemas.openxmlformats.org/drawingml/2006/main">
            <a:r>
              <a:t>Short version: Mention slow convergence and Deformable DETR only.</a:t>
            </a:r>
          </a:p>
          <a:p xmlns:a="http://schemas.openxmlformats.org/drawingml/2006/main">
            <a:r>
              <a:t/>
            </a:r>
          </a:p>
          <a:p xmlns:a="http://schemas.openxmlformats.org/drawingml/2006/main">
            <a:r>
              <a:t>[Sources]</a:t>
            </a:r>
          </a:p>
          <a:p xmlns:a="http://schemas.openxmlformats.org/drawingml/2006/main">
            <a:r>
              <a:t>- Carion et al., §4.1 and limitations: https://arxiv.org/abs/2005.12872</a:t>
            </a:r>
          </a:p>
          <a:p xmlns:a="http://schemas.openxmlformats.org/drawingml/2006/main">
            <a:r>
              <a:t>- Zhu et al., Deformable DETR: https://arxiv.org/abs/2010.04159</a:t>
            </a:r>
          </a:p>
          <a:p xmlns:a="http://schemas.openxmlformats.org/drawingml/2006/main">
            <a:r>
              <a:t>- Liu et al., DAB-DETR: https://arxiv.org/abs/2201.12329</a:t>
            </a:r>
          </a:p>
          <a:p xmlns:a="http://schemas.openxmlformats.org/drawingml/2006/main">
            <a:r>
              <a:t>- Li et al., DN-DETR: https://arxiv.org/abs/2203.01305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objective: Make a clear, uncompressed bridge from box-set prediction to mask classification.</a:t>
            </a:r>
          </a:p>
          <a:p xmlns:a="http://schemas.openxmlformats.org/drawingml/2006/main">
            <a:r>
              <a:t/>
            </a:r>
          </a:p>
          <a:p xmlns:a="http://schemas.openxmlformats.org/drawingml/2006/main">
            <a:r>
              <a:t>Suggested spoken explanation: Original DETR can attach a mask head to matched query representations while retaining class-and-box matching. Later mask-classification approaches make class plus mask the central set output and match using mask quality. The transferable idea is the query-indexed prediction set.</a:t>
            </a:r>
          </a:p>
          <a:p xmlns:a="http://schemas.openxmlformats.org/drawingml/2006/main">
            <a:r>
              <a:t/>
            </a:r>
          </a:p>
          <a:p xmlns:a="http://schemas.openxmlformats.org/drawingml/2006/main">
            <a:r>
              <a:t>Important technical caveat: Do not conflate DETR’s optional segmentation head with MaskFormer/Mask2Former; their mask-first formulations and training details differ.</a:t>
            </a:r>
          </a:p>
          <a:p xmlns:a="http://schemas.openxmlformats.org/drawingml/2006/main">
            <a:r>
              <a:t/>
            </a:r>
          </a:p>
          <a:p xmlns:a="http://schemas.openxmlformats.org/drawingml/2006/main">
            <a:r>
              <a:t>Transition: Close by asking the audience to reconstruct the loop: forward, cost, match, targets, loss, backward, repeat.</a:t>
            </a:r>
          </a:p>
          <a:p xmlns:a="http://schemas.openxmlformats.org/drawingml/2006/main">
            <a:r>
              <a:t/>
            </a:r>
          </a:p>
          <a:p xmlns:a="http://schemas.openxmlformats.org/drawingml/2006/main">
            <a:r>
              <a:t>Estimated time: 2.5 minutes</a:t>
            </a:r>
          </a:p>
          <a:p xmlns:a="http://schemas.openxmlformats.org/drawingml/2006/main">
            <a:r>
              <a:t/>
            </a:r>
          </a:p>
          <a:p xmlns:a="http://schemas.openxmlformats.org/drawingml/2006/main">
            <a:r>
              <a:t>[Sources]</a:t>
            </a:r>
          </a:p>
          <a:p xmlns:a="http://schemas.openxmlformats.org/drawingml/2006/main">
            <a:r>
              <a:t>- Carion et al., §4.4 segmentation: https://arxiv.org/abs/2005.12872</a:t>
            </a:r>
          </a:p>
          <a:p xmlns:a="http://schemas.openxmlformats.org/drawingml/2006/main">
            <a:r>
              <a:t>- Official DETR segmentation module: https://github.com/facebookresearch/detr/blob/main/models/segmentation.py</a:t>
            </a:r>
          </a:p>
          <a:p xmlns:a="http://schemas.openxmlformats.org/drawingml/2006/main">
            <a:r>
              <a:t>- Cheng et al., MaskFormer: https://arxiv.org/abs/2107.06278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d23ab3e0614e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26a8a8a52d4fe1" /><Relationship Type="http://schemas.openxmlformats.org/officeDocument/2006/relationships/slideLayout" Target="/ppt/slideLayouts/slideLayout1.xml" Id="R29445cfff11848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445cfff11848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045ef6f484f47a2" /><Relationship Type="http://schemas.openxmlformats.org/officeDocument/2006/relationships/notesSlide" Target="/ppt/notesSlides/notesSlide1.xml" Id="Rba609513eb0a42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7f395ae92ea4241" /><Relationship Type="http://schemas.openxmlformats.org/officeDocument/2006/relationships/image" Target="/ppt/media/image.png" Id="R42a35e2296f24add" /><Relationship Type="http://schemas.openxmlformats.org/officeDocument/2006/relationships/image" Target="/ppt/media/image2.png" Id="R3267144290b14e4f" /><Relationship Type="http://schemas.openxmlformats.org/officeDocument/2006/relationships/notesSlide" Target="/ppt/notesSlides/notesSlide2.xml" Id="R9875db8202c042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c30dd0cfba47bc" /><Relationship Type="http://schemas.openxmlformats.org/officeDocument/2006/relationships/notesSlide" Target="/ppt/notesSlides/notesSlide3.xml" Id="R2f71df41933a46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d52ec56c5b484f" /><Relationship Type="http://schemas.openxmlformats.org/officeDocument/2006/relationships/notesSlide" Target="/ppt/notesSlides/notesSlide4.xml" Id="Rd82d000941d346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b0a9bd40644e7d" /><Relationship Type="http://schemas.openxmlformats.org/officeDocument/2006/relationships/image" Target="/ppt/media/image3.png" Id="R3235d180fab2471b" /><Relationship Type="http://schemas.openxmlformats.org/officeDocument/2006/relationships/notesSlide" Target="/ppt/notesSlides/notesSlide5.xml" Id="R2a68e959996142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8f35a41d4043e8" /><Relationship Type="http://schemas.openxmlformats.org/officeDocument/2006/relationships/image" Target="/ppt/media/image4.png" Id="R407803899041452d" /><Relationship Type="http://schemas.openxmlformats.org/officeDocument/2006/relationships/notesSlide" Target="/ppt/notesSlides/notesSlide6.xml" Id="R8065dc6d338740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6f7c968b734933" /><Relationship Type="http://schemas.openxmlformats.org/officeDocument/2006/relationships/image" Target="/ppt/media/image5.png" Id="R276a023aee844e27" /><Relationship Type="http://schemas.openxmlformats.org/officeDocument/2006/relationships/notesSlide" Target="/ppt/notesSlides/notesSlide7.xml" Id="R7f5d97e396ae43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77ad5deea0426e" /><Relationship Type="http://schemas.openxmlformats.org/officeDocument/2006/relationships/image" Target="/ppt/media/image6.png" Id="Re09ed4fb68be4e40" /><Relationship Type="http://schemas.openxmlformats.org/officeDocument/2006/relationships/notesSlide" Target="/ppt/notesSlides/notesSlide8.xml" Id="Rfcfcce57d89844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2850cd58f74073" /><Relationship Type="http://schemas.openxmlformats.org/officeDocument/2006/relationships/image" Target="/ppt/media/image7.png" Id="R6b6b1843d9694dc3" /><Relationship Type="http://schemas.openxmlformats.org/officeDocument/2006/relationships/notesSlide" Target="/ppt/notesSlides/notesSlide9.xml" Id="R57434bff55df41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82573bd38864142" /><Relationship Type="http://schemas.openxmlformats.org/officeDocument/2006/relationships/image" Target="/ppt/media/image8.png" Id="Re64a27b8713b4b96" /><Relationship Type="http://schemas.openxmlformats.org/officeDocument/2006/relationships/notesSlide" Target="/ppt/notesSlides/notesSlide10.xml" Id="R6618aa18095142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766c73538e14fc0" /><Relationship Type="http://schemas.openxmlformats.org/officeDocument/2006/relationships/image" Target="/ppt/media/image9.png" Id="Re952ff4c9d724c9c" /><Relationship Type="http://schemas.openxmlformats.org/officeDocument/2006/relationships/notesSlide" Target="/ppt/notesSlides/notesSlide11.xml" Id="Rac2a73a7e4344b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bc3c6a5b9f84dd7" /><Relationship Type="http://schemas.openxmlformats.org/officeDocument/2006/relationships/notesSlide" Target="/ppt/notesSlides/notesSlide12.xml" Id="R6b1addbdd3484f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1e9224d7a0a48a5" /><Relationship Type="http://schemas.openxmlformats.org/officeDocument/2006/relationships/notesSlide" Target="/ppt/notesSlides/notesSlide13.xml" Id="R2fdb118f83f742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94308273434c3e" /><Relationship Type="http://schemas.openxmlformats.org/officeDocument/2006/relationships/image" Target="/ppt/media/image10.png" Id="R33d23239e8954cbe" /><Relationship Type="http://schemas.openxmlformats.org/officeDocument/2006/relationships/notesSlide" Target="/ppt/notesSlides/notesSlide14.xml" Id="R855a8ff3c0ea46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1c5300652064aed" /><Relationship Type="http://schemas.openxmlformats.org/officeDocument/2006/relationships/notesSlide" Target="/ppt/notesSlides/notesSlide15.xml" Id="Rca2f12e6c0ee41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4b0bdf13c1945fc" /><Relationship Type="http://schemas.openxmlformats.org/officeDocument/2006/relationships/image" Target="/ppt/media/image11.png" Id="Rf320b3d0a6524985" /><Relationship Type="http://schemas.openxmlformats.org/officeDocument/2006/relationships/notesSlide" Target="/ppt/notesSlides/notesSlide16.xml" Id="Rbb810c6351f845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8b677e886604e9e" /><Relationship Type="http://schemas.openxmlformats.org/officeDocument/2006/relationships/notesSlide" Target="/ppt/notesSlides/notesSlide17.xml" Id="Rab5b12f039c249a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98701400f984cf2" /><Relationship Type="http://schemas.openxmlformats.org/officeDocument/2006/relationships/notesSlide" Target="/ppt/notesSlides/notesSlide18.xml" Id="R1cd40811526e46a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3229887af0c48e4" /><Relationship Type="http://schemas.openxmlformats.org/officeDocument/2006/relationships/notesSlide" Target="/ppt/notesSlides/notesSlide19.xml" Id="R6792d20433af45b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32a65c08807414c" /><Relationship Type="http://schemas.openxmlformats.org/officeDocument/2006/relationships/notesSlide" Target="/ppt/notesSlides/notesSlide20.xml" Id="R09edf70776454b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22fe254a1584c54" /><Relationship Type="http://schemas.openxmlformats.org/officeDocument/2006/relationships/notesSlide" Target="/ppt/notesSlides/notesSlide21.xml" Id="Ra9df1981034e4e6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016a7d743084df8" /><Relationship Type="http://schemas.openxmlformats.org/officeDocument/2006/relationships/notesSlide" Target="/ppt/notesSlides/notesSlide22.xml" Id="R4f014c48206a481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6145fea42de4ee8" /><Relationship Type="http://schemas.openxmlformats.org/officeDocument/2006/relationships/notesSlide" Target="/ppt/notesSlides/notesSlide23.xml" Id="Re77e56ac40ea447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b54ba1a862145ec" /><Relationship Type="http://schemas.openxmlformats.org/officeDocument/2006/relationships/notesSlide" Target="/ppt/notesSlides/notesSlide24.xml" Id="R0bf5e5d9a1224ab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e542fc556924f75" /><Relationship Type="http://schemas.openxmlformats.org/officeDocument/2006/relationships/notesSlide" Target="/ppt/notesSlides/notesSlide25.xml" Id="Ra95fc42cc82d49a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1c48b71e3f5478a" /><Relationship Type="http://schemas.openxmlformats.org/officeDocument/2006/relationships/image" Target="/ppt/media/image12.png" Id="R548746b8973544d2" /><Relationship Type="http://schemas.openxmlformats.org/officeDocument/2006/relationships/notesSlide" Target="/ppt/notesSlides/notesSlide26.xml" Id="Reafd71b949094e5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edae9c5f82647ec" /><Relationship Type="http://schemas.openxmlformats.org/officeDocument/2006/relationships/notesSlide" Target="/ppt/notesSlides/notesSlide27.xml" Id="R6447211cb551400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c5243cc8ec94095" /><Relationship Type="http://schemas.openxmlformats.org/officeDocument/2006/relationships/notesSlide" Target="/ppt/notesSlides/notesSlide28.xml" Id="R9eff5f637d35476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5a3eaca2c274337" /><Relationship Type="http://schemas.openxmlformats.org/officeDocument/2006/relationships/notesSlide" Target="/ppt/notesSlides/notesSlide29.xml" Id="R8efa7c945be04aa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d15aa791e8344f5" /><Relationship Type="http://schemas.openxmlformats.org/officeDocument/2006/relationships/notesSlide" Target="/ppt/notesSlides/notesSlide30.xml" Id="Rfe0e9a738b30402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8366e1dafe744ee" /><Relationship Type="http://schemas.openxmlformats.org/officeDocument/2006/relationships/notesSlide" Target="/ppt/notesSlides/notesSlide31.xml" Id="Raf8615948d554fa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a496be1af2d4f7a" /><Relationship Type="http://schemas.openxmlformats.org/officeDocument/2006/relationships/notesSlide" Target="/ppt/notesSlides/notesSlide32.xml" Id="R1ea4746e23b947a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19f7a5802d14f26" /><Relationship Type="http://schemas.openxmlformats.org/officeDocument/2006/relationships/notesSlide" Target="/ppt/notesSlides/notesSlide33.xml" Id="R22f0b8286261431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6274c3c78e04421" /><Relationship Type="http://schemas.openxmlformats.org/officeDocument/2006/relationships/notesSlide" Target="/ppt/notesSlides/notesSlide34.xml" Id="R118a180be304499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c7a2ca6060f4405" /><Relationship Type="http://schemas.openxmlformats.org/officeDocument/2006/relationships/notesSlide" Target="/ppt/notesSlides/notesSlide35.xml" Id="R46a3251b30a4439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e20c1a44b044800" /><Relationship Type="http://schemas.openxmlformats.org/officeDocument/2006/relationships/notesSlide" Target="/ppt/notesSlides/notesSlide36.xml" Id="R7e7a9e430227405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20482c909694f70" /><Relationship Type="http://schemas.openxmlformats.org/officeDocument/2006/relationships/notesSlide" Target="/ppt/notesSlides/notesSlide37.xml" Id="R62fb5d8be33c4ce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418A17F0-3D16-47A9-8508-60B39CBAE941}"/>
              </a:ext>
            </a:extLst>
          </p:cNvPr>
          <p:cNvSpPr>
            <a:spLocks xmlns:a="http://schemas.openxmlformats.org/drawingml/2006/main" noGrp="1"/>
          </p:cNvSpPr>
          <p:nvPr/>
        </p:nvSpPr>
        <p:spPr>
          <a:xfrm xmlns:a="http://schemas.openxmlformats.org/drawingml/2006/main">
            <a:off x="457200" y="723900"/>
            <a:ext cx="7048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200" b="1">
                <a:solidFill>
                  <a:srgbClr val="111318"/>
                </a:solidFill>
                <a:latin typeface="Helvetica Neue"/>
                <a:ea typeface="Helvetica Neue"/>
                <a:cs typeface="Helvetica Neue"/>
              </a:defRPr>
            </a:pPr>
            <a:r>
              <a:rPr sz="4200" b="1">
                <a:solidFill>
                  <a:srgbClr val="111318"/>
                </a:solidFill>
                <a:latin typeface="Helvetica Neue"/>
                <a:ea typeface="Helvetica Neue"/>
                <a:cs typeface="Helvetica Neue"/>
              </a:rPr>
              <a:t>Can object detection</a:t>
            </a:r>
          </a:p>
          <a:p xmlns:a="http://schemas.openxmlformats.org/drawingml/2006/main">
            <a:pPr algn="l">
              <a:defRPr sz="4200" b="1">
                <a:solidFill>
                  <a:srgbClr val="111318"/>
                </a:solidFill>
                <a:latin typeface="Helvetica Neue"/>
                <a:ea typeface="Helvetica Neue"/>
                <a:cs typeface="Helvetica Neue"/>
              </a:defRPr>
            </a:pPr>
            <a:r>
              <a:rPr sz="4200" b="1">
                <a:solidFill>
                  <a:srgbClr val="111318"/>
                </a:solidFill>
                <a:latin typeface="Helvetica Neue"/>
                <a:ea typeface="Helvetica Neue"/>
                <a:cs typeface="Helvetica Neue"/>
              </a:rPr>
              <a:t>become set prediction?</a:t>
            </a:r>
          </a:p>
        </p:txBody>
      </p:sp>
      <p:sp>
        <p:nvSpPr>
          <p:cNvPr id="2" name="text">
            <a:extLst xmlns:a="http://schemas.openxmlformats.org/drawingml/2006/main">
              <a:ext uri="{FF2B5EF4-FFF2-40B4-BE49-F238E27FC236}">
                <a16:creationId xmlns:a16="http://schemas.microsoft.com/office/drawing/2014/main" id="{11DFAF07-27DF-4D43-A484-F69A0DDE9795}"/>
              </a:ext>
            </a:extLst>
          </p:cNvPr>
          <p:cNvSpPr>
            <a:spLocks xmlns:a="http://schemas.openxmlformats.org/drawingml/2006/main" noGrp="1"/>
          </p:cNvSpPr>
          <p:nvPr/>
        </p:nvSpPr>
        <p:spPr>
          <a:xfrm xmlns:a="http://schemas.openxmlformats.org/drawingml/2006/main">
            <a:off x="495300" y="2686050"/>
            <a:ext cx="6762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950" b="0">
                <a:solidFill>
                  <a:srgbClr val="5D6673"/>
                </a:solidFill>
                <a:latin typeface="Helvetica Neue"/>
                <a:ea typeface="Helvetica Neue"/>
                <a:cs typeface="Helvetica Neue"/>
              </a:defRPr>
            </a:pPr>
            <a:r>
              <a:rPr sz="1950" b="0">
                <a:solidFill>
                  <a:srgbClr val="5D6673"/>
                </a:solidFill>
                <a:latin typeface="Helvetica Neue"/>
                <a:ea typeface="Helvetica Neue"/>
                <a:cs typeface="Helvetica Neue"/>
              </a:rPr>
              <a:t>DETR • a beginner-friendly training story</a:t>
            </a:r>
          </a:p>
        </p:txBody>
      </p:sp>
      <p:sp>
        <p:nvSpPr>
          <p:cNvPr id="3" name="node">
            <a:extLst xmlns:a="http://schemas.openxmlformats.org/drawingml/2006/main">
              <a:ext uri="{FF2B5EF4-FFF2-40B4-BE49-F238E27FC236}">
                <a16:creationId xmlns:a16="http://schemas.microsoft.com/office/drawing/2014/main" id="{C3E56466-3159-427E-AF83-3CE2490F38ED}"/>
              </a:ext>
            </a:extLst>
          </p:cNvPr>
          <p:cNvSpPr>
            <a:spLocks xmlns:a="http://schemas.openxmlformats.org/drawingml/2006/main" noGrp="1"/>
          </p:cNvSpPr>
          <p:nvPr/>
        </p:nvSpPr>
        <p:spPr>
          <a:xfrm xmlns:a="http://schemas.openxmlformats.org/drawingml/2006/main">
            <a:off x="8096250" y="914400"/>
            <a:ext cx="2571750" cy="609600"/>
          </a:xfrm>
          <a:prstGeom xmlns:a="http://schemas.openxmlformats.org/drawingml/2006/main" prst="roundRect">
            <a:avLst>
              <a:gd name="adj" fmla="val 12500"/>
            </a:avLst>
          </a:prstGeom>
          <a:solidFill xmlns:a="http://schemas.openxmlformats.org/drawingml/2006/main">
            <a:srgbClr val="EEF1F4"/>
          </a:solidFill>
          <a:ln xmlns:a="http://schemas.openxmlformats.org/drawingml/2006/main" w="19050">
            <a:solidFill>
              <a:srgbClr val="BCC3CC"/>
            </a:solidFill>
            <a:prstDash val="solid"/>
          </a:ln>
        </p:spPr>
      </p:sp>
      <p:sp>
        <p:nvSpPr>
          <p:cNvPr id="4" name="node-label">
            <a:extLst xmlns:a="http://schemas.openxmlformats.org/drawingml/2006/main">
              <a:ext uri="{FF2B5EF4-FFF2-40B4-BE49-F238E27FC236}">
                <a16:creationId xmlns:a16="http://schemas.microsoft.com/office/drawing/2014/main" id="{301108B0-5610-41E5-BF65-2973F75BF6AE}"/>
              </a:ext>
            </a:extLst>
          </p:cNvPr>
          <p:cNvSpPr>
            <a:spLocks xmlns:a="http://schemas.openxmlformats.org/drawingml/2006/main" noGrp="1"/>
          </p:cNvSpPr>
          <p:nvPr/>
        </p:nvSpPr>
        <p:spPr>
          <a:xfrm xmlns:a="http://schemas.openxmlformats.org/drawingml/2006/main">
            <a:off x="8172450" y="952500"/>
            <a:ext cx="24193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image</a:t>
            </a:r>
          </a:p>
        </p:txBody>
      </p:sp>
      <p:sp>
        <p:nvSpPr>
          <p:cNvPr id="5" name="arrow">
            <a:extLst xmlns:a="http://schemas.openxmlformats.org/drawingml/2006/main">
              <a:ext uri="{FF2B5EF4-FFF2-40B4-BE49-F238E27FC236}">
                <a16:creationId xmlns:a16="http://schemas.microsoft.com/office/drawing/2014/main" id="{8F5D3E05-20C3-4A63-9A88-6B31A04D4680}"/>
              </a:ext>
            </a:extLst>
          </p:cNvPr>
          <p:cNvSpPr>
            <a:spLocks xmlns:a="http://schemas.openxmlformats.org/drawingml/2006/main" noGrp="1"/>
          </p:cNvSpPr>
          <p:nvPr/>
        </p:nvSpPr>
        <p:spPr>
          <a:xfrm xmlns:a="http://schemas.openxmlformats.org/drawingml/2006/main">
            <a:off x="9105900" y="161925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6" name="node">
            <a:extLst xmlns:a="http://schemas.openxmlformats.org/drawingml/2006/main">
              <a:ext uri="{FF2B5EF4-FFF2-40B4-BE49-F238E27FC236}">
                <a16:creationId xmlns:a16="http://schemas.microsoft.com/office/drawing/2014/main" id="{54AF3813-298B-4D24-84F1-A01A1AC4C6C9}"/>
              </a:ext>
            </a:extLst>
          </p:cNvPr>
          <p:cNvSpPr>
            <a:spLocks xmlns:a="http://schemas.openxmlformats.org/drawingml/2006/main" noGrp="1"/>
          </p:cNvSpPr>
          <p:nvPr/>
        </p:nvSpPr>
        <p:spPr>
          <a:xfrm xmlns:a="http://schemas.openxmlformats.org/drawingml/2006/main">
            <a:off x="8096250" y="2114550"/>
            <a:ext cx="2571750" cy="781050"/>
          </a:xfrm>
          <a:prstGeom xmlns:a="http://schemas.openxmlformats.org/drawingml/2006/main" prst="roundRect">
            <a:avLst>
              <a:gd name="adj" fmla="val 9756"/>
            </a:avLst>
          </a:prstGeom>
          <a:solidFill xmlns:a="http://schemas.openxmlformats.org/drawingml/2006/main">
            <a:srgbClr val="D9F1FC"/>
          </a:solidFill>
          <a:ln xmlns:a="http://schemas.openxmlformats.org/drawingml/2006/main" w="19050">
            <a:solidFill>
              <a:srgbClr val="3D8DFF"/>
            </a:solidFill>
            <a:prstDash val="solid"/>
          </a:ln>
        </p:spPr>
      </p:sp>
      <p:sp>
        <p:nvSpPr>
          <p:cNvPr id="7" name="node-label">
            <a:extLst xmlns:a="http://schemas.openxmlformats.org/drawingml/2006/main">
              <a:ext uri="{FF2B5EF4-FFF2-40B4-BE49-F238E27FC236}">
                <a16:creationId xmlns:a16="http://schemas.microsoft.com/office/drawing/2014/main" id="{A50BEB3D-77B6-4DF9-BA51-0388FA07DA87}"/>
              </a:ext>
            </a:extLst>
          </p:cNvPr>
          <p:cNvSpPr>
            <a:spLocks xmlns:a="http://schemas.openxmlformats.org/drawingml/2006/main" noGrp="1"/>
          </p:cNvSpPr>
          <p:nvPr/>
        </p:nvSpPr>
        <p:spPr>
          <a:xfrm xmlns:a="http://schemas.openxmlformats.org/drawingml/2006/main">
            <a:off x="8172450" y="2152650"/>
            <a:ext cx="2419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100 learned</a:t>
            </a:r>
          </a:p>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query slots</a:t>
            </a:r>
          </a:p>
        </p:txBody>
      </p:sp>
      <p:sp>
        <p:nvSpPr>
          <p:cNvPr id="8" name="arrow">
            <a:extLst xmlns:a="http://schemas.openxmlformats.org/drawingml/2006/main">
              <a:ext uri="{FF2B5EF4-FFF2-40B4-BE49-F238E27FC236}">
                <a16:creationId xmlns:a16="http://schemas.microsoft.com/office/drawing/2014/main" id="{ED871F23-BF30-4C10-BC1D-52F48D60A423}"/>
              </a:ext>
            </a:extLst>
          </p:cNvPr>
          <p:cNvSpPr>
            <a:spLocks xmlns:a="http://schemas.openxmlformats.org/drawingml/2006/main" noGrp="1"/>
          </p:cNvSpPr>
          <p:nvPr/>
        </p:nvSpPr>
        <p:spPr>
          <a:xfrm xmlns:a="http://schemas.openxmlformats.org/drawingml/2006/main">
            <a:off x="9105900" y="299085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9" name="node">
            <a:extLst xmlns:a="http://schemas.openxmlformats.org/drawingml/2006/main">
              <a:ext uri="{FF2B5EF4-FFF2-40B4-BE49-F238E27FC236}">
                <a16:creationId xmlns:a16="http://schemas.microsoft.com/office/drawing/2014/main" id="{84E86685-858C-4536-9C6F-3CD74B3F291E}"/>
              </a:ext>
            </a:extLst>
          </p:cNvPr>
          <p:cNvSpPr>
            <a:spLocks xmlns:a="http://schemas.openxmlformats.org/drawingml/2006/main" noGrp="1"/>
          </p:cNvSpPr>
          <p:nvPr/>
        </p:nvSpPr>
        <p:spPr>
          <a:xfrm xmlns:a="http://schemas.openxmlformats.org/drawingml/2006/main">
            <a:off x="8096250" y="3505200"/>
            <a:ext cx="2571750" cy="781050"/>
          </a:xfrm>
          <a:prstGeom xmlns:a="http://schemas.openxmlformats.org/drawingml/2006/main" prst="roundRect">
            <a:avLst>
              <a:gd name="adj" fmla="val 9756"/>
            </a:avLst>
          </a:prstGeom>
          <a:solidFill xmlns:a="http://schemas.openxmlformats.org/drawingml/2006/main">
            <a:srgbClr val="DDF4E8"/>
          </a:solidFill>
          <a:ln xmlns:a="http://schemas.openxmlformats.org/drawingml/2006/main" w="19050">
            <a:solidFill>
              <a:srgbClr val="45B97C"/>
            </a:solidFill>
            <a:prstDash val="solid"/>
          </a:ln>
        </p:spPr>
      </p:sp>
      <p:sp>
        <p:nvSpPr>
          <p:cNvPr id="10" name="node-label">
            <a:extLst xmlns:a="http://schemas.openxmlformats.org/drawingml/2006/main">
              <a:ext uri="{FF2B5EF4-FFF2-40B4-BE49-F238E27FC236}">
                <a16:creationId xmlns:a16="http://schemas.microsoft.com/office/drawing/2014/main" id="{8B26200B-6505-4AEF-93A0-D964488099CC}"/>
              </a:ext>
            </a:extLst>
          </p:cNvPr>
          <p:cNvSpPr>
            <a:spLocks xmlns:a="http://schemas.openxmlformats.org/drawingml/2006/main" noGrp="1"/>
          </p:cNvSpPr>
          <p:nvPr/>
        </p:nvSpPr>
        <p:spPr>
          <a:xfrm xmlns:a="http://schemas.openxmlformats.org/drawingml/2006/main">
            <a:off x="8172450" y="3543300"/>
            <a:ext cx="2419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one unique</a:t>
            </a:r>
          </a:p>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prediction set</a:t>
            </a:r>
          </a:p>
        </p:txBody>
      </p:sp>
      <p:sp>
        <p:nvSpPr>
          <p:cNvPr id="11" name="box">
            <a:extLst xmlns:a="http://schemas.openxmlformats.org/drawingml/2006/main">
              <a:ext uri="{FF2B5EF4-FFF2-40B4-BE49-F238E27FC236}">
                <a16:creationId xmlns:a16="http://schemas.microsoft.com/office/drawing/2014/main" id="{115D3C9A-801B-44A4-84D5-474D11589569}"/>
              </a:ext>
            </a:extLst>
          </p:cNvPr>
          <p:cNvSpPr>
            <a:spLocks xmlns:a="http://schemas.openxmlformats.org/drawingml/2006/main" noGrp="1"/>
          </p:cNvSpPr>
          <p:nvPr/>
        </p:nvSpPr>
        <p:spPr>
          <a:xfrm xmlns:a="http://schemas.openxmlformats.org/drawingml/2006/main">
            <a:off x="495300" y="3733800"/>
            <a:ext cx="2190750" cy="323850"/>
          </a:xfrm>
          <a:prstGeom xmlns:a="http://schemas.openxmlformats.org/drawingml/2006/main" prst="roundRect">
            <a:avLst>
              <a:gd name="adj" fmla="val 23529"/>
            </a:avLst>
          </a:prstGeom>
          <a:solidFill xmlns:a="http://schemas.openxmlformats.org/drawingml/2006/main">
            <a:srgbClr val="EEF1F4"/>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1C993ED2-CF83-496C-985D-929BD72FE6F4}"/>
              </a:ext>
            </a:extLst>
          </p:cNvPr>
          <p:cNvSpPr>
            <a:spLocks xmlns:a="http://schemas.openxmlformats.org/drawingml/2006/main" noGrp="1"/>
          </p:cNvSpPr>
          <p:nvPr/>
        </p:nvSpPr>
        <p:spPr>
          <a:xfrm xmlns:a="http://schemas.openxmlformats.org/drawingml/2006/main">
            <a:off x="571500" y="37528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11318"/>
                </a:solidFill>
                <a:latin typeface="Helvetica Neue"/>
                <a:ea typeface="Helvetica Neue"/>
                <a:cs typeface="Helvetica Neue"/>
              </a:defRPr>
            </a:pPr>
            <a:r>
              <a:rPr sz="1125" b="1">
                <a:solidFill>
                  <a:srgbClr val="111318"/>
                </a:solidFill>
                <a:latin typeface="Helvetica Neue"/>
                <a:ea typeface="Helvetica Neue"/>
                <a:cs typeface="Helvetica Neue"/>
              </a:rPr>
              <a:t>CNN + Transformer</a:t>
            </a:r>
          </a:p>
        </p:txBody>
      </p:sp>
      <p:sp>
        <p:nvSpPr>
          <p:cNvPr id="13" name="box">
            <a:extLst xmlns:a="http://schemas.openxmlformats.org/drawingml/2006/main">
              <a:ext uri="{FF2B5EF4-FFF2-40B4-BE49-F238E27FC236}">
                <a16:creationId xmlns:a16="http://schemas.microsoft.com/office/drawing/2014/main" id="{CA8AD771-C770-431B-987A-A9887DF923ED}"/>
              </a:ext>
            </a:extLst>
          </p:cNvPr>
          <p:cNvSpPr>
            <a:spLocks xmlns:a="http://schemas.openxmlformats.org/drawingml/2006/main" noGrp="1"/>
          </p:cNvSpPr>
          <p:nvPr/>
        </p:nvSpPr>
        <p:spPr>
          <a:xfrm xmlns:a="http://schemas.openxmlformats.org/drawingml/2006/main">
            <a:off x="2800350" y="3733800"/>
            <a:ext cx="2343150" cy="323850"/>
          </a:xfrm>
          <a:prstGeom xmlns:a="http://schemas.openxmlformats.org/drawingml/2006/main" prst="roundRect">
            <a:avLst>
              <a:gd name="adj" fmla="val 23529"/>
            </a:avLst>
          </a:prstGeom>
          <a:solidFill xmlns:a="http://schemas.openxmlformats.org/drawingml/2006/main">
            <a:srgbClr val="FDE7E5"/>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F96A37F6-98A8-4BEC-AB36-177CDC874596}"/>
              </a:ext>
            </a:extLst>
          </p:cNvPr>
          <p:cNvSpPr>
            <a:spLocks xmlns:a="http://schemas.openxmlformats.org/drawingml/2006/main" noGrp="1"/>
          </p:cNvSpPr>
          <p:nvPr/>
        </p:nvSpPr>
        <p:spPr>
          <a:xfrm xmlns:a="http://schemas.openxmlformats.org/drawingml/2006/main">
            <a:off x="2876550" y="37528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EF6A66"/>
                </a:solidFill>
                <a:latin typeface="Helvetica Neue"/>
                <a:ea typeface="Helvetica Neue"/>
                <a:cs typeface="Helvetica Neue"/>
              </a:defRPr>
            </a:pPr>
            <a:r>
              <a:rPr sz="1125" b="1">
                <a:solidFill>
                  <a:srgbClr val="EF6A66"/>
                </a:solidFill>
                <a:latin typeface="Helvetica Neue"/>
                <a:ea typeface="Helvetica Neue"/>
                <a:cs typeface="Helvetica Neue"/>
              </a:rPr>
              <a:t>Hungarian matching</a:t>
            </a:r>
          </a:p>
        </p:txBody>
      </p:sp>
      <p:sp>
        <p:nvSpPr>
          <p:cNvPr id="15" name="box">
            <a:extLst xmlns:a="http://schemas.openxmlformats.org/drawingml/2006/main">
              <a:ext uri="{FF2B5EF4-FFF2-40B4-BE49-F238E27FC236}">
                <a16:creationId xmlns:a16="http://schemas.microsoft.com/office/drawing/2014/main" id="{486EFF79-0556-4974-8BA9-E381F6A0D430}"/>
              </a:ext>
            </a:extLst>
          </p:cNvPr>
          <p:cNvSpPr>
            <a:spLocks xmlns:a="http://schemas.openxmlformats.org/drawingml/2006/main" noGrp="1"/>
          </p:cNvSpPr>
          <p:nvPr/>
        </p:nvSpPr>
        <p:spPr>
          <a:xfrm xmlns:a="http://schemas.openxmlformats.org/drawingml/2006/main">
            <a:off x="5257800" y="3733800"/>
            <a:ext cx="1428750" cy="323850"/>
          </a:xfrm>
          <a:prstGeom xmlns:a="http://schemas.openxmlformats.org/drawingml/2006/main" prst="roundRect">
            <a:avLst>
              <a:gd name="adj" fmla="val 23529"/>
            </a:avLst>
          </a:prstGeom>
          <a:solidFill xmlns:a="http://schemas.openxmlformats.org/drawingml/2006/main">
            <a:srgbClr val="DDF4E8"/>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99AA1D33-C8C7-4482-B253-E11C5FB4F2DB}"/>
              </a:ext>
            </a:extLst>
          </p:cNvPr>
          <p:cNvSpPr>
            <a:spLocks xmlns:a="http://schemas.openxmlformats.org/drawingml/2006/main" noGrp="1"/>
          </p:cNvSpPr>
          <p:nvPr/>
        </p:nvSpPr>
        <p:spPr>
          <a:xfrm xmlns:a="http://schemas.openxmlformats.org/drawingml/2006/main">
            <a:off x="5334000" y="3752850"/>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45B97C"/>
                </a:solidFill>
                <a:latin typeface="Helvetica Neue"/>
                <a:ea typeface="Helvetica Neue"/>
                <a:cs typeface="Helvetica Neue"/>
              </a:defRPr>
            </a:pPr>
            <a:r>
              <a:rPr sz="1125" b="1">
                <a:solidFill>
                  <a:srgbClr val="45B97C"/>
                </a:solidFill>
                <a:latin typeface="Helvetica Neue"/>
                <a:ea typeface="Helvetica Neue"/>
                <a:cs typeface="Helvetica Neue"/>
              </a:rPr>
              <a:t>set loss</a:t>
            </a:r>
          </a:p>
        </p:txBody>
      </p:sp>
      <p:sp>
        <p:nvSpPr>
          <p:cNvPr id="17" name="text">
            <a:extLst xmlns:a="http://schemas.openxmlformats.org/drawingml/2006/main">
              <a:ext uri="{FF2B5EF4-FFF2-40B4-BE49-F238E27FC236}">
                <a16:creationId xmlns:a16="http://schemas.microsoft.com/office/drawing/2014/main" id="{1F2775DE-2338-4256-8819-F319E4BD2054}"/>
              </a:ext>
            </a:extLst>
          </p:cNvPr>
          <p:cNvSpPr>
            <a:spLocks xmlns:a="http://schemas.openxmlformats.org/drawingml/2006/main" noGrp="1"/>
          </p:cNvSpPr>
          <p:nvPr/>
        </p:nvSpPr>
        <p:spPr>
          <a:xfrm xmlns:a="http://schemas.openxmlformats.org/drawingml/2006/main">
            <a:off x="495300" y="47625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We will follow one image, five queries, and three objects through one training step.</a:t>
            </a:r>
          </a:p>
        </p:txBody>
      </p:sp>
      <p:sp>
        <p:nvSpPr>
          <p:cNvPr id="18" name="text">
            <a:extLst xmlns:a="http://schemas.openxmlformats.org/drawingml/2006/main">
              <a:ext uri="{FF2B5EF4-FFF2-40B4-BE49-F238E27FC236}">
                <a16:creationId xmlns:a16="http://schemas.microsoft.com/office/drawing/2014/main" id="{DC0D7665-4C5C-446B-A24E-BDFE48C7A059}"/>
              </a:ext>
            </a:extLst>
          </p:cNvPr>
          <p:cNvSpPr>
            <a:spLocks xmlns:a="http://schemas.openxmlformats.org/drawingml/2006/main" noGrp="1"/>
          </p:cNvSpPr>
          <p:nvPr/>
        </p:nvSpPr>
        <p:spPr>
          <a:xfrm xmlns:a="http://schemas.openxmlformats.org/drawingml/2006/main">
            <a:off x="495300" y="5857875"/>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Nicolas Carion et al. • ECCV 2020</a:t>
            </a:r>
          </a:p>
        </p:txBody>
      </p:sp>
      <p:sp>
        <p:nvSpPr>
          <p:cNvPr id="19" name="text">
            <a:extLst xmlns:a="http://schemas.openxmlformats.org/drawingml/2006/main">
              <a:ext uri="{FF2B5EF4-FFF2-40B4-BE49-F238E27FC236}">
                <a16:creationId xmlns:a16="http://schemas.microsoft.com/office/drawing/2014/main" id="{8E5B714B-DC9B-4A4B-BB1B-B9FA13F87400}"/>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OPENING</a:t>
            </a:r>
          </a:p>
        </p:txBody>
      </p:sp>
      <p:sp>
        <p:nvSpPr>
          <p:cNvPr id="20" name="text">
            <a:extLst xmlns:a="http://schemas.openxmlformats.org/drawingml/2006/main">
              <a:ext uri="{FF2B5EF4-FFF2-40B4-BE49-F238E27FC236}">
                <a16:creationId xmlns:a16="http://schemas.microsoft.com/office/drawing/2014/main" id="{1FFDD39A-1138-444A-BC46-3B8E153FE1AB}"/>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01</a:t>
            </a:r>
          </a:p>
        </p:txBody>
      </p:sp>
    </p:spTree>
    <p:extLst>
      <p:ext uri="{BB962C8B-B14F-4D97-AF65-F5344CB8AC3E}">
        <p14:creationId xmlns:p14="http://schemas.microsoft.com/office/powerpoint/2010/main" val="8657064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
            <a:extLst xmlns:a="http://schemas.openxmlformats.org/drawingml/2006/main">
              <a:ext uri="{FF2B5EF4-FFF2-40B4-BE49-F238E27FC236}">
                <a16:creationId xmlns:a16="http://schemas.microsoft.com/office/drawing/2014/main" id="{1B61FCCA-5171-4C82-A702-7F70B9986F49}"/>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9429CE98-F510-472B-820D-2F6FEC7A2990}"/>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Why do detectors produce so many boxes?</a:t>
            </a:r>
          </a:p>
        </p:txBody>
      </p:sp>
      <p:sp>
        <p:nvSpPr>
          <p:cNvPr id="3" name="text">
            <a:extLst xmlns:a="http://schemas.openxmlformats.org/drawingml/2006/main">
              <a:ext uri="{FF2B5EF4-FFF2-40B4-BE49-F238E27FC236}">
                <a16:creationId xmlns:a16="http://schemas.microsoft.com/office/drawing/2014/main" id="{66A73113-84B4-4BE1-AC73-0F0241ABB472}"/>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MOTIVATION</a:t>
            </a:r>
          </a:p>
        </p:txBody>
      </p:sp>
      <p:sp>
        <p:nvSpPr>
          <p:cNvPr id="4" name="text">
            <a:extLst xmlns:a="http://schemas.openxmlformats.org/drawingml/2006/main">
              <a:ext uri="{FF2B5EF4-FFF2-40B4-BE49-F238E27FC236}">
                <a16:creationId xmlns:a16="http://schemas.microsoft.com/office/drawing/2014/main" id="{558FCC49-4E50-44AB-A742-057FC936454D}"/>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02</a:t>
            </a:r>
          </a:p>
        </p:txBody>
      </p:sp>
      <p:sp>
        <p:nvSpPr>
          <p:cNvPr id="5" name="text">
            <a:extLst xmlns:a="http://schemas.openxmlformats.org/drawingml/2006/main">
              <a:ext uri="{FF2B5EF4-FFF2-40B4-BE49-F238E27FC236}">
                <a16:creationId xmlns:a16="http://schemas.microsoft.com/office/drawing/2014/main" id="{F6610A4F-224A-420B-B2D3-891149A81EB6}"/>
              </a:ext>
            </a:extLst>
          </p:cNvPr>
          <p:cNvSpPr>
            <a:spLocks xmlns:a="http://schemas.openxmlformats.org/drawingml/2006/main" noGrp="1"/>
          </p:cNvSpPr>
          <p:nvPr/>
        </p:nvSpPr>
        <p:spPr>
          <a:xfrm xmlns:a="http://schemas.openxmlformats.org/drawingml/2006/main">
            <a:off x="571500" y="13525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EF6A66"/>
                </a:solidFill>
                <a:latin typeface="Helvetica Neue"/>
                <a:ea typeface="Helvetica Neue"/>
                <a:cs typeface="Helvetica Neue"/>
              </a:defRPr>
            </a:pPr>
            <a:r>
              <a:rPr sz="1200" b="1">
                <a:solidFill>
                  <a:srgbClr val="EF6A66"/>
                </a:solidFill>
                <a:latin typeface="Helvetica Neue"/>
                <a:ea typeface="Helvetica Neue"/>
                <a:cs typeface="Helvetica Neue"/>
              </a:rPr>
              <a:t>BEFORE NMS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42a35e2296f24add"/>
          <a:srcRect xmlns:a="http://schemas.openxmlformats.org/drawingml/2006/main" l="8963" t="0" r="8963" b="0"/>
          <a:stretch xmlns:a="http://schemas.openxmlformats.org/drawingml/2006/main">
            <a:fillRect l="0" t="0" r="0" b="0"/>
          </a:stretch>
        </p:blipFill>
        <p:spPr>
          <a:xfrm xmlns:a="http://schemas.openxmlformats.org/drawingml/2006/main">
            <a:off x="571500" y="1676400"/>
            <a:ext cx="3333750" cy="2286000"/>
          </a:xfrm>
          <a:prstGeom xmlns:a="http://schemas.openxmlformats.org/drawingml/2006/main" prst="roundRect">
            <a:avLst>
              <a:gd name="adj" fmla="val 5000"/>
            </a:avLst>
          </a:prstGeom>
        </p:spPr>
      </p:pic>
      <p:sp>
        <p:nvSpPr>
          <p:cNvPr id="7" name="candidate">
            <a:extLst xmlns:a="http://schemas.openxmlformats.org/drawingml/2006/main">
              <a:ext uri="{FF2B5EF4-FFF2-40B4-BE49-F238E27FC236}">
                <a16:creationId xmlns:a16="http://schemas.microsoft.com/office/drawing/2014/main" id="{B30A8484-FC0E-40A6-B6BB-46E0077DD5F6}"/>
              </a:ext>
            </a:extLst>
          </p:cNvPr>
          <p:cNvSpPr>
            <a:spLocks xmlns:a="http://schemas.openxmlformats.org/drawingml/2006/main" noGrp="1"/>
          </p:cNvSpPr>
          <p:nvPr/>
        </p:nvSpPr>
        <p:spPr>
          <a:xfrm xmlns:a="http://schemas.openxmlformats.org/drawingml/2006/main">
            <a:off x="1352550" y="2038350"/>
            <a:ext cx="1619250" cy="1428750"/>
          </a:xfrm>
          <a:prstGeom xmlns:a="http://schemas.openxmlformats.org/drawingml/2006/main" prst="rect">
            <a:avLst/>
          </a:prstGeom>
          <a:noFill xmlns:a="http://schemas.openxmlformats.org/drawingml/2006/main"/>
          <a:ln xmlns:a="http://schemas.openxmlformats.org/drawingml/2006/main" w="28575">
            <a:solidFill>
              <a:srgbClr val="3D8DFF"/>
            </a:solidFill>
            <a:prstDash val="solid"/>
          </a:ln>
        </p:spPr>
      </p:sp>
      <p:sp>
        <p:nvSpPr>
          <p:cNvPr id="8" name="text">
            <a:extLst xmlns:a="http://schemas.openxmlformats.org/drawingml/2006/main">
              <a:ext uri="{FF2B5EF4-FFF2-40B4-BE49-F238E27FC236}">
                <a16:creationId xmlns:a16="http://schemas.microsoft.com/office/drawing/2014/main" id="{9E551676-42A3-4087-BB17-F76096DE900C}"/>
              </a:ext>
            </a:extLst>
          </p:cNvPr>
          <p:cNvSpPr>
            <a:spLocks xmlns:a="http://schemas.openxmlformats.org/drawingml/2006/main" noGrp="1"/>
          </p:cNvSpPr>
          <p:nvPr/>
        </p:nvSpPr>
        <p:spPr>
          <a:xfrm xmlns:a="http://schemas.openxmlformats.org/drawingml/2006/main">
            <a:off x="1352550" y="178117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0.94</a:t>
            </a:r>
          </a:p>
        </p:txBody>
      </p:sp>
      <p:sp>
        <p:nvSpPr>
          <p:cNvPr id="9" name="candidate">
            <a:extLst xmlns:a="http://schemas.openxmlformats.org/drawingml/2006/main">
              <a:ext uri="{FF2B5EF4-FFF2-40B4-BE49-F238E27FC236}">
                <a16:creationId xmlns:a16="http://schemas.microsoft.com/office/drawing/2014/main" id="{45D98D5D-7141-4805-AA08-A81DA4EADFC1}"/>
              </a:ext>
            </a:extLst>
          </p:cNvPr>
          <p:cNvSpPr>
            <a:spLocks xmlns:a="http://schemas.openxmlformats.org/drawingml/2006/main" noGrp="1"/>
          </p:cNvSpPr>
          <p:nvPr/>
        </p:nvSpPr>
        <p:spPr>
          <a:xfrm xmlns:a="http://schemas.openxmlformats.org/drawingml/2006/main">
            <a:off x="1466850" y="1943100"/>
            <a:ext cx="1733550" cy="1562100"/>
          </a:xfrm>
          <a:prstGeom xmlns:a="http://schemas.openxmlformats.org/drawingml/2006/main" prst="rect">
            <a:avLst/>
          </a:prstGeom>
          <a:noFill xmlns:a="http://schemas.openxmlformats.org/drawingml/2006/main"/>
          <a:ln xmlns:a="http://schemas.openxmlformats.org/drawingml/2006/main" w="28575">
            <a:solidFill>
              <a:srgbClr val="EF6A66"/>
            </a:solidFill>
            <a:prstDash val="solid"/>
          </a:ln>
        </p:spPr>
      </p:sp>
      <p:sp>
        <p:nvSpPr>
          <p:cNvPr id="10" name="text">
            <a:extLst xmlns:a="http://schemas.openxmlformats.org/drawingml/2006/main">
              <a:ext uri="{FF2B5EF4-FFF2-40B4-BE49-F238E27FC236}">
                <a16:creationId xmlns:a16="http://schemas.microsoft.com/office/drawing/2014/main" id="{12D9D597-8EA2-4677-87FF-871D7BD3BF1D}"/>
              </a:ext>
            </a:extLst>
          </p:cNvPr>
          <p:cNvSpPr>
            <a:spLocks xmlns:a="http://schemas.openxmlformats.org/drawingml/2006/main" noGrp="1"/>
          </p:cNvSpPr>
          <p:nvPr/>
        </p:nvSpPr>
        <p:spPr>
          <a:xfrm xmlns:a="http://schemas.openxmlformats.org/drawingml/2006/main">
            <a:off x="1466850" y="16859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EF6A66"/>
                </a:solidFill>
                <a:latin typeface="Helvetica Neue"/>
                <a:ea typeface="Helvetica Neue"/>
                <a:cs typeface="Helvetica Neue"/>
              </a:defRPr>
            </a:pPr>
            <a:r>
              <a:rPr sz="1125" b="1">
                <a:solidFill>
                  <a:srgbClr val="EF6A66"/>
                </a:solidFill>
                <a:latin typeface="Helvetica Neue"/>
                <a:ea typeface="Helvetica Neue"/>
                <a:cs typeface="Helvetica Neue"/>
              </a:rPr>
              <a:t>0.87</a:t>
            </a:r>
          </a:p>
        </p:txBody>
      </p:sp>
      <p:sp>
        <p:nvSpPr>
          <p:cNvPr id="11" name="candidate">
            <a:extLst xmlns:a="http://schemas.openxmlformats.org/drawingml/2006/main">
              <a:ext uri="{FF2B5EF4-FFF2-40B4-BE49-F238E27FC236}">
                <a16:creationId xmlns:a16="http://schemas.microsoft.com/office/drawing/2014/main" id="{5649B959-08E5-4863-B7C4-B0DA158CD014}"/>
              </a:ext>
            </a:extLst>
          </p:cNvPr>
          <p:cNvSpPr>
            <a:spLocks xmlns:a="http://schemas.openxmlformats.org/drawingml/2006/main" noGrp="1"/>
          </p:cNvSpPr>
          <p:nvPr/>
        </p:nvSpPr>
        <p:spPr>
          <a:xfrm xmlns:a="http://schemas.openxmlformats.org/drawingml/2006/main">
            <a:off x="1257300" y="2171700"/>
            <a:ext cx="1809750" cy="1428750"/>
          </a:xfrm>
          <a:prstGeom xmlns:a="http://schemas.openxmlformats.org/drawingml/2006/main" prst="rect">
            <a:avLst/>
          </a:prstGeom>
          <a:noFill xmlns:a="http://schemas.openxmlformats.org/drawingml/2006/main"/>
          <a:ln xmlns:a="http://schemas.openxmlformats.org/drawingml/2006/main" w="28575">
            <a:solidFill>
              <a:srgbClr val="F2B84B"/>
            </a:solidFill>
            <a:prstDash val="solid"/>
          </a:ln>
        </p:spPr>
      </p:sp>
      <p:sp>
        <p:nvSpPr>
          <p:cNvPr id="12" name="text">
            <a:extLst xmlns:a="http://schemas.openxmlformats.org/drawingml/2006/main">
              <a:ext uri="{FF2B5EF4-FFF2-40B4-BE49-F238E27FC236}">
                <a16:creationId xmlns:a16="http://schemas.microsoft.com/office/drawing/2014/main" id="{AAC16327-110A-45D5-9EE3-122858D4A4FB}"/>
              </a:ext>
            </a:extLst>
          </p:cNvPr>
          <p:cNvSpPr>
            <a:spLocks xmlns:a="http://schemas.openxmlformats.org/drawingml/2006/main" noGrp="1"/>
          </p:cNvSpPr>
          <p:nvPr/>
        </p:nvSpPr>
        <p:spPr>
          <a:xfrm xmlns:a="http://schemas.openxmlformats.org/drawingml/2006/main">
            <a:off x="1257300" y="1914525"/>
            <a:ext cx="66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2B84B"/>
                </a:solidFill>
                <a:latin typeface="Helvetica Neue"/>
                <a:ea typeface="Helvetica Neue"/>
                <a:cs typeface="Helvetica Neue"/>
              </a:defRPr>
            </a:pPr>
            <a:r>
              <a:rPr sz="1125" b="1">
                <a:solidFill>
                  <a:srgbClr val="F2B84B"/>
                </a:solidFill>
                <a:latin typeface="Helvetica Neue"/>
                <a:ea typeface="Helvetica Neue"/>
                <a:cs typeface="Helvetica Neue"/>
              </a:rPr>
              <a:t>0.71</a:t>
            </a:r>
          </a:p>
        </p:txBody>
      </p:sp>
      <p:sp>
        <p:nvSpPr>
          <p:cNvPr id="13" name="arrow">
            <a:extLst xmlns:a="http://schemas.openxmlformats.org/drawingml/2006/main">
              <a:ext uri="{FF2B5EF4-FFF2-40B4-BE49-F238E27FC236}">
                <a16:creationId xmlns:a16="http://schemas.microsoft.com/office/drawing/2014/main" id="{3F422606-4FC7-429A-8322-C8DC38423DC6}"/>
              </a:ext>
            </a:extLst>
          </p:cNvPr>
          <p:cNvSpPr>
            <a:spLocks xmlns:a="http://schemas.openxmlformats.org/drawingml/2006/main" noGrp="1"/>
          </p:cNvSpPr>
          <p:nvPr/>
        </p:nvSpPr>
        <p:spPr>
          <a:xfrm xmlns:a="http://schemas.openxmlformats.org/drawingml/2006/main">
            <a:off x="4057650" y="26098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14" name="text">
            <a:extLst xmlns:a="http://schemas.openxmlformats.org/drawingml/2006/main">
              <a:ext uri="{FF2B5EF4-FFF2-40B4-BE49-F238E27FC236}">
                <a16:creationId xmlns:a16="http://schemas.microsoft.com/office/drawing/2014/main" id="{0D91C6DA-9981-4642-A47D-E918968678AC}"/>
              </a:ext>
            </a:extLst>
          </p:cNvPr>
          <p:cNvSpPr>
            <a:spLocks xmlns:a="http://schemas.openxmlformats.org/drawingml/2006/main" noGrp="1"/>
          </p:cNvSpPr>
          <p:nvPr/>
        </p:nvSpPr>
        <p:spPr>
          <a:xfrm xmlns:a="http://schemas.openxmlformats.org/drawingml/2006/main">
            <a:off x="4114800" y="2286000"/>
            <a:ext cx="590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EF6A66"/>
                </a:solidFill>
                <a:latin typeface="Helvetica Neue"/>
                <a:ea typeface="Helvetica Neue"/>
                <a:cs typeface="Helvetica Neue"/>
              </a:defRPr>
            </a:pPr>
            <a:r>
              <a:rPr sz="1350" b="1">
                <a:solidFill>
                  <a:srgbClr val="EF6A66"/>
                </a:solidFill>
                <a:latin typeface="Helvetica Neue"/>
                <a:ea typeface="Helvetica Neue"/>
                <a:cs typeface="Helvetica Neue"/>
              </a:rPr>
              <a:t>NMS</a:t>
            </a:r>
          </a:p>
        </p:txBody>
      </p:sp>
      <p:sp>
        <p:nvSpPr>
          <p:cNvPr id="15" name="text">
            <a:extLst xmlns:a="http://schemas.openxmlformats.org/drawingml/2006/main">
              <a:ext uri="{FF2B5EF4-FFF2-40B4-BE49-F238E27FC236}">
                <a16:creationId xmlns:a16="http://schemas.microsoft.com/office/drawing/2014/main" id="{4F19F7F4-DAC2-407B-8B71-FD74B6E1A0A3}"/>
              </a:ext>
            </a:extLst>
          </p:cNvPr>
          <p:cNvSpPr>
            <a:spLocks xmlns:a="http://schemas.openxmlformats.org/drawingml/2006/main" noGrp="1"/>
          </p:cNvSpPr>
          <p:nvPr/>
        </p:nvSpPr>
        <p:spPr>
          <a:xfrm xmlns:a="http://schemas.openxmlformats.org/drawingml/2006/main">
            <a:off x="4114800" y="2819400"/>
            <a:ext cx="59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45B97C"/>
                </a:solidFill>
                <a:latin typeface="Helvetica Neue"/>
                <a:ea typeface="Helvetica Neue"/>
                <a:cs typeface="Helvetica Neue"/>
              </a:defRPr>
            </a:pPr>
            <a:r>
              <a:rPr sz="1050" b="1">
                <a:solidFill>
                  <a:srgbClr val="45B97C"/>
                </a:solidFill>
                <a:latin typeface="Helvetica Neue"/>
                <a:ea typeface="Helvetica Neue"/>
                <a:cs typeface="Helvetica Neue"/>
              </a:rPr>
              <a:t>keep 0.94</a:t>
            </a:r>
          </a:p>
        </p:txBody>
      </p:sp>
      <p:sp>
        <p:nvSpPr>
          <p:cNvPr id="16" name="text">
            <a:extLst xmlns:a="http://schemas.openxmlformats.org/drawingml/2006/main">
              <a:ext uri="{FF2B5EF4-FFF2-40B4-BE49-F238E27FC236}">
                <a16:creationId xmlns:a16="http://schemas.microsoft.com/office/drawing/2014/main" id="{778CA6A9-E215-48E9-B214-376839A8D616}"/>
              </a:ext>
            </a:extLst>
          </p:cNvPr>
          <p:cNvSpPr>
            <a:spLocks xmlns:a="http://schemas.openxmlformats.org/drawingml/2006/main" noGrp="1"/>
          </p:cNvSpPr>
          <p:nvPr/>
        </p:nvSpPr>
        <p:spPr>
          <a:xfrm xmlns:a="http://schemas.openxmlformats.org/drawingml/2006/main">
            <a:off x="4905375" y="13525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45B97C"/>
                </a:solidFill>
                <a:latin typeface="Helvetica Neue"/>
                <a:ea typeface="Helvetica Neue"/>
                <a:cs typeface="Helvetica Neue"/>
              </a:defRPr>
            </a:pPr>
            <a:r>
              <a:rPr sz="1200" b="1">
                <a:solidFill>
                  <a:srgbClr val="45B97C"/>
                </a:solidFill>
                <a:latin typeface="Helvetica Neue"/>
                <a:ea typeface="Helvetica Neue"/>
                <a:cs typeface="Helvetica Neue"/>
              </a:rPr>
              <a:t>AFTER</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3267144290b14e4f"/>
          <a:srcRect xmlns:a="http://schemas.openxmlformats.org/drawingml/2006/main" l="8963" t="0" r="8963" b="0"/>
          <a:stretch xmlns:a="http://schemas.openxmlformats.org/drawingml/2006/main">
            <a:fillRect l="0" t="0" r="0" b="0"/>
          </a:stretch>
        </p:blipFill>
        <p:spPr>
          <a:xfrm xmlns:a="http://schemas.openxmlformats.org/drawingml/2006/main">
            <a:off x="4905375" y="1676400"/>
            <a:ext cx="3333750" cy="2286000"/>
          </a:xfrm>
          <a:prstGeom xmlns:a="http://schemas.openxmlformats.org/drawingml/2006/main" prst="roundRect">
            <a:avLst>
              <a:gd name="adj" fmla="val 5000"/>
            </a:avLst>
          </a:prstGeom>
        </p:spPr>
      </p:pic>
      <p:sp>
        <p:nvSpPr>
          <p:cNvPr id="18" name="kept">
            <a:extLst xmlns:a="http://schemas.openxmlformats.org/drawingml/2006/main">
              <a:ext uri="{FF2B5EF4-FFF2-40B4-BE49-F238E27FC236}">
                <a16:creationId xmlns:a16="http://schemas.microsoft.com/office/drawing/2014/main" id="{5AF9904D-C097-42CE-843F-7FF9E046B3A2}"/>
              </a:ext>
            </a:extLst>
          </p:cNvPr>
          <p:cNvSpPr>
            <a:spLocks xmlns:a="http://schemas.openxmlformats.org/drawingml/2006/main" noGrp="1"/>
          </p:cNvSpPr>
          <p:nvPr/>
        </p:nvSpPr>
        <p:spPr>
          <a:xfrm xmlns:a="http://schemas.openxmlformats.org/drawingml/2006/main">
            <a:off x="5686425" y="2038350"/>
            <a:ext cx="1619250" cy="1428750"/>
          </a:xfrm>
          <a:prstGeom xmlns:a="http://schemas.openxmlformats.org/drawingml/2006/main" prst="rect">
            <a:avLst/>
          </a:prstGeom>
          <a:noFill xmlns:a="http://schemas.openxmlformats.org/drawingml/2006/main"/>
          <a:ln xmlns:a="http://schemas.openxmlformats.org/drawingml/2006/main" w="28575">
            <a:solidFill>
              <a:srgbClr val="45B97C"/>
            </a:solidFill>
            <a:prstDash val="solid"/>
          </a:ln>
        </p:spPr>
      </p:sp>
      <p:sp>
        <p:nvSpPr>
          <p:cNvPr id="19" name="box">
            <a:extLst xmlns:a="http://schemas.openxmlformats.org/drawingml/2006/main">
              <a:ext uri="{FF2B5EF4-FFF2-40B4-BE49-F238E27FC236}">
                <a16:creationId xmlns:a16="http://schemas.microsoft.com/office/drawing/2014/main" id="{F8A3E2ED-7101-4BD8-8D42-590A5A29297A}"/>
              </a:ext>
            </a:extLst>
          </p:cNvPr>
          <p:cNvSpPr>
            <a:spLocks xmlns:a="http://schemas.openxmlformats.org/drawingml/2006/main" noGrp="1"/>
          </p:cNvSpPr>
          <p:nvPr/>
        </p:nvSpPr>
        <p:spPr>
          <a:xfrm xmlns:a="http://schemas.openxmlformats.org/drawingml/2006/main">
            <a:off x="8572500" y="1600200"/>
            <a:ext cx="3048000" cy="2343150"/>
          </a:xfrm>
          <a:prstGeom xmlns:a="http://schemas.openxmlformats.org/drawingml/2006/main" prst="roundRect">
            <a:avLst>
              <a:gd name="adj" fmla="val 3252"/>
            </a:avLst>
          </a:prstGeom>
          <a:solidFill xmlns:a="http://schemas.openxmlformats.org/drawingml/2006/main">
            <a:srgbClr val="EEF1F4"/>
          </a:solidFill>
          <a:ln xmlns:a="http://schemas.openxmlformats.org/drawingml/2006/main" w="0">
            <a:noFill/>
            <a:prstDash val="solid"/>
          </a:ln>
        </p:spPr>
      </p:sp>
      <p:sp>
        <p:nvSpPr>
          <p:cNvPr id="20" name="text">
            <a:extLst xmlns:a="http://schemas.openxmlformats.org/drawingml/2006/main">
              <a:ext uri="{FF2B5EF4-FFF2-40B4-BE49-F238E27FC236}">
                <a16:creationId xmlns:a16="http://schemas.microsoft.com/office/drawing/2014/main" id="{3778E363-EEB2-407B-A719-A5FDD21A05B2}"/>
              </a:ext>
            </a:extLst>
          </p:cNvPr>
          <p:cNvSpPr>
            <a:spLocks xmlns:a="http://schemas.openxmlformats.org/drawingml/2006/main" noGrp="1"/>
          </p:cNvSpPr>
          <p:nvPr/>
        </p:nvSpPr>
        <p:spPr>
          <a:xfrm xmlns:a="http://schemas.openxmlformats.org/drawingml/2006/main">
            <a:off x="8801100" y="17907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The old representation</a:t>
            </a:r>
          </a:p>
        </p:txBody>
      </p:sp>
      <p:sp>
        <p:nvSpPr>
          <p:cNvPr id="21" name="text">
            <a:extLst xmlns:a="http://schemas.openxmlformats.org/drawingml/2006/main">
              <a:ext uri="{FF2B5EF4-FFF2-40B4-BE49-F238E27FC236}">
                <a16:creationId xmlns:a16="http://schemas.microsoft.com/office/drawing/2014/main" id="{CB0FD551-6286-4957-AD0C-A9B9AEDC7CB7}"/>
              </a:ext>
            </a:extLst>
          </p:cNvPr>
          <p:cNvSpPr>
            <a:spLocks xmlns:a="http://schemas.openxmlformats.org/drawingml/2006/main" noGrp="1"/>
          </p:cNvSpPr>
          <p:nvPr/>
        </p:nvSpPr>
        <p:spPr>
          <a:xfrm xmlns:a="http://schemas.openxmlformats.org/drawingml/2006/main">
            <a:off x="8801100" y="22669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EF6A66"/>
                </a:solidFill>
                <a:latin typeface="Helvetica Neue"/>
                <a:ea typeface="Helvetica Neue"/>
                <a:cs typeface="Helvetica Neue"/>
              </a:defRPr>
            </a:pPr>
            <a:r>
              <a:rPr sz="1425" b="1">
                <a:solidFill>
                  <a:srgbClr val="EF6A66"/>
                </a:solidFill>
                <a:latin typeface="Helvetica Neue"/>
                <a:ea typeface="Helvetica Neue"/>
                <a:cs typeface="Helvetica Neue"/>
              </a:rPr>
              <a:t>•</a:t>
            </a:r>
          </a:p>
        </p:txBody>
      </p:sp>
      <p:sp>
        <p:nvSpPr>
          <p:cNvPr id="22" name="text">
            <a:extLst xmlns:a="http://schemas.openxmlformats.org/drawingml/2006/main">
              <a:ext uri="{FF2B5EF4-FFF2-40B4-BE49-F238E27FC236}">
                <a16:creationId xmlns:a16="http://schemas.microsoft.com/office/drawing/2014/main" id="{503DC21B-6409-4F6D-8A41-704D9DF98187}"/>
              </a:ext>
            </a:extLst>
          </p:cNvPr>
          <p:cNvSpPr>
            <a:spLocks xmlns:a="http://schemas.openxmlformats.org/drawingml/2006/main" noGrp="1"/>
          </p:cNvSpPr>
          <p:nvPr/>
        </p:nvSpPr>
        <p:spPr>
          <a:xfrm xmlns:a="http://schemas.openxmlformats.org/drawingml/2006/main">
            <a:off x="9048750" y="2266950"/>
            <a:ext cx="2228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Many local candidates</a:t>
            </a:r>
          </a:p>
        </p:txBody>
      </p:sp>
      <p:sp>
        <p:nvSpPr>
          <p:cNvPr id="23" name="text">
            <a:extLst xmlns:a="http://schemas.openxmlformats.org/drawingml/2006/main">
              <a:ext uri="{FF2B5EF4-FFF2-40B4-BE49-F238E27FC236}">
                <a16:creationId xmlns:a16="http://schemas.microsoft.com/office/drawing/2014/main" id="{3B57B15A-460E-4098-8F2A-235829723E09}"/>
              </a:ext>
            </a:extLst>
          </p:cNvPr>
          <p:cNvSpPr>
            <a:spLocks xmlns:a="http://schemas.openxmlformats.org/drawingml/2006/main" noGrp="1"/>
          </p:cNvSpPr>
          <p:nvPr/>
        </p:nvSpPr>
        <p:spPr>
          <a:xfrm xmlns:a="http://schemas.openxmlformats.org/drawingml/2006/main">
            <a:off x="8801100" y="27622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EF6A66"/>
                </a:solidFill>
                <a:latin typeface="Helvetica Neue"/>
                <a:ea typeface="Helvetica Neue"/>
                <a:cs typeface="Helvetica Neue"/>
              </a:defRPr>
            </a:pPr>
            <a:r>
              <a:rPr sz="1425" b="1">
                <a:solidFill>
                  <a:srgbClr val="EF6A66"/>
                </a:solidFill>
                <a:latin typeface="Helvetica Neue"/>
                <a:ea typeface="Helvetica Neue"/>
                <a:cs typeface="Helvetica Neue"/>
              </a:rPr>
              <a:t>•</a:t>
            </a:r>
          </a:p>
        </p:txBody>
      </p:sp>
      <p:sp>
        <p:nvSpPr>
          <p:cNvPr id="24" name="text">
            <a:extLst xmlns:a="http://schemas.openxmlformats.org/drawingml/2006/main">
              <a:ext uri="{FF2B5EF4-FFF2-40B4-BE49-F238E27FC236}">
                <a16:creationId xmlns:a16="http://schemas.microsoft.com/office/drawing/2014/main" id="{0856437E-757C-4199-9184-F6AA5D446BA9}"/>
              </a:ext>
            </a:extLst>
          </p:cNvPr>
          <p:cNvSpPr>
            <a:spLocks xmlns:a="http://schemas.openxmlformats.org/drawingml/2006/main" noGrp="1"/>
          </p:cNvSpPr>
          <p:nvPr/>
        </p:nvSpPr>
        <p:spPr>
          <a:xfrm xmlns:a="http://schemas.openxmlformats.org/drawingml/2006/main">
            <a:off x="9048750" y="2762250"/>
            <a:ext cx="2228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Heuristic assignment</a:t>
            </a:r>
          </a:p>
        </p:txBody>
      </p:sp>
      <p:sp>
        <p:nvSpPr>
          <p:cNvPr id="25" name="text">
            <a:extLst xmlns:a="http://schemas.openxmlformats.org/drawingml/2006/main">
              <a:ext uri="{FF2B5EF4-FFF2-40B4-BE49-F238E27FC236}">
                <a16:creationId xmlns:a16="http://schemas.microsoft.com/office/drawing/2014/main" id="{6325198F-4DBD-4914-9A66-5B09BA22A453}"/>
              </a:ext>
            </a:extLst>
          </p:cNvPr>
          <p:cNvSpPr>
            <a:spLocks xmlns:a="http://schemas.openxmlformats.org/drawingml/2006/main" noGrp="1"/>
          </p:cNvSpPr>
          <p:nvPr/>
        </p:nvSpPr>
        <p:spPr>
          <a:xfrm xmlns:a="http://schemas.openxmlformats.org/drawingml/2006/main">
            <a:off x="8801100" y="32575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EF6A66"/>
                </a:solidFill>
                <a:latin typeface="Helvetica Neue"/>
                <a:ea typeface="Helvetica Neue"/>
                <a:cs typeface="Helvetica Neue"/>
              </a:defRPr>
            </a:pPr>
            <a:r>
              <a:rPr sz="1425" b="1">
                <a:solidFill>
                  <a:srgbClr val="EF6A66"/>
                </a:solidFill>
                <a:latin typeface="Helvetica Neue"/>
                <a:ea typeface="Helvetica Neue"/>
                <a:cs typeface="Helvetica Neue"/>
              </a:rPr>
              <a:t>•</a:t>
            </a:r>
          </a:p>
        </p:txBody>
      </p:sp>
      <p:sp>
        <p:nvSpPr>
          <p:cNvPr id="26" name="text">
            <a:extLst xmlns:a="http://schemas.openxmlformats.org/drawingml/2006/main">
              <a:ext uri="{FF2B5EF4-FFF2-40B4-BE49-F238E27FC236}">
                <a16:creationId xmlns:a16="http://schemas.microsoft.com/office/drawing/2014/main" id="{9669271D-86A8-447B-B17D-B970183D125E}"/>
              </a:ext>
            </a:extLst>
          </p:cNvPr>
          <p:cNvSpPr>
            <a:spLocks xmlns:a="http://schemas.openxmlformats.org/drawingml/2006/main" noGrp="1"/>
          </p:cNvSpPr>
          <p:nvPr/>
        </p:nvSpPr>
        <p:spPr>
          <a:xfrm xmlns:a="http://schemas.openxmlformats.org/drawingml/2006/main">
            <a:off x="9048750" y="3257550"/>
            <a:ext cx="2228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Duplicate cleanup</a:t>
            </a:r>
          </a:p>
        </p:txBody>
      </p:sp>
      <p:sp>
        <p:nvSpPr>
          <p:cNvPr id="27" name="box">
            <a:extLst xmlns:a="http://schemas.openxmlformats.org/drawingml/2006/main">
              <a:ext uri="{FF2B5EF4-FFF2-40B4-BE49-F238E27FC236}">
                <a16:creationId xmlns:a16="http://schemas.microsoft.com/office/drawing/2014/main" id="{9ECA7B84-D3ED-452F-BD87-6F029E4840F5}"/>
              </a:ext>
            </a:extLst>
          </p:cNvPr>
          <p:cNvSpPr>
            <a:spLocks xmlns:a="http://schemas.openxmlformats.org/drawingml/2006/main" noGrp="1"/>
          </p:cNvSpPr>
          <p:nvPr/>
        </p:nvSpPr>
        <p:spPr>
          <a:xfrm xmlns:a="http://schemas.openxmlformats.org/drawingml/2006/main">
            <a:off x="762000" y="4476750"/>
            <a:ext cx="10477500" cy="800100"/>
          </a:xfrm>
          <a:prstGeom xmlns:a="http://schemas.openxmlformats.org/drawingml/2006/main" prst="roundRect">
            <a:avLst>
              <a:gd name="adj" fmla="val 9524"/>
            </a:avLst>
          </a:prstGeom>
          <a:solidFill xmlns:a="http://schemas.openxmlformats.org/drawingml/2006/main">
            <a:srgbClr val="D9F1FC"/>
          </a:solidFill>
          <a:ln xmlns:a="http://schemas.openxmlformats.org/drawingml/2006/main" w="0">
            <a:noFill/>
            <a:prstDash val="solid"/>
          </a:ln>
        </p:spPr>
      </p:sp>
      <p:sp>
        <p:nvSpPr>
          <p:cNvPr id="28" name="text">
            <a:extLst xmlns:a="http://schemas.openxmlformats.org/drawingml/2006/main">
              <a:ext uri="{FF2B5EF4-FFF2-40B4-BE49-F238E27FC236}">
                <a16:creationId xmlns:a16="http://schemas.microsoft.com/office/drawing/2014/main" id="{D095893F-33C6-4452-A2AE-2C8FEBF67388}"/>
              </a:ext>
            </a:extLst>
          </p:cNvPr>
          <p:cNvSpPr>
            <a:spLocks xmlns:a="http://schemas.openxmlformats.org/drawingml/2006/main" noGrp="1"/>
          </p:cNvSpPr>
          <p:nvPr/>
        </p:nvSpPr>
        <p:spPr>
          <a:xfrm xmlns:a="http://schemas.openxmlformats.org/drawingml/2006/main">
            <a:off x="933450" y="4552950"/>
            <a:ext cx="10134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DETR changes the representation:</a:t>
            </a:r>
          </a:p>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predict one set directly.</a:t>
            </a:r>
          </a:p>
        </p:txBody>
      </p:sp>
    </p:spTree>
    <p:extLst>
      <p:ext uri="{BB962C8B-B14F-4D97-AF65-F5344CB8AC3E}">
        <p14:creationId xmlns:p14="http://schemas.microsoft.com/office/powerpoint/2010/main" val="14232322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text">
            <a:extLst xmlns:a="http://schemas.openxmlformats.org/drawingml/2006/main">
              <a:ext uri="{FF2B5EF4-FFF2-40B4-BE49-F238E27FC236}">
                <a16:creationId xmlns:a16="http://schemas.microsoft.com/office/drawing/2014/main" id="{3A49BB27-1ED9-49BE-B5CA-084D8AE29E5A}"/>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EC654DD4-7D7F-4D42-A64D-97ACBA037DC8}"/>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What changes when detection becomes a set?</a:t>
            </a:r>
          </a:p>
        </p:txBody>
      </p:sp>
      <p:sp>
        <p:nvSpPr>
          <p:cNvPr id="3" name="text">
            <a:extLst xmlns:a="http://schemas.openxmlformats.org/drawingml/2006/main">
              <a:ext uri="{FF2B5EF4-FFF2-40B4-BE49-F238E27FC236}">
                <a16:creationId xmlns:a16="http://schemas.microsoft.com/office/drawing/2014/main" id="{A1B056CD-FD25-41C7-9DD2-97524BD0BBD2}"/>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MOTIVATION</a:t>
            </a:r>
          </a:p>
        </p:txBody>
      </p:sp>
      <p:sp>
        <p:nvSpPr>
          <p:cNvPr id="4" name="text">
            <a:extLst xmlns:a="http://schemas.openxmlformats.org/drawingml/2006/main">
              <a:ext uri="{FF2B5EF4-FFF2-40B4-BE49-F238E27FC236}">
                <a16:creationId xmlns:a16="http://schemas.microsoft.com/office/drawing/2014/main" id="{627C20E9-AAA9-4EF9-8043-5DAF12234219}"/>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03</a:t>
            </a:r>
          </a:p>
        </p:txBody>
      </p:sp>
      <p:sp>
        <p:nvSpPr>
          <p:cNvPr id="5" name="text">
            <a:extLst xmlns:a="http://schemas.openxmlformats.org/drawingml/2006/main">
              <a:ext uri="{FF2B5EF4-FFF2-40B4-BE49-F238E27FC236}">
                <a16:creationId xmlns:a16="http://schemas.microsoft.com/office/drawing/2014/main" id="{DF5EA1B3-9D2A-453B-A72D-4A819DE1367D}"/>
              </a:ext>
            </a:extLst>
          </p:cNvPr>
          <p:cNvSpPr>
            <a:spLocks xmlns:a="http://schemas.openxmlformats.org/drawingml/2006/main" noGrp="1"/>
          </p:cNvSpPr>
          <p:nvPr/>
        </p:nvSpPr>
        <p:spPr>
          <a:xfrm xmlns:a="http://schemas.openxmlformats.org/drawingml/2006/main">
            <a:off x="514350" y="13525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5D6673"/>
                </a:solidFill>
                <a:latin typeface="Helvetica Neue"/>
                <a:ea typeface="Helvetica Neue"/>
                <a:cs typeface="Helvetica Neue"/>
              </a:defRPr>
            </a:pPr>
            <a:r>
              <a:rPr sz="1125" b="1">
                <a:solidFill>
                  <a:srgbClr val="5D6673"/>
                </a:solidFill>
                <a:latin typeface="Helvetica Neue"/>
                <a:ea typeface="Helvetica Neue"/>
                <a:cs typeface="Helvetica Neue"/>
              </a:rPr>
              <a:t>CANDIDATE PIPELINE</a:t>
            </a:r>
          </a:p>
        </p:txBody>
      </p:sp>
      <p:sp>
        <p:nvSpPr>
          <p:cNvPr id="6" name="node">
            <a:extLst xmlns:a="http://schemas.openxmlformats.org/drawingml/2006/main">
              <a:ext uri="{FF2B5EF4-FFF2-40B4-BE49-F238E27FC236}">
                <a16:creationId xmlns:a16="http://schemas.microsoft.com/office/drawing/2014/main" id="{6C340F88-5C3D-495B-80BE-ECAEF8DAC440}"/>
              </a:ext>
            </a:extLst>
          </p:cNvPr>
          <p:cNvSpPr>
            <a:spLocks xmlns:a="http://schemas.openxmlformats.org/drawingml/2006/main" noGrp="1"/>
          </p:cNvSpPr>
          <p:nvPr/>
        </p:nvSpPr>
        <p:spPr>
          <a:xfrm xmlns:a="http://schemas.openxmlformats.org/drawingml/2006/main">
            <a:off x="514350" y="1695450"/>
            <a:ext cx="2209800" cy="609600"/>
          </a:xfrm>
          <a:prstGeom xmlns:a="http://schemas.openxmlformats.org/drawingml/2006/main" prst="roundRect">
            <a:avLst>
              <a:gd name="adj" fmla="val 12500"/>
            </a:avLst>
          </a:prstGeom>
          <a:solidFill xmlns:a="http://schemas.openxmlformats.org/drawingml/2006/main">
            <a:srgbClr val="EEF1F4"/>
          </a:solidFill>
          <a:ln xmlns:a="http://schemas.openxmlformats.org/drawingml/2006/main" w="19050">
            <a:solidFill>
              <a:srgbClr val="BCC3CC"/>
            </a:solidFill>
            <a:prstDash val="solid"/>
          </a:ln>
        </p:spPr>
      </p:sp>
      <p:sp>
        <p:nvSpPr>
          <p:cNvPr id="7" name="node-label">
            <a:extLst xmlns:a="http://schemas.openxmlformats.org/drawingml/2006/main">
              <a:ext uri="{FF2B5EF4-FFF2-40B4-BE49-F238E27FC236}">
                <a16:creationId xmlns:a16="http://schemas.microsoft.com/office/drawing/2014/main" id="{8B348698-08FC-4F05-AFF8-FA1C90F93BA6}"/>
              </a:ext>
            </a:extLst>
          </p:cNvPr>
          <p:cNvSpPr>
            <a:spLocks xmlns:a="http://schemas.openxmlformats.org/drawingml/2006/main" noGrp="1"/>
          </p:cNvSpPr>
          <p:nvPr/>
        </p:nvSpPr>
        <p:spPr>
          <a:xfrm xmlns:a="http://schemas.openxmlformats.org/drawingml/2006/main">
            <a:off x="590550" y="17335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CNN/FPN</a:t>
            </a:r>
          </a:p>
        </p:txBody>
      </p:sp>
      <p:sp>
        <p:nvSpPr>
          <p:cNvPr id="8" name="arrow">
            <a:extLst xmlns:a="http://schemas.openxmlformats.org/drawingml/2006/main">
              <a:ext uri="{FF2B5EF4-FFF2-40B4-BE49-F238E27FC236}">
                <a16:creationId xmlns:a16="http://schemas.microsoft.com/office/drawing/2014/main" id="{7DA8A612-1103-4736-96F3-30C2709AD97D}"/>
              </a:ext>
            </a:extLst>
          </p:cNvPr>
          <p:cNvSpPr>
            <a:spLocks xmlns:a="http://schemas.openxmlformats.org/drawingml/2006/main" noGrp="1"/>
          </p:cNvSpPr>
          <p:nvPr/>
        </p:nvSpPr>
        <p:spPr>
          <a:xfrm xmlns:a="http://schemas.openxmlformats.org/drawingml/2006/main">
            <a:off x="2724150" y="184785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9" name="node">
            <a:extLst xmlns:a="http://schemas.openxmlformats.org/drawingml/2006/main">
              <a:ext uri="{FF2B5EF4-FFF2-40B4-BE49-F238E27FC236}">
                <a16:creationId xmlns:a16="http://schemas.microsoft.com/office/drawing/2014/main" id="{229218F9-19CC-4BC8-8032-F024D5348C2C}"/>
              </a:ext>
            </a:extLst>
          </p:cNvPr>
          <p:cNvSpPr>
            <a:spLocks xmlns:a="http://schemas.openxmlformats.org/drawingml/2006/main" noGrp="1"/>
          </p:cNvSpPr>
          <p:nvPr/>
        </p:nvSpPr>
        <p:spPr>
          <a:xfrm xmlns:a="http://schemas.openxmlformats.org/drawingml/2006/main">
            <a:off x="3314700" y="1695450"/>
            <a:ext cx="2209800" cy="609600"/>
          </a:xfrm>
          <a:prstGeom xmlns:a="http://schemas.openxmlformats.org/drawingml/2006/main" prst="roundRect">
            <a:avLst>
              <a:gd name="adj" fmla="val 12500"/>
            </a:avLst>
          </a:prstGeom>
          <a:solidFill xmlns:a="http://schemas.openxmlformats.org/drawingml/2006/main">
            <a:srgbClr val="EEF1F4"/>
          </a:solidFill>
          <a:ln xmlns:a="http://schemas.openxmlformats.org/drawingml/2006/main" w="19050">
            <a:solidFill>
              <a:srgbClr val="BCC3CC"/>
            </a:solidFill>
            <a:prstDash val="solid"/>
          </a:ln>
        </p:spPr>
      </p:sp>
      <p:sp>
        <p:nvSpPr>
          <p:cNvPr id="10" name="node-label">
            <a:extLst xmlns:a="http://schemas.openxmlformats.org/drawingml/2006/main">
              <a:ext uri="{FF2B5EF4-FFF2-40B4-BE49-F238E27FC236}">
                <a16:creationId xmlns:a16="http://schemas.microsoft.com/office/drawing/2014/main" id="{B9E22344-59F0-428C-B648-FF54E4094056}"/>
              </a:ext>
            </a:extLst>
          </p:cNvPr>
          <p:cNvSpPr>
            <a:spLocks xmlns:a="http://schemas.openxmlformats.org/drawingml/2006/main" noGrp="1"/>
          </p:cNvSpPr>
          <p:nvPr/>
        </p:nvSpPr>
        <p:spPr>
          <a:xfrm xmlns:a="http://schemas.openxmlformats.org/drawingml/2006/main">
            <a:off x="3390900" y="17335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anchors or proposals</a:t>
            </a:r>
          </a:p>
        </p:txBody>
      </p:sp>
      <p:sp>
        <p:nvSpPr>
          <p:cNvPr id="11" name="arrow">
            <a:extLst xmlns:a="http://schemas.openxmlformats.org/drawingml/2006/main">
              <a:ext uri="{FF2B5EF4-FFF2-40B4-BE49-F238E27FC236}">
                <a16:creationId xmlns:a16="http://schemas.microsoft.com/office/drawing/2014/main" id="{EDD0D242-D406-468A-A900-DA3B8835221A}"/>
              </a:ext>
            </a:extLst>
          </p:cNvPr>
          <p:cNvSpPr>
            <a:spLocks xmlns:a="http://schemas.openxmlformats.org/drawingml/2006/main" noGrp="1"/>
          </p:cNvSpPr>
          <p:nvPr/>
        </p:nvSpPr>
        <p:spPr>
          <a:xfrm xmlns:a="http://schemas.openxmlformats.org/drawingml/2006/main">
            <a:off x="5524500" y="184785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12" name="node">
            <a:extLst xmlns:a="http://schemas.openxmlformats.org/drawingml/2006/main">
              <a:ext uri="{FF2B5EF4-FFF2-40B4-BE49-F238E27FC236}">
                <a16:creationId xmlns:a16="http://schemas.microsoft.com/office/drawing/2014/main" id="{89153002-EDE9-49F1-85A6-FC520E87C012}"/>
              </a:ext>
            </a:extLst>
          </p:cNvPr>
          <p:cNvSpPr>
            <a:spLocks xmlns:a="http://schemas.openxmlformats.org/drawingml/2006/main" noGrp="1"/>
          </p:cNvSpPr>
          <p:nvPr/>
        </p:nvSpPr>
        <p:spPr>
          <a:xfrm xmlns:a="http://schemas.openxmlformats.org/drawingml/2006/main">
            <a:off x="6115050" y="1695450"/>
            <a:ext cx="2209800" cy="609600"/>
          </a:xfrm>
          <a:prstGeom xmlns:a="http://schemas.openxmlformats.org/drawingml/2006/main" prst="roundRect">
            <a:avLst>
              <a:gd name="adj" fmla="val 12500"/>
            </a:avLst>
          </a:prstGeom>
          <a:solidFill xmlns:a="http://schemas.openxmlformats.org/drawingml/2006/main">
            <a:srgbClr val="EEF1F4"/>
          </a:solidFill>
          <a:ln xmlns:a="http://schemas.openxmlformats.org/drawingml/2006/main" w="19050">
            <a:solidFill>
              <a:srgbClr val="BCC3CC"/>
            </a:solidFill>
            <a:prstDash val="solid"/>
          </a:ln>
        </p:spPr>
      </p:sp>
      <p:sp>
        <p:nvSpPr>
          <p:cNvPr id="13" name="node-label">
            <a:extLst xmlns:a="http://schemas.openxmlformats.org/drawingml/2006/main">
              <a:ext uri="{FF2B5EF4-FFF2-40B4-BE49-F238E27FC236}">
                <a16:creationId xmlns:a16="http://schemas.microsoft.com/office/drawing/2014/main" id="{1342AE81-EFDD-4A50-BBD8-71D4D67178CA}"/>
              </a:ext>
            </a:extLst>
          </p:cNvPr>
          <p:cNvSpPr>
            <a:spLocks xmlns:a="http://schemas.openxmlformats.org/drawingml/2006/main" noGrp="1"/>
          </p:cNvSpPr>
          <p:nvPr/>
        </p:nvSpPr>
        <p:spPr>
          <a:xfrm xmlns:a="http://schemas.openxmlformats.org/drawingml/2006/main">
            <a:off x="6191250" y="17335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dense predictions</a:t>
            </a:r>
          </a:p>
        </p:txBody>
      </p:sp>
      <p:sp>
        <p:nvSpPr>
          <p:cNvPr id="14" name="arrow">
            <a:extLst xmlns:a="http://schemas.openxmlformats.org/drawingml/2006/main">
              <a:ext uri="{FF2B5EF4-FFF2-40B4-BE49-F238E27FC236}">
                <a16:creationId xmlns:a16="http://schemas.microsoft.com/office/drawing/2014/main" id="{CC7C53EF-46FA-4B3E-8B64-223399E80BDF}"/>
              </a:ext>
            </a:extLst>
          </p:cNvPr>
          <p:cNvSpPr>
            <a:spLocks xmlns:a="http://schemas.openxmlformats.org/drawingml/2006/main" noGrp="1"/>
          </p:cNvSpPr>
          <p:nvPr/>
        </p:nvSpPr>
        <p:spPr>
          <a:xfrm xmlns:a="http://schemas.openxmlformats.org/drawingml/2006/main">
            <a:off x="8324850" y="184785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15" name="node">
            <a:extLst xmlns:a="http://schemas.openxmlformats.org/drawingml/2006/main">
              <a:ext uri="{FF2B5EF4-FFF2-40B4-BE49-F238E27FC236}">
                <a16:creationId xmlns:a16="http://schemas.microsoft.com/office/drawing/2014/main" id="{4FC42A8E-5240-4895-A854-E9CA68277074}"/>
              </a:ext>
            </a:extLst>
          </p:cNvPr>
          <p:cNvSpPr>
            <a:spLocks xmlns:a="http://schemas.openxmlformats.org/drawingml/2006/main" noGrp="1"/>
          </p:cNvSpPr>
          <p:nvPr/>
        </p:nvSpPr>
        <p:spPr>
          <a:xfrm xmlns:a="http://schemas.openxmlformats.org/drawingml/2006/main">
            <a:off x="8915400" y="1695450"/>
            <a:ext cx="2209800" cy="609600"/>
          </a:xfrm>
          <a:prstGeom xmlns:a="http://schemas.openxmlformats.org/drawingml/2006/main" prst="roundRect">
            <a:avLst>
              <a:gd name="adj" fmla="val 12500"/>
            </a:avLst>
          </a:prstGeom>
          <a:solidFill xmlns:a="http://schemas.openxmlformats.org/drawingml/2006/main">
            <a:srgbClr val="FDE7E5"/>
          </a:solidFill>
          <a:ln xmlns:a="http://schemas.openxmlformats.org/drawingml/2006/main" w="19050">
            <a:solidFill>
              <a:srgbClr val="EF6A66"/>
            </a:solidFill>
            <a:prstDash val="solid"/>
          </a:ln>
        </p:spPr>
      </p:sp>
      <p:sp>
        <p:nvSpPr>
          <p:cNvPr id="16" name="node-label">
            <a:extLst xmlns:a="http://schemas.openxmlformats.org/drawingml/2006/main">
              <a:ext uri="{FF2B5EF4-FFF2-40B4-BE49-F238E27FC236}">
                <a16:creationId xmlns:a16="http://schemas.microsoft.com/office/drawing/2014/main" id="{C4C8649F-9A42-4534-9789-492E951299A6}"/>
              </a:ext>
            </a:extLst>
          </p:cNvPr>
          <p:cNvSpPr>
            <a:spLocks xmlns:a="http://schemas.openxmlformats.org/drawingml/2006/main" noGrp="1"/>
          </p:cNvSpPr>
          <p:nvPr/>
        </p:nvSpPr>
        <p:spPr>
          <a:xfrm xmlns:a="http://schemas.openxmlformats.org/drawingml/2006/main">
            <a:off x="8991600" y="17335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NMS</a:t>
            </a:r>
          </a:p>
        </p:txBody>
      </p:sp>
      <p:sp>
        <p:nvSpPr>
          <p:cNvPr id="17" name="text">
            <a:extLst xmlns:a="http://schemas.openxmlformats.org/drawingml/2006/main">
              <a:ext uri="{FF2B5EF4-FFF2-40B4-BE49-F238E27FC236}">
                <a16:creationId xmlns:a16="http://schemas.microsoft.com/office/drawing/2014/main" id="{36027299-E41F-4A08-9129-5C51E7410CD2}"/>
              </a:ext>
            </a:extLst>
          </p:cNvPr>
          <p:cNvSpPr>
            <a:spLocks xmlns:a="http://schemas.openxmlformats.org/drawingml/2006/main" noGrp="1"/>
          </p:cNvSpPr>
          <p:nvPr/>
        </p:nvSpPr>
        <p:spPr>
          <a:xfrm xmlns:a="http://schemas.openxmlformats.org/drawingml/2006/main">
            <a:off x="514350" y="2876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SET-PREDICTION PIPELINE</a:t>
            </a:r>
          </a:p>
        </p:txBody>
      </p:sp>
      <p:sp>
        <p:nvSpPr>
          <p:cNvPr id="18" name="node">
            <a:extLst xmlns:a="http://schemas.openxmlformats.org/drawingml/2006/main">
              <a:ext uri="{FF2B5EF4-FFF2-40B4-BE49-F238E27FC236}">
                <a16:creationId xmlns:a16="http://schemas.microsoft.com/office/drawing/2014/main" id="{1564C96D-5646-4B36-8393-5F51E8298CB6}"/>
              </a:ext>
            </a:extLst>
          </p:cNvPr>
          <p:cNvSpPr>
            <a:spLocks xmlns:a="http://schemas.openxmlformats.org/drawingml/2006/main" noGrp="1"/>
          </p:cNvSpPr>
          <p:nvPr/>
        </p:nvSpPr>
        <p:spPr>
          <a:xfrm xmlns:a="http://schemas.openxmlformats.org/drawingml/2006/main">
            <a:off x="514350" y="3219450"/>
            <a:ext cx="2209800" cy="609600"/>
          </a:xfrm>
          <a:prstGeom xmlns:a="http://schemas.openxmlformats.org/drawingml/2006/main" prst="roundRect">
            <a:avLst>
              <a:gd name="adj" fmla="val 12500"/>
            </a:avLst>
          </a:prstGeom>
          <a:solidFill xmlns:a="http://schemas.openxmlformats.org/drawingml/2006/main">
            <a:srgbClr val="D9F1FC"/>
          </a:solidFill>
          <a:ln xmlns:a="http://schemas.openxmlformats.org/drawingml/2006/main" w="19050">
            <a:solidFill>
              <a:srgbClr val="3D8DFF"/>
            </a:solidFill>
            <a:prstDash val="solid"/>
          </a:ln>
        </p:spPr>
      </p:sp>
      <p:sp>
        <p:nvSpPr>
          <p:cNvPr id="19" name="node-label">
            <a:extLst xmlns:a="http://schemas.openxmlformats.org/drawingml/2006/main">
              <a:ext uri="{FF2B5EF4-FFF2-40B4-BE49-F238E27FC236}">
                <a16:creationId xmlns:a16="http://schemas.microsoft.com/office/drawing/2014/main" id="{3B1FED96-5838-4D6F-9489-D3579CCCC082}"/>
              </a:ext>
            </a:extLst>
          </p:cNvPr>
          <p:cNvSpPr>
            <a:spLocks xmlns:a="http://schemas.openxmlformats.org/drawingml/2006/main" noGrp="1"/>
          </p:cNvSpPr>
          <p:nvPr/>
        </p:nvSpPr>
        <p:spPr>
          <a:xfrm xmlns:a="http://schemas.openxmlformats.org/drawingml/2006/main">
            <a:off x="590550" y="32575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CNN features</a:t>
            </a:r>
          </a:p>
        </p:txBody>
      </p:sp>
      <p:sp>
        <p:nvSpPr>
          <p:cNvPr id="20" name="arrow">
            <a:extLst xmlns:a="http://schemas.openxmlformats.org/drawingml/2006/main">
              <a:ext uri="{FF2B5EF4-FFF2-40B4-BE49-F238E27FC236}">
                <a16:creationId xmlns:a16="http://schemas.microsoft.com/office/drawing/2014/main" id="{454AC0FC-3247-4A33-832A-E30D53846EB3}"/>
              </a:ext>
            </a:extLst>
          </p:cNvPr>
          <p:cNvSpPr>
            <a:spLocks xmlns:a="http://schemas.openxmlformats.org/drawingml/2006/main" noGrp="1"/>
          </p:cNvSpPr>
          <p:nvPr/>
        </p:nvSpPr>
        <p:spPr>
          <a:xfrm xmlns:a="http://schemas.openxmlformats.org/drawingml/2006/main">
            <a:off x="2724150" y="337185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21" name="node">
            <a:extLst xmlns:a="http://schemas.openxmlformats.org/drawingml/2006/main">
              <a:ext uri="{FF2B5EF4-FFF2-40B4-BE49-F238E27FC236}">
                <a16:creationId xmlns:a16="http://schemas.microsoft.com/office/drawing/2014/main" id="{F14A1D4B-9C46-4A06-BD69-6CA01A900E85}"/>
              </a:ext>
            </a:extLst>
          </p:cNvPr>
          <p:cNvSpPr>
            <a:spLocks xmlns:a="http://schemas.openxmlformats.org/drawingml/2006/main" noGrp="1"/>
          </p:cNvSpPr>
          <p:nvPr/>
        </p:nvSpPr>
        <p:spPr>
          <a:xfrm xmlns:a="http://schemas.openxmlformats.org/drawingml/2006/main">
            <a:off x="3314700" y="3219450"/>
            <a:ext cx="2209800" cy="609600"/>
          </a:xfrm>
          <a:prstGeom xmlns:a="http://schemas.openxmlformats.org/drawingml/2006/main" prst="roundRect">
            <a:avLst>
              <a:gd name="adj" fmla="val 12500"/>
            </a:avLst>
          </a:prstGeom>
          <a:solidFill xmlns:a="http://schemas.openxmlformats.org/drawingml/2006/main">
            <a:srgbClr val="D9F1FC"/>
          </a:solidFill>
          <a:ln xmlns:a="http://schemas.openxmlformats.org/drawingml/2006/main" w="19050">
            <a:solidFill>
              <a:srgbClr val="3D8DFF"/>
            </a:solidFill>
            <a:prstDash val="solid"/>
          </a:ln>
        </p:spPr>
      </p:sp>
      <p:sp>
        <p:nvSpPr>
          <p:cNvPr id="22" name="node-label">
            <a:extLst xmlns:a="http://schemas.openxmlformats.org/drawingml/2006/main">
              <a:ext uri="{FF2B5EF4-FFF2-40B4-BE49-F238E27FC236}">
                <a16:creationId xmlns:a16="http://schemas.microsoft.com/office/drawing/2014/main" id="{AB0DC086-9A51-4DB7-BE87-A41C661C885B}"/>
              </a:ext>
            </a:extLst>
          </p:cNvPr>
          <p:cNvSpPr>
            <a:spLocks xmlns:a="http://schemas.openxmlformats.org/drawingml/2006/main" noGrp="1"/>
          </p:cNvSpPr>
          <p:nvPr/>
        </p:nvSpPr>
        <p:spPr>
          <a:xfrm xmlns:a="http://schemas.openxmlformats.org/drawingml/2006/main">
            <a:off x="3390900" y="32575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encoder</a:t>
            </a:r>
          </a:p>
        </p:txBody>
      </p:sp>
      <p:sp>
        <p:nvSpPr>
          <p:cNvPr id="23" name="arrow">
            <a:extLst xmlns:a="http://schemas.openxmlformats.org/drawingml/2006/main">
              <a:ext uri="{FF2B5EF4-FFF2-40B4-BE49-F238E27FC236}">
                <a16:creationId xmlns:a16="http://schemas.microsoft.com/office/drawing/2014/main" id="{F12EDAC6-1991-4DB0-B2C6-6E53D0A138E7}"/>
              </a:ext>
            </a:extLst>
          </p:cNvPr>
          <p:cNvSpPr>
            <a:spLocks xmlns:a="http://schemas.openxmlformats.org/drawingml/2006/main" noGrp="1"/>
          </p:cNvSpPr>
          <p:nvPr/>
        </p:nvSpPr>
        <p:spPr>
          <a:xfrm xmlns:a="http://schemas.openxmlformats.org/drawingml/2006/main">
            <a:off x="5524500" y="337185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24" name="node">
            <a:extLst xmlns:a="http://schemas.openxmlformats.org/drawingml/2006/main">
              <a:ext uri="{FF2B5EF4-FFF2-40B4-BE49-F238E27FC236}">
                <a16:creationId xmlns:a16="http://schemas.microsoft.com/office/drawing/2014/main" id="{B9ED0603-F532-4250-8398-AA6B3EB1B806}"/>
              </a:ext>
            </a:extLst>
          </p:cNvPr>
          <p:cNvSpPr>
            <a:spLocks xmlns:a="http://schemas.openxmlformats.org/drawingml/2006/main" noGrp="1"/>
          </p:cNvSpPr>
          <p:nvPr/>
        </p:nvSpPr>
        <p:spPr>
          <a:xfrm xmlns:a="http://schemas.openxmlformats.org/drawingml/2006/main">
            <a:off x="6115050" y="3219450"/>
            <a:ext cx="2209800" cy="609600"/>
          </a:xfrm>
          <a:prstGeom xmlns:a="http://schemas.openxmlformats.org/drawingml/2006/main" prst="roundRect">
            <a:avLst>
              <a:gd name="adj" fmla="val 12500"/>
            </a:avLst>
          </a:prstGeom>
          <a:solidFill xmlns:a="http://schemas.openxmlformats.org/drawingml/2006/main">
            <a:srgbClr val="D9F1FC"/>
          </a:solidFill>
          <a:ln xmlns:a="http://schemas.openxmlformats.org/drawingml/2006/main" w="19050">
            <a:solidFill>
              <a:srgbClr val="3D8DFF"/>
            </a:solidFill>
            <a:prstDash val="solid"/>
          </a:ln>
        </p:spPr>
      </p:sp>
      <p:sp>
        <p:nvSpPr>
          <p:cNvPr id="25" name="node-label">
            <a:extLst xmlns:a="http://schemas.openxmlformats.org/drawingml/2006/main">
              <a:ext uri="{FF2B5EF4-FFF2-40B4-BE49-F238E27FC236}">
                <a16:creationId xmlns:a16="http://schemas.microsoft.com/office/drawing/2014/main" id="{244E5DEC-0F5E-4293-AC81-EA630E745AEA}"/>
              </a:ext>
            </a:extLst>
          </p:cNvPr>
          <p:cNvSpPr>
            <a:spLocks xmlns:a="http://schemas.openxmlformats.org/drawingml/2006/main" noGrp="1"/>
          </p:cNvSpPr>
          <p:nvPr/>
        </p:nvSpPr>
        <p:spPr>
          <a:xfrm xmlns:a="http://schemas.openxmlformats.org/drawingml/2006/main">
            <a:off x="6191250" y="32575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queries + decoder</a:t>
            </a:r>
          </a:p>
        </p:txBody>
      </p:sp>
      <p:sp>
        <p:nvSpPr>
          <p:cNvPr id="26" name="arrow">
            <a:extLst xmlns:a="http://schemas.openxmlformats.org/drawingml/2006/main">
              <a:ext uri="{FF2B5EF4-FFF2-40B4-BE49-F238E27FC236}">
                <a16:creationId xmlns:a16="http://schemas.microsoft.com/office/drawing/2014/main" id="{5DE19BA4-BDCD-4F51-8A4D-4DD7B95AFC8C}"/>
              </a:ext>
            </a:extLst>
          </p:cNvPr>
          <p:cNvSpPr>
            <a:spLocks xmlns:a="http://schemas.openxmlformats.org/drawingml/2006/main" noGrp="1"/>
          </p:cNvSpPr>
          <p:nvPr/>
        </p:nvSpPr>
        <p:spPr>
          <a:xfrm xmlns:a="http://schemas.openxmlformats.org/drawingml/2006/main">
            <a:off x="8324850" y="3371850"/>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27" name="node">
            <a:extLst xmlns:a="http://schemas.openxmlformats.org/drawingml/2006/main">
              <a:ext uri="{FF2B5EF4-FFF2-40B4-BE49-F238E27FC236}">
                <a16:creationId xmlns:a16="http://schemas.microsoft.com/office/drawing/2014/main" id="{A0A4A80E-9200-4968-B706-C3B9AB7E5BEF}"/>
              </a:ext>
            </a:extLst>
          </p:cNvPr>
          <p:cNvSpPr>
            <a:spLocks xmlns:a="http://schemas.openxmlformats.org/drawingml/2006/main" noGrp="1"/>
          </p:cNvSpPr>
          <p:nvPr/>
        </p:nvSpPr>
        <p:spPr>
          <a:xfrm xmlns:a="http://schemas.openxmlformats.org/drawingml/2006/main">
            <a:off x="8915400" y="3219450"/>
            <a:ext cx="2209800" cy="609600"/>
          </a:xfrm>
          <a:prstGeom xmlns:a="http://schemas.openxmlformats.org/drawingml/2006/main" prst="roundRect">
            <a:avLst>
              <a:gd name="adj" fmla="val 12500"/>
            </a:avLst>
          </a:prstGeom>
          <a:solidFill xmlns:a="http://schemas.openxmlformats.org/drawingml/2006/main">
            <a:srgbClr val="DDF4E8"/>
          </a:solidFill>
          <a:ln xmlns:a="http://schemas.openxmlformats.org/drawingml/2006/main" w="19050">
            <a:solidFill>
              <a:srgbClr val="45B97C"/>
            </a:solidFill>
            <a:prstDash val="solid"/>
          </a:ln>
        </p:spPr>
      </p:sp>
      <p:sp>
        <p:nvSpPr>
          <p:cNvPr id="28" name="node-label">
            <a:extLst xmlns:a="http://schemas.openxmlformats.org/drawingml/2006/main">
              <a:ext uri="{FF2B5EF4-FFF2-40B4-BE49-F238E27FC236}">
                <a16:creationId xmlns:a16="http://schemas.microsoft.com/office/drawing/2014/main" id="{BD2F85D1-4094-4272-A583-CBFDBEB94C20}"/>
              </a:ext>
            </a:extLst>
          </p:cNvPr>
          <p:cNvSpPr>
            <a:spLocks xmlns:a="http://schemas.openxmlformats.org/drawingml/2006/main" noGrp="1"/>
          </p:cNvSpPr>
          <p:nvPr/>
        </p:nvSpPr>
        <p:spPr>
          <a:xfrm xmlns:a="http://schemas.openxmlformats.org/drawingml/2006/main">
            <a:off x="8991600" y="32575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prediction set</a:t>
            </a:r>
          </a:p>
        </p:txBody>
      </p:sp>
      <p:sp>
        <p:nvSpPr>
          <p:cNvPr id="29" name="box">
            <a:extLst xmlns:a="http://schemas.openxmlformats.org/drawingml/2006/main">
              <a:ext uri="{FF2B5EF4-FFF2-40B4-BE49-F238E27FC236}">
                <a16:creationId xmlns:a16="http://schemas.microsoft.com/office/drawing/2014/main" id="{A03B38B1-FCBA-40A6-BD0D-FBED0E2B23EF}"/>
              </a:ext>
            </a:extLst>
          </p:cNvPr>
          <p:cNvSpPr>
            <a:spLocks xmlns:a="http://schemas.openxmlformats.org/drawingml/2006/main" noGrp="1"/>
          </p:cNvSpPr>
          <p:nvPr/>
        </p:nvSpPr>
        <p:spPr>
          <a:xfrm xmlns:a="http://schemas.openxmlformats.org/drawingml/2006/main">
            <a:off x="1524000" y="4362450"/>
            <a:ext cx="9144000" cy="628650"/>
          </a:xfrm>
          <a:prstGeom xmlns:a="http://schemas.openxmlformats.org/drawingml/2006/main" prst="roundRect">
            <a:avLst>
              <a:gd name="adj" fmla="val 12121"/>
            </a:avLst>
          </a:prstGeom>
          <a:solidFill xmlns:a="http://schemas.openxmlformats.org/drawingml/2006/main">
            <a:srgbClr val="EEF1F4"/>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B03A399B-E72E-4E54-8054-2DD12F9AD0EB}"/>
              </a:ext>
            </a:extLst>
          </p:cNvPr>
          <p:cNvSpPr>
            <a:spLocks xmlns:a="http://schemas.openxmlformats.org/drawingml/2006/main" noGrp="1"/>
          </p:cNvSpPr>
          <p:nvPr/>
        </p:nvSpPr>
        <p:spPr>
          <a:xfrm xmlns:a="http://schemas.openxmlformats.org/drawingml/2006/main">
            <a:off x="1695450" y="4438650"/>
            <a:ext cx="8801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Same task • different output representation</a:t>
            </a:r>
          </a:p>
        </p:txBody>
      </p:sp>
      <p:sp>
        <p:nvSpPr>
          <p:cNvPr id="31" name="text">
            <a:extLst xmlns:a="http://schemas.openxmlformats.org/drawingml/2006/main">
              <a:ext uri="{FF2B5EF4-FFF2-40B4-BE49-F238E27FC236}">
                <a16:creationId xmlns:a16="http://schemas.microsoft.com/office/drawing/2014/main" id="{391A303B-E3BF-4C10-A246-E2F804F0623A}"/>
              </a:ext>
            </a:extLst>
          </p:cNvPr>
          <p:cNvSpPr>
            <a:spLocks xmlns:a="http://schemas.openxmlformats.org/drawingml/2006/main" noGrp="1"/>
          </p:cNvSpPr>
          <p:nvPr/>
        </p:nvSpPr>
        <p:spPr>
          <a:xfrm xmlns:a="http://schemas.openxmlformats.org/drawingml/2006/main">
            <a:off x="1809750" y="52197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3D8DFF"/>
                </a:solidFill>
                <a:latin typeface="Helvetica Neue"/>
                <a:ea typeface="Helvetica Neue"/>
                <a:cs typeface="Helvetica Neue"/>
              </a:defRPr>
            </a:pPr>
            <a:r>
              <a:rPr sz="1725" b="1">
                <a:solidFill>
                  <a:srgbClr val="3D8DFF"/>
                </a:solidFill>
                <a:latin typeface="Helvetica Neue"/>
                <a:ea typeface="Helvetica Neue"/>
                <a:cs typeface="Helvetica Neue"/>
              </a:rPr>
              <a:t>The target {person, dog, bicycle} has no meaningful order.</a:t>
            </a:r>
          </a:p>
        </p:txBody>
      </p:sp>
      <p:sp>
        <p:nvSpPr>
          <p:cNvPr id="32" name="text">
            <a:extLst xmlns:a="http://schemas.openxmlformats.org/drawingml/2006/main">
              <a:ext uri="{FF2B5EF4-FFF2-40B4-BE49-F238E27FC236}">
                <a16:creationId xmlns:a16="http://schemas.microsoft.com/office/drawing/2014/main" id="{E9FA03F0-CF7E-44F5-9221-B353BFFF217F}"/>
              </a:ext>
            </a:extLst>
          </p:cNvPr>
          <p:cNvSpPr>
            <a:spLocks xmlns:a="http://schemas.openxmlformats.org/drawingml/2006/main" noGrp="1"/>
          </p:cNvSpPr>
          <p:nvPr/>
        </p:nvSpPr>
        <p:spPr>
          <a:xfrm xmlns:a="http://schemas.openxmlformats.org/drawingml/2006/main">
            <a:off x="1809750" y="55816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0">
                <a:solidFill>
                  <a:srgbClr val="5D6673"/>
                </a:solidFill>
                <a:latin typeface="Helvetica Neue"/>
                <a:ea typeface="Helvetica Neue"/>
                <a:cs typeface="Helvetica Neue"/>
              </a:defRPr>
            </a:pPr>
            <a:r>
              <a:rPr sz="1500" b="0">
                <a:solidFill>
                  <a:srgbClr val="5D6673"/>
                </a:solidFill>
                <a:latin typeface="Helvetica Neue"/>
                <a:ea typeface="Helvetica Neue"/>
                <a:cs typeface="Helvetica Neue"/>
              </a:rPr>
              <a:t>Training must therefore be permutation-invariant.</a:t>
            </a:r>
          </a:p>
        </p:txBody>
      </p:sp>
    </p:spTree>
    <p:extLst>
      <p:ext uri="{BB962C8B-B14F-4D97-AF65-F5344CB8AC3E}">
        <p14:creationId xmlns:p14="http://schemas.microsoft.com/office/powerpoint/2010/main" val="18767308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
            <a:extLst xmlns:a="http://schemas.openxmlformats.org/drawingml/2006/main">
              <a:ext uri="{FF2B5EF4-FFF2-40B4-BE49-F238E27FC236}">
                <a16:creationId xmlns:a16="http://schemas.microsoft.com/office/drawing/2014/main" id="{1343DF20-5060-45CE-A817-1B6A280A1B47}"/>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D2763E71-8210-495C-A0C4-F88C6F1AE1D3}"/>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What is initialized before training?</a:t>
            </a:r>
          </a:p>
        </p:txBody>
      </p:sp>
      <p:sp>
        <p:nvSpPr>
          <p:cNvPr id="3" name="text">
            <a:extLst xmlns:a="http://schemas.openxmlformats.org/drawingml/2006/main">
              <a:ext uri="{FF2B5EF4-FFF2-40B4-BE49-F238E27FC236}">
                <a16:creationId xmlns:a16="http://schemas.microsoft.com/office/drawing/2014/main" id="{D3A3BB87-DC0A-40CB-A490-0518423308D2}"/>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0 • INITIALIZE</a:t>
            </a:r>
          </a:p>
        </p:txBody>
      </p:sp>
      <p:sp>
        <p:nvSpPr>
          <p:cNvPr id="4" name="text">
            <a:extLst xmlns:a="http://schemas.openxmlformats.org/drawingml/2006/main">
              <a:ext uri="{FF2B5EF4-FFF2-40B4-BE49-F238E27FC236}">
                <a16:creationId xmlns:a16="http://schemas.microsoft.com/office/drawing/2014/main" id="{3015C9F5-0C9C-4AD4-9B55-B607DC18B781}"/>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04</a:t>
            </a:r>
          </a:p>
        </p:txBody>
      </p:sp>
      <p:sp>
        <p:nvSpPr>
          <p:cNvPr id="5" name="node">
            <a:extLst xmlns:a="http://schemas.openxmlformats.org/drawingml/2006/main">
              <a:ext uri="{FF2B5EF4-FFF2-40B4-BE49-F238E27FC236}">
                <a16:creationId xmlns:a16="http://schemas.microsoft.com/office/drawing/2014/main" id="{2BF674B2-1D09-4A60-BD31-A1E383FFEE32}"/>
              </a:ext>
            </a:extLst>
          </p:cNvPr>
          <p:cNvSpPr>
            <a:spLocks xmlns:a="http://schemas.openxmlformats.org/drawingml/2006/main" noGrp="1"/>
          </p:cNvSpPr>
          <p:nvPr/>
        </p:nvSpPr>
        <p:spPr>
          <a:xfrm xmlns:a="http://schemas.openxmlformats.org/drawingml/2006/main">
            <a:off x="609600" y="1638300"/>
            <a:ext cx="3048000" cy="723900"/>
          </a:xfrm>
          <a:prstGeom xmlns:a="http://schemas.openxmlformats.org/drawingml/2006/main" prst="roundRect">
            <a:avLst>
              <a:gd name="adj" fmla="val 10526"/>
            </a:avLst>
          </a:prstGeom>
          <a:solidFill xmlns:a="http://schemas.openxmlformats.org/drawingml/2006/main">
            <a:srgbClr val="DDF4E8"/>
          </a:solidFill>
          <a:ln xmlns:a="http://schemas.openxmlformats.org/drawingml/2006/main" w="19050">
            <a:solidFill>
              <a:srgbClr val="45B97C"/>
            </a:solidFill>
            <a:prstDash val="solid"/>
          </a:ln>
        </p:spPr>
      </p:sp>
      <p:sp>
        <p:nvSpPr>
          <p:cNvPr id="6" name="node-label">
            <a:extLst xmlns:a="http://schemas.openxmlformats.org/drawingml/2006/main">
              <a:ext uri="{FF2B5EF4-FFF2-40B4-BE49-F238E27FC236}">
                <a16:creationId xmlns:a16="http://schemas.microsoft.com/office/drawing/2014/main" id="{75F1F085-13AD-4694-BE98-2350CF5A18FF}"/>
              </a:ext>
            </a:extLst>
          </p:cNvPr>
          <p:cNvSpPr>
            <a:spLocks xmlns:a="http://schemas.openxmlformats.org/drawingml/2006/main" noGrp="1"/>
          </p:cNvSpPr>
          <p:nvPr/>
        </p:nvSpPr>
        <p:spPr>
          <a:xfrm xmlns:a="http://schemas.openxmlformats.org/drawingml/2006/main">
            <a:off x="685800" y="1676400"/>
            <a:ext cx="2895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ResNet backbone</a:t>
            </a:r>
          </a:p>
        </p:txBody>
      </p:sp>
      <p:sp>
        <p:nvSpPr>
          <p:cNvPr id="7" name="box">
            <a:extLst xmlns:a="http://schemas.openxmlformats.org/drawingml/2006/main">
              <a:ext uri="{FF2B5EF4-FFF2-40B4-BE49-F238E27FC236}">
                <a16:creationId xmlns:a16="http://schemas.microsoft.com/office/drawing/2014/main" id="{B8B0B1DD-BB1D-4D16-846E-D13F8AA65697}"/>
              </a:ext>
            </a:extLst>
          </p:cNvPr>
          <p:cNvSpPr>
            <a:spLocks xmlns:a="http://schemas.openxmlformats.org/drawingml/2006/main" noGrp="1"/>
          </p:cNvSpPr>
          <p:nvPr/>
        </p:nvSpPr>
        <p:spPr>
          <a:xfrm xmlns:a="http://schemas.openxmlformats.org/drawingml/2006/main">
            <a:off x="1066800" y="2514600"/>
            <a:ext cx="2133600" cy="323850"/>
          </a:xfrm>
          <a:prstGeom xmlns:a="http://schemas.openxmlformats.org/drawingml/2006/main" prst="roundRect">
            <a:avLst>
              <a:gd name="adj" fmla="val 23529"/>
            </a:avLst>
          </a:prstGeom>
          <a:solidFill xmlns:a="http://schemas.openxmlformats.org/drawingml/2006/main">
            <a:srgbClr val="DDF4E8"/>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538E2EC3-222E-4BDB-988A-6AF58E9EECD8}"/>
              </a:ext>
            </a:extLst>
          </p:cNvPr>
          <p:cNvSpPr>
            <a:spLocks xmlns:a="http://schemas.openxmlformats.org/drawingml/2006/main" noGrp="1"/>
          </p:cNvSpPr>
          <p:nvPr/>
        </p:nvSpPr>
        <p:spPr>
          <a:xfrm xmlns:a="http://schemas.openxmlformats.org/drawingml/2006/main">
            <a:off x="1143000" y="253365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45B97C"/>
                </a:solidFill>
                <a:latin typeface="Helvetica Neue"/>
                <a:ea typeface="Helvetica Neue"/>
                <a:cs typeface="Helvetica Neue"/>
              </a:defRPr>
            </a:pPr>
            <a:r>
              <a:rPr sz="1125" b="1">
                <a:solidFill>
                  <a:srgbClr val="45B97C"/>
                </a:solidFill>
                <a:latin typeface="Helvetica Neue"/>
                <a:ea typeface="Helvetica Neue"/>
                <a:cs typeface="Helvetica Neue"/>
              </a:rPr>
              <a:t>ImageNet pretrained</a:t>
            </a:r>
          </a:p>
        </p:txBody>
      </p:sp>
      <p:sp>
        <p:nvSpPr>
          <p:cNvPr id="9" name="node">
            <a:extLst xmlns:a="http://schemas.openxmlformats.org/drawingml/2006/main">
              <a:ext uri="{FF2B5EF4-FFF2-40B4-BE49-F238E27FC236}">
                <a16:creationId xmlns:a16="http://schemas.microsoft.com/office/drawing/2014/main" id="{39E98CCC-E42E-4A90-9D51-67DA3981E71E}"/>
              </a:ext>
            </a:extLst>
          </p:cNvPr>
          <p:cNvSpPr>
            <a:spLocks xmlns:a="http://schemas.openxmlformats.org/drawingml/2006/main" noGrp="1"/>
          </p:cNvSpPr>
          <p:nvPr/>
        </p:nvSpPr>
        <p:spPr>
          <a:xfrm xmlns:a="http://schemas.openxmlformats.org/drawingml/2006/main">
            <a:off x="4572000" y="1638300"/>
            <a:ext cx="2476500" cy="723900"/>
          </a:xfrm>
          <a:prstGeom xmlns:a="http://schemas.openxmlformats.org/drawingml/2006/main" prst="roundRect">
            <a:avLst>
              <a:gd name="adj" fmla="val 10526"/>
            </a:avLst>
          </a:prstGeom>
          <a:solidFill xmlns:a="http://schemas.openxmlformats.org/drawingml/2006/main">
            <a:srgbClr val="D9F1FC"/>
          </a:solidFill>
          <a:ln xmlns:a="http://schemas.openxmlformats.org/drawingml/2006/main" w="19050">
            <a:solidFill>
              <a:srgbClr val="3D8DFF"/>
            </a:solidFill>
            <a:prstDash val="solid"/>
          </a:ln>
        </p:spPr>
      </p:sp>
      <p:sp>
        <p:nvSpPr>
          <p:cNvPr id="10" name="node-label">
            <a:extLst xmlns:a="http://schemas.openxmlformats.org/drawingml/2006/main">
              <a:ext uri="{FF2B5EF4-FFF2-40B4-BE49-F238E27FC236}">
                <a16:creationId xmlns:a16="http://schemas.microsoft.com/office/drawing/2014/main" id="{1938F984-B163-4632-9C10-8BE6BFA10F78}"/>
              </a:ext>
            </a:extLst>
          </p:cNvPr>
          <p:cNvSpPr>
            <a:spLocks xmlns:a="http://schemas.openxmlformats.org/drawingml/2006/main" noGrp="1"/>
          </p:cNvSpPr>
          <p:nvPr/>
        </p:nvSpPr>
        <p:spPr>
          <a:xfrm xmlns:a="http://schemas.openxmlformats.org/drawingml/2006/main">
            <a:off x="4648200" y="167640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1×1 projection</a:t>
            </a:r>
          </a:p>
        </p:txBody>
      </p:sp>
      <p:sp>
        <p:nvSpPr>
          <p:cNvPr id="11" name="box">
            <a:extLst xmlns:a="http://schemas.openxmlformats.org/drawingml/2006/main">
              <a:ext uri="{FF2B5EF4-FFF2-40B4-BE49-F238E27FC236}">
                <a16:creationId xmlns:a16="http://schemas.microsoft.com/office/drawing/2014/main" id="{0FCE8696-9F01-4A8D-94F1-4512EA72DF65}"/>
              </a:ext>
            </a:extLst>
          </p:cNvPr>
          <p:cNvSpPr>
            <a:spLocks xmlns:a="http://schemas.openxmlformats.org/drawingml/2006/main" noGrp="1"/>
          </p:cNvSpPr>
          <p:nvPr/>
        </p:nvSpPr>
        <p:spPr>
          <a:xfrm xmlns:a="http://schemas.openxmlformats.org/drawingml/2006/main">
            <a:off x="4972050" y="2514600"/>
            <a:ext cx="1676400" cy="323850"/>
          </a:xfrm>
          <a:prstGeom xmlns:a="http://schemas.openxmlformats.org/drawingml/2006/main" prst="roundRect">
            <a:avLst>
              <a:gd name="adj" fmla="val 23529"/>
            </a:avLst>
          </a:prstGeom>
          <a:solidFill xmlns:a="http://schemas.openxmlformats.org/drawingml/2006/main">
            <a:srgbClr val="EEF1F4"/>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596FB760-6607-4D2C-AB54-09D4474D4683}"/>
              </a:ext>
            </a:extLst>
          </p:cNvPr>
          <p:cNvSpPr>
            <a:spLocks xmlns:a="http://schemas.openxmlformats.org/drawingml/2006/main" noGrp="1"/>
          </p:cNvSpPr>
          <p:nvPr/>
        </p:nvSpPr>
        <p:spPr>
          <a:xfrm xmlns:a="http://schemas.openxmlformats.org/drawingml/2006/main">
            <a:off x="5048250" y="25336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5D6673"/>
                </a:solidFill>
                <a:latin typeface="Helvetica Neue"/>
                <a:ea typeface="Helvetica Neue"/>
                <a:cs typeface="Helvetica Neue"/>
              </a:defRPr>
            </a:pPr>
            <a:r>
              <a:rPr sz="1125" b="1">
                <a:solidFill>
                  <a:srgbClr val="5D6673"/>
                </a:solidFill>
                <a:latin typeface="Helvetica Neue"/>
                <a:ea typeface="Helvetica Neue"/>
                <a:cs typeface="Helvetica Neue"/>
              </a:rPr>
              <a:t>new parameters</a:t>
            </a:r>
          </a:p>
        </p:txBody>
      </p:sp>
      <p:sp>
        <p:nvSpPr>
          <p:cNvPr id="13" name="node">
            <a:extLst xmlns:a="http://schemas.openxmlformats.org/drawingml/2006/main">
              <a:ext uri="{FF2B5EF4-FFF2-40B4-BE49-F238E27FC236}">
                <a16:creationId xmlns:a16="http://schemas.microsoft.com/office/drawing/2014/main" id="{2D281861-3327-40AD-A882-5047D17D681C}"/>
              </a:ext>
            </a:extLst>
          </p:cNvPr>
          <p:cNvSpPr>
            <a:spLocks xmlns:a="http://schemas.openxmlformats.org/drawingml/2006/main" noGrp="1"/>
          </p:cNvSpPr>
          <p:nvPr/>
        </p:nvSpPr>
        <p:spPr>
          <a:xfrm xmlns:a="http://schemas.openxmlformats.org/drawingml/2006/main">
            <a:off x="7962900" y="1524000"/>
            <a:ext cx="3048000" cy="952500"/>
          </a:xfrm>
          <a:prstGeom xmlns:a="http://schemas.openxmlformats.org/drawingml/2006/main" prst="roundRect">
            <a:avLst>
              <a:gd name="adj" fmla="val 8000"/>
            </a:avLst>
          </a:prstGeom>
          <a:solidFill xmlns:a="http://schemas.openxmlformats.org/drawingml/2006/main">
            <a:srgbClr val="D9F1FC"/>
          </a:solidFill>
          <a:ln xmlns:a="http://schemas.openxmlformats.org/drawingml/2006/main" w="19050">
            <a:solidFill>
              <a:srgbClr val="3D8DFF"/>
            </a:solidFill>
            <a:prstDash val="solid"/>
          </a:ln>
        </p:spPr>
      </p:sp>
      <p:sp>
        <p:nvSpPr>
          <p:cNvPr id="14" name="node-label">
            <a:extLst xmlns:a="http://schemas.openxmlformats.org/drawingml/2006/main">
              <a:ext uri="{FF2B5EF4-FFF2-40B4-BE49-F238E27FC236}">
                <a16:creationId xmlns:a16="http://schemas.microsoft.com/office/drawing/2014/main" id="{328ADF2F-F2BF-44C6-88D5-F5AD57E7FE3E}"/>
              </a:ext>
            </a:extLst>
          </p:cNvPr>
          <p:cNvSpPr>
            <a:spLocks xmlns:a="http://schemas.openxmlformats.org/drawingml/2006/main" noGrp="1"/>
          </p:cNvSpPr>
          <p:nvPr/>
        </p:nvSpPr>
        <p:spPr>
          <a:xfrm xmlns:a="http://schemas.openxmlformats.org/drawingml/2006/main">
            <a:off x="8039100" y="1562100"/>
            <a:ext cx="28956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Transformer</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encoder + decoder</a:t>
            </a:r>
          </a:p>
        </p:txBody>
      </p:sp>
      <p:sp>
        <p:nvSpPr>
          <p:cNvPr id="15" name="box">
            <a:extLst xmlns:a="http://schemas.openxmlformats.org/drawingml/2006/main">
              <a:ext uri="{FF2B5EF4-FFF2-40B4-BE49-F238E27FC236}">
                <a16:creationId xmlns:a16="http://schemas.microsoft.com/office/drawing/2014/main" id="{D4E606ED-538B-4253-B3A8-290815E2D9D7}"/>
              </a:ext>
            </a:extLst>
          </p:cNvPr>
          <p:cNvSpPr>
            <a:spLocks xmlns:a="http://schemas.openxmlformats.org/drawingml/2006/main" noGrp="1"/>
          </p:cNvSpPr>
          <p:nvPr/>
        </p:nvSpPr>
        <p:spPr>
          <a:xfrm xmlns:a="http://schemas.openxmlformats.org/drawingml/2006/main">
            <a:off x="8648700" y="2628900"/>
            <a:ext cx="1676400" cy="323850"/>
          </a:xfrm>
          <a:prstGeom xmlns:a="http://schemas.openxmlformats.org/drawingml/2006/main" prst="roundRect">
            <a:avLst>
              <a:gd name="adj" fmla="val 23529"/>
            </a:avLst>
          </a:prstGeom>
          <a:solidFill xmlns:a="http://schemas.openxmlformats.org/drawingml/2006/main">
            <a:srgbClr val="EEF1F4"/>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04BB06AA-3CAE-458E-881C-627BDEE0D923}"/>
              </a:ext>
            </a:extLst>
          </p:cNvPr>
          <p:cNvSpPr>
            <a:spLocks xmlns:a="http://schemas.openxmlformats.org/drawingml/2006/main" noGrp="1"/>
          </p:cNvSpPr>
          <p:nvPr/>
        </p:nvSpPr>
        <p:spPr>
          <a:xfrm xmlns:a="http://schemas.openxmlformats.org/drawingml/2006/main">
            <a:off x="8724900" y="26479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5D6673"/>
                </a:solidFill>
                <a:latin typeface="Helvetica Neue"/>
                <a:ea typeface="Helvetica Neue"/>
                <a:cs typeface="Helvetica Neue"/>
              </a:defRPr>
            </a:pPr>
            <a:r>
              <a:rPr sz="1125" b="1">
                <a:solidFill>
                  <a:srgbClr val="5D6673"/>
                </a:solidFill>
                <a:latin typeface="Helvetica Neue"/>
                <a:ea typeface="Helvetica Neue"/>
                <a:cs typeface="Helvetica Neue"/>
              </a:rPr>
              <a:t>new parameters</a:t>
            </a:r>
          </a:p>
        </p:txBody>
      </p:sp>
      <p:sp>
        <p:nvSpPr>
          <p:cNvPr id="17" name="arrow">
            <a:extLst xmlns:a="http://schemas.openxmlformats.org/drawingml/2006/main">
              <a:ext uri="{FF2B5EF4-FFF2-40B4-BE49-F238E27FC236}">
                <a16:creationId xmlns:a16="http://schemas.microsoft.com/office/drawing/2014/main" id="{4DD9F58A-AEBD-43CF-9EBF-19D352D135FD}"/>
              </a:ext>
            </a:extLst>
          </p:cNvPr>
          <p:cNvSpPr>
            <a:spLocks xmlns:a="http://schemas.openxmlformats.org/drawingml/2006/main" noGrp="1"/>
          </p:cNvSpPr>
          <p:nvPr/>
        </p:nvSpPr>
        <p:spPr>
          <a:xfrm xmlns:a="http://schemas.openxmlformats.org/drawingml/2006/main">
            <a:off x="3714750" y="1828800"/>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8" name="arrow">
            <a:extLst xmlns:a="http://schemas.openxmlformats.org/drawingml/2006/main">
              <a:ext uri="{FF2B5EF4-FFF2-40B4-BE49-F238E27FC236}">
                <a16:creationId xmlns:a16="http://schemas.microsoft.com/office/drawing/2014/main" id="{D5ACF58E-B59F-419C-B400-E3EFBD8B4219}"/>
              </a:ext>
            </a:extLst>
          </p:cNvPr>
          <p:cNvSpPr>
            <a:spLocks xmlns:a="http://schemas.openxmlformats.org/drawingml/2006/main" noGrp="1"/>
          </p:cNvSpPr>
          <p:nvPr/>
        </p:nvSpPr>
        <p:spPr>
          <a:xfrm xmlns:a="http://schemas.openxmlformats.org/drawingml/2006/main">
            <a:off x="7124700" y="1828800"/>
            <a:ext cx="72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9" name="node">
            <a:extLst xmlns:a="http://schemas.openxmlformats.org/drawingml/2006/main">
              <a:ext uri="{FF2B5EF4-FFF2-40B4-BE49-F238E27FC236}">
                <a16:creationId xmlns:a16="http://schemas.microsoft.com/office/drawing/2014/main" id="{9E7F6F25-6684-4536-A8CC-F6D0B1A5D368}"/>
              </a:ext>
            </a:extLst>
          </p:cNvPr>
          <p:cNvSpPr>
            <a:spLocks xmlns:a="http://schemas.openxmlformats.org/drawingml/2006/main" noGrp="1"/>
          </p:cNvSpPr>
          <p:nvPr/>
        </p:nvSpPr>
        <p:spPr>
          <a:xfrm xmlns:a="http://schemas.openxmlformats.org/drawingml/2006/main">
            <a:off x="1524000" y="3676650"/>
            <a:ext cx="2952750" cy="723900"/>
          </a:xfrm>
          <a:prstGeom xmlns:a="http://schemas.openxmlformats.org/drawingml/2006/main" prst="roundRect">
            <a:avLst>
              <a:gd name="adj" fmla="val 10526"/>
            </a:avLst>
          </a:prstGeom>
          <a:solidFill xmlns:a="http://schemas.openxmlformats.org/drawingml/2006/main">
            <a:srgbClr val="EEE8FF"/>
          </a:solidFill>
          <a:ln xmlns:a="http://schemas.openxmlformats.org/drawingml/2006/main" w="19050">
            <a:solidFill>
              <a:srgbClr val="8E6CEF"/>
            </a:solidFill>
            <a:prstDash val="solid"/>
          </a:ln>
        </p:spPr>
      </p:sp>
      <p:sp>
        <p:nvSpPr>
          <p:cNvPr id="20" name="node-label">
            <a:extLst xmlns:a="http://schemas.openxmlformats.org/drawingml/2006/main">
              <a:ext uri="{FF2B5EF4-FFF2-40B4-BE49-F238E27FC236}">
                <a16:creationId xmlns:a16="http://schemas.microsoft.com/office/drawing/2014/main" id="{0D69F9CC-0B7F-419F-B248-8A410549C6C2}"/>
              </a:ext>
            </a:extLst>
          </p:cNvPr>
          <p:cNvSpPr>
            <a:spLocks xmlns:a="http://schemas.openxmlformats.org/drawingml/2006/main" noGrp="1"/>
          </p:cNvSpPr>
          <p:nvPr/>
        </p:nvSpPr>
        <p:spPr>
          <a:xfrm xmlns:a="http://schemas.openxmlformats.org/drawingml/2006/main">
            <a:off x="1600200" y="3714750"/>
            <a:ext cx="2800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learned query embeddings</a:t>
            </a:r>
          </a:p>
        </p:txBody>
      </p:sp>
      <p:sp>
        <p:nvSpPr>
          <p:cNvPr id="21" name="node">
            <a:extLst xmlns:a="http://schemas.openxmlformats.org/drawingml/2006/main">
              <a:ext uri="{FF2B5EF4-FFF2-40B4-BE49-F238E27FC236}">
                <a16:creationId xmlns:a16="http://schemas.microsoft.com/office/drawing/2014/main" id="{C6D26F07-FEE1-41EB-8290-CF861DC0DD82}"/>
              </a:ext>
            </a:extLst>
          </p:cNvPr>
          <p:cNvSpPr>
            <a:spLocks xmlns:a="http://schemas.openxmlformats.org/drawingml/2006/main" noGrp="1"/>
          </p:cNvSpPr>
          <p:nvPr/>
        </p:nvSpPr>
        <p:spPr>
          <a:xfrm xmlns:a="http://schemas.openxmlformats.org/drawingml/2006/main">
            <a:off x="6191250" y="3676650"/>
            <a:ext cx="2952750" cy="723900"/>
          </a:xfrm>
          <a:prstGeom xmlns:a="http://schemas.openxmlformats.org/drawingml/2006/main" prst="roundRect">
            <a:avLst>
              <a:gd name="adj" fmla="val 10526"/>
            </a:avLst>
          </a:prstGeom>
          <a:solidFill xmlns:a="http://schemas.openxmlformats.org/drawingml/2006/main">
            <a:srgbClr val="FFF1CC"/>
          </a:solidFill>
          <a:ln xmlns:a="http://schemas.openxmlformats.org/drawingml/2006/main" w="19050">
            <a:solidFill>
              <a:srgbClr val="F2B84B"/>
            </a:solidFill>
            <a:prstDash val="solid"/>
          </a:ln>
        </p:spPr>
      </p:sp>
      <p:sp>
        <p:nvSpPr>
          <p:cNvPr id="22" name="node-label">
            <a:extLst xmlns:a="http://schemas.openxmlformats.org/drawingml/2006/main">
              <a:ext uri="{FF2B5EF4-FFF2-40B4-BE49-F238E27FC236}">
                <a16:creationId xmlns:a16="http://schemas.microsoft.com/office/drawing/2014/main" id="{4FBB79A9-93EA-4950-9560-25EFE65B774E}"/>
              </a:ext>
            </a:extLst>
          </p:cNvPr>
          <p:cNvSpPr>
            <a:spLocks xmlns:a="http://schemas.openxmlformats.org/drawingml/2006/main" noGrp="1"/>
          </p:cNvSpPr>
          <p:nvPr/>
        </p:nvSpPr>
        <p:spPr>
          <a:xfrm xmlns:a="http://schemas.openxmlformats.org/drawingml/2006/main">
            <a:off x="6267450" y="3714750"/>
            <a:ext cx="28003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class + box heads</a:t>
            </a:r>
          </a:p>
        </p:txBody>
      </p:sp>
      <p:sp>
        <p:nvSpPr>
          <p:cNvPr id="23" name="arrow">
            <a:extLst xmlns:a="http://schemas.openxmlformats.org/drawingml/2006/main">
              <a:ext uri="{FF2B5EF4-FFF2-40B4-BE49-F238E27FC236}">
                <a16:creationId xmlns:a16="http://schemas.microsoft.com/office/drawing/2014/main" id="{0D087E22-E37D-4B01-9801-FC6F22579168}"/>
              </a:ext>
            </a:extLst>
          </p:cNvPr>
          <p:cNvSpPr>
            <a:spLocks xmlns:a="http://schemas.openxmlformats.org/drawingml/2006/main" noGrp="1"/>
          </p:cNvSpPr>
          <p:nvPr/>
        </p:nvSpPr>
        <p:spPr>
          <a:xfrm xmlns:a="http://schemas.openxmlformats.org/drawingml/2006/main">
            <a:off x="4552950" y="38671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24" name="box">
            <a:extLst xmlns:a="http://schemas.openxmlformats.org/drawingml/2006/main">
              <a:ext uri="{FF2B5EF4-FFF2-40B4-BE49-F238E27FC236}">
                <a16:creationId xmlns:a16="http://schemas.microsoft.com/office/drawing/2014/main" id="{1788E790-3C5B-4688-8F9C-5BF8486EEBEB}"/>
              </a:ext>
            </a:extLst>
          </p:cNvPr>
          <p:cNvSpPr>
            <a:spLocks xmlns:a="http://schemas.openxmlformats.org/drawingml/2006/main" noGrp="1"/>
          </p:cNvSpPr>
          <p:nvPr/>
        </p:nvSpPr>
        <p:spPr>
          <a:xfrm xmlns:a="http://schemas.openxmlformats.org/drawingml/2006/main">
            <a:off x="609600" y="4857750"/>
            <a:ext cx="10401300" cy="742950"/>
          </a:xfrm>
          <a:prstGeom xmlns:a="http://schemas.openxmlformats.org/drawingml/2006/main" prst="roundRect">
            <a:avLst>
              <a:gd name="adj" fmla="val 10256"/>
            </a:avLst>
          </a:prstGeom>
          <a:solidFill xmlns:a="http://schemas.openxmlformats.org/drawingml/2006/main">
            <a:srgbClr val="EEF1F4"/>
          </a:solidFill>
          <a:ln xmlns:a="http://schemas.openxmlformats.org/drawingml/2006/main" w="0">
            <a:noFill/>
            <a:prstDash val="solid"/>
          </a:ln>
        </p:spPr>
      </p:sp>
      <p:sp>
        <p:nvSpPr>
          <p:cNvPr id="25" name="text">
            <a:extLst xmlns:a="http://schemas.openxmlformats.org/drawingml/2006/main">
              <a:ext uri="{FF2B5EF4-FFF2-40B4-BE49-F238E27FC236}">
                <a16:creationId xmlns:a16="http://schemas.microsoft.com/office/drawing/2014/main" id="{72492918-66A1-4F48-9CD2-DE8CADE13F47}"/>
              </a:ext>
            </a:extLst>
          </p:cNvPr>
          <p:cNvSpPr>
            <a:spLocks xmlns:a="http://schemas.openxmlformats.org/drawingml/2006/main" noGrp="1"/>
          </p:cNvSpPr>
          <p:nvPr/>
        </p:nvSpPr>
        <p:spPr>
          <a:xfrm xmlns:a="http://schemas.openxmlformats.org/drawingml/2006/main">
            <a:off x="819150" y="4991100"/>
            <a:ext cx="99822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Original recipe: smaller learning rate for the pretrained backbone; larger rate for new DETR modules.</a:t>
            </a:r>
          </a:p>
        </p:txBody>
      </p:sp>
    </p:spTree>
    <p:extLst>
      <p:ext uri="{BB962C8B-B14F-4D97-AF65-F5344CB8AC3E}">
        <p14:creationId xmlns:p14="http://schemas.microsoft.com/office/powerpoint/2010/main" val="5274153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9308D9A8-CEEF-480C-8897-A170C15B000A}"/>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E1C59C56-F3F4-48B0-828A-D12B2AD51D7F}"/>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What does one training example contain?</a:t>
            </a:r>
          </a:p>
        </p:txBody>
      </p:sp>
      <p:sp>
        <p:nvSpPr>
          <p:cNvPr id="3" name="text">
            <a:extLst xmlns:a="http://schemas.openxmlformats.org/drawingml/2006/main">
              <a:ext uri="{FF2B5EF4-FFF2-40B4-BE49-F238E27FC236}">
                <a16:creationId xmlns:a16="http://schemas.microsoft.com/office/drawing/2014/main" id="{7FB2F96E-2E5D-453A-8B88-018569DB889C}"/>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1 • SAMPLE</a:t>
            </a:r>
          </a:p>
        </p:txBody>
      </p:sp>
      <p:sp>
        <p:nvSpPr>
          <p:cNvPr id="4" name="text">
            <a:extLst xmlns:a="http://schemas.openxmlformats.org/drawingml/2006/main">
              <a:ext uri="{FF2B5EF4-FFF2-40B4-BE49-F238E27FC236}">
                <a16:creationId xmlns:a16="http://schemas.microsoft.com/office/drawing/2014/main" id="{ACA8E978-4009-4E8E-9B84-E1F048F5B278}"/>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05</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235d180fab2471b"/>
          <a:srcRect xmlns:a="http://schemas.openxmlformats.org/drawingml/2006/main" l="5530" t="0" r="5530" b="0"/>
          <a:stretch xmlns:a="http://schemas.openxmlformats.org/drawingml/2006/main">
            <a:fillRect l="0" t="0" r="0" b="0"/>
          </a:stretch>
        </p:blipFill>
        <p:spPr>
          <a:xfrm xmlns:a="http://schemas.openxmlformats.org/drawingml/2006/main">
            <a:off x="514350" y="1428750"/>
            <a:ext cx="5810250" cy="3676650"/>
          </a:xfrm>
          <a:prstGeom xmlns:a="http://schemas.openxmlformats.org/drawingml/2006/main" prst="roundRect">
            <a:avLst>
              <a:gd name="adj" fmla="val 3109"/>
            </a:avLst>
          </a:prstGeom>
        </p:spPr>
      </p:pic>
      <p:sp>
        <p:nvSpPr>
          <p:cNvPr id="6" name="box">
            <a:extLst xmlns:a="http://schemas.openxmlformats.org/drawingml/2006/main">
              <a:ext uri="{FF2B5EF4-FFF2-40B4-BE49-F238E27FC236}">
                <a16:creationId xmlns:a16="http://schemas.microsoft.com/office/drawing/2014/main" id="{D1D27972-B84A-46A0-A5FC-8A4B4286E8ED}"/>
              </a:ext>
            </a:extLst>
          </p:cNvPr>
          <p:cNvSpPr>
            <a:spLocks xmlns:a="http://schemas.openxmlformats.org/drawingml/2006/main" noGrp="1"/>
          </p:cNvSpPr>
          <p:nvPr/>
        </p:nvSpPr>
        <p:spPr>
          <a:xfrm xmlns:a="http://schemas.openxmlformats.org/drawingml/2006/main">
            <a:off x="6667500" y="1428750"/>
            <a:ext cx="4629150" cy="3676650"/>
          </a:xfrm>
          <a:prstGeom xmlns:a="http://schemas.openxmlformats.org/drawingml/2006/main" prst="roundRect">
            <a:avLst>
              <a:gd name="adj" fmla="val 2073"/>
            </a:avLst>
          </a:prstGeom>
          <a:solidFill xmlns:a="http://schemas.openxmlformats.org/drawingml/2006/main">
            <a:srgbClr val="EEF1F4"/>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634F5ED-178B-4615-88CF-CE5071AF9160}"/>
              </a:ext>
            </a:extLst>
          </p:cNvPr>
          <p:cNvSpPr>
            <a:spLocks xmlns:a="http://schemas.openxmlformats.org/drawingml/2006/main" noGrp="1"/>
          </p:cNvSpPr>
          <p:nvPr/>
        </p:nvSpPr>
        <p:spPr>
          <a:xfrm xmlns:a="http://schemas.openxmlformats.org/drawingml/2006/main">
            <a:off x="6934200" y="16192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GROUND-TRUTH SET</a:t>
            </a:r>
          </a:p>
        </p:txBody>
      </p:sp>
      <p:sp>
        <p:nvSpPr>
          <p:cNvPr id="8" name="node">
            <a:extLst xmlns:a="http://schemas.openxmlformats.org/drawingml/2006/main">
              <a:ext uri="{FF2B5EF4-FFF2-40B4-BE49-F238E27FC236}">
                <a16:creationId xmlns:a16="http://schemas.microsoft.com/office/drawing/2014/main" id="{F54E2DB5-5DA0-4F78-AD6C-7918CA11405B}"/>
              </a:ext>
            </a:extLst>
          </p:cNvPr>
          <p:cNvSpPr>
            <a:spLocks xmlns:a="http://schemas.openxmlformats.org/drawingml/2006/main" noGrp="1"/>
          </p:cNvSpPr>
          <p:nvPr/>
        </p:nvSpPr>
        <p:spPr>
          <a:xfrm xmlns:a="http://schemas.openxmlformats.org/drawingml/2006/main">
            <a:off x="6953250" y="2133600"/>
            <a:ext cx="1905000" cy="876300"/>
          </a:xfrm>
          <a:prstGeom xmlns:a="http://schemas.openxmlformats.org/drawingml/2006/main" prst="roundRect">
            <a:avLst>
              <a:gd name="adj" fmla="val 8696"/>
            </a:avLst>
          </a:prstGeom>
          <a:solidFill xmlns:a="http://schemas.openxmlformats.org/drawingml/2006/main">
            <a:srgbClr val="D9F1FC"/>
          </a:solidFill>
          <a:ln xmlns:a="http://schemas.openxmlformats.org/drawingml/2006/main" w="19050">
            <a:solidFill>
              <a:srgbClr val="3D8DFF"/>
            </a:solidFill>
            <a:prstDash val="solid"/>
          </a:ln>
        </p:spPr>
      </p:sp>
      <p:sp>
        <p:nvSpPr>
          <p:cNvPr id="9" name="node-label">
            <a:extLst xmlns:a="http://schemas.openxmlformats.org/drawingml/2006/main">
              <a:ext uri="{FF2B5EF4-FFF2-40B4-BE49-F238E27FC236}">
                <a16:creationId xmlns:a16="http://schemas.microsoft.com/office/drawing/2014/main" id="{DCF3EABC-D09D-4BE1-904B-92354A40BDB3}"/>
              </a:ext>
            </a:extLst>
          </p:cNvPr>
          <p:cNvSpPr>
            <a:spLocks xmlns:a="http://schemas.openxmlformats.org/drawingml/2006/main" noGrp="1"/>
          </p:cNvSpPr>
          <p:nvPr/>
        </p:nvSpPr>
        <p:spPr>
          <a:xfrm xmlns:a="http://schemas.openxmlformats.org/drawingml/2006/main">
            <a:off x="7029450" y="2171700"/>
            <a:ext cx="1752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person</a:t>
            </a:r>
          </a:p>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class + box</a:t>
            </a:r>
          </a:p>
        </p:txBody>
      </p:sp>
      <p:sp>
        <p:nvSpPr>
          <p:cNvPr id="10" name="node">
            <a:extLst xmlns:a="http://schemas.openxmlformats.org/drawingml/2006/main">
              <a:ext uri="{FF2B5EF4-FFF2-40B4-BE49-F238E27FC236}">
                <a16:creationId xmlns:a16="http://schemas.microsoft.com/office/drawing/2014/main" id="{11F05F78-303C-4ACA-A907-7D79FDD5DD23}"/>
              </a:ext>
            </a:extLst>
          </p:cNvPr>
          <p:cNvSpPr>
            <a:spLocks xmlns:a="http://schemas.openxmlformats.org/drawingml/2006/main" noGrp="1"/>
          </p:cNvSpPr>
          <p:nvPr/>
        </p:nvSpPr>
        <p:spPr>
          <a:xfrm xmlns:a="http://schemas.openxmlformats.org/drawingml/2006/main">
            <a:off x="9067800" y="2133600"/>
            <a:ext cx="1905000" cy="876300"/>
          </a:xfrm>
          <a:prstGeom xmlns:a="http://schemas.openxmlformats.org/drawingml/2006/main" prst="roundRect">
            <a:avLst>
              <a:gd name="adj" fmla="val 8696"/>
            </a:avLst>
          </a:prstGeom>
          <a:solidFill xmlns:a="http://schemas.openxmlformats.org/drawingml/2006/main">
            <a:srgbClr val="DDF4E8"/>
          </a:solidFill>
          <a:ln xmlns:a="http://schemas.openxmlformats.org/drawingml/2006/main" w="19050">
            <a:solidFill>
              <a:srgbClr val="45B97C"/>
            </a:solidFill>
            <a:prstDash val="solid"/>
          </a:ln>
        </p:spPr>
      </p:sp>
      <p:sp>
        <p:nvSpPr>
          <p:cNvPr id="11" name="node-label">
            <a:extLst xmlns:a="http://schemas.openxmlformats.org/drawingml/2006/main">
              <a:ext uri="{FF2B5EF4-FFF2-40B4-BE49-F238E27FC236}">
                <a16:creationId xmlns:a16="http://schemas.microsoft.com/office/drawing/2014/main" id="{0ABE83BD-B6C6-4469-85A8-AD3819D8673B}"/>
              </a:ext>
            </a:extLst>
          </p:cNvPr>
          <p:cNvSpPr>
            <a:spLocks xmlns:a="http://schemas.openxmlformats.org/drawingml/2006/main" noGrp="1"/>
          </p:cNvSpPr>
          <p:nvPr/>
        </p:nvSpPr>
        <p:spPr>
          <a:xfrm xmlns:a="http://schemas.openxmlformats.org/drawingml/2006/main">
            <a:off x="9144000" y="2171700"/>
            <a:ext cx="1752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dog</a:t>
            </a:r>
          </a:p>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class + box</a:t>
            </a:r>
          </a:p>
        </p:txBody>
      </p:sp>
      <p:sp>
        <p:nvSpPr>
          <p:cNvPr id="12" name="node">
            <a:extLst xmlns:a="http://schemas.openxmlformats.org/drawingml/2006/main">
              <a:ext uri="{FF2B5EF4-FFF2-40B4-BE49-F238E27FC236}">
                <a16:creationId xmlns:a16="http://schemas.microsoft.com/office/drawing/2014/main" id="{237C697E-C185-4015-9D28-C194883377A4}"/>
              </a:ext>
            </a:extLst>
          </p:cNvPr>
          <p:cNvSpPr>
            <a:spLocks xmlns:a="http://schemas.openxmlformats.org/drawingml/2006/main" noGrp="1"/>
          </p:cNvSpPr>
          <p:nvPr/>
        </p:nvSpPr>
        <p:spPr>
          <a:xfrm xmlns:a="http://schemas.openxmlformats.org/drawingml/2006/main">
            <a:off x="8001000" y="3276600"/>
            <a:ext cx="1905000" cy="876300"/>
          </a:xfrm>
          <a:prstGeom xmlns:a="http://schemas.openxmlformats.org/drawingml/2006/main" prst="roundRect">
            <a:avLst>
              <a:gd name="adj" fmla="val 8696"/>
            </a:avLst>
          </a:prstGeom>
          <a:solidFill xmlns:a="http://schemas.openxmlformats.org/drawingml/2006/main">
            <a:srgbClr val="FFF1CC"/>
          </a:solidFill>
          <a:ln xmlns:a="http://schemas.openxmlformats.org/drawingml/2006/main" w="19050">
            <a:solidFill>
              <a:srgbClr val="F2B84B"/>
            </a:solidFill>
            <a:prstDash val="solid"/>
          </a:ln>
        </p:spPr>
      </p:sp>
      <p:sp>
        <p:nvSpPr>
          <p:cNvPr id="13" name="node-label">
            <a:extLst xmlns:a="http://schemas.openxmlformats.org/drawingml/2006/main">
              <a:ext uri="{FF2B5EF4-FFF2-40B4-BE49-F238E27FC236}">
                <a16:creationId xmlns:a16="http://schemas.microsoft.com/office/drawing/2014/main" id="{B512D923-1C43-4BFC-AF87-5A003049C866}"/>
              </a:ext>
            </a:extLst>
          </p:cNvPr>
          <p:cNvSpPr>
            <a:spLocks xmlns:a="http://schemas.openxmlformats.org/drawingml/2006/main" noGrp="1"/>
          </p:cNvSpPr>
          <p:nvPr/>
        </p:nvSpPr>
        <p:spPr>
          <a:xfrm xmlns:a="http://schemas.openxmlformats.org/drawingml/2006/main">
            <a:off x="8077200" y="3314700"/>
            <a:ext cx="1752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bicycle</a:t>
            </a:r>
          </a:p>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class + box</a:t>
            </a:r>
          </a:p>
        </p:txBody>
      </p:sp>
      <p:sp>
        <p:nvSpPr>
          <p:cNvPr id="14" name="text">
            <a:extLst xmlns:a="http://schemas.openxmlformats.org/drawingml/2006/main">
              <a:ext uri="{FF2B5EF4-FFF2-40B4-BE49-F238E27FC236}">
                <a16:creationId xmlns:a16="http://schemas.microsoft.com/office/drawing/2014/main" id="{5C17278B-D069-4BED-8C40-830EF275234E}"/>
              </a:ext>
            </a:extLst>
          </p:cNvPr>
          <p:cNvSpPr>
            <a:spLocks xmlns:a="http://schemas.openxmlformats.org/drawingml/2006/main" noGrp="1"/>
          </p:cNvSpPr>
          <p:nvPr/>
        </p:nvSpPr>
        <p:spPr>
          <a:xfrm xmlns:a="http://schemas.openxmlformats.org/drawingml/2006/main">
            <a:off x="7124700" y="445770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EF6A66"/>
                </a:solidFill>
                <a:latin typeface="Helvetica Neue"/>
                <a:ea typeface="Helvetica Neue"/>
                <a:cs typeface="Helvetica Neue"/>
              </a:defRPr>
            </a:pPr>
            <a:r>
              <a:rPr sz="1575" b="1">
                <a:solidFill>
                  <a:srgbClr val="EF6A66"/>
                </a:solidFill>
                <a:latin typeface="Helvetica Neue"/>
                <a:ea typeface="Helvetica Neue"/>
                <a:cs typeface="Helvetica Neue"/>
              </a:rPr>
              <a:t>No query assignment exists yet.</a:t>
            </a:r>
          </a:p>
        </p:txBody>
      </p:sp>
      <p:sp>
        <p:nvSpPr>
          <p:cNvPr id="15" name="text">
            <a:extLst xmlns:a="http://schemas.openxmlformats.org/drawingml/2006/main">
              <a:ext uri="{FF2B5EF4-FFF2-40B4-BE49-F238E27FC236}">
                <a16:creationId xmlns:a16="http://schemas.microsoft.com/office/drawing/2014/main" id="{77D54B2E-9A51-459A-A1A4-34767976E399}"/>
              </a:ext>
            </a:extLst>
          </p:cNvPr>
          <p:cNvSpPr>
            <a:spLocks xmlns:a="http://schemas.openxmlformats.org/drawingml/2006/main" noGrp="1"/>
          </p:cNvSpPr>
          <p:nvPr/>
        </p:nvSpPr>
        <p:spPr>
          <a:xfrm xmlns:a="http://schemas.openxmlformats.org/drawingml/2006/main">
            <a:off x="895350" y="53911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{person, dog, bicycle} = the same target set in any order</a:t>
            </a:r>
          </a:p>
        </p:txBody>
      </p:sp>
    </p:spTree>
    <p:extLst>
      <p:ext uri="{BB962C8B-B14F-4D97-AF65-F5344CB8AC3E}">
        <p14:creationId xmlns:p14="http://schemas.microsoft.com/office/powerpoint/2010/main" val="10960090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a:extLst xmlns:a="http://schemas.openxmlformats.org/drawingml/2006/main">
              <a:ext uri="{FF2B5EF4-FFF2-40B4-BE49-F238E27FC236}">
                <a16:creationId xmlns:a16="http://schemas.microsoft.com/office/drawing/2014/main" id="{ED9ADA5F-7BFB-4270-9D58-A27DF25F4D28}"/>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81DA174A-44E5-4078-9CC0-52C9FAAAD91C}"/>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How does the paper draw the complete detector?</a:t>
            </a:r>
          </a:p>
        </p:txBody>
      </p:sp>
      <p:sp>
        <p:nvSpPr>
          <p:cNvPr id="3" name="text">
            <a:extLst xmlns:a="http://schemas.openxmlformats.org/drawingml/2006/main">
              <a:ext uri="{FF2B5EF4-FFF2-40B4-BE49-F238E27FC236}">
                <a16:creationId xmlns:a16="http://schemas.microsoft.com/office/drawing/2014/main" id="{3B4C18EB-BF1B-4423-A400-EC04B5ADB06F}"/>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PAPER FIGURE • COMPLETE</a:t>
            </a:r>
          </a:p>
        </p:txBody>
      </p:sp>
      <p:sp>
        <p:nvSpPr>
          <p:cNvPr id="4" name="text">
            <a:extLst xmlns:a="http://schemas.openxmlformats.org/drawingml/2006/main">
              <a:ext uri="{FF2B5EF4-FFF2-40B4-BE49-F238E27FC236}">
                <a16:creationId xmlns:a16="http://schemas.microsoft.com/office/drawing/2014/main" id="{9F4F08FA-286F-4800-AD77-32928DE4DBFE}"/>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06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07803899041452d"/>
          <a:stretch xmlns:a="http://schemas.openxmlformats.org/drawingml/2006/main"/>
        </p:blipFill>
        <p:spPr>
          <a:xfrm xmlns:a="http://schemas.openxmlformats.org/drawingml/2006/main">
            <a:off x="577377" y="1428750"/>
            <a:ext cx="11037246" cy="2981325"/>
          </a:xfrm>
          <a:prstGeom xmlns:a="http://schemas.openxmlformats.org/drawingml/2006/main" prst="rect">
            <a:avLst/>
          </a:prstGeom>
        </p:spPr>
      </p:pic>
      <p:sp>
        <p:nvSpPr>
          <p:cNvPr id="6" name="paper-citation">
            <a:extLst xmlns:a="http://schemas.openxmlformats.org/drawingml/2006/main">
              <a:ext uri="{FF2B5EF4-FFF2-40B4-BE49-F238E27FC236}">
                <a16:creationId xmlns:a16="http://schemas.microsoft.com/office/drawing/2014/main" id="{86B73877-5CD2-4048-815E-0A46DF2D2161}"/>
              </a:ext>
            </a:extLst>
          </p:cNvPr>
          <p:cNvSpPr>
            <a:spLocks xmlns:a="http://schemas.openxmlformats.org/drawingml/2006/main" noGrp="1"/>
          </p:cNvSpPr>
          <p:nvPr/>
        </p:nvSpPr>
        <p:spPr>
          <a:xfrm xmlns:a="http://schemas.openxmlformats.org/drawingml/2006/main">
            <a:off x="609600" y="45529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Source: Carion et al., “End-to-End Object Detection with Transformers,” ECCV 2020, Fig. 2.</a:t>
            </a:r>
          </a:p>
        </p:txBody>
      </p:sp>
      <p:sp>
        <p:nvSpPr>
          <p:cNvPr id="7" name="box">
            <a:extLst xmlns:a="http://schemas.openxmlformats.org/drawingml/2006/main">
              <a:ext uri="{FF2B5EF4-FFF2-40B4-BE49-F238E27FC236}">
                <a16:creationId xmlns:a16="http://schemas.microsoft.com/office/drawing/2014/main" id="{DE12B860-FCDE-4E1A-856E-2257554404F0}"/>
              </a:ext>
            </a:extLst>
          </p:cNvPr>
          <p:cNvSpPr>
            <a:spLocks xmlns:a="http://schemas.openxmlformats.org/drawingml/2006/main" noGrp="1"/>
          </p:cNvSpPr>
          <p:nvPr/>
        </p:nvSpPr>
        <p:spPr>
          <a:xfrm xmlns:a="http://schemas.openxmlformats.org/drawingml/2006/main">
            <a:off x="1104900" y="5219700"/>
            <a:ext cx="9982200" cy="590550"/>
          </a:xfrm>
          <a:prstGeom xmlns:a="http://schemas.openxmlformats.org/drawingml/2006/main" prst="roundRect">
            <a:avLst>
              <a:gd name="adj" fmla="val 12903"/>
            </a:avLst>
          </a:prstGeom>
          <a:solidFill xmlns:a="http://schemas.openxmlformats.org/drawingml/2006/main">
            <a:srgbClr val="EEF1F4"/>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6D009172-5EA4-4E89-B707-C4A8F7A9D610}"/>
              </a:ext>
            </a:extLst>
          </p:cNvPr>
          <p:cNvSpPr>
            <a:spLocks xmlns:a="http://schemas.openxmlformats.org/drawingml/2006/main" noGrp="1"/>
          </p:cNvSpPr>
          <p:nvPr/>
        </p:nvSpPr>
        <p:spPr>
          <a:xfrm xmlns:a="http://schemas.openxmlformats.org/drawingml/2006/main">
            <a:off x="1276350" y="5295900"/>
            <a:ext cx="9639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Read left to right: image features → contextualized memory → object queries → class and box outputs</a:t>
            </a:r>
          </a:p>
        </p:txBody>
      </p:sp>
    </p:spTree>
    <p:extLst>
      <p:ext uri="{BB962C8B-B14F-4D97-AF65-F5344CB8AC3E}">
        <p14:creationId xmlns:p14="http://schemas.microsoft.com/office/powerpoint/2010/main" val="1565203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AA847038-478B-4F58-A766-B666B9B13D0D}"/>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A168599A-243E-4C4F-9ACF-1DC394A60B9A}"/>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The backbone converts pixels into a feature map</a:t>
            </a:r>
          </a:p>
        </p:txBody>
      </p:sp>
      <p:sp>
        <p:nvSpPr>
          <p:cNvPr id="3" name="text">
            <a:extLst xmlns:a="http://schemas.openxmlformats.org/drawingml/2006/main">
              <a:ext uri="{FF2B5EF4-FFF2-40B4-BE49-F238E27FC236}">
                <a16:creationId xmlns:a16="http://schemas.microsoft.com/office/drawing/2014/main" id="{EE96E9F5-FC82-41A3-8A97-46FA55C1932E}"/>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PAPER FIGURE • BACKBONE</a:t>
            </a:r>
          </a:p>
        </p:txBody>
      </p:sp>
      <p:sp>
        <p:nvSpPr>
          <p:cNvPr id="4" name="text">
            <a:extLst xmlns:a="http://schemas.openxmlformats.org/drawingml/2006/main">
              <a:ext uri="{FF2B5EF4-FFF2-40B4-BE49-F238E27FC236}">
                <a16:creationId xmlns:a16="http://schemas.microsoft.com/office/drawing/2014/main" id="{F69DA674-F3C2-4023-BB1E-990B78B46664}"/>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07</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76a023aee844e27"/>
          <a:stretch xmlns:a="http://schemas.openxmlformats.org/drawingml/2006/main"/>
        </p:blipFill>
        <p:spPr>
          <a:xfrm xmlns:a="http://schemas.openxmlformats.org/drawingml/2006/main">
            <a:off x="577377" y="1428750"/>
            <a:ext cx="11037246" cy="2981325"/>
          </a:xfrm>
          <a:prstGeom xmlns:a="http://schemas.openxmlformats.org/drawingml/2006/main" prst="rect">
            <a:avLst/>
          </a:prstGeom>
        </p:spPr>
      </p:pic>
      <p:sp>
        <p:nvSpPr>
          <p:cNvPr id="6" name="figure-highlight-backbone">
            <a:extLst xmlns:a="http://schemas.openxmlformats.org/drawingml/2006/main">
              <a:ext uri="{FF2B5EF4-FFF2-40B4-BE49-F238E27FC236}">
                <a16:creationId xmlns:a16="http://schemas.microsoft.com/office/drawing/2014/main" id="{5CF0C3F5-FCF8-4C92-A03B-0D456A3B167E}"/>
              </a:ext>
            </a:extLst>
          </p:cNvPr>
          <p:cNvSpPr>
            <a:spLocks xmlns:a="http://schemas.openxmlformats.org/drawingml/2006/main" noGrp="1"/>
          </p:cNvSpPr>
          <p:nvPr/>
        </p:nvSpPr>
        <p:spPr>
          <a:xfrm xmlns:a="http://schemas.openxmlformats.org/drawingml/2006/main">
            <a:off x="571500" y="1428750"/>
            <a:ext cx="1905000" cy="2743200"/>
          </a:xfrm>
          <a:prstGeom xmlns:a="http://schemas.openxmlformats.org/drawingml/2006/main" prst="rect">
            <a:avLst/>
          </a:prstGeom>
          <a:noFill xmlns:a="http://schemas.openxmlformats.org/drawingml/2006/main"/>
          <a:ln xmlns:a="http://schemas.openxmlformats.org/drawingml/2006/main" w="38100">
            <a:solidFill>
              <a:srgbClr val="45B97C"/>
            </a:solidFill>
            <a:prstDash val="solid"/>
          </a:ln>
        </p:spPr>
      </p:sp>
      <p:sp>
        <p:nvSpPr>
          <p:cNvPr id="7" name="paper-citation">
            <a:extLst xmlns:a="http://schemas.openxmlformats.org/drawingml/2006/main">
              <a:ext uri="{FF2B5EF4-FFF2-40B4-BE49-F238E27FC236}">
                <a16:creationId xmlns:a16="http://schemas.microsoft.com/office/drawing/2014/main" id="{991B32D3-E71B-439E-A92C-3D6B8EFC2012}"/>
              </a:ext>
            </a:extLst>
          </p:cNvPr>
          <p:cNvSpPr>
            <a:spLocks xmlns:a="http://schemas.openxmlformats.org/drawingml/2006/main" noGrp="1"/>
          </p:cNvSpPr>
          <p:nvPr/>
        </p:nvSpPr>
        <p:spPr>
          <a:xfrm xmlns:a="http://schemas.openxmlformats.org/drawingml/2006/main">
            <a:off x="609600" y="45529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Source: Carion et al., “End-to-End Object Detection with Transformers,” ECCV 2020, Fig. 2.</a:t>
            </a:r>
          </a:p>
        </p:txBody>
      </p:sp>
      <p:sp>
        <p:nvSpPr>
          <p:cNvPr id="8" name="box">
            <a:extLst xmlns:a="http://schemas.openxmlformats.org/drawingml/2006/main">
              <a:ext uri="{FF2B5EF4-FFF2-40B4-BE49-F238E27FC236}">
                <a16:creationId xmlns:a16="http://schemas.microsoft.com/office/drawing/2014/main" id="{4CD3F1D5-7A9E-4FA2-9C01-84782CA5D5F3}"/>
              </a:ext>
            </a:extLst>
          </p:cNvPr>
          <p:cNvSpPr>
            <a:spLocks xmlns:a="http://schemas.openxmlformats.org/drawingml/2006/main" noGrp="1"/>
          </p:cNvSpPr>
          <p:nvPr/>
        </p:nvSpPr>
        <p:spPr>
          <a:xfrm xmlns:a="http://schemas.openxmlformats.org/drawingml/2006/main">
            <a:off x="1466850" y="5219700"/>
            <a:ext cx="9258300" cy="590550"/>
          </a:xfrm>
          <a:prstGeom xmlns:a="http://schemas.openxmlformats.org/drawingml/2006/main" prst="roundRect">
            <a:avLst>
              <a:gd name="adj" fmla="val 12903"/>
            </a:avLst>
          </a:prstGeom>
          <a:solidFill xmlns:a="http://schemas.openxmlformats.org/drawingml/2006/main">
            <a:srgbClr val="DDF4E8"/>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048E7807-98A4-41DA-8223-792B05C7D9D6}"/>
              </a:ext>
            </a:extLst>
          </p:cNvPr>
          <p:cNvSpPr>
            <a:spLocks xmlns:a="http://schemas.openxmlformats.org/drawingml/2006/main" noGrp="1"/>
          </p:cNvSpPr>
          <p:nvPr/>
        </p:nvSpPr>
        <p:spPr>
          <a:xfrm xmlns:a="http://schemas.openxmlformats.org/drawingml/2006/main">
            <a:off x="1638300" y="5295900"/>
            <a:ext cx="8915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45B97C"/>
                </a:solidFill>
                <a:latin typeface="Helvetica Neue"/>
                <a:ea typeface="Helvetica Neue"/>
                <a:cs typeface="Helvetica Neue"/>
              </a:defRPr>
            </a:pPr>
            <a:r>
              <a:rPr sz="1500" b="1">
                <a:solidFill>
                  <a:srgbClr val="45B97C"/>
                </a:solidFill>
                <a:latin typeface="Helvetica Neue"/>
                <a:ea typeface="Helvetica Neue"/>
                <a:cs typeface="Helvetica Neue"/>
              </a:rPr>
              <a:t>Backbone: CNN features + positional encoding create the visual input to the Transformer.</a:t>
            </a:r>
          </a:p>
        </p:txBody>
      </p:sp>
    </p:spTree>
    <p:extLst>
      <p:ext uri="{BB962C8B-B14F-4D97-AF65-F5344CB8AC3E}">
        <p14:creationId xmlns:p14="http://schemas.microsoft.com/office/powerpoint/2010/main" val="8252971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A14413F2-164B-4C72-B7A5-FE35697112B6}"/>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A278DAA4-1576-4777-A155-FB1ECC638C46}"/>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The encoder gives every location global context</a:t>
            </a:r>
          </a:p>
        </p:txBody>
      </p:sp>
      <p:sp>
        <p:nvSpPr>
          <p:cNvPr id="3" name="text">
            <a:extLst xmlns:a="http://schemas.openxmlformats.org/drawingml/2006/main">
              <a:ext uri="{FF2B5EF4-FFF2-40B4-BE49-F238E27FC236}">
                <a16:creationId xmlns:a16="http://schemas.microsoft.com/office/drawing/2014/main" id="{2DF89F6A-C2B6-430A-B232-2A4E360B4282}"/>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PAPER FIGURE • ENCODER</a:t>
            </a:r>
          </a:p>
        </p:txBody>
      </p:sp>
      <p:sp>
        <p:nvSpPr>
          <p:cNvPr id="4" name="text">
            <a:extLst xmlns:a="http://schemas.openxmlformats.org/drawingml/2006/main">
              <a:ext uri="{FF2B5EF4-FFF2-40B4-BE49-F238E27FC236}">
                <a16:creationId xmlns:a16="http://schemas.microsoft.com/office/drawing/2014/main" id="{87A849F9-AFCE-4BC6-8909-0CDBB2CE87DF}"/>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08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09ed4fb68be4e40"/>
          <a:stretch xmlns:a="http://schemas.openxmlformats.org/drawingml/2006/main"/>
        </p:blipFill>
        <p:spPr>
          <a:xfrm xmlns:a="http://schemas.openxmlformats.org/drawingml/2006/main">
            <a:off x="577377" y="1428750"/>
            <a:ext cx="11037246" cy="2981325"/>
          </a:xfrm>
          <a:prstGeom xmlns:a="http://schemas.openxmlformats.org/drawingml/2006/main" prst="rect">
            <a:avLst/>
          </a:prstGeom>
        </p:spPr>
      </p:pic>
      <p:sp>
        <p:nvSpPr>
          <p:cNvPr id="6" name="figure-highlight-encoder">
            <a:extLst xmlns:a="http://schemas.openxmlformats.org/drawingml/2006/main">
              <a:ext uri="{FF2B5EF4-FFF2-40B4-BE49-F238E27FC236}">
                <a16:creationId xmlns:a16="http://schemas.microsoft.com/office/drawing/2014/main" id="{3093F5C7-7ABE-49A4-9DD9-27BA47F05879}"/>
              </a:ext>
            </a:extLst>
          </p:cNvPr>
          <p:cNvSpPr>
            <a:spLocks xmlns:a="http://schemas.openxmlformats.org/drawingml/2006/main" noGrp="1"/>
          </p:cNvSpPr>
          <p:nvPr/>
        </p:nvSpPr>
        <p:spPr>
          <a:xfrm xmlns:a="http://schemas.openxmlformats.org/drawingml/2006/main">
            <a:off x="2476500" y="1428750"/>
            <a:ext cx="2428875" cy="2743200"/>
          </a:xfrm>
          <a:prstGeom xmlns:a="http://schemas.openxmlformats.org/drawingml/2006/main" prst="rect">
            <a:avLst/>
          </a:prstGeom>
          <a:noFill xmlns:a="http://schemas.openxmlformats.org/drawingml/2006/main"/>
          <a:ln xmlns:a="http://schemas.openxmlformats.org/drawingml/2006/main" w="38100">
            <a:solidFill>
              <a:srgbClr val="3D8DFF"/>
            </a:solidFill>
            <a:prstDash val="solid"/>
          </a:ln>
        </p:spPr>
      </p:sp>
      <p:sp>
        <p:nvSpPr>
          <p:cNvPr id="7" name="paper-citation">
            <a:extLst xmlns:a="http://schemas.openxmlformats.org/drawingml/2006/main">
              <a:ext uri="{FF2B5EF4-FFF2-40B4-BE49-F238E27FC236}">
                <a16:creationId xmlns:a16="http://schemas.microsoft.com/office/drawing/2014/main" id="{4DC6FF55-C72C-40EA-99F3-ABF698AB17F1}"/>
              </a:ext>
            </a:extLst>
          </p:cNvPr>
          <p:cNvSpPr>
            <a:spLocks xmlns:a="http://schemas.openxmlformats.org/drawingml/2006/main" noGrp="1"/>
          </p:cNvSpPr>
          <p:nvPr/>
        </p:nvSpPr>
        <p:spPr>
          <a:xfrm xmlns:a="http://schemas.openxmlformats.org/drawingml/2006/main">
            <a:off x="609600" y="45529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Source: Carion et al., “End-to-End Object Detection with Transformers,” ECCV 2020, Fig. 2.</a:t>
            </a:r>
          </a:p>
        </p:txBody>
      </p:sp>
      <p:sp>
        <p:nvSpPr>
          <p:cNvPr id="8" name="box">
            <a:extLst xmlns:a="http://schemas.openxmlformats.org/drawingml/2006/main">
              <a:ext uri="{FF2B5EF4-FFF2-40B4-BE49-F238E27FC236}">
                <a16:creationId xmlns:a16="http://schemas.microsoft.com/office/drawing/2014/main" id="{B887E13B-9168-42FA-A90E-F5E2C70A508E}"/>
              </a:ext>
            </a:extLst>
          </p:cNvPr>
          <p:cNvSpPr>
            <a:spLocks xmlns:a="http://schemas.openxmlformats.org/drawingml/2006/main" noGrp="1"/>
          </p:cNvSpPr>
          <p:nvPr/>
        </p:nvSpPr>
        <p:spPr>
          <a:xfrm xmlns:a="http://schemas.openxmlformats.org/drawingml/2006/main">
            <a:off x="1638300" y="5219700"/>
            <a:ext cx="8915400" cy="590550"/>
          </a:xfrm>
          <a:prstGeom xmlns:a="http://schemas.openxmlformats.org/drawingml/2006/main" prst="roundRect">
            <a:avLst>
              <a:gd name="adj" fmla="val 12903"/>
            </a:avLst>
          </a:prstGeom>
          <a:solidFill xmlns:a="http://schemas.openxmlformats.org/drawingml/2006/main">
            <a:srgbClr val="D9F1FC"/>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FDCCC3B9-EEF7-4879-AC74-FA24C8543506}"/>
              </a:ext>
            </a:extLst>
          </p:cNvPr>
          <p:cNvSpPr>
            <a:spLocks xmlns:a="http://schemas.openxmlformats.org/drawingml/2006/main" noGrp="1"/>
          </p:cNvSpPr>
          <p:nvPr/>
        </p:nvSpPr>
        <p:spPr>
          <a:xfrm xmlns:a="http://schemas.openxmlformats.org/drawingml/2006/main">
            <a:off x="1809750" y="529590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Encoder: self-attention relates every spatial token to the rest of the image.</a:t>
            </a:r>
          </a:p>
        </p:txBody>
      </p:sp>
    </p:spTree>
    <p:extLst>
      <p:ext uri="{BB962C8B-B14F-4D97-AF65-F5344CB8AC3E}">
        <p14:creationId xmlns:p14="http://schemas.microsoft.com/office/powerpoint/2010/main" val="3913792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3D277ED6-7E70-4EB0-9E4F-22C3CDD6CCE8}"/>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9CA14585-5B21-4E33-BC9B-6AF1F73851B9}"/>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The decoder updates all object slots in parallel</a:t>
            </a:r>
          </a:p>
        </p:txBody>
      </p:sp>
      <p:sp>
        <p:nvSpPr>
          <p:cNvPr id="3" name="text">
            <a:extLst xmlns:a="http://schemas.openxmlformats.org/drawingml/2006/main">
              <a:ext uri="{FF2B5EF4-FFF2-40B4-BE49-F238E27FC236}">
                <a16:creationId xmlns:a16="http://schemas.microsoft.com/office/drawing/2014/main" id="{2320ACB8-1B85-4DEA-B81D-3DE2FF05B514}"/>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PAPER FIGURE • DECODER</a:t>
            </a:r>
          </a:p>
        </p:txBody>
      </p:sp>
      <p:sp>
        <p:nvSpPr>
          <p:cNvPr id="4" name="text">
            <a:extLst xmlns:a="http://schemas.openxmlformats.org/drawingml/2006/main">
              <a:ext uri="{FF2B5EF4-FFF2-40B4-BE49-F238E27FC236}">
                <a16:creationId xmlns:a16="http://schemas.microsoft.com/office/drawing/2014/main" id="{651E9C3D-F378-49F2-BB8F-29833790019D}"/>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09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b6b1843d9694dc3"/>
          <a:stretch xmlns:a="http://schemas.openxmlformats.org/drawingml/2006/main"/>
        </p:blipFill>
        <p:spPr>
          <a:xfrm xmlns:a="http://schemas.openxmlformats.org/drawingml/2006/main">
            <a:off x="577377" y="1428750"/>
            <a:ext cx="11037246" cy="2981325"/>
          </a:xfrm>
          <a:prstGeom xmlns:a="http://schemas.openxmlformats.org/drawingml/2006/main" prst="rect">
            <a:avLst/>
          </a:prstGeom>
        </p:spPr>
      </p:pic>
      <p:sp>
        <p:nvSpPr>
          <p:cNvPr id="6" name="figure-highlight-decoder">
            <a:extLst xmlns:a="http://schemas.openxmlformats.org/drawingml/2006/main">
              <a:ext uri="{FF2B5EF4-FFF2-40B4-BE49-F238E27FC236}">
                <a16:creationId xmlns:a16="http://schemas.microsoft.com/office/drawing/2014/main" id="{BCF158C7-DDDB-4304-87F7-821700E283E4}"/>
              </a:ext>
            </a:extLst>
          </p:cNvPr>
          <p:cNvSpPr>
            <a:spLocks xmlns:a="http://schemas.openxmlformats.org/drawingml/2006/main" noGrp="1"/>
          </p:cNvSpPr>
          <p:nvPr/>
        </p:nvSpPr>
        <p:spPr>
          <a:xfrm xmlns:a="http://schemas.openxmlformats.org/drawingml/2006/main">
            <a:off x="4914900" y="1428750"/>
            <a:ext cx="2266950" cy="2743200"/>
          </a:xfrm>
          <a:prstGeom xmlns:a="http://schemas.openxmlformats.org/drawingml/2006/main" prst="rect">
            <a:avLst/>
          </a:prstGeom>
          <a:noFill xmlns:a="http://schemas.openxmlformats.org/drawingml/2006/main"/>
          <a:ln xmlns:a="http://schemas.openxmlformats.org/drawingml/2006/main" w="38100">
            <a:solidFill>
              <a:srgbClr val="8E6CEF"/>
            </a:solidFill>
            <a:prstDash val="solid"/>
          </a:ln>
        </p:spPr>
      </p:sp>
      <p:sp>
        <p:nvSpPr>
          <p:cNvPr id="7" name="paper-citation">
            <a:extLst xmlns:a="http://schemas.openxmlformats.org/drawingml/2006/main">
              <a:ext uri="{FF2B5EF4-FFF2-40B4-BE49-F238E27FC236}">
                <a16:creationId xmlns:a16="http://schemas.microsoft.com/office/drawing/2014/main" id="{6615F5DA-5864-45E1-98D8-3E1181CD8DE2}"/>
              </a:ext>
            </a:extLst>
          </p:cNvPr>
          <p:cNvSpPr>
            <a:spLocks xmlns:a="http://schemas.openxmlformats.org/drawingml/2006/main" noGrp="1"/>
          </p:cNvSpPr>
          <p:nvPr/>
        </p:nvSpPr>
        <p:spPr>
          <a:xfrm xmlns:a="http://schemas.openxmlformats.org/drawingml/2006/main">
            <a:off x="609600" y="45529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Source: Carion et al., “End-to-End Object Detection with Transformers,” ECCV 2020, Fig. 2.</a:t>
            </a:r>
          </a:p>
        </p:txBody>
      </p:sp>
      <p:sp>
        <p:nvSpPr>
          <p:cNvPr id="8" name="box">
            <a:extLst xmlns:a="http://schemas.openxmlformats.org/drawingml/2006/main">
              <a:ext uri="{FF2B5EF4-FFF2-40B4-BE49-F238E27FC236}">
                <a16:creationId xmlns:a16="http://schemas.microsoft.com/office/drawing/2014/main" id="{3EE83647-C2A2-4576-881A-E9F1A3756373}"/>
              </a:ext>
            </a:extLst>
          </p:cNvPr>
          <p:cNvSpPr>
            <a:spLocks xmlns:a="http://schemas.openxmlformats.org/drawingml/2006/main" noGrp="1"/>
          </p:cNvSpPr>
          <p:nvPr/>
        </p:nvSpPr>
        <p:spPr>
          <a:xfrm xmlns:a="http://schemas.openxmlformats.org/drawingml/2006/main">
            <a:off x="1200150" y="5219700"/>
            <a:ext cx="9791700" cy="590550"/>
          </a:xfrm>
          <a:prstGeom xmlns:a="http://schemas.openxmlformats.org/drawingml/2006/main" prst="roundRect">
            <a:avLst>
              <a:gd name="adj" fmla="val 12903"/>
            </a:avLst>
          </a:prstGeom>
          <a:solidFill xmlns:a="http://schemas.openxmlformats.org/drawingml/2006/main">
            <a:srgbClr val="EEE8FF"/>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8973F2F1-72FD-48D5-8BDD-44565B6B493D}"/>
              </a:ext>
            </a:extLst>
          </p:cNvPr>
          <p:cNvSpPr>
            <a:spLocks xmlns:a="http://schemas.openxmlformats.org/drawingml/2006/main" noGrp="1"/>
          </p:cNvSpPr>
          <p:nvPr/>
        </p:nvSpPr>
        <p:spPr>
          <a:xfrm xmlns:a="http://schemas.openxmlformats.org/drawingml/2006/main">
            <a:off x="1371600" y="5295900"/>
            <a:ext cx="9448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8E6CEF"/>
                </a:solidFill>
                <a:latin typeface="Helvetica Neue"/>
                <a:ea typeface="Helvetica Neue"/>
                <a:cs typeface="Helvetica Neue"/>
              </a:defRPr>
            </a:pPr>
            <a:r>
              <a:rPr sz="1500" b="1">
                <a:solidFill>
                  <a:srgbClr val="8E6CEF"/>
                </a:solidFill>
                <a:latin typeface="Helvetica Neue"/>
                <a:ea typeface="Helvetica Neue"/>
                <a:cs typeface="Helvetica Neue"/>
              </a:rPr>
              <a:t>Decoder: query self-attention coordinates slots; cross-attention retrieves image evidence.</a:t>
            </a:r>
          </a:p>
        </p:txBody>
      </p:sp>
    </p:spTree>
    <p:extLst>
      <p:ext uri="{BB962C8B-B14F-4D97-AF65-F5344CB8AC3E}">
        <p14:creationId xmlns:p14="http://schemas.microsoft.com/office/powerpoint/2010/main" val="17787943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C0AEA200-29CB-45FA-9867-25BC9A951824}"/>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41DCB777-E0C7-47AE-92C8-49731097A25A}"/>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Learned object queries identify the prediction slots</a:t>
            </a:r>
          </a:p>
        </p:txBody>
      </p:sp>
      <p:sp>
        <p:nvSpPr>
          <p:cNvPr id="3" name="text">
            <a:extLst xmlns:a="http://schemas.openxmlformats.org/drawingml/2006/main">
              <a:ext uri="{FF2B5EF4-FFF2-40B4-BE49-F238E27FC236}">
                <a16:creationId xmlns:a16="http://schemas.microsoft.com/office/drawing/2014/main" id="{94894B61-F7C4-4291-BE90-C19C7E99AFEF}"/>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PAPER FIGURE • OBJECT QUERIES</a:t>
            </a:r>
          </a:p>
        </p:txBody>
      </p:sp>
      <p:sp>
        <p:nvSpPr>
          <p:cNvPr id="4" name="text">
            <a:extLst xmlns:a="http://schemas.openxmlformats.org/drawingml/2006/main">
              <a:ext uri="{FF2B5EF4-FFF2-40B4-BE49-F238E27FC236}">
                <a16:creationId xmlns:a16="http://schemas.microsoft.com/office/drawing/2014/main" id="{ED6EAF83-DE46-487D-A4D8-BA7D3F2FAAC0}"/>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10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64a27b8713b4b96"/>
          <a:stretch xmlns:a="http://schemas.openxmlformats.org/drawingml/2006/main"/>
        </p:blipFill>
        <p:spPr>
          <a:xfrm xmlns:a="http://schemas.openxmlformats.org/drawingml/2006/main">
            <a:off x="577377" y="1428750"/>
            <a:ext cx="11037246" cy="2981325"/>
          </a:xfrm>
          <a:prstGeom xmlns:a="http://schemas.openxmlformats.org/drawingml/2006/main" prst="rect">
            <a:avLst/>
          </a:prstGeom>
        </p:spPr>
      </p:pic>
      <p:sp>
        <p:nvSpPr>
          <p:cNvPr id="6" name="figure-highlight-queries">
            <a:extLst xmlns:a="http://schemas.openxmlformats.org/drawingml/2006/main">
              <a:ext uri="{FF2B5EF4-FFF2-40B4-BE49-F238E27FC236}">
                <a16:creationId xmlns:a16="http://schemas.microsoft.com/office/drawing/2014/main" id="{EF43BA56-BA05-42C9-915A-8A1519B5446E}"/>
              </a:ext>
            </a:extLst>
          </p:cNvPr>
          <p:cNvSpPr>
            <a:spLocks xmlns:a="http://schemas.openxmlformats.org/drawingml/2006/main" noGrp="1"/>
          </p:cNvSpPr>
          <p:nvPr/>
        </p:nvSpPr>
        <p:spPr>
          <a:xfrm xmlns:a="http://schemas.openxmlformats.org/drawingml/2006/main">
            <a:off x="5334000" y="3505200"/>
            <a:ext cx="1657350" cy="666750"/>
          </a:xfrm>
          <a:prstGeom xmlns:a="http://schemas.openxmlformats.org/drawingml/2006/main" prst="rect">
            <a:avLst/>
          </a:prstGeom>
          <a:noFill xmlns:a="http://schemas.openxmlformats.org/drawingml/2006/main"/>
          <a:ln xmlns:a="http://schemas.openxmlformats.org/drawingml/2006/main" w="38100">
            <a:solidFill>
              <a:srgbClr val="8E6CEF"/>
            </a:solidFill>
            <a:prstDash val="solid"/>
          </a:ln>
        </p:spPr>
      </p:sp>
      <p:sp>
        <p:nvSpPr>
          <p:cNvPr id="7" name="paper-citation">
            <a:extLst xmlns:a="http://schemas.openxmlformats.org/drawingml/2006/main">
              <a:ext uri="{FF2B5EF4-FFF2-40B4-BE49-F238E27FC236}">
                <a16:creationId xmlns:a16="http://schemas.microsoft.com/office/drawing/2014/main" id="{9032035E-C971-4550-BF87-457A842C3D89}"/>
              </a:ext>
            </a:extLst>
          </p:cNvPr>
          <p:cNvSpPr>
            <a:spLocks xmlns:a="http://schemas.openxmlformats.org/drawingml/2006/main" noGrp="1"/>
          </p:cNvSpPr>
          <p:nvPr/>
        </p:nvSpPr>
        <p:spPr>
          <a:xfrm xmlns:a="http://schemas.openxmlformats.org/drawingml/2006/main">
            <a:off x="609600" y="45529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Source: Carion et al., “End-to-End Object Detection with Transformers,” ECCV 2020, Fig. 2.</a:t>
            </a:r>
          </a:p>
        </p:txBody>
      </p:sp>
      <p:sp>
        <p:nvSpPr>
          <p:cNvPr id="8" name="box">
            <a:extLst xmlns:a="http://schemas.openxmlformats.org/drawingml/2006/main">
              <a:ext uri="{FF2B5EF4-FFF2-40B4-BE49-F238E27FC236}">
                <a16:creationId xmlns:a16="http://schemas.microsoft.com/office/drawing/2014/main" id="{09DC904E-CE1D-4D76-B636-86DE010B0A5F}"/>
              </a:ext>
            </a:extLst>
          </p:cNvPr>
          <p:cNvSpPr>
            <a:spLocks xmlns:a="http://schemas.openxmlformats.org/drawingml/2006/main" noGrp="1"/>
          </p:cNvSpPr>
          <p:nvPr/>
        </p:nvSpPr>
        <p:spPr>
          <a:xfrm xmlns:a="http://schemas.openxmlformats.org/drawingml/2006/main">
            <a:off x="1257300" y="5219700"/>
            <a:ext cx="9677400" cy="590550"/>
          </a:xfrm>
          <a:prstGeom xmlns:a="http://schemas.openxmlformats.org/drawingml/2006/main" prst="roundRect">
            <a:avLst>
              <a:gd name="adj" fmla="val 12903"/>
            </a:avLst>
          </a:prstGeom>
          <a:solidFill xmlns:a="http://schemas.openxmlformats.org/drawingml/2006/main">
            <a:srgbClr val="EEE8FF"/>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0F24CFCE-A4FC-4A91-8DC3-C48A1082D812}"/>
              </a:ext>
            </a:extLst>
          </p:cNvPr>
          <p:cNvSpPr>
            <a:spLocks xmlns:a="http://schemas.openxmlformats.org/drawingml/2006/main" noGrp="1"/>
          </p:cNvSpPr>
          <p:nvPr/>
        </p:nvSpPr>
        <p:spPr>
          <a:xfrm xmlns:a="http://schemas.openxmlformats.org/drawingml/2006/main">
            <a:off x="1428750" y="5295900"/>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8E6CEF"/>
                </a:solidFill>
                <a:latin typeface="Helvetica Neue"/>
                <a:ea typeface="Helvetica Neue"/>
                <a:cs typeface="Helvetica Neue"/>
              </a:defRPr>
            </a:pPr>
            <a:r>
              <a:rPr sz="1500" b="1">
                <a:solidFill>
                  <a:srgbClr val="8E6CEF"/>
                </a:solidFill>
                <a:latin typeface="Helvetica Neue"/>
                <a:ea typeface="Helvetica Neue"/>
                <a:cs typeface="Helvetica Neue"/>
              </a:rPr>
              <a:t>Object queries: learned positional embeddings for N decoder output slots—not anchor boxes.</a:t>
            </a:r>
          </a:p>
        </p:txBody>
      </p:sp>
    </p:spTree>
    <p:extLst>
      <p:ext uri="{BB962C8B-B14F-4D97-AF65-F5344CB8AC3E}">
        <p14:creationId xmlns:p14="http://schemas.microsoft.com/office/powerpoint/2010/main" val="20585177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
            <a:extLst xmlns:a="http://schemas.openxmlformats.org/drawingml/2006/main">
              <a:ext uri="{FF2B5EF4-FFF2-40B4-BE49-F238E27FC236}">
                <a16:creationId xmlns:a16="http://schemas.microsoft.com/office/drawing/2014/main" id="{B51E119E-771F-4812-BF72-8D791BB5FEBB}"/>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4B5FF889-24E1-4845-8CEF-D6C1D77FCD5F}"/>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Shared heads turn each slot into class and box outputs</a:t>
            </a:r>
          </a:p>
        </p:txBody>
      </p:sp>
      <p:sp>
        <p:nvSpPr>
          <p:cNvPr id="3" name="text">
            <a:extLst xmlns:a="http://schemas.openxmlformats.org/drawingml/2006/main">
              <a:ext uri="{FF2B5EF4-FFF2-40B4-BE49-F238E27FC236}">
                <a16:creationId xmlns:a16="http://schemas.microsoft.com/office/drawing/2014/main" id="{5238D078-CC7C-4E0E-90E6-C6B8FAC7E3DB}"/>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PAPER FIGURE • PREDICTION HEADS</a:t>
            </a:r>
          </a:p>
        </p:txBody>
      </p:sp>
      <p:sp>
        <p:nvSpPr>
          <p:cNvPr id="4" name="text">
            <a:extLst xmlns:a="http://schemas.openxmlformats.org/drawingml/2006/main">
              <a:ext uri="{FF2B5EF4-FFF2-40B4-BE49-F238E27FC236}">
                <a16:creationId xmlns:a16="http://schemas.microsoft.com/office/drawing/2014/main" id="{644B8673-C435-4063-AA00-9C36C3B5B9E7}"/>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11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952ff4c9d724c9c"/>
          <a:stretch xmlns:a="http://schemas.openxmlformats.org/drawingml/2006/main"/>
        </p:blipFill>
        <p:spPr>
          <a:xfrm xmlns:a="http://schemas.openxmlformats.org/drawingml/2006/main">
            <a:off x="577377" y="1428750"/>
            <a:ext cx="11037246" cy="2981325"/>
          </a:xfrm>
          <a:prstGeom xmlns:a="http://schemas.openxmlformats.org/drawingml/2006/main" prst="rect">
            <a:avLst/>
          </a:prstGeom>
        </p:spPr>
      </p:pic>
      <p:sp>
        <p:nvSpPr>
          <p:cNvPr id="6" name="figure-highlight-heads">
            <a:extLst xmlns:a="http://schemas.openxmlformats.org/drawingml/2006/main">
              <a:ext uri="{FF2B5EF4-FFF2-40B4-BE49-F238E27FC236}">
                <a16:creationId xmlns:a16="http://schemas.microsoft.com/office/drawing/2014/main" id="{2E6DEE60-A9BE-486D-AC70-DC9F3C7F9D7B}"/>
              </a:ext>
            </a:extLst>
          </p:cNvPr>
          <p:cNvSpPr>
            <a:spLocks xmlns:a="http://schemas.openxmlformats.org/drawingml/2006/main" noGrp="1"/>
          </p:cNvSpPr>
          <p:nvPr/>
        </p:nvSpPr>
        <p:spPr>
          <a:xfrm xmlns:a="http://schemas.openxmlformats.org/drawingml/2006/main">
            <a:off x="7191375" y="1428750"/>
            <a:ext cx="2038350" cy="2743200"/>
          </a:xfrm>
          <a:prstGeom xmlns:a="http://schemas.openxmlformats.org/drawingml/2006/main" prst="rect">
            <a:avLst/>
          </a:prstGeom>
          <a:noFill xmlns:a="http://schemas.openxmlformats.org/drawingml/2006/main"/>
          <a:ln xmlns:a="http://schemas.openxmlformats.org/drawingml/2006/main" w="38100">
            <a:solidFill>
              <a:srgbClr val="F2B84B"/>
            </a:solidFill>
            <a:prstDash val="solid"/>
          </a:ln>
        </p:spPr>
      </p:sp>
      <p:sp>
        <p:nvSpPr>
          <p:cNvPr id="7" name="paper-citation">
            <a:extLst xmlns:a="http://schemas.openxmlformats.org/drawingml/2006/main">
              <a:ext uri="{FF2B5EF4-FFF2-40B4-BE49-F238E27FC236}">
                <a16:creationId xmlns:a16="http://schemas.microsoft.com/office/drawing/2014/main" id="{0A17FD5F-AA56-43B3-98AB-8C289D57224A}"/>
              </a:ext>
            </a:extLst>
          </p:cNvPr>
          <p:cNvSpPr>
            <a:spLocks xmlns:a="http://schemas.openxmlformats.org/drawingml/2006/main" noGrp="1"/>
          </p:cNvSpPr>
          <p:nvPr/>
        </p:nvSpPr>
        <p:spPr>
          <a:xfrm xmlns:a="http://schemas.openxmlformats.org/drawingml/2006/main">
            <a:off x="609600" y="45529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Source: Carion et al., “End-to-End Object Detection with Transformers,” ECCV 2020, Fig. 2.</a:t>
            </a:r>
          </a:p>
        </p:txBody>
      </p:sp>
      <p:sp>
        <p:nvSpPr>
          <p:cNvPr id="8" name="box">
            <a:extLst xmlns:a="http://schemas.openxmlformats.org/drawingml/2006/main">
              <a:ext uri="{FF2B5EF4-FFF2-40B4-BE49-F238E27FC236}">
                <a16:creationId xmlns:a16="http://schemas.microsoft.com/office/drawing/2014/main" id="{44640C80-4E84-4B82-8D84-A2CA3F8D4912}"/>
              </a:ext>
            </a:extLst>
          </p:cNvPr>
          <p:cNvSpPr>
            <a:spLocks xmlns:a="http://schemas.openxmlformats.org/drawingml/2006/main" noGrp="1"/>
          </p:cNvSpPr>
          <p:nvPr/>
        </p:nvSpPr>
        <p:spPr>
          <a:xfrm xmlns:a="http://schemas.openxmlformats.org/drawingml/2006/main">
            <a:off x="1276350" y="5219700"/>
            <a:ext cx="9639300" cy="590550"/>
          </a:xfrm>
          <a:prstGeom xmlns:a="http://schemas.openxmlformats.org/drawingml/2006/main" prst="roundRect">
            <a:avLst>
              <a:gd name="adj" fmla="val 12903"/>
            </a:avLst>
          </a:prstGeom>
          <a:solidFill xmlns:a="http://schemas.openxmlformats.org/drawingml/2006/main">
            <a:srgbClr val="FFF1CC"/>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3914FE6C-CBC4-481B-850A-D66E8234A7EC}"/>
              </a:ext>
            </a:extLst>
          </p:cNvPr>
          <p:cNvSpPr>
            <a:spLocks xmlns:a="http://schemas.openxmlformats.org/drawingml/2006/main" noGrp="1"/>
          </p:cNvSpPr>
          <p:nvPr/>
        </p:nvSpPr>
        <p:spPr>
          <a:xfrm xmlns:a="http://schemas.openxmlformats.org/drawingml/2006/main">
            <a:off x="1447800" y="5295900"/>
            <a:ext cx="929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2B84B"/>
                </a:solidFill>
                <a:latin typeface="Helvetica Neue"/>
                <a:ea typeface="Helvetica Neue"/>
                <a:cs typeface="Helvetica Neue"/>
              </a:defRPr>
            </a:pPr>
            <a:r>
              <a:rPr sz="1500" b="1">
                <a:solidFill>
                  <a:srgbClr val="F2B84B"/>
                </a:solidFill>
                <a:latin typeface="Helvetica Neue"/>
                <a:ea typeface="Helvetica Neue"/>
                <a:cs typeface="Helvetica Neue"/>
              </a:rPr>
              <a:t>Prediction heads: one shared class layer and one shared box FFN are applied to every query.</a:t>
            </a:r>
          </a:p>
        </p:txBody>
      </p:sp>
    </p:spTree>
    <p:extLst>
      <p:ext uri="{BB962C8B-B14F-4D97-AF65-F5344CB8AC3E}">
        <p14:creationId xmlns:p14="http://schemas.microsoft.com/office/powerpoint/2010/main" val="16920683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
            <a:extLst xmlns:a="http://schemas.openxmlformats.org/drawingml/2006/main">
              <a:ext uri="{FF2B5EF4-FFF2-40B4-BE49-F238E27FC236}">
                <a16:creationId xmlns:a16="http://schemas.microsoft.com/office/drawing/2014/main" id="{50A8DA1F-83F3-4E40-B826-C50726F26C2E}"/>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7C0183FA-24C2-49A2-B16B-24E607D96857}"/>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What does the network predict before matching?</a:t>
            </a:r>
          </a:p>
        </p:txBody>
      </p:sp>
      <p:sp>
        <p:nvSpPr>
          <p:cNvPr id="3" name="text">
            <a:extLst xmlns:a="http://schemas.openxmlformats.org/drawingml/2006/main">
              <a:ext uri="{FF2B5EF4-FFF2-40B4-BE49-F238E27FC236}">
                <a16:creationId xmlns:a16="http://schemas.microsoft.com/office/drawing/2014/main" id="{CBE533AD-DB20-43A2-9527-016DFE374E16}"/>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2 • FORWARD PASS</a:t>
            </a:r>
          </a:p>
        </p:txBody>
      </p:sp>
      <p:sp>
        <p:nvSpPr>
          <p:cNvPr id="4" name="text">
            <a:extLst xmlns:a="http://schemas.openxmlformats.org/drawingml/2006/main">
              <a:ext uri="{FF2B5EF4-FFF2-40B4-BE49-F238E27FC236}">
                <a16:creationId xmlns:a16="http://schemas.microsoft.com/office/drawing/2014/main" id="{F77826DB-1DFF-4A0E-8DF9-03FD6E3D3580}"/>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12</a:t>
            </a:r>
          </a:p>
        </p:txBody>
      </p:sp>
      <p:sp>
        <p:nvSpPr>
          <p:cNvPr id="5" name="node">
            <a:extLst xmlns:a="http://schemas.openxmlformats.org/drawingml/2006/main">
              <a:ext uri="{FF2B5EF4-FFF2-40B4-BE49-F238E27FC236}">
                <a16:creationId xmlns:a16="http://schemas.microsoft.com/office/drawing/2014/main" id="{55FF85B5-4578-4C9E-8B04-B3833CE24082}"/>
              </a:ext>
            </a:extLst>
          </p:cNvPr>
          <p:cNvSpPr>
            <a:spLocks xmlns:a="http://schemas.openxmlformats.org/drawingml/2006/main" noGrp="1"/>
          </p:cNvSpPr>
          <p:nvPr/>
        </p:nvSpPr>
        <p:spPr>
          <a:xfrm xmlns:a="http://schemas.openxmlformats.org/drawingml/2006/main">
            <a:off x="400050" y="1504950"/>
            <a:ext cx="2381250" cy="742950"/>
          </a:xfrm>
          <a:prstGeom xmlns:a="http://schemas.openxmlformats.org/drawingml/2006/main" prst="roundRect">
            <a:avLst>
              <a:gd name="adj" fmla="val 10256"/>
            </a:avLst>
          </a:prstGeom>
          <a:solidFill xmlns:a="http://schemas.openxmlformats.org/drawingml/2006/main">
            <a:srgbClr val="EEF1F4"/>
          </a:solidFill>
          <a:ln xmlns:a="http://schemas.openxmlformats.org/drawingml/2006/main" w="19050">
            <a:solidFill>
              <a:srgbClr val="BCC3CC"/>
            </a:solidFill>
            <a:prstDash val="solid"/>
          </a:ln>
        </p:spPr>
      </p:sp>
      <p:sp>
        <p:nvSpPr>
          <p:cNvPr id="6" name="node-label">
            <a:extLst xmlns:a="http://schemas.openxmlformats.org/drawingml/2006/main">
              <a:ext uri="{FF2B5EF4-FFF2-40B4-BE49-F238E27FC236}">
                <a16:creationId xmlns:a16="http://schemas.microsoft.com/office/drawing/2014/main" id="{027B02E9-9FE6-4037-9784-6DAAC47CA82F}"/>
              </a:ext>
            </a:extLst>
          </p:cNvPr>
          <p:cNvSpPr>
            <a:spLocks xmlns:a="http://schemas.openxmlformats.org/drawingml/2006/main" noGrp="1"/>
          </p:cNvSpPr>
          <p:nvPr/>
        </p:nvSpPr>
        <p:spPr>
          <a:xfrm xmlns:a="http://schemas.openxmlformats.org/drawingml/2006/main">
            <a:off x="476250" y="1543050"/>
            <a:ext cx="2228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image</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[B,3,H,W]</a:t>
            </a:r>
          </a:p>
        </p:txBody>
      </p:sp>
      <p:sp>
        <p:nvSpPr>
          <p:cNvPr id="7" name="arrow">
            <a:extLst xmlns:a="http://schemas.openxmlformats.org/drawingml/2006/main">
              <a:ext uri="{FF2B5EF4-FFF2-40B4-BE49-F238E27FC236}">
                <a16:creationId xmlns:a16="http://schemas.microsoft.com/office/drawing/2014/main" id="{3ADFB09D-E997-4EB8-98A4-4C26D8EEC980}"/>
              </a:ext>
            </a:extLst>
          </p:cNvPr>
          <p:cNvSpPr>
            <a:spLocks xmlns:a="http://schemas.openxmlformats.org/drawingml/2006/main" noGrp="1"/>
          </p:cNvSpPr>
          <p:nvPr/>
        </p:nvSpPr>
        <p:spPr>
          <a:xfrm xmlns:a="http://schemas.openxmlformats.org/drawingml/2006/main">
            <a:off x="2781300" y="17145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8" name="node">
            <a:extLst xmlns:a="http://schemas.openxmlformats.org/drawingml/2006/main">
              <a:ext uri="{FF2B5EF4-FFF2-40B4-BE49-F238E27FC236}">
                <a16:creationId xmlns:a16="http://schemas.microsoft.com/office/drawing/2014/main" id="{D209F930-A11E-4B15-A23E-AD92360E642C}"/>
              </a:ext>
            </a:extLst>
          </p:cNvPr>
          <p:cNvSpPr>
            <a:spLocks xmlns:a="http://schemas.openxmlformats.org/drawingml/2006/main" noGrp="1"/>
          </p:cNvSpPr>
          <p:nvPr/>
        </p:nvSpPr>
        <p:spPr>
          <a:xfrm xmlns:a="http://schemas.openxmlformats.org/drawingml/2006/main">
            <a:off x="3286125" y="1504950"/>
            <a:ext cx="2381250" cy="742950"/>
          </a:xfrm>
          <a:prstGeom xmlns:a="http://schemas.openxmlformats.org/drawingml/2006/main" prst="roundRect">
            <a:avLst>
              <a:gd name="adj" fmla="val 10256"/>
            </a:avLst>
          </a:prstGeom>
          <a:solidFill xmlns:a="http://schemas.openxmlformats.org/drawingml/2006/main">
            <a:srgbClr val="EEF1F4"/>
          </a:solidFill>
          <a:ln xmlns:a="http://schemas.openxmlformats.org/drawingml/2006/main" w="19050">
            <a:solidFill>
              <a:srgbClr val="BCC3CC"/>
            </a:solidFill>
            <a:prstDash val="solid"/>
          </a:ln>
        </p:spPr>
      </p:sp>
      <p:sp>
        <p:nvSpPr>
          <p:cNvPr id="9" name="node-label">
            <a:extLst xmlns:a="http://schemas.openxmlformats.org/drawingml/2006/main">
              <a:ext uri="{FF2B5EF4-FFF2-40B4-BE49-F238E27FC236}">
                <a16:creationId xmlns:a16="http://schemas.microsoft.com/office/drawing/2014/main" id="{65EA285D-E27E-4B7A-8495-600D4B16D6DB}"/>
              </a:ext>
            </a:extLst>
          </p:cNvPr>
          <p:cNvSpPr>
            <a:spLocks xmlns:a="http://schemas.openxmlformats.org/drawingml/2006/main" noGrp="1"/>
          </p:cNvSpPr>
          <p:nvPr/>
        </p:nvSpPr>
        <p:spPr>
          <a:xfrm xmlns:a="http://schemas.openxmlformats.org/drawingml/2006/main">
            <a:off x="3362325" y="1543050"/>
            <a:ext cx="2228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CNN + 1×1</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[B,256,H′,W′]</a:t>
            </a:r>
          </a:p>
        </p:txBody>
      </p:sp>
      <p:sp>
        <p:nvSpPr>
          <p:cNvPr id="10" name="arrow">
            <a:extLst xmlns:a="http://schemas.openxmlformats.org/drawingml/2006/main">
              <a:ext uri="{FF2B5EF4-FFF2-40B4-BE49-F238E27FC236}">
                <a16:creationId xmlns:a16="http://schemas.microsoft.com/office/drawing/2014/main" id="{4CBEE6BF-1B74-4DD6-A45A-11342C263A52}"/>
              </a:ext>
            </a:extLst>
          </p:cNvPr>
          <p:cNvSpPr>
            <a:spLocks xmlns:a="http://schemas.openxmlformats.org/drawingml/2006/main" noGrp="1"/>
          </p:cNvSpPr>
          <p:nvPr/>
        </p:nvSpPr>
        <p:spPr>
          <a:xfrm xmlns:a="http://schemas.openxmlformats.org/drawingml/2006/main">
            <a:off x="5667375" y="17145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1" name="node">
            <a:extLst xmlns:a="http://schemas.openxmlformats.org/drawingml/2006/main">
              <a:ext uri="{FF2B5EF4-FFF2-40B4-BE49-F238E27FC236}">
                <a16:creationId xmlns:a16="http://schemas.microsoft.com/office/drawing/2014/main" id="{8A12ADAB-77A3-444B-B057-867EA707EAA5}"/>
              </a:ext>
            </a:extLst>
          </p:cNvPr>
          <p:cNvSpPr>
            <a:spLocks xmlns:a="http://schemas.openxmlformats.org/drawingml/2006/main" noGrp="1"/>
          </p:cNvSpPr>
          <p:nvPr/>
        </p:nvSpPr>
        <p:spPr>
          <a:xfrm xmlns:a="http://schemas.openxmlformats.org/drawingml/2006/main">
            <a:off x="6172200" y="1504950"/>
            <a:ext cx="2381250" cy="742950"/>
          </a:xfrm>
          <a:prstGeom xmlns:a="http://schemas.openxmlformats.org/drawingml/2006/main" prst="roundRect">
            <a:avLst>
              <a:gd name="adj" fmla="val 10256"/>
            </a:avLst>
          </a:prstGeom>
          <a:solidFill xmlns:a="http://schemas.openxmlformats.org/drawingml/2006/main">
            <a:srgbClr val="EEF1F4"/>
          </a:solidFill>
          <a:ln xmlns:a="http://schemas.openxmlformats.org/drawingml/2006/main" w="19050">
            <a:solidFill>
              <a:srgbClr val="BCC3CC"/>
            </a:solidFill>
            <a:prstDash val="solid"/>
          </a:ln>
        </p:spPr>
      </p:sp>
      <p:sp>
        <p:nvSpPr>
          <p:cNvPr id="12" name="node-label">
            <a:extLst xmlns:a="http://schemas.openxmlformats.org/drawingml/2006/main">
              <a:ext uri="{FF2B5EF4-FFF2-40B4-BE49-F238E27FC236}">
                <a16:creationId xmlns:a16="http://schemas.microsoft.com/office/drawing/2014/main" id="{20B91487-DE76-4031-9F83-9CC8B4FF2971}"/>
              </a:ext>
            </a:extLst>
          </p:cNvPr>
          <p:cNvSpPr>
            <a:spLocks xmlns:a="http://schemas.openxmlformats.org/drawingml/2006/main" noGrp="1"/>
          </p:cNvSpPr>
          <p:nvPr/>
        </p:nvSpPr>
        <p:spPr>
          <a:xfrm xmlns:a="http://schemas.openxmlformats.org/drawingml/2006/main">
            <a:off x="6248400" y="1543050"/>
            <a:ext cx="2228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encoder</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[B,H′W′,256]</a:t>
            </a:r>
          </a:p>
        </p:txBody>
      </p:sp>
      <p:sp>
        <p:nvSpPr>
          <p:cNvPr id="13" name="arrow">
            <a:extLst xmlns:a="http://schemas.openxmlformats.org/drawingml/2006/main">
              <a:ext uri="{FF2B5EF4-FFF2-40B4-BE49-F238E27FC236}">
                <a16:creationId xmlns:a16="http://schemas.microsoft.com/office/drawing/2014/main" id="{D85005DA-B01F-4F34-A15D-9F3E4FD560B2}"/>
              </a:ext>
            </a:extLst>
          </p:cNvPr>
          <p:cNvSpPr>
            <a:spLocks xmlns:a="http://schemas.openxmlformats.org/drawingml/2006/main" noGrp="1"/>
          </p:cNvSpPr>
          <p:nvPr/>
        </p:nvSpPr>
        <p:spPr>
          <a:xfrm xmlns:a="http://schemas.openxmlformats.org/drawingml/2006/main">
            <a:off x="8553450" y="17145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4" name="node">
            <a:extLst xmlns:a="http://schemas.openxmlformats.org/drawingml/2006/main">
              <a:ext uri="{FF2B5EF4-FFF2-40B4-BE49-F238E27FC236}">
                <a16:creationId xmlns:a16="http://schemas.microsoft.com/office/drawing/2014/main" id="{CEBA51D8-D996-4A1F-9C4A-28C63BBDC9FF}"/>
              </a:ext>
            </a:extLst>
          </p:cNvPr>
          <p:cNvSpPr>
            <a:spLocks xmlns:a="http://schemas.openxmlformats.org/drawingml/2006/main" noGrp="1"/>
          </p:cNvSpPr>
          <p:nvPr/>
        </p:nvSpPr>
        <p:spPr>
          <a:xfrm xmlns:a="http://schemas.openxmlformats.org/drawingml/2006/main">
            <a:off x="9058275" y="1504950"/>
            <a:ext cx="2381250" cy="742950"/>
          </a:xfrm>
          <a:prstGeom xmlns:a="http://schemas.openxmlformats.org/drawingml/2006/main" prst="roundRect">
            <a:avLst>
              <a:gd name="adj" fmla="val 10256"/>
            </a:avLst>
          </a:prstGeom>
          <a:solidFill xmlns:a="http://schemas.openxmlformats.org/drawingml/2006/main">
            <a:srgbClr val="EEE8FF"/>
          </a:solidFill>
          <a:ln xmlns:a="http://schemas.openxmlformats.org/drawingml/2006/main" w="19050">
            <a:solidFill>
              <a:srgbClr val="8E6CEF"/>
            </a:solidFill>
            <a:prstDash val="solid"/>
          </a:ln>
        </p:spPr>
      </p:sp>
      <p:sp>
        <p:nvSpPr>
          <p:cNvPr id="15" name="node-label">
            <a:extLst xmlns:a="http://schemas.openxmlformats.org/drawingml/2006/main">
              <a:ext uri="{FF2B5EF4-FFF2-40B4-BE49-F238E27FC236}">
                <a16:creationId xmlns:a16="http://schemas.microsoft.com/office/drawing/2014/main" id="{F966A636-96A7-4964-BCE5-7AE4B96FE02B}"/>
              </a:ext>
            </a:extLst>
          </p:cNvPr>
          <p:cNvSpPr>
            <a:spLocks xmlns:a="http://schemas.openxmlformats.org/drawingml/2006/main" noGrp="1"/>
          </p:cNvSpPr>
          <p:nvPr/>
        </p:nvSpPr>
        <p:spPr>
          <a:xfrm xmlns:a="http://schemas.openxmlformats.org/drawingml/2006/main">
            <a:off x="9134475" y="1543050"/>
            <a:ext cx="2228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decoder</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[B,5,256]</a:t>
            </a:r>
          </a:p>
        </p:txBody>
      </p:sp>
      <p:sp>
        <p:nvSpPr>
          <p:cNvPr id="16" name="arrow">
            <a:extLst xmlns:a="http://schemas.openxmlformats.org/drawingml/2006/main">
              <a:ext uri="{FF2B5EF4-FFF2-40B4-BE49-F238E27FC236}">
                <a16:creationId xmlns:a16="http://schemas.microsoft.com/office/drawing/2014/main" id="{61B07ACA-4856-4628-B922-AD6D0E5C3B88}"/>
              </a:ext>
            </a:extLst>
          </p:cNvPr>
          <p:cNvSpPr>
            <a:spLocks xmlns:a="http://schemas.openxmlformats.org/drawingml/2006/main" noGrp="1"/>
          </p:cNvSpPr>
          <p:nvPr/>
        </p:nvSpPr>
        <p:spPr>
          <a:xfrm xmlns:a="http://schemas.openxmlformats.org/drawingml/2006/main">
            <a:off x="10572750" y="2343150"/>
            <a:ext cx="57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7" name="node">
            <a:extLst xmlns:a="http://schemas.openxmlformats.org/drawingml/2006/main">
              <a:ext uri="{FF2B5EF4-FFF2-40B4-BE49-F238E27FC236}">
                <a16:creationId xmlns:a16="http://schemas.microsoft.com/office/drawing/2014/main" id="{EEC8997C-FE3F-4EE6-99D3-CFEE9E9A0458}"/>
              </a:ext>
            </a:extLst>
          </p:cNvPr>
          <p:cNvSpPr>
            <a:spLocks xmlns:a="http://schemas.openxmlformats.org/drawingml/2006/main" noGrp="1"/>
          </p:cNvSpPr>
          <p:nvPr/>
        </p:nvSpPr>
        <p:spPr>
          <a:xfrm xmlns:a="http://schemas.openxmlformats.org/drawingml/2006/main">
            <a:off x="6515100" y="3143250"/>
            <a:ext cx="2095500" cy="685800"/>
          </a:xfrm>
          <a:prstGeom xmlns:a="http://schemas.openxmlformats.org/drawingml/2006/main" prst="roundRect">
            <a:avLst>
              <a:gd name="adj" fmla="val 11111"/>
            </a:avLst>
          </a:prstGeom>
          <a:solidFill xmlns:a="http://schemas.openxmlformats.org/drawingml/2006/main">
            <a:srgbClr val="D9F1FC"/>
          </a:solidFill>
          <a:ln xmlns:a="http://schemas.openxmlformats.org/drawingml/2006/main" w="19050">
            <a:solidFill>
              <a:srgbClr val="3D8DFF"/>
            </a:solidFill>
            <a:prstDash val="solid"/>
          </a:ln>
        </p:spPr>
      </p:sp>
      <p:sp>
        <p:nvSpPr>
          <p:cNvPr id="18" name="node-label">
            <a:extLst xmlns:a="http://schemas.openxmlformats.org/drawingml/2006/main">
              <a:ext uri="{FF2B5EF4-FFF2-40B4-BE49-F238E27FC236}">
                <a16:creationId xmlns:a16="http://schemas.microsoft.com/office/drawing/2014/main" id="{A11D2860-2C56-4EB9-85D6-985150A8516B}"/>
              </a:ext>
            </a:extLst>
          </p:cNvPr>
          <p:cNvSpPr>
            <a:spLocks xmlns:a="http://schemas.openxmlformats.org/drawingml/2006/main" noGrp="1"/>
          </p:cNvSpPr>
          <p:nvPr/>
        </p:nvSpPr>
        <p:spPr>
          <a:xfrm xmlns:a="http://schemas.openxmlformats.org/drawingml/2006/main">
            <a:off x="6591300" y="3181350"/>
            <a:ext cx="194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shared class head</a:t>
            </a:r>
          </a:p>
        </p:txBody>
      </p:sp>
      <p:sp>
        <p:nvSpPr>
          <p:cNvPr id="19" name="node">
            <a:extLst xmlns:a="http://schemas.openxmlformats.org/drawingml/2006/main">
              <a:ext uri="{FF2B5EF4-FFF2-40B4-BE49-F238E27FC236}">
                <a16:creationId xmlns:a16="http://schemas.microsoft.com/office/drawing/2014/main" id="{E947C06D-CE42-48E7-8D14-FD0BCFE6A9E0}"/>
              </a:ext>
            </a:extLst>
          </p:cNvPr>
          <p:cNvSpPr>
            <a:spLocks xmlns:a="http://schemas.openxmlformats.org/drawingml/2006/main" noGrp="1"/>
          </p:cNvSpPr>
          <p:nvPr/>
        </p:nvSpPr>
        <p:spPr>
          <a:xfrm xmlns:a="http://schemas.openxmlformats.org/drawingml/2006/main">
            <a:off x="9163050" y="3143250"/>
            <a:ext cx="2095500" cy="685800"/>
          </a:xfrm>
          <a:prstGeom xmlns:a="http://schemas.openxmlformats.org/drawingml/2006/main" prst="roundRect">
            <a:avLst>
              <a:gd name="adj" fmla="val 11111"/>
            </a:avLst>
          </a:prstGeom>
          <a:solidFill xmlns:a="http://schemas.openxmlformats.org/drawingml/2006/main">
            <a:srgbClr val="FFF1CC"/>
          </a:solidFill>
          <a:ln xmlns:a="http://schemas.openxmlformats.org/drawingml/2006/main" w="19050">
            <a:solidFill>
              <a:srgbClr val="F2B84B"/>
            </a:solidFill>
            <a:prstDash val="solid"/>
          </a:ln>
        </p:spPr>
      </p:sp>
      <p:sp>
        <p:nvSpPr>
          <p:cNvPr id="20" name="node-label">
            <a:extLst xmlns:a="http://schemas.openxmlformats.org/drawingml/2006/main">
              <a:ext uri="{FF2B5EF4-FFF2-40B4-BE49-F238E27FC236}">
                <a16:creationId xmlns:a16="http://schemas.microsoft.com/office/drawing/2014/main" id="{4CE863BC-0BBF-4AED-A4F8-79C774CECB1F}"/>
              </a:ext>
            </a:extLst>
          </p:cNvPr>
          <p:cNvSpPr>
            <a:spLocks xmlns:a="http://schemas.openxmlformats.org/drawingml/2006/main" noGrp="1"/>
          </p:cNvSpPr>
          <p:nvPr/>
        </p:nvSpPr>
        <p:spPr>
          <a:xfrm xmlns:a="http://schemas.openxmlformats.org/drawingml/2006/main">
            <a:off x="9239250" y="3181350"/>
            <a:ext cx="194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shared box MLP</a:t>
            </a:r>
          </a:p>
        </p:txBody>
      </p:sp>
      <p:sp>
        <p:nvSpPr>
          <p:cNvPr id="21" name="arrow">
            <a:extLst xmlns:a="http://schemas.openxmlformats.org/drawingml/2006/main">
              <a:ext uri="{FF2B5EF4-FFF2-40B4-BE49-F238E27FC236}">
                <a16:creationId xmlns:a16="http://schemas.microsoft.com/office/drawing/2014/main" id="{04ACEC9C-78B2-4A85-A58A-A63FC2CC1BC6}"/>
              </a:ext>
            </a:extLst>
          </p:cNvPr>
          <p:cNvSpPr>
            <a:spLocks xmlns:a="http://schemas.openxmlformats.org/drawingml/2006/main" noGrp="1"/>
          </p:cNvSpPr>
          <p:nvPr/>
        </p:nvSpPr>
        <p:spPr>
          <a:xfrm xmlns:a="http://schemas.openxmlformats.org/drawingml/2006/main">
            <a:off x="8610600" y="33147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22" name="box">
            <a:extLst xmlns:a="http://schemas.openxmlformats.org/drawingml/2006/main">
              <a:ext uri="{FF2B5EF4-FFF2-40B4-BE49-F238E27FC236}">
                <a16:creationId xmlns:a16="http://schemas.microsoft.com/office/drawing/2014/main" id="{5AADC543-0BEE-4934-8D54-4E7DCCD6C2EF}"/>
              </a:ext>
            </a:extLst>
          </p:cNvPr>
          <p:cNvSpPr>
            <a:spLocks xmlns:a="http://schemas.openxmlformats.org/drawingml/2006/main" noGrp="1"/>
          </p:cNvSpPr>
          <p:nvPr/>
        </p:nvSpPr>
        <p:spPr>
          <a:xfrm xmlns:a="http://schemas.openxmlformats.org/drawingml/2006/main">
            <a:off x="6515100" y="4210050"/>
            <a:ext cx="4743450" cy="1143000"/>
          </a:xfrm>
          <a:prstGeom xmlns:a="http://schemas.openxmlformats.org/drawingml/2006/main" prst="roundRect">
            <a:avLst>
              <a:gd name="adj" fmla="val 6667"/>
            </a:avLst>
          </a:prstGeom>
          <a:solidFill xmlns:a="http://schemas.openxmlformats.org/drawingml/2006/main">
            <a:srgbClr val="EEF1F4"/>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B65F70B7-78E6-497A-B115-3D2BDF68D60C}"/>
              </a:ext>
            </a:extLst>
          </p:cNvPr>
          <p:cNvSpPr>
            <a:spLocks xmlns:a="http://schemas.openxmlformats.org/drawingml/2006/main" noGrp="1"/>
          </p:cNvSpPr>
          <p:nvPr/>
        </p:nvSpPr>
        <p:spPr>
          <a:xfrm xmlns:a="http://schemas.openxmlformats.org/drawingml/2006/main">
            <a:off x="6800850" y="4362450"/>
            <a:ext cx="417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3D8DFF"/>
                </a:solidFill>
                <a:latin typeface="Helvetica Neue"/>
                <a:ea typeface="Helvetica Neue"/>
                <a:cs typeface="Helvetica Neue"/>
              </a:defRPr>
            </a:pPr>
            <a:r>
              <a:rPr sz="1725" b="1">
                <a:solidFill>
                  <a:srgbClr val="3D8DFF"/>
                </a:solidFill>
                <a:latin typeface="Helvetica Neue"/>
                <a:ea typeface="Helvetica Neue"/>
                <a:cs typeface="Helvetica Neue"/>
              </a:rPr>
              <a:t>pred_logits  [B, 5, C+1]</a:t>
            </a:r>
          </a:p>
        </p:txBody>
      </p:sp>
      <p:sp>
        <p:nvSpPr>
          <p:cNvPr id="24" name="text">
            <a:extLst xmlns:a="http://schemas.openxmlformats.org/drawingml/2006/main">
              <a:ext uri="{FF2B5EF4-FFF2-40B4-BE49-F238E27FC236}">
                <a16:creationId xmlns:a16="http://schemas.microsoft.com/office/drawing/2014/main" id="{08118501-1FFA-40DE-879D-EE4570B6BA3B}"/>
              </a:ext>
            </a:extLst>
          </p:cNvPr>
          <p:cNvSpPr>
            <a:spLocks xmlns:a="http://schemas.openxmlformats.org/drawingml/2006/main" noGrp="1"/>
          </p:cNvSpPr>
          <p:nvPr/>
        </p:nvSpPr>
        <p:spPr>
          <a:xfrm xmlns:a="http://schemas.openxmlformats.org/drawingml/2006/main">
            <a:off x="6800850" y="4819650"/>
            <a:ext cx="417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2B84B"/>
                </a:solidFill>
                <a:latin typeface="Helvetica Neue"/>
                <a:ea typeface="Helvetica Neue"/>
                <a:cs typeface="Helvetica Neue"/>
              </a:defRPr>
            </a:pPr>
            <a:r>
              <a:rPr sz="1725" b="1">
                <a:solidFill>
                  <a:srgbClr val="F2B84B"/>
                </a:solidFill>
                <a:latin typeface="Helvetica Neue"/>
                <a:ea typeface="Helvetica Neue"/>
                <a:cs typeface="Helvetica Neue"/>
              </a:rPr>
              <a:t>pred_boxes   [B, 5, 4]</a:t>
            </a:r>
          </a:p>
        </p:txBody>
      </p:sp>
      <p:sp>
        <p:nvSpPr>
          <p:cNvPr id="25" name="text">
            <a:extLst xmlns:a="http://schemas.openxmlformats.org/drawingml/2006/main">
              <a:ext uri="{FF2B5EF4-FFF2-40B4-BE49-F238E27FC236}">
                <a16:creationId xmlns:a16="http://schemas.microsoft.com/office/drawing/2014/main" id="{FA3B9212-4624-4B45-B211-4096031F5381}"/>
              </a:ext>
            </a:extLst>
          </p:cNvPr>
          <p:cNvSpPr>
            <a:spLocks xmlns:a="http://schemas.openxmlformats.org/drawingml/2006/main" noGrp="1"/>
          </p:cNvSpPr>
          <p:nvPr/>
        </p:nvSpPr>
        <p:spPr>
          <a:xfrm xmlns:a="http://schemas.openxmlformats.org/drawingml/2006/main">
            <a:off x="647700" y="55626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Every query predicts a class distribution—including ∅—and one normalized (cx, cy, w, h) box.</a:t>
            </a:r>
          </a:p>
        </p:txBody>
      </p:sp>
    </p:spTree>
    <p:extLst>
      <p:ext uri="{BB962C8B-B14F-4D97-AF65-F5344CB8AC3E}">
        <p14:creationId xmlns:p14="http://schemas.microsoft.com/office/powerpoint/2010/main" val="1647293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
            <a:extLst xmlns:a="http://schemas.openxmlformats.org/drawingml/2006/main">
              <a:ext uri="{FF2B5EF4-FFF2-40B4-BE49-F238E27FC236}">
                <a16:creationId xmlns:a16="http://schemas.microsoft.com/office/drawing/2014/main" id="{9D31A46B-84D9-4D36-9CF3-97F7C153B3EF}"/>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C3AA1C07-26FE-4BCA-B718-CA9F5CB0971A}"/>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What exactly is an object query?</a:t>
            </a:r>
          </a:p>
        </p:txBody>
      </p:sp>
      <p:sp>
        <p:nvSpPr>
          <p:cNvPr id="3" name="text">
            <a:extLst xmlns:a="http://schemas.openxmlformats.org/drawingml/2006/main">
              <a:ext uri="{FF2B5EF4-FFF2-40B4-BE49-F238E27FC236}">
                <a16:creationId xmlns:a16="http://schemas.microsoft.com/office/drawing/2014/main" id="{0062852E-8280-4058-AC5A-A5C9E1224008}"/>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2 • FORWARD PASS</a:t>
            </a:r>
          </a:p>
        </p:txBody>
      </p:sp>
      <p:sp>
        <p:nvSpPr>
          <p:cNvPr id="4" name="text">
            <a:extLst xmlns:a="http://schemas.openxmlformats.org/drawingml/2006/main">
              <a:ext uri="{FF2B5EF4-FFF2-40B4-BE49-F238E27FC236}">
                <a16:creationId xmlns:a16="http://schemas.microsoft.com/office/drawing/2014/main" id="{31F4EC79-344B-46DF-9673-DDC22F05A3C5}"/>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13</a:t>
            </a:r>
          </a:p>
        </p:txBody>
      </p:sp>
      <p:sp>
        <p:nvSpPr>
          <p:cNvPr id="5" name="node">
            <a:extLst xmlns:a="http://schemas.openxmlformats.org/drawingml/2006/main">
              <a:ext uri="{FF2B5EF4-FFF2-40B4-BE49-F238E27FC236}">
                <a16:creationId xmlns:a16="http://schemas.microsoft.com/office/drawing/2014/main" id="{B5606F7C-138F-4093-BC1C-814F3FFCBADB}"/>
              </a:ext>
            </a:extLst>
          </p:cNvPr>
          <p:cNvSpPr>
            <a:spLocks xmlns:a="http://schemas.openxmlformats.org/drawingml/2006/main" noGrp="1"/>
          </p:cNvSpPr>
          <p:nvPr/>
        </p:nvSpPr>
        <p:spPr>
          <a:xfrm xmlns:a="http://schemas.openxmlformats.org/drawingml/2006/main">
            <a:off x="685800" y="1695450"/>
            <a:ext cx="3143250" cy="1009650"/>
          </a:xfrm>
          <a:prstGeom xmlns:a="http://schemas.openxmlformats.org/drawingml/2006/main" prst="roundRect">
            <a:avLst>
              <a:gd name="adj" fmla="val 7547"/>
            </a:avLst>
          </a:prstGeom>
          <a:solidFill xmlns:a="http://schemas.openxmlformats.org/drawingml/2006/main">
            <a:srgbClr val="EEE8FF"/>
          </a:solidFill>
          <a:ln xmlns:a="http://schemas.openxmlformats.org/drawingml/2006/main" w="19050">
            <a:solidFill>
              <a:srgbClr val="8E6CEF"/>
            </a:solidFill>
            <a:prstDash val="solid"/>
          </a:ln>
        </p:spPr>
      </p:sp>
      <p:sp>
        <p:nvSpPr>
          <p:cNvPr id="6" name="node-label">
            <a:extLst xmlns:a="http://schemas.openxmlformats.org/drawingml/2006/main">
              <a:ext uri="{FF2B5EF4-FFF2-40B4-BE49-F238E27FC236}">
                <a16:creationId xmlns:a16="http://schemas.microsoft.com/office/drawing/2014/main" id="{4355504C-CE5F-4560-87C3-F4B2DB81FF46}"/>
              </a:ext>
            </a:extLst>
          </p:cNvPr>
          <p:cNvSpPr>
            <a:spLocks xmlns:a="http://schemas.openxmlformats.org/drawingml/2006/main" noGrp="1"/>
          </p:cNvSpPr>
          <p:nvPr/>
        </p:nvSpPr>
        <p:spPr>
          <a:xfrm xmlns:a="http://schemas.openxmlformats.org/drawingml/2006/main">
            <a:off x="762000" y="1733550"/>
            <a:ext cx="2990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learned embedding</a:t>
            </a:r>
          </a:p>
          <a:p xmlns:a="http://schemas.openxmlformats.org/drawingml/2006/main">
            <a:pPr algn="ctr">
              <a:defRPr sz="1875" b="1">
                <a:solidFill>
                  <a:srgbClr val="111318"/>
                </a:solidFill>
                <a:latin typeface="Helvetica Neue"/>
                <a:ea typeface="Helvetica Neue"/>
                <a:cs typeface="Helvetica Neue"/>
              </a:defRPr>
            </a:pPr>
            <a:r>
              <a:rPr sz="1875" b="1">
                <a:solidFill>
                  <a:srgbClr val="111318"/>
                </a:solidFill>
                <a:latin typeface="Helvetica Neue"/>
                <a:ea typeface="Helvetica Neue"/>
                <a:cs typeface="Helvetica Neue"/>
              </a:rPr>
              <a:t>Qᵢ ∈ ℝ²⁵⁶</a:t>
            </a:r>
          </a:p>
        </p:txBody>
      </p:sp>
      <p:sp>
        <p:nvSpPr>
          <p:cNvPr id="7" name="arrow">
            <a:extLst xmlns:a="http://schemas.openxmlformats.org/drawingml/2006/main">
              <a:ext uri="{FF2B5EF4-FFF2-40B4-BE49-F238E27FC236}">
                <a16:creationId xmlns:a16="http://schemas.microsoft.com/office/drawing/2014/main" id="{71AEE1D6-F984-4C33-90EF-2847CB9C21DA}"/>
              </a:ext>
            </a:extLst>
          </p:cNvPr>
          <p:cNvSpPr>
            <a:spLocks xmlns:a="http://schemas.openxmlformats.org/drawingml/2006/main" noGrp="1"/>
          </p:cNvSpPr>
          <p:nvPr/>
        </p:nvSpPr>
        <p:spPr>
          <a:xfrm xmlns:a="http://schemas.openxmlformats.org/drawingml/2006/main">
            <a:off x="3905250" y="203835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8" name="node">
            <a:extLst xmlns:a="http://schemas.openxmlformats.org/drawingml/2006/main">
              <a:ext uri="{FF2B5EF4-FFF2-40B4-BE49-F238E27FC236}">
                <a16:creationId xmlns:a16="http://schemas.microsoft.com/office/drawing/2014/main" id="{9696F001-3383-43CD-91FB-669B34D8258A}"/>
              </a:ext>
            </a:extLst>
          </p:cNvPr>
          <p:cNvSpPr>
            <a:spLocks xmlns:a="http://schemas.openxmlformats.org/drawingml/2006/main" noGrp="1"/>
          </p:cNvSpPr>
          <p:nvPr/>
        </p:nvSpPr>
        <p:spPr>
          <a:xfrm xmlns:a="http://schemas.openxmlformats.org/drawingml/2006/main">
            <a:off x="4876800" y="1695450"/>
            <a:ext cx="3143250" cy="1009650"/>
          </a:xfrm>
          <a:prstGeom xmlns:a="http://schemas.openxmlformats.org/drawingml/2006/main" prst="roundRect">
            <a:avLst>
              <a:gd name="adj" fmla="val 7547"/>
            </a:avLst>
          </a:prstGeom>
          <a:solidFill xmlns:a="http://schemas.openxmlformats.org/drawingml/2006/main">
            <a:srgbClr val="D9F1FC"/>
          </a:solidFill>
          <a:ln xmlns:a="http://schemas.openxmlformats.org/drawingml/2006/main" w="19050">
            <a:solidFill>
              <a:srgbClr val="3D8DFF"/>
            </a:solidFill>
            <a:prstDash val="solid"/>
          </a:ln>
        </p:spPr>
      </p:sp>
      <p:sp>
        <p:nvSpPr>
          <p:cNvPr id="9" name="node-label">
            <a:extLst xmlns:a="http://schemas.openxmlformats.org/drawingml/2006/main">
              <a:ext uri="{FF2B5EF4-FFF2-40B4-BE49-F238E27FC236}">
                <a16:creationId xmlns:a16="http://schemas.microsoft.com/office/drawing/2014/main" id="{1753EBB1-6B39-4198-BE59-FBB03F5F60C7}"/>
              </a:ext>
            </a:extLst>
          </p:cNvPr>
          <p:cNvSpPr>
            <a:spLocks xmlns:a="http://schemas.openxmlformats.org/drawingml/2006/main" noGrp="1"/>
          </p:cNvSpPr>
          <p:nvPr/>
        </p:nvSpPr>
        <p:spPr>
          <a:xfrm xmlns:a="http://schemas.openxmlformats.org/drawingml/2006/main">
            <a:off x="4953000" y="1733550"/>
            <a:ext cx="2990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decoder slot identity</a:t>
            </a:r>
          </a:p>
        </p:txBody>
      </p:sp>
      <p:sp>
        <p:nvSpPr>
          <p:cNvPr id="10" name="arrow">
            <a:extLst xmlns:a="http://schemas.openxmlformats.org/drawingml/2006/main">
              <a:ext uri="{FF2B5EF4-FFF2-40B4-BE49-F238E27FC236}">
                <a16:creationId xmlns:a16="http://schemas.microsoft.com/office/drawing/2014/main" id="{E3F7EBD4-3758-4C9F-AE3C-770A12F1B88D}"/>
              </a:ext>
            </a:extLst>
          </p:cNvPr>
          <p:cNvSpPr>
            <a:spLocks xmlns:a="http://schemas.openxmlformats.org/drawingml/2006/main" noGrp="1"/>
          </p:cNvSpPr>
          <p:nvPr/>
        </p:nvSpPr>
        <p:spPr>
          <a:xfrm xmlns:a="http://schemas.openxmlformats.org/drawingml/2006/main">
            <a:off x="8096250" y="203835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1" name="node">
            <a:extLst xmlns:a="http://schemas.openxmlformats.org/drawingml/2006/main">
              <a:ext uri="{FF2B5EF4-FFF2-40B4-BE49-F238E27FC236}">
                <a16:creationId xmlns:a16="http://schemas.microsoft.com/office/drawing/2014/main" id="{527F35CD-43AD-40D0-B439-8A5F06F005B7}"/>
              </a:ext>
            </a:extLst>
          </p:cNvPr>
          <p:cNvSpPr>
            <a:spLocks xmlns:a="http://schemas.openxmlformats.org/drawingml/2006/main" noGrp="1"/>
          </p:cNvSpPr>
          <p:nvPr/>
        </p:nvSpPr>
        <p:spPr>
          <a:xfrm xmlns:a="http://schemas.openxmlformats.org/drawingml/2006/main">
            <a:off x="9067800" y="1695450"/>
            <a:ext cx="2476500" cy="1009650"/>
          </a:xfrm>
          <a:prstGeom xmlns:a="http://schemas.openxmlformats.org/drawingml/2006/main" prst="roundRect">
            <a:avLst>
              <a:gd name="adj" fmla="val 7547"/>
            </a:avLst>
          </a:prstGeom>
          <a:solidFill xmlns:a="http://schemas.openxmlformats.org/drawingml/2006/main">
            <a:srgbClr val="DDF4E8"/>
          </a:solidFill>
          <a:ln xmlns:a="http://schemas.openxmlformats.org/drawingml/2006/main" w="19050">
            <a:solidFill>
              <a:srgbClr val="45B97C"/>
            </a:solidFill>
            <a:prstDash val="solid"/>
          </a:ln>
        </p:spPr>
      </p:sp>
      <p:sp>
        <p:nvSpPr>
          <p:cNvPr id="12" name="node-label">
            <a:extLst xmlns:a="http://schemas.openxmlformats.org/drawingml/2006/main">
              <a:ext uri="{FF2B5EF4-FFF2-40B4-BE49-F238E27FC236}">
                <a16:creationId xmlns:a16="http://schemas.microsoft.com/office/drawing/2014/main" id="{D0C0DAA0-D788-44FC-9CE7-91BB32801C4C}"/>
              </a:ext>
            </a:extLst>
          </p:cNvPr>
          <p:cNvSpPr>
            <a:spLocks xmlns:a="http://schemas.openxmlformats.org/drawingml/2006/main" noGrp="1"/>
          </p:cNvSpPr>
          <p:nvPr/>
        </p:nvSpPr>
        <p:spPr>
          <a:xfrm xmlns:a="http://schemas.openxmlformats.org/drawingml/2006/main">
            <a:off x="9144000" y="1733550"/>
            <a:ext cx="23241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one class + one box</a:t>
            </a:r>
          </a:p>
        </p:txBody>
      </p:sp>
      <p:sp>
        <p:nvSpPr>
          <p:cNvPr id="13" name="text">
            <a:extLst xmlns:a="http://schemas.openxmlformats.org/drawingml/2006/main">
              <a:ext uri="{FF2B5EF4-FFF2-40B4-BE49-F238E27FC236}">
                <a16:creationId xmlns:a16="http://schemas.microsoft.com/office/drawing/2014/main" id="{F6F902CE-6F8F-4F98-B03C-F5562EFE81DC}"/>
              </a:ext>
            </a:extLst>
          </p:cNvPr>
          <p:cNvSpPr>
            <a:spLocks xmlns:a="http://schemas.openxmlformats.org/drawingml/2006/main" noGrp="1"/>
          </p:cNvSpPr>
          <p:nvPr/>
        </p:nvSpPr>
        <p:spPr>
          <a:xfrm xmlns:a="http://schemas.openxmlformats.org/drawingml/2006/main">
            <a:off x="838200" y="33337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 query is…</a:t>
            </a:r>
          </a:p>
        </p:txBody>
      </p:sp>
      <p:sp>
        <p:nvSpPr>
          <p:cNvPr id="14" name="text">
            <a:extLst xmlns:a="http://schemas.openxmlformats.org/drawingml/2006/main">
              <a:ext uri="{FF2B5EF4-FFF2-40B4-BE49-F238E27FC236}">
                <a16:creationId xmlns:a16="http://schemas.microsoft.com/office/drawing/2014/main" id="{07214D4B-3AD5-4D9A-A832-11A15C382F3B}"/>
              </a:ext>
            </a:extLst>
          </p:cNvPr>
          <p:cNvSpPr>
            <a:spLocks xmlns:a="http://schemas.openxmlformats.org/drawingml/2006/main" noGrp="1"/>
          </p:cNvSpPr>
          <p:nvPr/>
        </p:nvSpPr>
        <p:spPr>
          <a:xfrm xmlns:a="http://schemas.openxmlformats.org/drawingml/2006/main">
            <a:off x="838200" y="37528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8E6CEF"/>
                </a:solidFill>
                <a:latin typeface="Helvetica Neue"/>
                <a:ea typeface="Helvetica Neue"/>
                <a:cs typeface="Helvetica Neue"/>
              </a:defRPr>
            </a:pPr>
            <a:r>
              <a:rPr sz="1500" b="1">
                <a:solidFill>
                  <a:srgbClr val="8E6CEF"/>
                </a:solidFill>
                <a:latin typeface="Helvetica Neue"/>
                <a:ea typeface="Helvetica Neue"/>
                <a:cs typeface="Helvetica Neue"/>
              </a:rPr>
              <a:t>•</a:t>
            </a:r>
          </a:p>
        </p:txBody>
      </p:sp>
      <p:sp>
        <p:nvSpPr>
          <p:cNvPr id="15" name="text">
            <a:extLst xmlns:a="http://schemas.openxmlformats.org/drawingml/2006/main">
              <a:ext uri="{FF2B5EF4-FFF2-40B4-BE49-F238E27FC236}">
                <a16:creationId xmlns:a16="http://schemas.microsoft.com/office/drawing/2014/main" id="{EDD93871-35B3-4F9C-BA9F-D9F6CDE4BAFF}"/>
              </a:ext>
            </a:extLst>
          </p:cNvPr>
          <p:cNvSpPr>
            <a:spLocks xmlns:a="http://schemas.openxmlformats.org/drawingml/2006/main" noGrp="1"/>
          </p:cNvSpPr>
          <p:nvPr/>
        </p:nvSpPr>
        <p:spPr>
          <a:xfrm xmlns:a="http://schemas.openxmlformats.org/drawingml/2006/main">
            <a:off x="1085850" y="3752850"/>
            <a:ext cx="3848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trainable and shared across images</a:t>
            </a:r>
          </a:p>
        </p:txBody>
      </p:sp>
      <p:sp>
        <p:nvSpPr>
          <p:cNvPr id="16" name="text">
            <a:extLst xmlns:a="http://schemas.openxmlformats.org/drawingml/2006/main">
              <a:ext uri="{FF2B5EF4-FFF2-40B4-BE49-F238E27FC236}">
                <a16:creationId xmlns:a16="http://schemas.microsoft.com/office/drawing/2014/main" id="{E6A94CA6-18D3-4475-A06E-AC9453966017}"/>
              </a:ext>
            </a:extLst>
          </p:cNvPr>
          <p:cNvSpPr>
            <a:spLocks xmlns:a="http://schemas.openxmlformats.org/drawingml/2006/main" noGrp="1"/>
          </p:cNvSpPr>
          <p:nvPr/>
        </p:nvSpPr>
        <p:spPr>
          <a:xfrm xmlns:a="http://schemas.openxmlformats.org/drawingml/2006/main">
            <a:off x="838200" y="42481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8E6CEF"/>
                </a:solidFill>
                <a:latin typeface="Helvetica Neue"/>
                <a:ea typeface="Helvetica Neue"/>
                <a:cs typeface="Helvetica Neue"/>
              </a:defRPr>
            </a:pPr>
            <a:r>
              <a:rPr sz="1500" b="1">
                <a:solidFill>
                  <a:srgbClr val="8E6CEF"/>
                </a:solidFill>
                <a:latin typeface="Helvetica Neue"/>
                <a:ea typeface="Helvetica Neue"/>
                <a:cs typeface="Helvetica Neue"/>
              </a:rPr>
              <a:t>•</a:t>
            </a:r>
          </a:p>
        </p:txBody>
      </p:sp>
      <p:sp>
        <p:nvSpPr>
          <p:cNvPr id="17" name="text">
            <a:extLst xmlns:a="http://schemas.openxmlformats.org/drawingml/2006/main">
              <a:ext uri="{FF2B5EF4-FFF2-40B4-BE49-F238E27FC236}">
                <a16:creationId xmlns:a16="http://schemas.microsoft.com/office/drawing/2014/main" id="{D74EB5CE-07D4-43BD-A0DE-293F1A485665}"/>
              </a:ext>
            </a:extLst>
          </p:cNvPr>
          <p:cNvSpPr>
            <a:spLocks xmlns:a="http://schemas.openxmlformats.org/drawingml/2006/main" noGrp="1"/>
          </p:cNvSpPr>
          <p:nvPr/>
        </p:nvSpPr>
        <p:spPr>
          <a:xfrm xmlns:a="http://schemas.openxmlformats.org/drawingml/2006/main">
            <a:off x="1085850" y="4248150"/>
            <a:ext cx="3848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updated through decoder layers</a:t>
            </a:r>
          </a:p>
        </p:txBody>
      </p:sp>
      <p:sp>
        <p:nvSpPr>
          <p:cNvPr id="18" name="text">
            <a:extLst xmlns:a="http://schemas.openxmlformats.org/drawingml/2006/main">
              <a:ext uri="{FF2B5EF4-FFF2-40B4-BE49-F238E27FC236}">
                <a16:creationId xmlns:a16="http://schemas.microsoft.com/office/drawing/2014/main" id="{B192A5F5-C127-4C45-909B-B66C93CAC2C1}"/>
              </a:ext>
            </a:extLst>
          </p:cNvPr>
          <p:cNvSpPr>
            <a:spLocks xmlns:a="http://schemas.openxmlformats.org/drawingml/2006/main" noGrp="1"/>
          </p:cNvSpPr>
          <p:nvPr/>
        </p:nvSpPr>
        <p:spPr>
          <a:xfrm xmlns:a="http://schemas.openxmlformats.org/drawingml/2006/main">
            <a:off x="838200" y="47434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8E6CEF"/>
                </a:solidFill>
                <a:latin typeface="Helvetica Neue"/>
                <a:ea typeface="Helvetica Neue"/>
                <a:cs typeface="Helvetica Neue"/>
              </a:defRPr>
            </a:pPr>
            <a:r>
              <a:rPr sz="1500" b="1">
                <a:solidFill>
                  <a:srgbClr val="8E6CEF"/>
                </a:solidFill>
                <a:latin typeface="Helvetica Neue"/>
                <a:ea typeface="Helvetica Neue"/>
                <a:cs typeface="Helvetica Neue"/>
              </a:rPr>
              <a:t>•</a:t>
            </a:r>
          </a:p>
        </p:txBody>
      </p:sp>
      <p:sp>
        <p:nvSpPr>
          <p:cNvPr id="19" name="text">
            <a:extLst xmlns:a="http://schemas.openxmlformats.org/drawingml/2006/main">
              <a:ext uri="{FF2B5EF4-FFF2-40B4-BE49-F238E27FC236}">
                <a16:creationId xmlns:a16="http://schemas.microsoft.com/office/drawing/2014/main" id="{C62178C6-AD64-40CB-A512-56C141FDFABD}"/>
              </a:ext>
            </a:extLst>
          </p:cNvPr>
          <p:cNvSpPr>
            <a:spLocks xmlns:a="http://schemas.openxmlformats.org/drawingml/2006/main" noGrp="1"/>
          </p:cNvSpPr>
          <p:nvPr/>
        </p:nvSpPr>
        <p:spPr>
          <a:xfrm xmlns:a="http://schemas.openxmlformats.org/drawingml/2006/main">
            <a:off x="1085850" y="4743450"/>
            <a:ext cx="3848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one prediction slot</a:t>
            </a:r>
          </a:p>
        </p:txBody>
      </p:sp>
      <p:sp>
        <p:nvSpPr>
          <p:cNvPr id="20" name="text">
            <a:extLst xmlns:a="http://schemas.openxmlformats.org/drawingml/2006/main">
              <a:ext uri="{FF2B5EF4-FFF2-40B4-BE49-F238E27FC236}">
                <a16:creationId xmlns:a16="http://schemas.microsoft.com/office/drawing/2014/main" id="{C9F22159-B59F-468A-BA50-A8C18CE1C610}"/>
              </a:ext>
            </a:extLst>
          </p:cNvPr>
          <p:cNvSpPr>
            <a:spLocks xmlns:a="http://schemas.openxmlformats.org/drawingml/2006/main" noGrp="1"/>
          </p:cNvSpPr>
          <p:nvPr/>
        </p:nvSpPr>
        <p:spPr>
          <a:xfrm xmlns:a="http://schemas.openxmlformats.org/drawingml/2006/main">
            <a:off x="6400800" y="3333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EF6A66"/>
                </a:solidFill>
                <a:latin typeface="Helvetica Neue"/>
                <a:ea typeface="Helvetica Neue"/>
                <a:cs typeface="Helvetica Neue"/>
              </a:defRPr>
            </a:pPr>
            <a:r>
              <a:rPr sz="1500" b="1">
                <a:solidFill>
                  <a:srgbClr val="EF6A66"/>
                </a:solidFill>
                <a:latin typeface="Helvetica Neue"/>
                <a:ea typeface="Helvetica Neue"/>
                <a:cs typeface="Helvetica Neue"/>
              </a:rPr>
              <a:t>A query is not…</a:t>
            </a:r>
          </a:p>
        </p:txBody>
      </p:sp>
      <p:sp>
        <p:nvSpPr>
          <p:cNvPr id="21" name="text">
            <a:extLst xmlns:a="http://schemas.openxmlformats.org/drawingml/2006/main">
              <a:ext uri="{FF2B5EF4-FFF2-40B4-BE49-F238E27FC236}">
                <a16:creationId xmlns:a16="http://schemas.microsoft.com/office/drawing/2014/main" id="{03E2D514-4043-4369-B780-E05720D21561}"/>
              </a:ext>
            </a:extLst>
          </p:cNvPr>
          <p:cNvSpPr>
            <a:spLocks xmlns:a="http://schemas.openxmlformats.org/drawingml/2006/main" noGrp="1"/>
          </p:cNvSpPr>
          <p:nvPr/>
        </p:nvSpPr>
        <p:spPr>
          <a:xfrm xmlns:a="http://schemas.openxmlformats.org/drawingml/2006/main">
            <a:off x="6400800" y="37528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EF6A66"/>
                </a:solidFill>
                <a:latin typeface="Helvetica Neue"/>
                <a:ea typeface="Helvetica Neue"/>
                <a:cs typeface="Helvetica Neue"/>
              </a:defRPr>
            </a:pPr>
            <a:r>
              <a:rPr sz="1500" b="1">
                <a:solidFill>
                  <a:srgbClr val="EF6A66"/>
                </a:solidFill>
                <a:latin typeface="Helvetica Neue"/>
                <a:ea typeface="Helvetica Neue"/>
                <a:cs typeface="Helvetica Neue"/>
              </a:rPr>
              <a:t>•</a:t>
            </a:r>
          </a:p>
        </p:txBody>
      </p:sp>
      <p:sp>
        <p:nvSpPr>
          <p:cNvPr id="22" name="text">
            <a:extLst xmlns:a="http://schemas.openxmlformats.org/drawingml/2006/main">
              <a:ext uri="{FF2B5EF4-FFF2-40B4-BE49-F238E27FC236}">
                <a16:creationId xmlns:a16="http://schemas.microsoft.com/office/drawing/2014/main" id="{46C05305-6E30-448A-B703-5EF62D86F4EC}"/>
              </a:ext>
            </a:extLst>
          </p:cNvPr>
          <p:cNvSpPr>
            <a:spLocks xmlns:a="http://schemas.openxmlformats.org/drawingml/2006/main" noGrp="1"/>
          </p:cNvSpPr>
          <p:nvPr/>
        </p:nvSpPr>
        <p:spPr>
          <a:xfrm xmlns:a="http://schemas.openxmlformats.org/drawingml/2006/main">
            <a:off x="6648450" y="3752850"/>
            <a:ext cx="422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an anchor rectangle</a:t>
            </a:r>
          </a:p>
        </p:txBody>
      </p:sp>
      <p:sp>
        <p:nvSpPr>
          <p:cNvPr id="23" name="text">
            <a:extLst xmlns:a="http://schemas.openxmlformats.org/drawingml/2006/main">
              <a:ext uri="{FF2B5EF4-FFF2-40B4-BE49-F238E27FC236}">
                <a16:creationId xmlns:a16="http://schemas.microsoft.com/office/drawing/2014/main" id="{299C4CD4-6E6D-459E-94DF-582706FBC87E}"/>
              </a:ext>
            </a:extLst>
          </p:cNvPr>
          <p:cNvSpPr>
            <a:spLocks xmlns:a="http://schemas.openxmlformats.org/drawingml/2006/main" noGrp="1"/>
          </p:cNvSpPr>
          <p:nvPr/>
        </p:nvSpPr>
        <p:spPr>
          <a:xfrm xmlns:a="http://schemas.openxmlformats.org/drawingml/2006/main">
            <a:off x="6400800" y="42481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EF6A66"/>
                </a:solidFill>
                <a:latin typeface="Helvetica Neue"/>
                <a:ea typeface="Helvetica Neue"/>
                <a:cs typeface="Helvetica Neue"/>
              </a:defRPr>
            </a:pPr>
            <a:r>
              <a:rPr sz="1500" b="1">
                <a:solidFill>
                  <a:srgbClr val="EF6A66"/>
                </a:solidFill>
                <a:latin typeface="Helvetica Neue"/>
                <a:ea typeface="Helvetica Neue"/>
                <a:cs typeface="Helvetica Neue"/>
              </a:rPr>
              <a:t>•</a:t>
            </a:r>
          </a:p>
        </p:txBody>
      </p:sp>
      <p:sp>
        <p:nvSpPr>
          <p:cNvPr id="24" name="text">
            <a:extLst xmlns:a="http://schemas.openxmlformats.org/drawingml/2006/main">
              <a:ext uri="{FF2B5EF4-FFF2-40B4-BE49-F238E27FC236}">
                <a16:creationId xmlns:a16="http://schemas.microsoft.com/office/drawing/2014/main" id="{5C34C654-5DD1-4732-ADB7-0744B81DE1A5}"/>
              </a:ext>
            </a:extLst>
          </p:cNvPr>
          <p:cNvSpPr>
            <a:spLocks xmlns:a="http://schemas.openxmlformats.org/drawingml/2006/main" noGrp="1"/>
          </p:cNvSpPr>
          <p:nvPr/>
        </p:nvSpPr>
        <p:spPr>
          <a:xfrm xmlns:a="http://schemas.openxmlformats.org/drawingml/2006/main">
            <a:off x="6648450" y="4248150"/>
            <a:ext cx="422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a fixed class label</a:t>
            </a:r>
          </a:p>
        </p:txBody>
      </p:sp>
      <p:sp>
        <p:nvSpPr>
          <p:cNvPr id="25" name="text">
            <a:extLst xmlns:a="http://schemas.openxmlformats.org/drawingml/2006/main">
              <a:ext uri="{FF2B5EF4-FFF2-40B4-BE49-F238E27FC236}">
                <a16:creationId xmlns:a16="http://schemas.microsoft.com/office/drawing/2014/main" id="{47CB0A66-85EE-4B34-9984-43D878AA3058}"/>
              </a:ext>
            </a:extLst>
          </p:cNvPr>
          <p:cNvSpPr>
            <a:spLocks xmlns:a="http://schemas.openxmlformats.org/drawingml/2006/main" noGrp="1"/>
          </p:cNvSpPr>
          <p:nvPr/>
        </p:nvSpPr>
        <p:spPr>
          <a:xfrm xmlns:a="http://schemas.openxmlformats.org/drawingml/2006/main">
            <a:off x="6400800" y="47434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EF6A66"/>
                </a:solidFill>
                <a:latin typeface="Helvetica Neue"/>
                <a:ea typeface="Helvetica Neue"/>
                <a:cs typeface="Helvetica Neue"/>
              </a:defRPr>
            </a:pPr>
            <a:r>
              <a:rPr sz="1500" b="1">
                <a:solidFill>
                  <a:srgbClr val="EF6A66"/>
                </a:solidFill>
                <a:latin typeface="Helvetica Neue"/>
                <a:ea typeface="Helvetica Neue"/>
                <a:cs typeface="Helvetica Neue"/>
              </a:rPr>
              <a:t>•</a:t>
            </a:r>
          </a:p>
        </p:txBody>
      </p:sp>
      <p:sp>
        <p:nvSpPr>
          <p:cNvPr id="26" name="text">
            <a:extLst xmlns:a="http://schemas.openxmlformats.org/drawingml/2006/main">
              <a:ext uri="{FF2B5EF4-FFF2-40B4-BE49-F238E27FC236}">
                <a16:creationId xmlns:a16="http://schemas.microsoft.com/office/drawing/2014/main" id="{DD840B04-B4EC-4DBB-8F4B-2D1274BD1B7B}"/>
              </a:ext>
            </a:extLst>
          </p:cNvPr>
          <p:cNvSpPr>
            <a:spLocks xmlns:a="http://schemas.openxmlformats.org/drawingml/2006/main" noGrp="1"/>
          </p:cNvSpPr>
          <p:nvPr/>
        </p:nvSpPr>
        <p:spPr>
          <a:xfrm xmlns:a="http://schemas.openxmlformats.org/drawingml/2006/main">
            <a:off x="6648450" y="4743450"/>
            <a:ext cx="422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11318"/>
                </a:solidFill>
                <a:latin typeface="Helvetica Neue"/>
                <a:ea typeface="Helvetica Neue"/>
                <a:cs typeface="Helvetica Neue"/>
              </a:defRPr>
            </a:pPr>
            <a:r>
              <a:rPr sz="1500" b="0">
                <a:solidFill>
                  <a:srgbClr val="111318"/>
                </a:solidFill>
                <a:latin typeface="Helvetica Neue"/>
                <a:ea typeface="Helvetica Neue"/>
                <a:cs typeface="Helvetica Neue"/>
              </a:rPr>
              <a:t>a permanent image location</a:t>
            </a:r>
          </a:p>
        </p:txBody>
      </p:sp>
      <p:sp>
        <p:nvSpPr>
          <p:cNvPr id="27" name="box">
            <a:extLst xmlns:a="http://schemas.openxmlformats.org/drawingml/2006/main">
              <a:ext uri="{FF2B5EF4-FFF2-40B4-BE49-F238E27FC236}">
                <a16:creationId xmlns:a16="http://schemas.microsoft.com/office/drawing/2014/main" id="{7B8DA591-1A0D-4D77-9F91-E59833794BCE}"/>
              </a:ext>
            </a:extLst>
          </p:cNvPr>
          <p:cNvSpPr>
            <a:spLocks xmlns:a="http://schemas.openxmlformats.org/drawingml/2006/main" noGrp="1"/>
          </p:cNvSpPr>
          <p:nvPr/>
        </p:nvSpPr>
        <p:spPr>
          <a:xfrm xmlns:a="http://schemas.openxmlformats.org/drawingml/2006/main">
            <a:off x="1123950" y="5410200"/>
            <a:ext cx="9944100" cy="571500"/>
          </a:xfrm>
          <a:prstGeom xmlns:a="http://schemas.openxmlformats.org/drawingml/2006/main" prst="roundRect">
            <a:avLst>
              <a:gd name="adj" fmla="val 13333"/>
            </a:avLst>
          </a:prstGeom>
          <a:solidFill xmlns:a="http://schemas.openxmlformats.org/drawingml/2006/main">
            <a:srgbClr val="EEF1F4"/>
          </a:solidFill>
          <a:ln xmlns:a="http://schemas.openxmlformats.org/drawingml/2006/main" w="0">
            <a:noFill/>
            <a:prstDash val="solid"/>
          </a:ln>
        </p:spPr>
      </p:sp>
      <p:sp>
        <p:nvSpPr>
          <p:cNvPr id="28" name="text">
            <a:extLst xmlns:a="http://schemas.openxmlformats.org/drawingml/2006/main">
              <a:ext uri="{FF2B5EF4-FFF2-40B4-BE49-F238E27FC236}">
                <a16:creationId xmlns:a16="http://schemas.microsoft.com/office/drawing/2014/main" id="{1C3D9F4C-B5E6-448D-B380-979271D17448}"/>
              </a:ext>
            </a:extLst>
          </p:cNvPr>
          <p:cNvSpPr>
            <a:spLocks xmlns:a="http://schemas.openxmlformats.org/drawingml/2006/main" noGrp="1"/>
          </p:cNvSpPr>
          <p:nvPr/>
        </p:nvSpPr>
        <p:spPr>
          <a:xfrm xmlns:a="http://schemas.openxmlformats.org/drawingml/2006/main">
            <a:off x="1295400" y="5486400"/>
            <a:ext cx="9601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At initialization, Q₂ is not “the dog query.” Any useful specialization must be learned.</a:t>
            </a:r>
          </a:p>
        </p:txBody>
      </p:sp>
    </p:spTree>
    <p:extLst>
      <p:ext uri="{BB962C8B-B14F-4D97-AF65-F5344CB8AC3E}">
        <p14:creationId xmlns:p14="http://schemas.microsoft.com/office/powerpoint/2010/main" val="25716474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9F13C837-0D7B-4905-AD77-B9756C2543FB}"/>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11E51BEC-B5F8-4CE4-804E-DDCDEE1FE3B0}"/>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How does a query learn where to look?</a:t>
            </a:r>
          </a:p>
        </p:txBody>
      </p:sp>
      <p:sp>
        <p:nvSpPr>
          <p:cNvPr id="3" name="text">
            <a:extLst xmlns:a="http://schemas.openxmlformats.org/drawingml/2006/main">
              <a:ext uri="{FF2B5EF4-FFF2-40B4-BE49-F238E27FC236}">
                <a16:creationId xmlns:a16="http://schemas.microsoft.com/office/drawing/2014/main" id="{5C1DF330-E5C3-4F73-91CB-E04E6DE49727}"/>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2 • FORWARD PASS</a:t>
            </a:r>
          </a:p>
        </p:txBody>
      </p:sp>
      <p:sp>
        <p:nvSpPr>
          <p:cNvPr id="4" name="text">
            <a:extLst xmlns:a="http://schemas.openxmlformats.org/drawingml/2006/main">
              <a:ext uri="{FF2B5EF4-FFF2-40B4-BE49-F238E27FC236}">
                <a16:creationId xmlns:a16="http://schemas.microsoft.com/office/drawing/2014/main" id="{CEBAA512-8EE0-4DA8-A104-8FBB7710228B}"/>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14</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33d23239e8954cbe"/>
          <a:srcRect xmlns:a="http://schemas.openxmlformats.org/drawingml/2006/main" l="2614" t="0" r="2614" b="0"/>
          <a:stretch xmlns:a="http://schemas.openxmlformats.org/drawingml/2006/main">
            <a:fillRect l="0" t="0" r="0" b="0"/>
          </a:stretch>
        </p:blipFill>
        <p:spPr>
          <a:xfrm xmlns:a="http://schemas.openxmlformats.org/drawingml/2006/main">
            <a:off x="438150" y="1428750"/>
            <a:ext cx="6191250" cy="3676650"/>
          </a:xfrm>
          <a:prstGeom xmlns:a="http://schemas.openxmlformats.org/drawingml/2006/main" prst="roundRect">
            <a:avLst>
              <a:gd name="adj" fmla="val 3109"/>
            </a:avLst>
          </a:prstGeom>
        </p:spPr>
      </p:pic>
      <p:sp>
        <p:nvSpPr>
          <p:cNvPr id="6" name="person-evidence">
            <a:extLst xmlns:a="http://schemas.openxmlformats.org/drawingml/2006/main">
              <a:ext uri="{FF2B5EF4-FFF2-40B4-BE49-F238E27FC236}">
                <a16:creationId xmlns:a16="http://schemas.microsoft.com/office/drawing/2014/main" id="{A5F37C14-C26C-4A97-B9B6-6C8B1D54DC8B}"/>
              </a:ext>
            </a:extLst>
          </p:cNvPr>
          <p:cNvSpPr>
            <a:spLocks xmlns:a="http://schemas.openxmlformats.org/drawingml/2006/main" noGrp="1"/>
          </p:cNvSpPr>
          <p:nvPr/>
        </p:nvSpPr>
        <p:spPr>
          <a:xfrm xmlns:a="http://schemas.openxmlformats.org/drawingml/2006/main">
            <a:off x="1314450" y="1790700"/>
            <a:ext cx="1428750" cy="2762250"/>
          </a:xfrm>
          <a:prstGeom xmlns:a="http://schemas.openxmlformats.org/drawingml/2006/main" prst="rect">
            <a:avLst/>
          </a:prstGeom>
          <a:noFill xmlns:a="http://schemas.openxmlformats.org/drawingml/2006/main"/>
          <a:ln xmlns:a="http://schemas.openxmlformats.org/drawingml/2006/main" w="28575">
            <a:solidFill>
              <a:srgbClr val="3D8DFF"/>
            </a:solidFill>
            <a:prstDash val="solid"/>
          </a:ln>
        </p:spPr>
      </p:sp>
      <p:sp>
        <p:nvSpPr>
          <p:cNvPr id="7" name="dog-evidence">
            <a:extLst xmlns:a="http://schemas.openxmlformats.org/drawingml/2006/main">
              <a:ext uri="{FF2B5EF4-FFF2-40B4-BE49-F238E27FC236}">
                <a16:creationId xmlns:a16="http://schemas.microsoft.com/office/drawing/2014/main" id="{988615C0-E775-426C-8D4C-2277AEEC4014}"/>
              </a:ext>
            </a:extLst>
          </p:cNvPr>
          <p:cNvSpPr>
            <a:spLocks xmlns:a="http://schemas.openxmlformats.org/drawingml/2006/main" noGrp="1"/>
          </p:cNvSpPr>
          <p:nvPr/>
        </p:nvSpPr>
        <p:spPr>
          <a:xfrm xmlns:a="http://schemas.openxmlformats.org/drawingml/2006/main">
            <a:off x="3143250" y="3048000"/>
            <a:ext cx="1162050" cy="1504950"/>
          </a:xfrm>
          <a:prstGeom xmlns:a="http://schemas.openxmlformats.org/drawingml/2006/main" prst="rect">
            <a:avLst/>
          </a:prstGeom>
          <a:noFill xmlns:a="http://schemas.openxmlformats.org/drawingml/2006/main"/>
          <a:ln xmlns:a="http://schemas.openxmlformats.org/drawingml/2006/main" w="28575">
            <a:solidFill>
              <a:srgbClr val="45B97C"/>
            </a:solidFill>
            <a:prstDash val="solid"/>
          </a:ln>
        </p:spPr>
      </p:sp>
      <p:sp>
        <p:nvSpPr>
          <p:cNvPr id="8" name="bike-evidence">
            <a:extLst xmlns:a="http://schemas.openxmlformats.org/drawingml/2006/main">
              <a:ext uri="{FF2B5EF4-FFF2-40B4-BE49-F238E27FC236}">
                <a16:creationId xmlns:a16="http://schemas.microsoft.com/office/drawing/2014/main" id="{802F160B-892D-4D49-AE2D-D250FC1FA491}"/>
              </a:ext>
            </a:extLst>
          </p:cNvPr>
          <p:cNvSpPr>
            <a:spLocks xmlns:a="http://schemas.openxmlformats.org/drawingml/2006/main" noGrp="1"/>
          </p:cNvSpPr>
          <p:nvPr/>
        </p:nvSpPr>
        <p:spPr>
          <a:xfrm xmlns:a="http://schemas.openxmlformats.org/drawingml/2006/main">
            <a:off x="4495800" y="2609850"/>
            <a:ext cx="1962150" cy="1943100"/>
          </a:xfrm>
          <a:prstGeom xmlns:a="http://schemas.openxmlformats.org/drawingml/2006/main" prst="rect">
            <a:avLst/>
          </a:prstGeom>
          <a:noFill xmlns:a="http://schemas.openxmlformats.org/drawingml/2006/main"/>
          <a:ln xmlns:a="http://schemas.openxmlformats.org/drawingml/2006/main" w="28575">
            <a:solidFill>
              <a:srgbClr val="F2B84B"/>
            </a:solidFill>
            <a:prstDash val="solid"/>
          </a:ln>
        </p:spPr>
      </p:sp>
      <p:sp>
        <p:nvSpPr>
          <p:cNvPr id="9" name="text">
            <a:extLst xmlns:a="http://schemas.openxmlformats.org/drawingml/2006/main">
              <a:ext uri="{FF2B5EF4-FFF2-40B4-BE49-F238E27FC236}">
                <a16:creationId xmlns:a16="http://schemas.microsoft.com/office/drawing/2014/main" id="{47848993-D398-4312-A261-EA9F2C4588F4}"/>
              </a:ext>
            </a:extLst>
          </p:cNvPr>
          <p:cNvSpPr>
            <a:spLocks xmlns:a="http://schemas.openxmlformats.org/drawingml/2006/main" noGrp="1"/>
          </p:cNvSpPr>
          <p:nvPr/>
        </p:nvSpPr>
        <p:spPr>
          <a:xfrm xmlns:a="http://schemas.openxmlformats.org/drawingml/2006/main">
            <a:off x="1104900" y="52197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cross-attention retrieves image evidence</a:t>
            </a:r>
          </a:p>
        </p:txBody>
      </p:sp>
      <p:sp>
        <p:nvSpPr>
          <p:cNvPr id="10" name="node">
            <a:extLst xmlns:a="http://schemas.openxmlformats.org/drawingml/2006/main">
              <a:ext uri="{FF2B5EF4-FFF2-40B4-BE49-F238E27FC236}">
                <a16:creationId xmlns:a16="http://schemas.microsoft.com/office/drawing/2014/main" id="{135636B0-2908-4B16-9083-20CD92C11CDA}"/>
              </a:ext>
            </a:extLst>
          </p:cNvPr>
          <p:cNvSpPr>
            <a:spLocks xmlns:a="http://schemas.openxmlformats.org/drawingml/2006/main" noGrp="1"/>
          </p:cNvSpPr>
          <p:nvPr/>
        </p:nvSpPr>
        <p:spPr>
          <a:xfrm xmlns:a="http://schemas.openxmlformats.org/drawingml/2006/main">
            <a:off x="7429500" y="1543050"/>
            <a:ext cx="3143250" cy="514350"/>
          </a:xfrm>
          <a:prstGeom xmlns:a="http://schemas.openxmlformats.org/drawingml/2006/main" prst="roundRect">
            <a:avLst>
              <a:gd name="adj" fmla="val 14815"/>
            </a:avLst>
          </a:prstGeom>
          <a:solidFill xmlns:a="http://schemas.openxmlformats.org/drawingml/2006/main">
            <a:srgbClr val="EEE8FF"/>
          </a:solidFill>
          <a:ln xmlns:a="http://schemas.openxmlformats.org/drawingml/2006/main" w="19050">
            <a:solidFill>
              <a:srgbClr val="8E6CEF"/>
            </a:solidFill>
            <a:prstDash val="solid"/>
          </a:ln>
        </p:spPr>
      </p:sp>
      <p:sp>
        <p:nvSpPr>
          <p:cNvPr id="11" name="node-label">
            <a:extLst xmlns:a="http://schemas.openxmlformats.org/drawingml/2006/main">
              <a:ext uri="{FF2B5EF4-FFF2-40B4-BE49-F238E27FC236}">
                <a16:creationId xmlns:a16="http://schemas.microsoft.com/office/drawing/2014/main" id="{7C462C3A-90B0-4B14-A101-0165AAEF3B54}"/>
              </a:ext>
            </a:extLst>
          </p:cNvPr>
          <p:cNvSpPr>
            <a:spLocks xmlns:a="http://schemas.openxmlformats.org/drawingml/2006/main" noGrp="1"/>
          </p:cNvSpPr>
          <p:nvPr/>
        </p:nvSpPr>
        <p:spPr>
          <a:xfrm xmlns:a="http://schemas.openxmlformats.org/drawingml/2006/main">
            <a:off x="7505700" y="1581150"/>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Qᵢ state</a:t>
            </a:r>
          </a:p>
        </p:txBody>
      </p:sp>
      <p:sp>
        <p:nvSpPr>
          <p:cNvPr id="12" name="arrow">
            <a:extLst xmlns:a="http://schemas.openxmlformats.org/drawingml/2006/main">
              <a:ext uri="{FF2B5EF4-FFF2-40B4-BE49-F238E27FC236}">
                <a16:creationId xmlns:a16="http://schemas.microsoft.com/office/drawing/2014/main" id="{DB7D219F-F3D1-460F-B91D-DBF8755C8491}"/>
              </a:ext>
            </a:extLst>
          </p:cNvPr>
          <p:cNvSpPr>
            <a:spLocks xmlns:a="http://schemas.openxmlformats.org/drawingml/2006/main" noGrp="1"/>
          </p:cNvSpPr>
          <p:nvPr/>
        </p:nvSpPr>
        <p:spPr>
          <a:xfrm xmlns:a="http://schemas.openxmlformats.org/drawingml/2006/main">
            <a:off x="8743950" y="20955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13" name="node">
            <a:extLst xmlns:a="http://schemas.openxmlformats.org/drawingml/2006/main">
              <a:ext uri="{FF2B5EF4-FFF2-40B4-BE49-F238E27FC236}">
                <a16:creationId xmlns:a16="http://schemas.microsoft.com/office/drawing/2014/main" id="{2273D481-4684-4551-AE28-BF7BAD8CCD09}"/>
              </a:ext>
            </a:extLst>
          </p:cNvPr>
          <p:cNvSpPr>
            <a:spLocks xmlns:a="http://schemas.openxmlformats.org/drawingml/2006/main" noGrp="1"/>
          </p:cNvSpPr>
          <p:nvPr/>
        </p:nvSpPr>
        <p:spPr>
          <a:xfrm xmlns:a="http://schemas.openxmlformats.org/drawingml/2006/main">
            <a:off x="7429500" y="2305050"/>
            <a:ext cx="3143250" cy="514350"/>
          </a:xfrm>
          <a:prstGeom xmlns:a="http://schemas.openxmlformats.org/drawingml/2006/main" prst="roundRect">
            <a:avLst>
              <a:gd name="adj" fmla="val 14815"/>
            </a:avLst>
          </a:prstGeom>
          <a:solidFill xmlns:a="http://schemas.openxmlformats.org/drawingml/2006/main">
            <a:srgbClr val="D9F1FC"/>
          </a:solidFill>
          <a:ln xmlns:a="http://schemas.openxmlformats.org/drawingml/2006/main" w="19050">
            <a:solidFill>
              <a:srgbClr val="3D8DFF"/>
            </a:solidFill>
            <a:prstDash val="solid"/>
          </a:ln>
        </p:spPr>
      </p:sp>
      <p:sp>
        <p:nvSpPr>
          <p:cNvPr id="14" name="node-label">
            <a:extLst xmlns:a="http://schemas.openxmlformats.org/drawingml/2006/main">
              <a:ext uri="{FF2B5EF4-FFF2-40B4-BE49-F238E27FC236}">
                <a16:creationId xmlns:a16="http://schemas.microsoft.com/office/drawing/2014/main" id="{FF2F3E2E-C023-4A30-85AD-F88DA89C76E6}"/>
              </a:ext>
            </a:extLst>
          </p:cNvPr>
          <p:cNvSpPr>
            <a:spLocks xmlns:a="http://schemas.openxmlformats.org/drawingml/2006/main" noGrp="1"/>
          </p:cNvSpPr>
          <p:nvPr/>
        </p:nvSpPr>
        <p:spPr>
          <a:xfrm xmlns:a="http://schemas.openxmlformats.org/drawingml/2006/main">
            <a:off x="7505700" y="2343150"/>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attention scores</a:t>
            </a:r>
          </a:p>
        </p:txBody>
      </p:sp>
      <p:sp>
        <p:nvSpPr>
          <p:cNvPr id="15" name="arrow">
            <a:extLst xmlns:a="http://schemas.openxmlformats.org/drawingml/2006/main">
              <a:ext uri="{FF2B5EF4-FFF2-40B4-BE49-F238E27FC236}">
                <a16:creationId xmlns:a16="http://schemas.microsoft.com/office/drawing/2014/main" id="{FC8F174A-2471-41F4-ADAC-A215A2B2503B}"/>
              </a:ext>
            </a:extLst>
          </p:cNvPr>
          <p:cNvSpPr>
            <a:spLocks xmlns:a="http://schemas.openxmlformats.org/drawingml/2006/main" noGrp="1"/>
          </p:cNvSpPr>
          <p:nvPr/>
        </p:nvSpPr>
        <p:spPr>
          <a:xfrm xmlns:a="http://schemas.openxmlformats.org/drawingml/2006/main">
            <a:off x="8743950" y="28575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16" name="node">
            <a:extLst xmlns:a="http://schemas.openxmlformats.org/drawingml/2006/main">
              <a:ext uri="{FF2B5EF4-FFF2-40B4-BE49-F238E27FC236}">
                <a16:creationId xmlns:a16="http://schemas.microsoft.com/office/drawing/2014/main" id="{1A956BF7-81E0-4859-9A80-14D0FF277FAF}"/>
              </a:ext>
            </a:extLst>
          </p:cNvPr>
          <p:cNvSpPr>
            <a:spLocks xmlns:a="http://schemas.openxmlformats.org/drawingml/2006/main" noGrp="1"/>
          </p:cNvSpPr>
          <p:nvPr/>
        </p:nvSpPr>
        <p:spPr>
          <a:xfrm xmlns:a="http://schemas.openxmlformats.org/drawingml/2006/main">
            <a:off x="7429500" y="3067050"/>
            <a:ext cx="3143250" cy="514350"/>
          </a:xfrm>
          <a:prstGeom xmlns:a="http://schemas.openxmlformats.org/drawingml/2006/main" prst="roundRect">
            <a:avLst>
              <a:gd name="adj" fmla="val 14815"/>
            </a:avLst>
          </a:prstGeom>
          <a:solidFill xmlns:a="http://schemas.openxmlformats.org/drawingml/2006/main">
            <a:srgbClr val="DDF4E8"/>
          </a:solidFill>
          <a:ln xmlns:a="http://schemas.openxmlformats.org/drawingml/2006/main" w="19050">
            <a:solidFill>
              <a:srgbClr val="45B97C"/>
            </a:solidFill>
            <a:prstDash val="solid"/>
          </a:ln>
        </p:spPr>
      </p:sp>
      <p:sp>
        <p:nvSpPr>
          <p:cNvPr id="17" name="node-label">
            <a:extLst xmlns:a="http://schemas.openxmlformats.org/drawingml/2006/main">
              <a:ext uri="{FF2B5EF4-FFF2-40B4-BE49-F238E27FC236}">
                <a16:creationId xmlns:a16="http://schemas.microsoft.com/office/drawing/2014/main" id="{D0C1E3AE-9273-4E66-A40D-8FD4DB4DB81E}"/>
              </a:ext>
            </a:extLst>
          </p:cNvPr>
          <p:cNvSpPr>
            <a:spLocks xmlns:a="http://schemas.openxmlformats.org/drawingml/2006/main" noGrp="1"/>
          </p:cNvSpPr>
          <p:nvPr/>
        </p:nvSpPr>
        <p:spPr>
          <a:xfrm xmlns:a="http://schemas.openxmlformats.org/drawingml/2006/main">
            <a:off x="7505700" y="3105150"/>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visual evidence</a:t>
            </a:r>
          </a:p>
        </p:txBody>
      </p:sp>
      <p:sp>
        <p:nvSpPr>
          <p:cNvPr id="18" name="arrow">
            <a:extLst xmlns:a="http://schemas.openxmlformats.org/drawingml/2006/main">
              <a:ext uri="{FF2B5EF4-FFF2-40B4-BE49-F238E27FC236}">
                <a16:creationId xmlns:a16="http://schemas.microsoft.com/office/drawing/2014/main" id="{E00B44B5-630D-4DDA-9B8E-5ED67DE052CB}"/>
              </a:ext>
            </a:extLst>
          </p:cNvPr>
          <p:cNvSpPr>
            <a:spLocks xmlns:a="http://schemas.openxmlformats.org/drawingml/2006/main" noGrp="1"/>
          </p:cNvSpPr>
          <p:nvPr/>
        </p:nvSpPr>
        <p:spPr>
          <a:xfrm xmlns:a="http://schemas.openxmlformats.org/drawingml/2006/main">
            <a:off x="8743950" y="36195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19" name="node">
            <a:extLst xmlns:a="http://schemas.openxmlformats.org/drawingml/2006/main">
              <a:ext uri="{FF2B5EF4-FFF2-40B4-BE49-F238E27FC236}">
                <a16:creationId xmlns:a16="http://schemas.microsoft.com/office/drawing/2014/main" id="{0157C6AF-A4D7-44F2-B8D4-5F28FB261C0C}"/>
              </a:ext>
            </a:extLst>
          </p:cNvPr>
          <p:cNvSpPr>
            <a:spLocks xmlns:a="http://schemas.openxmlformats.org/drawingml/2006/main" noGrp="1"/>
          </p:cNvSpPr>
          <p:nvPr/>
        </p:nvSpPr>
        <p:spPr>
          <a:xfrm xmlns:a="http://schemas.openxmlformats.org/drawingml/2006/main">
            <a:off x="7429500" y="3829050"/>
            <a:ext cx="3143250" cy="514350"/>
          </a:xfrm>
          <a:prstGeom xmlns:a="http://schemas.openxmlformats.org/drawingml/2006/main" prst="roundRect">
            <a:avLst>
              <a:gd name="adj" fmla="val 14815"/>
            </a:avLst>
          </a:prstGeom>
          <a:solidFill xmlns:a="http://schemas.openxmlformats.org/drawingml/2006/main">
            <a:srgbClr val="FFF1CC"/>
          </a:solidFill>
          <a:ln xmlns:a="http://schemas.openxmlformats.org/drawingml/2006/main" w="19050">
            <a:solidFill>
              <a:srgbClr val="F2B84B"/>
            </a:solidFill>
            <a:prstDash val="solid"/>
          </a:ln>
        </p:spPr>
      </p:sp>
      <p:sp>
        <p:nvSpPr>
          <p:cNvPr id="20" name="node-label">
            <a:extLst xmlns:a="http://schemas.openxmlformats.org/drawingml/2006/main">
              <a:ext uri="{FF2B5EF4-FFF2-40B4-BE49-F238E27FC236}">
                <a16:creationId xmlns:a16="http://schemas.microsoft.com/office/drawing/2014/main" id="{B471649D-D859-4F47-A29D-4090ECAC4EEA}"/>
              </a:ext>
            </a:extLst>
          </p:cNvPr>
          <p:cNvSpPr>
            <a:spLocks xmlns:a="http://schemas.openxmlformats.org/drawingml/2006/main" noGrp="1"/>
          </p:cNvSpPr>
          <p:nvPr/>
        </p:nvSpPr>
        <p:spPr>
          <a:xfrm xmlns:a="http://schemas.openxmlformats.org/drawingml/2006/main">
            <a:off x="7505700" y="3867150"/>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class + box</a:t>
            </a:r>
          </a:p>
        </p:txBody>
      </p:sp>
      <p:sp>
        <p:nvSpPr>
          <p:cNvPr id="21" name="arrow">
            <a:extLst xmlns:a="http://schemas.openxmlformats.org/drawingml/2006/main">
              <a:ext uri="{FF2B5EF4-FFF2-40B4-BE49-F238E27FC236}">
                <a16:creationId xmlns:a16="http://schemas.microsoft.com/office/drawing/2014/main" id="{7FC13E05-B182-495C-B933-0060D40CCA0F}"/>
              </a:ext>
            </a:extLst>
          </p:cNvPr>
          <p:cNvSpPr>
            <a:spLocks xmlns:a="http://schemas.openxmlformats.org/drawingml/2006/main" noGrp="1"/>
          </p:cNvSpPr>
          <p:nvPr/>
        </p:nvSpPr>
        <p:spPr>
          <a:xfrm xmlns:a="http://schemas.openxmlformats.org/drawingml/2006/main">
            <a:off x="8743950" y="438150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22" name="node">
            <a:extLst xmlns:a="http://schemas.openxmlformats.org/drawingml/2006/main">
              <a:ext uri="{FF2B5EF4-FFF2-40B4-BE49-F238E27FC236}">
                <a16:creationId xmlns:a16="http://schemas.microsoft.com/office/drawing/2014/main" id="{4FC4EFF8-AC1D-4E0E-85C6-6D0C5DF6FE66}"/>
              </a:ext>
            </a:extLst>
          </p:cNvPr>
          <p:cNvSpPr>
            <a:spLocks xmlns:a="http://schemas.openxmlformats.org/drawingml/2006/main" noGrp="1"/>
          </p:cNvSpPr>
          <p:nvPr/>
        </p:nvSpPr>
        <p:spPr>
          <a:xfrm xmlns:a="http://schemas.openxmlformats.org/drawingml/2006/main">
            <a:off x="7429500" y="4591050"/>
            <a:ext cx="3143250" cy="514350"/>
          </a:xfrm>
          <a:prstGeom xmlns:a="http://schemas.openxmlformats.org/drawingml/2006/main" prst="roundRect">
            <a:avLst>
              <a:gd name="adj" fmla="val 14815"/>
            </a:avLst>
          </a:prstGeom>
          <a:solidFill xmlns:a="http://schemas.openxmlformats.org/drawingml/2006/main">
            <a:srgbClr val="FDE7E5"/>
          </a:solidFill>
          <a:ln xmlns:a="http://schemas.openxmlformats.org/drawingml/2006/main" w="19050">
            <a:solidFill>
              <a:srgbClr val="EF6A66"/>
            </a:solidFill>
            <a:prstDash val="solid"/>
          </a:ln>
        </p:spPr>
      </p:sp>
      <p:sp>
        <p:nvSpPr>
          <p:cNvPr id="23" name="node-label">
            <a:extLst xmlns:a="http://schemas.openxmlformats.org/drawingml/2006/main">
              <a:ext uri="{FF2B5EF4-FFF2-40B4-BE49-F238E27FC236}">
                <a16:creationId xmlns:a16="http://schemas.microsoft.com/office/drawing/2014/main" id="{620C2C57-3646-46CD-B8D6-CB03901CFC7D}"/>
              </a:ext>
            </a:extLst>
          </p:cNvPr>
          <p:cNvSpPr>
            <a:spLocks xmlns:a="http://schemas.openxmlformats.org/drawingml/2006/main" noGrp="1"/>
          </p:cNvSpPr>
          <p:nvPr/>
        </p:nvSpPr>
        <p:spPr>
          <a:xfrm xmlns:a="http://schemas.openxmlformats.org/drawingml/2006/main">
            <a:off x="7505700" y="4629150"/>
            <a:ext cx="2990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loss gradient</a:t>
            </a:r>
          </a:p>
        </p:txBody>
      </p:sp>
      <p:sp>
        <p:nvSpPr>
          <p:cNvPr id="24" name="text">
            <a:extLst xmlns:a="http://schemas.openxmlformats.org/drawingml/2006/main">
              <a:ext uri="{FF2B5EF4-FFF2-40B4-BE49-F238E27FC236}">
                <a16:creationId xmlns:a16="http://schemas.microsoft.com/office/drawing/2014/main" id="{C0813D8F-B9FA-46A6-B209-2EBF37DD30B8}"/>
              </a:ext>
            </a:extLst>
          </p:cNvPr>
          <p:cNvSpPr>
            <a:spLocks xmlns:a="http://schemas.openxmlformats.org/drawingml/2006/main" noGrp="1"/>
          </p:cNvSpPr>
          <p:nvPr/>
        </p:nvSpPr>
        <p:spPr>
          <a:xfrm xmlns:a="http://schemas.openxmlformats.org/drawingml/2006/main">
            <a:off x="7334250" y="52959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5D6673"/>
                </a:solidFill>
                <a:latin typeface="Helvetica Neue"/>
                <a:ea typeface="Helvetica Neue"/>
                <a:cs typeface="Helvetica Neue"/>
              </a:defRPr>
            </a:pPr>
            <a:r>
              <a:rPr sz="1275" b="1">
                <a:solidFill>
                  <a:srgbClr val="5D6673"/>
                </a:solidFill>
                <a:latin typeface="Helvetica Neue"/>
                <a:ea typeface="Helvetica Neue"/>
                <a:cs typeface="Helvetica Neue"/>
              </a:rPr>
              <a:t>repeat across decoder layers and updates</a:t>
            </a:r>
          </a:p>
        </p:txBody>
      </p:sp>
    </p:spTree>
    <p:extLst>
      <p:ext uri="{BB962C8B-B14F-4D97-AF65-F5344CB8AC3E}">
        <p14:creationId xmlns:p14="http://schemas.microsoft.com/office/powerpoint/2010/main" val="169773459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text">
            <a:extLst xmlns:a="http://schemas.openxmlformats.org/drawingml/2006/main">
              <a:ext uri="{FF2B5EF4-FFF2-40B4-BE49-F238E27FC236}">
                <a16:creationId xmlns:a16="http://schemas.microsoft.com/office/drawing/2014/main" id="{242BA3C8-B0BB-400F-858C-E95457701113}"/>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1B8BD15F-4FF5-401B-9D6F-ADE19AAE3E8E}"/>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Who should learn each object?</a:t>
            </a:r>
          </a:p>
        </p:txBody>
      </p:sp>
      <p:sp>
        <p:nvSpPr>
          <p:cNvPr id="3" name="text">
            <a:extLst xmlns:a="http://schemas.openxmlformats.org/drawingml/2006/main">
              <a:ext uri="{FF2B5EF4-FFF2-40B4-BE49-F238E27FC236}">
                <a16:creationId xmlns:a16="http://schemas.microsoft.com/office/drawing/2014/main" id="{FA60DF6A-55EF-4063-BA67-6A29CDC073E4}"/>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3 • PREDICTIONS</a:t>
            </a:r>
          </a:p>
        </p:txBody>
      </p:sp>
      <p:sp>
        <p:nvSpPr>
          <p:cNvPr id="4" name="text">
            <a:extLst xmlns:a="http://schemas.openxmlformats.org/drawingml/2006/main">
              <a:ext uri="{FF2B5EF4-FFF2-40B4-BE49-F238E27FC236}">
                <a16:creationId xmlns:a16="http://schemas.microsoft.com/office/drawing/2014/main" id="{AA26DC85-2F56-4C33-AC7A-078726182406}"/>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15</a:t>
            </a:r>
          </a:p>
        </p:txBody>
      </p:sp>
      <p:sp>
        <p:nvSpPr>
          <p:cNvPr id="5" name="text">
            <a:extLst xmlns:a="http://schemas.openxmlformats.org/drawingml/2006/main">
              <a:ext uri="{FF2B5EF4-FFF2-40B4-BE49-F238E27FC236}">
                <a16:creationId xmlns:a16="http://schemas.microsoft.com/office/drawing/2014/main" id="{99D29E63-4B3A-428B-90C3-E952D63AADAA}"/>
              </a:ext>
            </a:extLst>
          </p:cNvPr>
          <p:cNvSpPr>
            <a:spLocks xmlns:a="http://schemas.openxmlformats.org/drawingml/2006/main" noGrp="1"/>
          </p:cNvSpPr>
          <p:nvPr/>
        </p:nvSpPr>
        <p:spPr>
          <a:xfrm xmlns:a="http://schemas.openxmlformats.org/drawingml/2006/main">
            <a:off x="552450" y="1333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FIVE QUERY OUTPUTS</a:t>
            </a:r>
          </a:p>
        </p:txBody>
      </p:sp>
      <p:sp>
        <p:nvSpPr>
          <p:cNvPr id="6" name="node">
            <a:extLst xmlns:a="http://schemas.openxmlformats.org/drawingml/2006/main">
              <a:ext uri="{FF2B5EF4-FFF2-40B4-BE49-F238E27FC236}">
                <a16:creationId xmlns:a16="http://schemas.microsoft.com/office/drawing/2014/main" id="{EBA2F7F7-38A7-45B6-A565-F286A9FDE86D}"/>
              </a:ext>
            </a:extLst>
          </p:cNvPr>
          <p:cNvSpPr>
            <a:spLocks xmlns:a="http://schemas.openxmlformats.org/drawingml/2006/main" noGrp="1"/>
          </p:cNvSpPr>
          <p:nvPr/>
        </p:nvSpPr>
        <p:spPr>
          <a:xfrm xmlns:a="http://schemas.openxmlformats.org/drawingml/2006/main">
            <a:off x="552450" y="1733550"/>
            <a:ext cx="742950" cy="476250"/>
          </a:xfrm>
          <a:prstGeom xmlns:a="http://schemas.openxmlformats.org/drawingml/2006/main" prst="roundRect">
            <a:avLst>
              <a:gd name="adj" fmla="val 16000"/>
            </a:avLst>
          </a:prstGeom>
          <a:solidFill xmlns:a="http://schemas.openxmlformats.org/drawingml/2006/main">
            <a:srgbClr val="D9F1FC"/>
          </a:solidFill>
          <a:ln xmlns:a="http://schemas.openxmlformats.org/drawingml/2006/main" w="19050">
            <a:solidFill>
              <a:srgbClr val="3D8DFF"/>
            </a:solidFill>
            <a:prstDash val="solid"/>
          </a:ln>
        </p:spPr>
      </p:sp>
      <p:sp>
        <p:nvSpPr>
          <p:cNvPr id="7" name="node-label">
            <a:extLst xmlns:a="http://schemas.openxmlformats.org/drawingml/2006/main">
              <a:ext uri="{FF2B5EF4-FFF2-40B4-BE49-F238E27FC236}">
                <a16:creationId xmlns:a16="http://schemas.microsoft.com/office/drawing/2014/main" id="{7164567E-A9EA-429C-8747-A2E1CB4A6119}"/>
              </a:ext>
            </a:extLst>
          </p:cNvPr>
          <p:cNvSpPr>
            <a:spLocks xmlns:a="http://schemas.openxmlformats.org/drawingml/2006/main" noGrp="1"/>
          </p:cNvSpPr>
          <p:nvPr/>
        </p:nvSpPr>
        <p:spPr>
          <a:xfrm xmlns:a="http://schemas.openxmlformats.org/drawingml/2006/main">
            <a:off x="628650" y="1771650"/>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Q1</a:t>
            </a:r>
          </a:p>
        </p:txBody>
      </p:sp>
      <p:sp>
        <p:nvSpPr>
          <p:cNvPr id="8" name="text">
            <a:extLst xmlns:a="http://schemas.openxmlformats.org/drawingml/2006/main">
              <a:ext uri="{FF2B5EF4-FFF2-40B4-BE49-F238E27FC236}">
                <a16:creationId xmlns:a16="http://schemas.microsoft.com/office/drawing/2014/main" id="{94E0C186-E6E9-47F4-A05E-5435FFB07BA2}"/>
              </a:ext>
            </a:extLst>
          </p:cNvPr>
          <p:cNvSpPr>
            <a:spLocks xmlns:a="http://schemas.openxmlformats.org/drawingml/2006/main" noGrp="1"/>
          </p:cNvSpPr>
          <p:nvPr/>
        </p:nvSpPr>
        <p:spPr>
          <a:xfrm xmlns:a="http://schemas.openxmlformats.org/drawingml/2006/main">
            <a:off x="1524000" y="17335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person 0.86</a:t>
            </a:r>
          </a:p>
        </p:txBody>
      </p:sp>
      <p:sp>
        <p:nvSpPr>
          <p:cNvPr id="9" name="text">
            <a:extLst xmlns:a="http://schemas.openxmlformats.org/drawingml/2006/main">
              <a:ext uri="{FF2B5EF4-FFF2-40B4-BE49-F238E27FC236}">
                <a16:creationId xmlns:a16="http://schemas.microsoft.com/office/drawing/2014/main" id="{E1ED5423-4953-4039-BAE9-B67B3DDE9EB9}"/>
              </a:ext>
            </a:extLst>
          </p:cNvPr>
          <p:cNvSpPr>
            <a:spLocks xmlns:a="http://schemas.openxmlformats.org/drawingml/2006/main" noGrp="1"/>
          </p:cNvSpPr>
          <p:nvPr/>
        </p:nvSpPr>
        <p:spPr>
          <a:xfrm xmlns:a="http://schemas.openxmlformats.org/drawingml/2006/main">
            <a:off x="3810000" y="17335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(0.24, 0.53, 0.18, 0.62)</a:t>
            </a:r>
          </a:p>
        </p:txBody>
      </p:sp>
      <p:sp>
        <p:nvSpPr>
          <p:cNvPr id="10" name="node">
            <a:extLst xmlns:a="http://schemas.openxmlformats.org/drawingml/2006/main">
              <a:ext uri="{FF2B5EF4-FFF2-40B4-BE49-F238E27FC236}">
                <a16:creationId xmlns:a16="http://schemas.microsoft.com/office/drawing/2014/main" id="{1216DEA0-2684-4DCE-830F-A092AF4A95C5}"/>
              </a:ext>
            </a:extLst>
          </p:cNvPr>
          <p:cNvSpPr>
            <a:spLocks xmlns:a="http://schemas.openxmlformats.org/drawingml/2006/main" noGrp="1"/>
          </p:cNvSpPr>
          <p:nvPr/>
        </p:nvSpPr>
        <p:spPr>
          <a:xfrm xmlns:a="http://schemas.openxmlformats.org/drawingml/2006/main">
            <a:off x="552450" y="2419350"/>
            <a:ext cx="742950" cy="476250"/>
          </a:xfrm>
          <a:prstGeom xmlns:a="http://schemas.openxmlformats.org/drawingml/2006/main" prst="roundRect">
            <a:avLst>
              <a:gd name="adj" fmla="val 16000"/>
            </a:avLst>
          </a:prstGeom>
          <a:solidFill xmlns:a="http://schemas.openxmlformats.org/drawingml/2006/main">
            <a:srgbClr val="DDF4E8"/>
          </a:solidFill>
          <a:ln xmlns:a="http://schemas.openxmlformats.org/drawingml/2006/main" w="19050">
            <a:solidFill>
              <a:srgbClr val="45B97C"/>
            </a:solidFill>
            <a:prstDash val="solid"/>
          </a:ln>
        </p:spPr>
      </p:sp>
      <p:sp>
        <p:nvSpPr>
          <p:cNvPr id="11" name="node-label">
            <a:extLst xmlns:a="http://schemas.openxmlformats.org/drawingml/2006/main">
              <a:ext uri="{FF2B5EF4-FFF2-40B4-BE49-F238E27FC236}">
                <a16:creationId xmlns:a16="http://schemas.microsoft.com/office/drawing/2014/main" id="{7C4D3DAC-D029-4CFB-8F03-CE51B31DD497}"/>
              </a:ext>
            </a:extLst>
          </p:cNvPr>
          <p:cNvSpPr>
            <a:spLocks xmlns:a="http://schemas.openxmlformats.org/drawingml/2006/main" noGrp="1"/>
          </p:cNvSpPr>
          <p:nvPr/>
        </p:nvSpPr>
        <p:spPr>
          <a:xfrm xmlns:a="http://schemas.openxmlformats.org/drawingml/2006/main">
            <a:off x="628650" y="2457450"/>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Q2</a:t>
            </a:r>
          </a:p>
        </p:txBody>
      </p:sp>
      <p:sp>
        <p:nvSpPr>
          <p:cNvPr id="12" name="text">
            <a:extLst xmlns:a="http://schemas.openxmlformats.org/drawingml/2006/main">
              <a:ext uri="{FF2B5EF4-FFF2-40B4-BE49-F238E27FC236}">
                <a16:creationId xmlns:a16="http://schemas.microsoft.com/office/drawing/2014/main" id="{872AE18C-60D9-4FB0-8A62-ED6DD7C5C186}"/>
              </a:ext>
            </a:extLst>
          </p:cNvPr>
          <p:cNvSpPr>
            <a:spLocks xmlns:a="http://schemas.openxmlformats.org/drawingml/2006/main" noGrp="1"/>
          </p:cNvSpPr>
          <p:nvPr/>
        </p:nvSpPr>
        <p:spPr>
          <a:xfrm xmlns:a="http://schemas.openxmlformats.org/drawingml/2006/main">
            <a:off x="1524000" y="24193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45B97C"/>
                </a:solidFill>
                <a:latin typeface="Helvetica Neue"/>
                <a:ea typeface="Helvetica Neue"/>
                <a:cs typeface="Helvetica Neue"/>
              </a:defRPr>
            </a:pPr>
            <a:r>
              <a:rPr sz="1500" b="1">
                <a:solidFill>
                  <a:srgbClr val="45B97C"/>
                </a:solidFill>
                <a:latin typeface="Helvetica Neue"/>
                <a:ea typeface="Helvetica Neue"/>
                <a:cs typeface="Helvetica Neue"/>
              </a:rPr>
              <a:t>dog 0.90</a:t>
            </a:r>
          </a:p>
        </p:txBody>
      </p:sp>
      <p:sp>
        <p:nvSpPr>
          <p:cNvPr id="13" name="text">
            <a:extLst xmlns:a="http://schemas.openxmlformats.org/drawingml/2006/main">
              <a:ext uri="{FF2B5EF4-FFF2-40B4-BE49-F238E27FC236}">
                <a16:creationId xmlns:a16="http://schemas.microsoft.com/office/drawing/2014/main" id="{E2C27EE5-B143-4072-9570-2C4E88EDEB0E}"/>
              </a:ext>
            </a:extLst>
          </p:cNvPr>
          <p:cNvSpPr>
            <a:spLocks xmlns:a="http://schemas.openxmlformats.org/drawingml/2006/main" noGrp="1"/>
          </p:cNvSpPr>
          <p:nvPr/>
        </p:nvSpPr>
        <p:spPr>
          <a:xfrm xmlns:a="http://schemas.openxmlformats.org/drawingml/2006/main">
            <a:off x="3810000" y="24193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(0.43, 0.66, 0.16, 0.24)</a:t>
            </a:r>
          </a:p>
        </p:txBody>
      </p:sp>
      <p:sp>
        <p:nvSpPr>
          <p:cNvPr id="14" name="node">
            <a:extLst xmlns:a="http://schemas.openxmlformats.org/drawingml/2006/main">
              <a:ext uri="{FF2B5EF4-FFF2-40B4-BE49-F238E27FC236}">
                <a16:creationId xmlns:a16="http://schemas.microsoft.com/office/drawing/2014/main" id="{5E14A291-07B4-4734-8AEE-A46CB4AFD507}"/>
              </a:ext>
            </a:extLst>
          </p:cNvPr>
          <p:cNvSpPr>
            <a:spLocks xmlns:a="http://schemas.openxmlformats.org/drawingml/2006/main" noGrp="1"/>
          </p:cNvSpPr>
          <p:nvPr/>
        </p:nvSpPr>
        <p:spPr>
          <a:xfrm xmlns:a="http://schemas.openxmlformats.org/drawingml/2006/main">
            <a:off x="552450" y="3105150"/>
            <a:ext cx="742950" cy="476250"/>
          </a:xfrm>
          <a:prstGeom xmlns:a="http://schemas.openxmlformats.org/drawingml/2006/main" prst="roundRect">
            <a:avLst>
              <a:gd name="adj" fmla="val 16000"/>
            </a:avLst>
          </a:prstGeom>
          <a:solidFill xmlns:a="http://schemas.openxmlformats.org/drawingml/2006/main">
            <a:srgbClr val="FFF1CC"/>
          </a:solidFill>
          <a:ln xmlns:a="http://schemas.openxmlformats.org/drawingml/2006/main" w="19050">
            <a:solidFill>
              <a:srgbClr val="F2B84B"/>
            </a:solidFill>
            <a:prstDash val="solid"/>
          </a:ln>
        </p:spPr>
      </p:sp>
      <p:sp>
        <p:nvSpPr>
          <p:cNvPr id="15" name="node-label">
            <a:extLst xmlns:a="http://schemas.openxmlformats.org/drawingml/2006/main">
              <a:ext uri="{FF2B5EF4-FFF2-40B4-BE49-F238E27FC236}">
                <a16:creationId xmlns:a16="http://schemas.microsoft.com/office/drawing/2014/main" id="{4220B39D-39F9-4CAC-B29D-4A2F717616B6}"/>
              </a:ext>
            </a:extLst>
          </p:cNvPr>
          <p:cNvSpPr>
            <a:spLocks xmlns:a="http://schemas.openxmlformats.org/drawingml/2006/main" noGrp="1"/>
          </p:cNvSpPr>
          <p:nvPr/>
        </p:nvSpPr>
        <p:spPr>
          <a:xfrm xmlns:a="http://schemas.openxmlformats.org/drawingml/2006/main">
            <a:off x="628650" y="3143250"/>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Q3</a:t>
            </a:r>
          </a:p>
        </p:txBody>
      </p:sp>
      <p:sp>
        <p:nvSpPr>
          <p:cNvPr id="16" name="text">
            <a:extLst xmlns:a="http://schemas.openxmlformats.org/drawingml/2006/main">
              <a:ext uri="{FF2B5EF4-FFF2-40B4-BE49-F238E27FC236}">
                <a16:creationId xmlns:a16="http://schemas.microsoft.com/office/drawing/2014/main" id="{F24A1D4D-570E-4409-8CB4-9A083BAFF2CC}"/>
              </a:ext>
            </a:extLst>
          </p:cNvPr>
          <p:cNvSpPr>
            <a:spLocks xmlns:a="http://schemas.openxmlformats.org/drawingml/2006/main" noGrp="1"/>
          </p:cNvSpPr>
          <p:nvPr/>
        </p:nvSpPr>
        <p:spPr>
          <a:xfrm xmlns:a="http://schemas.openxmlformats.org/drawingml/2006/main">
            <a:off x="1524000" y="31051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2B84B"/>
                </a:solidFill>
                <a:latin typeface="Helvetica Neue"/>
                <a:ea typeface="Helvetica Neue"/>
                <a:cs typeface="Helvetica Neue"/>
              </a:defRPr>
            </a:pPr>
            <a:r>
              <a:rPr sz="1500" b="1">
                <a:solidFill>
                  <a:srgbClr val="F2B84B"/>
                </a:solidFill>
                <a:latin typeface="Helvetica Neue"/>
                <a:ea typeface="Helvetica Neue"/>
                <a:cs typeface="Helvetica Neue"/>
              </a:rPr>
              <a:t>bicycle 0.78</a:t>
            </a:r>
          </a:p>
        </p:txBody>
      </p:sp>
      <p:sp>
        <p:nvSpPr>
          <p:cNvPr id="17" name="text">
            <a:extLst xmlns:a="http://schemas.openxmlformats.org/drawingml/2006/main">
              <a:ext uri="{FF2B5EF4-FFF2-40B4-BE49-F238E27FC236}">
                <a16:creationId xmlns:a16="http://schemas.microsoft.com/office/drawing/2014/main" id="{891D19B6-6CC4-4D51-9891-02F1ACB0F288}"/>
              </a:ext>
            </a:extLst>
          </p:cNvPr>
          <p:cNvSpPr>
            <a:spLocks xmlns:a="http://schemas.openxmlformats.org/drawingml/2006/main" noGrp="1"/>
          </p:cNvSpPr>
          <p:nvPr/>
        </p:nvSpPr>
        <p:spPr>
          <a:xfrm xmlns:a="http://schemas.openxmlformats.org/drawingml/2006/main">
            <a:off x="3810000" y="31051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(0.70, 0.60, 0.30, 0.35)</a:t>
            </a:r>
          </a:p>
        </p:txBody>
      </p:sp>
      <p:sp>
        <p:nvSpPr>
          <p:cNvPr id="18" name="node">
            <a:extLst xmlns:a="http://schemas.openxmlformats.org/drawingml/2006/main">
              <a:ext uri="{FF2B5EF4-FFF2-40B4-BE49-F238E27FC236}">
                <a16:creationId xmlns:a16="http://schemas.microsoft.com/office/drawing/2014/main" id="{2C1F8D6E-67CF-4F4E-AB3B-68B83A387732}"/>
              </a:ext>
            </a:extLst>
          </p:cNvPr>
          <p:cNvSpPr>
            <a:spLocks xmlns:a="http://schemas.openxmlformats.org/drawingml/2006/main" noGrp="1"/>
          </p:cNvSpPr>
          <p:nvPr/>
        </p:nvSpPr>
        <p:spPr>
          <a:xfrm xmlns:a="http://schemas.openxmlformats.org/drawingml/2006/main">
            <a:off x="552450" y="3790950"/>
            <a:ext cx="742950" cy="476250"/>
          </a:xfrm>
          <a:prstGeom xmlns:a="http://schemas.openxmlformats.org/drawingml/2006/main" prst="roundRect">
            <a:avLst>
              <a:gd name="adj" fmla="val 16000"/>
            </a:avLst>
          </a:prstGeom>
          <a:solidFill xmlns:a="http://schemas.openxmlformats.org/drawingml/2006/main">
            <a:srgbClr val="EEF1F4"/>
          </a:solidFill>
          <a:ln xmlns:a="http://schemas.openxmlformats.org/drawingml/2006/main" w="19050">
            <a:solidFill>
              <a:srgbClr val="EF6A66"/>
            </a:solidFill>
            <a:prstDash val="solid"/>
          </a:ln>
        </p:spPr>
      </p:sp>
      <p:sp>
        <p:nvSpPr>
          <p:cNvPr id="19" name="node-label">
            <a:extLst xmlns:a="http://schemas.openxmlformats.org/drawingml/2006/main">
              <a:ext uri="{FF2B5EF4-FFF2-40B4-BE49-F238E27FC236}">
                <a16:creationId xmlns:a16="http://schemas.microsoft.com/office/drawing/2014/main" id="{48401DC6-80CA-434F-9B5A-A2BB4E4987C6}"/>
              </a:ext>
            </a:extLst>
          </p:cNvPr>
          <p:cNvSpPr>
            <a:spLocks xmlns:a="http://schemas.openxmlformats.org/drawingml/2006/main" noGrp="1"/>
          </p:cNvSpPr>
          <p:nvPr/>
        </p:nvSpPr>
        <p:spPr>
          <a:xfrm xmlns:a="http://schemas.openxmlformats.org/drawingml/2006/main">
            <a:off x="628650" y="3829050"/>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Q4</a:t>
            </a:r>
          </a:p>
        </p:txBody>
      </p:sp>
      <p:sp>
        <p:nvSpPr>
          <p:cNvPr id="20" name="text">
            <a:extLst xmlns:a="http://schemas.openxmlformats.org/drawingml/2006/main">
              <a:ext uri="{FF2B5EF4-FFF2-40B4-BE49-F238E27FC236}">
                <a16:creationId xmlns:a16="http://schemas.microsoft.com/office/drawing/2014/main" id="{272C6A11-8440-4A94-832A-3DA76D632F7E}"/>
              </a:ext>
            </a:extLst>
          </p:cNvPr>
          <p:cNvSpPr>
            <a:spLocks xmlns:a="http://schemas.openxmlformats.org/drawingml/2006/main" noGrp="1"/>
          </p:cNvSpPr>
          <p:nvPr/>
        </p:nvSpPr>
        <p:spPr>
          <a:xfrm xmlns:a="http://schemas.openxmlformats.org/drawingml/2006/main">
            <a:off x="1524000" y="37909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EF6A66"/>
                </a:solidFill>
                <a:latin typeface="Helvetica Neue"/>
                <a:ea typeface="Helvetica Neue"/>
                <a:cs typeface="Helvetica Neue"/>
              </a:defRPr>
            </a:pPr>
            <a:r>
              <a:rPr sz="1500" b="1">
                <a:solidFill>
                  <a:srgbClr val="EF6A66"/>
                </a:solidFill>
                <a:latin typeface="Helvetica Neue"/>
                <a:ea typeface="Helvetica Neue"/>
                <a:cs typeface="Helvetica Neue"/>
              </a:rPr>
              <a:t>dog 0.62</a:t>
            </a:r>
          </a:p>
        </p:txBody>
      </p:sp>
      <p:sp>
        <p:nvSpPr>
          <p:cNvPr id="21" name="text">
            <a:extLst xmlns:a="http://schemas.openxmlformats.org/drawingml/2006/main">
              <a:ext uri="{FF2B5EF4-FFF2-40B4-BE49-F238E27FC236}">
                <a16:creationId xmlns:a16="http://schemas.microsoft.com/office/drawing/2014/main" id="{87B2AA13-EAF3-4DB7-9A29-8FA10BAC9F98}"/>
              </a:ext>
            </a:extLst>
          </p:cNvPr>
          <p:cNvSpPr>
            <a:spLocks xmlns:a="http://schemas.openxmlformats.org/drawingml/2006/main" noGrp="1"/>
          </p:cNvSpPr>
          <p:nvPr/>
        </p:nvSpPr>
        <p:spPr>
          <a:xfrm xmlns:a="http://schemas.openxmlformats.org/drawingml/2006/main">
            <a:off x="3810000" y="37909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(0.45, 0.65, 0.18, 0.26)</a:t>
            </a:r>
          </a:p>
        </p:txBody>
      </p:sp>
      <p:sp>
        <p:nvSpPr>
          <p:cNvPr id="22" name="node">
            <a:extLst xmlns:a="http://schemas.openxmlformats.org/drawingml/2006/main">
              <a:ext uri="{FF2B5EF4-FFF2-40B4-BE49-F238E27FC236}">
                <a16:creationId xmlns:a16="http://schemas.microsoft.com/office/drawing/2014/main" id="{E2C23DA9-96D0-4537-9C97-1BEBE3AC3082}"/>
              </a:ext>
            </a:extLst>
          </p:cNvPr>
          <p:cNvSpPr>
            <a:spLocks xmlns:a="http://schemas.openxmlformats.org/drawingml/2006/main" noGrp="1"/>
          </p:cNvSpPr>
          <p:nvPr/>
        </p:nvSpPr>
        <p:spPr>
          <a:xfrm xmlns:a="http://schemas.openxmlformats.org/drawingml/2006/main">
            <a:off x="552450" y="4476750"/>
            <a:ext cx="742950" cy="476250"/>
          </a:xfrm>
          <a:prstGeom xmlns:a="http://schemas.openxmlformats.org/drawingml/2006/main" prst="roundRect">
            <a:avLst>
              <a:gd name="adj" fmla="val 16000"/>
            </a:avLst>
          </a:prstGeom>
          <a:solidFill xmlns:a="http://schemas.openxmlformats.org/drawingml/2006/main">
            <a:srgbClr val="EEF1F4"/>
          </a:solidFill>
          <a:ln xmlns:a="http://schemas.openxmlformats.org/drawingml/2006/main" w="19050">
            <a:solidFill>
              <a:srgbClr val="A7AFBA"/>
            </a:solidFill>
            <a:prstDash val="solid"/>
          </a:ln>
        </p:spPr>
      </p:sp>
      <p:sp>
        <p:nvSpPr>
          <p:cNvPr id="23" name="node-label">
            <a:extLst xmlns:a="http://schemas.openxmlformats.org/drawingml/2006/main">
              <a:ext uri="{FF2B5EF4-FFF2-40B4-BE49-F238E27FC236}">
                <a16:creationId xmlns:a16="http://schemas.microsoft.com/office/drawing/2014/main" id="{221E94D7-BDEB-4F83-9979-203FF8AE2B9D}"/>
              </a:ext>
            </a:extLst>
          </p:cNvPr>
          <p:cNvSpPr>
            <a:spLocks xmlns:a="http://schemas.openxmlformats.org/drawingml/2006/main" noGrp="1"/>
          </p:cNvSpPr>
          <p:nvPr/>
        </p:nvSpPr>
        <p:spPr>
          <a:xfrm xmlns:a="http://schemas.openxmlformats.org/drawingml/2006/main">
            <a:off x="628650" y="4514850"/>
            <a:ext cx="590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Q5</a:t>
            </a:r>
          </a:p>
        </p:txBody>
      </p:sp>
      <p:sp>
        <p:nvSpPr>
          <p:cNvPr id="24" name="text">
            <a:extLst xmlns:a="http://schemas.openxmlformats.org/drawingml/2006/main">
              <a:ext uri="{FF2B5EF4-FFF2-40B4-BE49-F238E27FC236}">
                <a16:creationId xmlns:a16="http://schemas.microsoft.com/office/drawing/2014/main" id="{CA7BCBE1-7E7D-488C-8836-F286F79AB33D}"/>
              </a:ext>
            </a:extLst>
          </p:cNvPr>
          <p:cNvSpPr>
            <a:spLocks xmlns:a="http://schemas.openxmlformats.org/drawingml/2006/main" noGrp="1"/>
          </p:cNvSpPr>
          <p:nvPr/>
        </p:nvSpPr>
        <p:spPr>
          <a:xfrm xmlns:a="http://schemas.openxmlformats.org/drawingml/2006/main">
            <a:off x="1524000" y="44767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A7AFBA"/>
                </a:solidFill>
                <a:latin typeface="Helvetica Neue"/>
                <a:ea typeface="Helvetica Neue"/>
                <a:cs typeface="Helvetica Neue"/>
              </a:defRPr>
            </a:pPr>
            <a:r>
              <a:rPr sz="1500" b="1">
                <a:solidFill>
                  <a:srgbClr val="A7AFBA"/>
                </a:solidFill>
                <a:latin typeface="Helvetica Neue"/>
                <a:ea typeface="Helvetica Neue"/>
                <a:cs typeface="Helvetica Neue"/>
              </a:rPr>
              <a:t>∅ 0.75</a:t>
            </a:r>
          </a:p>
        </p:txBody>
      </p:sp>
      <p:sp>
        <p:nvSpPr>
          <p:cNvPr id="25" name="text">
            <a:extLst xmlns:a="http://schemas.openxmlformats.org/drawingml/2006/main">
              <a:ext uri="{FF2B5EF4-FFF2-40B4-BE49-F238E27FC236}">
                <a16:creationId xmlns:a16="http://schemas.microsoft.com/office/drawing/2014/main" id="{B6953D4A-2212-4AEF-B3D9-FA013A289248}"/>
              </a:ext>
            </a:extLst>
          </p:cNvPr>
          <p:cNvSpPr>
            <a:spLocks xmlns:a="http://schemas.openxmlformats.org/drawingml/2006/main" noGrp="1"/>
          </p:cNvSpPr>
          <p:nvPr/>
        </p:nvSpPr>
        <p:spPr>
          <a:xfrm xmlns:a="http://schemas.openxmlformats.org/drawingml/2006/main">
            <a:off x="3810000" y="44767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(0.15, 0.20, 0.10, 0.10)</a:t>
            </a:r>
          </a:p>
        </p:txBody>
      </p:sp>
      <p:sp>
        <p:nvSpPr>
          <p:cNvPr id="26" name="box">
            <a:extLst xmlns:a="http://schemas.openxmlformats.org/drawingml/2006/main">
              <a:ext uri="{FF2B5EF4-FFF2-40B4-BE49-F238E27FC236}">
                <a16:creationId xmlns:a16="http://schemas.microsoft.com/office/drawing/2014/main" id="{D6EBEC9E-3707-42E1-85D0-AAA10F6DAE63}"/>
              </a:ext>
            </a:extLst>
          </p:cNvPr>
          <p:cNvSpPr>
            <a:spLocks xmlns:a="http://schemas.openxmlformats.org/drawingml/2006/main" noGrp="1"/>
          </p:cNvSpPr>
          <p:nvPr/>
        </p:nvSpPr>
        <p:spPr>
          <a:xfrm xmlns:a="http://schemas.openxmlformats.org/drawingml/2006/main">
            <a:off x="7448550" y="1676400"/>
            <a:ext cx="4000500" cy="3371850"/>
          </a:xfrm>
          <a:prstGeom xmlns:a="http://schemas.openxmlformats.org/drawingml/2006/main" prst="roundRect">
            <a:avLst>
              <a:gd name="adj" fmla="val 2260"/>
            </a:avLst>
          </a:prstGeom>
          <a:solidFill xmlns:a="http://schemas.openxmlformats.org/drawingml/2006/main">
            <a:srgbClr val="EEF1F4"/>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BB1EA86C-19CC-4669-A3BA-15D8EACBE73C}"/>
              </a:ext>
            </a:extLst>
          </p:cNvPr>
          <p:cNvSpPr>
            <a:spLocks xmlns:a="http://schemas.openxmlformats.org/drawingml/2006/main" noGrp="1"/>
          </p:cNvSpPr>
          <p:nvPr/>
        </p:nvSpPr>
        <p:spPr>
          <a:xfrm xmlns:a="http://schemas.openxmlformats.org/drawingml/2006/main">
            <a:off x="7734300" y="18859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EF6A66"/>
                </a:solidFill>
                <a:latin typeface="Helvetica Neue"/>
                <a:ea typeface="Helvetica Neue"/>
                <a:cs typeface="Helvetica Neue"/>
              </a:defRPr>
            </a:pPr>
            <a:r>
              <a:rPr sz="1725" b="1">
                <a:solidFill>
                  <a:srgbClr val="EF6A66"/>
                </a:solidFill>
                <a:latin typeface="Helvetica Neue"/>
                <a:ea typeface="Helvetica Neue"/>
                <a:cs typeface="Helvetica Neue"/>
              </a:rPr>
              <a:t>No responsibility yet</a:t>
            </a:r>
          </a:p>
        </p:txBody>
      </p:sp>
      <p:sp>
        <p:nvSpPr>
          <p:cNvPr id="28" name="text">
            <a:extLst xmlns:a="http://schemas.openxmlformats.org/drawingml/2006/main">
              <a:ext uri="{FF2B5EF4-FFF2-40B4-BE49-F238E27FC236}">
                <a16:creationId xmlns:a16="http://schemas.microsoft.com/office/drawing/2014/main" id="{2340B273-B57F-45A0-88AA-E296D4B13337}"/>
              </a:ext>
            </a:extLst>
          </p:cNvPr>
          <p:cNvSpPr>
            <a:spLocks xmlns:a="http://schemas.openxmlformats.org/drawingml/2006/main" noGrp="1"/>
          </p:cNvSpPr>
          <p:nvPr/>
        </p:nvSpPr>
        <p:spPr>
          <a:xfrm xmlns:a="http://schemas.openxmlformats.org/drawingml/2006/main">
            <a:off x="7848600" y="2457450"/>
            <a:ext cx="32004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111318"/>
                </a:solidFill>
                <a:latin typeface="Helvetica Neue"/>
                <a:ea typeface="Helvetica Neue"/>
                <a:cs typeface="Helvetica Neue"/>
              </a:defRPr>
            </a:pPr>
            <a:r>
              <a:rPr sz="1575" b="0">
                <a:solidFill>
                  <a:srgbClr val="111318"/>
                </a:solidFill>
                <a:latin typeface="Helvetica Neue"/>
                <a:ea typeface="Helvetica Neue"/>
                <a:cs typeface="Helvetica Neue"/>
              </a:rPr>
              <a:t>Q2 and Q4 both look like dog.</a:t>
            </a:r>
          </a:p>
          <a:p xmlns:a="http://schemas.openxmlformats.org/drawingml/2006/main">
            <a:pPr algn="ctr">
              <a:defRPr sz="1575" b="0">
                <a:solidFill>
                  <a:srgbClr val="111318"/>
                </a:solidFill>
                <a:latin typeface="Helvetica Neue"/>
                <a:ea typeface="Helvetica Neue"/>
                <a:cs typeface="Helvetica Neue"/>
              </a:defRPr>
            </a:pPr>
            <a:r>
              <a:rPr sz="1575" b="0">
                <a:solidFill>
                  <a:srgbClr val="111318"/>
                </a:solidFill>
                <a:latin typeface="Helvetica Neue"/>
                <a:ea typeface="Helvetica Neue"/>
                <a:cs typeface="Helvetica Neue"/>
              </a:rPr>
              <a:t>Only one may own the dog target.</a:t>
            </a:r>
          </a:p>
          <a:p xmlns:a="http://schemas.openxmlformats.org/drawingml/2006/main">
            <a:r>
              <a:t/>
            </a:r>
          </a:p>
          <a:p xmlns:a="http://schemas.openxmlformats.org/drawingml/2006/main">
            <a:pPr algn="ctr">
              <a:defRPr sz="1575" b="0">
                <a:solidFill>
                  <a:srgbClr val="111318"/>
                </a:solidFill>
                <a:latin typeface="Helvetica Neue"/>
                <a:ea typeface="Helvetica Neue"/>
                <a:cs typeface="Helvetica Neue"/>
              </a:defRPr>
            </a:pPr>
            <a:r>
              <a:rPr sz="1575" b="0">
                <a:solidFill>
                  <a:srgbClr val="111318"/>
                </a:solidFill>
                <a:latin typeface="Helvetica Neue"/>
                <a:ea typeface="Helvetica Neue"/>
                <a:cs typeface="Helvetica Neue"/>
              </a:rPr>
              <a:t>The choice must consider all three</a:t>
            </a:r>
          </a:p>
          <a:p xmlns:a="http://schemas.openxmlformats.org/drawingml/2006/main">
            <a:pPr algn="ctr">
              <a:defRPr sz="1575" b="0">
                <a:solidFill>
                  <a:srgbClr val="111318"/>
                </a:solidFill>
                <a:latin typeface="Helvetica Neue"/>
                <a:ea typeface="Helvetica Neue"/>
                <a:cs typeface="Helvetica Neue"/>
              </a:defRPr>
            </a:pPr>
            <a:r>
              <a:rPr sz="1575" b="0">
                <a:solidFill>
                  <a:srgbClr val="111318"/>
                </a:solidFill>
                <a:latin typeface="Helvetica Neue"/>
                <a:ea typeface="Helvetica Neue"/>
                <a:cs typeface="Helvetica Neue"/>
              </a:rPr>
              <a:t>targets together—not greedily.</a:t>
            </a:r>
          </a:p>
        </p:txBody>
      </p:sp>
      <p:sp>
        <p:nvSpPr>
          <p:cNvPr id="29" name="box">
            <a:extLst xmlns:a="http://schemas.openxmlformats.org/drawingml/2006/main">
              <a:ext uri="{FF2B5EF4-FFF2-40B4-BE49-F238E27FC236}">
                <a16:creationId xmlns:a16="http://schemas.microsoft.com/office/drawing/2014/main" id="{186A4191-96AC-4189-B7AE-CCBC7A4B1687}"/>
              </a:ext>
            </a:extLst>
          </p:cNvPr>
          <p:cNvSpPr>
            <a:spLocks xmlns:a="http://schemas.openxmlformats.org/drawingml/2006/main" noGrp="1"/>
          </p:cNvSpPr>
          <p:nvPr/>
        </p:nvSpPr>
        <p:spPr>
          <a:xfrm xmlns:a="http://schemas.openxmlformats.org/drawingml/2006/main">
            <a:off x="7905750" y="4400550"/>
            <a:ext cx="3086100" cy="476250"/>
          </a:xfrm>
          <a:prstGeom xmlns:a="http://schemas.openxmlformats.org/drawingml/2006/main" prst="roundRect">
            <a:avLst>
              <a:gd name="adj" fmla="val 16000"/>
            </a:avLst>
          </a:prstGeom>
          <a:solidFill xmlns:a="http://schemas.openxmlformats.org/drawingml/2006/main">
            <a:srgbClr val="D9F1FC"/>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19560F0D-11AC-49CA-93E8-53489B6EE1A5}"/>
              </a:ext>
            </a:extLst>
          </p:cNvPr>
          <p:cNvSpPr>
            <a:spLocks xmlns:a="http://schemas.openxmlformats.org/drawingml/2006/main" noGrp="1"/>
          </p:cNvSpPr>
          <p:nvPr/>
        </p:nvSpPr>
        <p:spPr>
          <a:xfrm xmlns:a="http://schemas.openxmlformats.org/drawingml/2006/main">
            <a:off x="8077200" y="4476750"/>
            <a:ext cx="274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Build a query × target cost matrix.</a:t>
            </a:r>
          </a:p>
        </p:txBody>
      </p:sp>
    </p:spTree>
    <p:extLst>
      <p:ext uri="{BB962C8B-B14F-4D97-AF65-F5344CB8AC3E}">
        <p14:creationId xmlns:p14="http://schemas.microsoft.com/office/powerpoint/2010/main" val="19315868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C4830BB4-8E89-466D-92AE-D1ED3924BFF0}"/>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44D805FC-9AC2-4430-A486-345E8583A1BD}"/>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What assignment does the paper optimize?</a:t>
            </a:r>
          </a:p>
        </p:txBody>
      </p:sp>
      <p:sp>
        <p:nvSpPr>
          <p:cNvPr id="3" name="text">
            <a:extLst xmlns:a="http://schemas.openxmlformats.org/drawingml/2006/main">
              <a:ext uri="{FF2B5EF4-FFF2-40B4-BE49-F238E27FC236}">
                <a16:creationId xmlns:a16="http://schemas.microsoft.com/office/drawing/2014/main" id="{9833BA4D-48BA-4551-BD0D-F8DF1E92F881}"/>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PAPER EQUATION • SOURCE</a:t>
            </a:r>
          </a:p>
        </p:txBody>
      </p:sp>
      <p:sp>
        <p:nvSpPr>
          <p:cNvPr id="4" name="text">
            <a:extLst xmlns:a="http://schemas.openxmlformats.org/drawingml/2006/main">
              <a:ext uri="{FF2B5EF4-FFF2-40B4-BE49-F238E27FC236}">
                <a16:creationId xmlns:a16="http://schemas.microsoft.com/office/drawing/2014/main" id="{D3C4BCB2-C453-4E33-B596-E9FB8BD28F16}"/>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16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320b3d0a6524985"/>
          <a:stretch xmlns:a="http://schemas.openxmlformats.org/drawingml/2006/main"/>
        </p:blipFill>
        <p:spPr>
          <a:xfrm xmlns:a="http://schemas.openxmlformats.org/drawingml/2006/main">
            <a:off x="930672" y="1524000"/>
            <a:ext cx="10330656" cy="1809750"/>
          </a:xfrm>
          <a:prstGeom xmlns:a="http://schemas.openxmlformats.org/drawingml/2006/main" prst="rect">
            <a:avLst/>
          </a:prstGeom>
        </p:spPr>
      </p:pic>
      <p:sp>
        <p:nvSpPr>
          <p:cNvPr id="6" name="paper-citation">
            <a:extLst xmlns:a="http://schemas.openxmlformats.org/drawingml/2006/main">
              <a:ext uri="{FF2B5EF4-FFF2-40B4-BE49-F238E27FC236}">
                <a16:creationId xmlns:a16="http://schemas.microsoft.com/office/drawing/2014/main" id="{3A1D469B-B9F5-4244-9DEA-60A943173C13}"/>
              </a:ext>
            </a:extLst>
          </p:cNvPr>
          <p:cNvSpPr>
            <a:spLocks xmlns:a="http://schemas.openxmlformats.org/drawingml/2006/main" noGrp="1"/>
          </p:cNvSpPr>
          <p:nvPr/>
        </p:nvSpPr>
        <p:spPr>
          <a:xfrm xmlns:a="http://schemas.openxmlformats.org/drawingml/2006/main">
            <a:off x="609600" y="35433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Source: Carion et al., “End-to-End Object Detection with Transformers,” ECCV 2020, Eq. (1).</a:t>
            </a:r>
          </a:p>
        </p:txBody>
      </p:sp>
      <p:sp>
        <p:nvSpPr>
          <p:cNvPr id="7" name="text">
            <a:extLst xmlns:a="http://schemas.openxmlformats.org/drawingml/2006/main">
              <a:ext uri="{FF2B5EF4-FFF2-40B4-BE49-F238E27FC236}">
                <a16:creationId xmlns:a16="http://schemas.microsoft.com/office/drawing/2014/main" id="{4AD934C1-B428-4DA1-B78A-CFE6FE169187}"/>
              </a:ext>
            </a:extLst>
          </p:cNvPr>
          <p:cNvSpPr>
            <a:spLocks xmlns:a="http://schemas.openxmlformats.org/drawingml/2006/main" noGrp="1"/>
          </p:cNvSpPr>
          <p:nvPr/>
        </p:nvSpPr>
        <p:spPr>
          <a:xfrm xmlns:a="http://schemas.openxmlformats.org/drawingml/2006/main">
            <a:off x="1085850" y="424815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EF6A66"/>
                </a:solidFill>
                <a:latin typeface="Helvetica Neue"/>
                <a:ea typeface="Helvetica Neue"/>
                <a:cs typeface="Helvetica Neue"/>
              </a:defRPr>
            </a:pPr>
            <a:r>
              <a:rPr sz="2550" b="1">
                <a:solidFill>
                  <a:srgbClr val="EF6A66"/>
                </a:solidFill>
                <a:latin typeface="Helvetica Neue"/>
                <a:ea typeface="Helvetica Neue"/>
                <a:cs typeface="Helvetica Neue"/>
              </a:rPr>
              <a:t>σ̂</a:t>
            </a:r>
          </a:p>
        </p:txBody>
      </p:sp>
      <p:sp>
        <p:nvSpPr>
          <p:cNvPr id="8" name="text">
            <a:extLst xmlns:a="http://schemas.openxmlformats.org/drawingml/2006/main">
              <a:ext uri="{FF2B5EF4-FFF2-40B4-BE49-F238E27FC236}">
                <a16:creationId xmlns:a16="http://schemas.microsoft.com/office/drawing/2014/main" id="{75B1D31D-5AC4-4B5E-BC7D-89B908673419}"/>
              </a:ext>
            </a:extLst>
          </p:cNvPr>
          <p:cNvSpPr>
            <a:spLocks xmlns:a="http://schemas.openxmlformats.org/drawingml/2006/main" noGrp="1"/>
          </p:cNvSpPr>
          <p:nvPr/>
        </p:nvSpPr>
        <p:spPr>
          <a:xfrm xmlns:a="http://schemas.openxmlformats.org/drawingml/2006/main">
            <a:off x="1943100" y="42481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11318"/>
                </a:solidFill>
                <a:latin typeface="Helvetica Neue"/>
                <a:ea typeface="Helvetica Neue"/>
                <a:cs typeface="Helvetica Neue"/>
              </a:defRPr>
            </a:pPr>
            <a:r>
              <a:rPr sz="1575" b="0">
                <a:solidFill>
                  <a:srgbClr val="111318"/>
                </a:solidFill>
                <a:latin typeface="Helvetica Neue"/>
                <a:ea typeface="Helvetica Neue"/>
                <a:cs typeface="Helvetica Neue"/>
              </a:rPr>
              <a:t>the chosen permutation</a:t>
            </a:r>
          </a:p>
        </p:txBody>
      </p:sp>
      <p:sp>
        <p:nvSpPr>
          <p:cNvPr id="9" name="text">
            <a:extLst xmlns:a="http://schemas.openxmlformats.org/drawingml/2006/main">
              <a:ext uri="{FF2B5EF4-FFF2-40B4-BE49-F238E27FC236}">
                <a16:creationId xmlns:a16="http://schemas.microsoft.com/office/drawing/2014/main" id="{BEA635AF-A9E5-4132-BDB7-56347562922B}"/>
              </a:ext>
            </a:extLst>
          </p:cNvPr>
          <p:cNvSpPr>
            <a:spLocks xmlns:a="http://schemas.openxmlformats.org/drawingml/2006/main" noGrp="1"/>
          </p:cNvSpPr>
          <p:nvPr/>
        </p:nvSpPr>
        <p:spPr>
          <a:xfrm xmlns:a="http://schemas.openxmlformats.org/drawingml/2006/main">
            <a:off x="5219700" y="424815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3D8DFF"/>
                </a:solidFill>
                <a:latin typeface="Helvetica Neue"/>
                <a:ea typeface="Helvetica Neue"/>
                <a:cs typeface="Helvetica Neue"/>
              </a:defRPr>
            </a:pPr>
            <a:r>
              <a:rPr sz="2550" b="1">
                <a:solidFill>
                  <a:srgbClr val="3D8DFF"/>
                </a:solidFill>
                <a:latin typeface="Helvetica Neue"/>
                <a:ea typeface="Helvetica Neue"/>
                <a:cs typeface="Helvetica Neue"/>
              </a:rPr>
              <a:t>Σ</a:t>
            </a:r>
          </a:p>
        </p:txBody>
      </p:sp>
      <p:sp>
        <p:nvSpPr>
          <p:cNvPr id="10" name="text">
            <a:extLst xmlns:a="http://schemas.openxmlformats.org/drawingml/2006/main">
              <a:ext uri="{FF2B5EF4-FFF2-40B4-BE49-F238E27FC236}">
                <a16:creationId xmlns:a16="http://schemas.microsoft.com/office/drawing/2014/main" id="{0303DFF6-D250-4AB3-95E4-1F19C0DD86A1}"/>
              </a:ext>
            </a:extLst>
          </p:cNvPr>
          <p:cNvSpPr>
            <a:spLocks xmlns:a="http://schemas.openxmlformats.org/drawingml/2006/main" noGrp="1"/>
          </p:cNvSpPr>
          <p:nvPr/>
        </p:nvSpPr>
        <p:spPr>
          <a:xfrm xmlns:a="http://schemas.openxmlformats.org/drawingml/2006/main">
            <a:off x="6076950" y="424815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111318"/>
                </a:solidFill>
                <a:latin typeface="Helvetica Neue"/>
                <a:ea typeface="Helvetica Neue"/>
                <a:cs typeface="Helvetica Neue"/>
              </a:defRPr>
            </a:pPr>
            <a:r>
              <a:rPr sz="1575" b="0">
                <a:solidFill>
                  <a:srgbClr val="111318"/>
                </a:solidFill>
                <a:latin typeface="Helvetica Neue"/>
                <a:ea typeface="Helvetica Neue"/>
                <a:cs typeface="Helvetica Neue"/>
              </a:rPr>
              <a:t>total cost across all targets</a:t>
            </a:r>
          </a:p>
        </p:txBody>
      </p:sp>
      <p:sp>
        <p:nvSpPr>
          <p:cNvPr id="11" name="box">
            <a:extLst xmlns:a="http://schemas.openxmlformats.org/drawingml/2006/main">
              <a:ext uri="{FF2B5EF4-FFF2-40B4-BE49-F238E27FC236}">
                <a16:creationId xmlns:a16="http://schemas.microsoft.com/office/drawing/2014/main" id="{82211BF7-A594-436E-8249-FDC4F1E329F5}"/>
              </a:ext>
            </a:extLst>
          </p:cNvPr>
          <p:cNvSpPr>
            <a:spLocks xmlns:a="http://schemas.openxmlformats.org/drawingml/2006/main" noGrp="1"/>
          </p:cNvSpPr>
          <p:nvPr/>
        </p:nvSpPr>
        <p:spPr>
          <a:xfrm xmlns:a="http://schemas.openxmlformats.org/drawingml/2006/main">
            <a:off x="1352550" y="5219700"/>
            <a:ext cx="9486900" cy="590550"/>
          </a:xfrm>
          <a:prstGeom xmlns:a="http://schemas.openxmlformats.org/drawingml/2006/main" prst="roundRect">
            <a:avLst>
              <a:gd name="adj" fmla="val 12903"/>
            </a:avLst>
          </a:prstGeom>
          <a:solidFill xmlns:a="http://schemas.openxmlformats.org/drawingml/2006/main">
            <a:srgbClr val="EEF1F4"/>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5A196D21-08D8-4851-8657-5051620EA179}"/>
              </a:ext>
            </a:extLst>
          </p:cNvPr>
          <p:cNvSpPr>
            <a:spLocks xmlns:a="http://schemas.openxmlformats.org/drawingml/2006/main" noGrp="1"/>
          </p:cNvSpPr>
          <p:nvPr/>
        </p:nvSpPr>
        <p:spPr>
          <a:xfrm xmlns:a="http://schemas.openxmlformats.org/drawingml/2006/main">
            <a:off x="1524000" y="5295900"/>
            <a:ext cx="914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Hungarian matching finds the one-to-one assignment with the lowest total pairwise cost.</a:t>
            </a:r>
          </a:p>
        </p:txBody>
      </p:sp>
    </p:spTree>
    <p:extLst>
      <p:ext uri="{BB962C8B-B14F-4D97-AF65-F5344CB8AC3E}">
        <p14:creationId xmlns:p14="http://schemas.microsoft.com/office/powerpoint/2010/main" val="17225757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D1A383F5-3741-45A1-8A9B-29EC1488DFB3}"/>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87F81DEC-1851-482A-942D-12FF6C3E227E}"/>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How should we read Equation (1)?</a:t>
            </a:r>
          </a:p>
        </p:txBody>
      </p:sp>
      <p:sp>
        <p:nvSpPr>
          <p:cNvPr id="3" name="text">
            <a:extLst xmlns:a="http://schemas.openxmlformats.org/drawingml/2006/main">
              <a:ext uri="{FF2B5EF4-FFF2-40B4-BE49-F238E27FC236}">
                <a16:creationId xmlns:a16="http://schemas.microsoft.com/office/drawing/2014/main" id="{B1F2C84C-560D-465E-BEDB-89EE9EB6408D}"/>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4 • OPTIMAL ASSIGNMENT</a:t>
            </a:r>
          </a:p>
        </p:txBody>
      </p:sp>
      <p:sp>
        <p:nvSpPr>
          <p:cNvPr id="4" name="text">
            <a:extLst xmlns:a="http://schemas.openxmlformats.org/drawingml/2006/main">
              <a:ext uri="{FF2B5EF4-FFF2-40B4-BE49-F238E27FC236}">
                <a16:creationId xmlns:a16="http://schemas.microsoft.com/office/drawing/2014/main" id="{71EDD31A-0CBD-43B7-8AA2-8F9B447A3ECC}"/>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17</a:t>
            </a:r>
          </a:p>
        </p:txBody>
      </p:sp>
      <p:sp>
        <p:nvSpPr>
          <p:cNvPr id="5" name="math-region">
            <a:extLst xmlns:a="http://schemas.openxmlformats.org/drawingml/2006/main">
              <a:ext uri="{FF2B5EF4-FFF2-40B4-BE49-F238E27FC236}">
                <a16:creationId xmlns:a16="http://schemas.microsoft.com/office/drawing/2014/main" id="{AE24E284-0E46-4607-A1D1-FD469785766B}"/>
              </a:ext>
            </a:extLst>
          </p:cNvPr>
          <p:cNvSpPr>
            <a:spLocks xmlns:a="http://schemas.openxmlformats.org/drawingml/2006/main" noGrp="1"/>
          </p:cNvSpPr>
          <p:nvPr/>
        </p:nvSpPr>
        <p:spPr>
          <a:xfrm xmlns:a="http://schemas.openxmlformats.org/drawingml/2006/main">
            <a:off x="609600" y="1619250"/>
            <a:ext cx="10972800" cy="1428750"/>
          </a:xfrm>
          <a:prstGeom xmlns:a="http://schemas.openxmlformats.org/drawingml/2006/main" prst="roundRect">
            <a:avLst>
              <a:gd name="adj" fmla="val 5333"/>
            </a:avLst>
          </a:prstGeom>
          <a:solidFill xmlns:a="http://schemas.openxmlformats.org/drawingml/2006/main">
            <a:srgbClr val="FDE7E5"/>
          </a:solidFill>
          <a:ln xmlns:a="http://schemas.openxmlformats.org/drawingml/2006/main" w="19050">
            <a:solidFill>
              <a:srgbClr val="EF6A66"/>
            </a:solidFill>
            <a:prstDash val="solid"/>
          </a:ln>
        </p:spPr>
      </p:sp>
      <p:sp>
        <p:nvSpPr>
          <p:cNvPr id="6" name="math-fallback-eq1">
            <a:extLst xmlns:a="http://schemas.openxmlformats.org/drawingml/2006/main">
              <a:ext uri="{FF2B5EF4-FFF2-40B4-BE49-F238E27FC236}">
                <a16:creationId xmlns:a16="http://schemas.microsoft.com/office/drawing/2014/main" id="{20D1FBE7-5CB0-4BAA-B487-A73C3B3F972D}"/>
              </a:ext>
            </a:extLst>
          </p:cNvPr>
          <p:cNvSpPr>
            <a:spLocks xmlns:a="http://schemas.openxmlformats.org/drawingml/2006/main" noGrp="1"/>
          </p:cNvSpPr>
          <p:nvPr/>
        </p:nvSpPr>
        <p:spPr>
          <a:xfrm xmlns:a="http://schemas.openxmlformats.org/drawingml/2006/main">
            <a:off x="876300" y="1828800"/>
            <a:ext cx="104394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111318"/>
                </a:solidFill>
                <a:latin typeface="Helvetica Neue"/>
                <a:ea typeface="Helvetica Neue"/>
                <a:cs typeface="Helvetica Neue"/>
              </a:defRPr>
            </a:pPr>
            <a:r>
              <a:rPr sz="2325" b="1">
                <a:solidFill>
                  <a:srgbClr val="111318"/>
                </a:solidFill>
                <a:latin typeface="Helvetica Neue"/>
                <a:ea typeface="Helvetica Neue"/>
                <a:cs typeface="Helvetica Neue"/>
              </a:rPr>
              <a:t>σ̂ = arg minσ∈SN Σᵢ Lmatch(yᵢ, ŷσ(i))</a:t>
            </a:r>
          </a:p>
        </p:txBody>
      </p:sp>
      <p:sp>
        <p:nvSpPr>
          <p:cNvPr id="7" name="paper-citation">
            <a:extLst xmlns:a="http://schemas.openxmlformats.org/drawingml/2006/main">
              <a:ext uri="{FF2B5EF4-FFF2-40B4-BE49-F238E27FC236}">
                <a16:creationId xmlns:a16="http://schemas.microsoft.com/office/drawing/2014/main" id="{B7845BAE-A573-48F1-9CA6-7D3B528338C4}"/>
              </a:ext>
            </a:extLst>
          </p:cNvPr>
          <p:cNvSpPr>
            <a:spLocks xmlns:a="http://schemas.openxmlformats.org/drawingml/2006/main" noGrp="1"/>
          </p:cNvSpPr>
          <p:nvPr/>
        </p:nvSpPr>
        <p:spPr>
          <a:xfrm xmlns:a="http://schemas.openxmlformats.org/drawingml/2006/main">
            <a:off x="609600" y="32194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Reproduced from Carion et al., ECCV 2020, Eq. (1).</a:t>
            </a:r>
          </a:p>
        </p:txBody>
      </p:sp>
      <p:sp>
        <p:nvSpPr>
          <p:cNvPr id="8" name="node">
            <a:extLst xmlns:a="http://schemas.openxmlformats.org/drawingml/2006/main">
              <a:ext uri="{FF2B5EF4-FFF2-40B4-BE49-F238E27FC236}">
                <a16:creationId xmlns:a16="http://schemas.microsoft.com/office/drawing/2014/main" id="{97577C4B-9994-401E-8585-7116A07E1BF2}"/>
              </a:ext>
            </a:extLst>
          </p:cNvPr>
          <p:cNvSpPr>
            <a:spLocks xmlns:a="http://schemas.openxmlformats.org/drawingml/2006/main" noGrp="1"/>
          </p:cNvSpPr>
          <p:nvPr/>
        </p:nvSpPr>
        <p:spPr>
          <a:xfrm xmlns:a="http://schemas.openxmlformats.org/drawingml/2006/main">
            <a:off x="819150" y="4095750"/>
            <a:ext cx="2724150" cy="876300"/>
          </a:xfrm>
          <a:prstGeom xmlns:a="http://schemas.openxmlformats.org/drawingml/2006/main" prst="roundRect">
            <a:avLst>
              <a:gd name="adj" fmla="val 8696"/>
            </a:avLst>
          </a:prstGeom>
          <a:solidFill xmlns:a="http://schemas.openxmlformats.org/drawingml/2006/main">
            <a:srgbClr val="EEF1F4"/>
          </a:solidFill>
          <a:ln xmlns:a="http://schemas.openxmlformats.org/drawingml/2006/main" w="19050">
            <a:solidFill>
              <a:srgbClr val="BCC3CC"/>
            </a:solidFill>
            <a:prstDash val="solid"/>
          </a:ln>
        </p:spPr>
      </p:sp>
      <p:sp>
        <p:nvSpPr>
          <p:cNvPr id="9" name="node-label">
            <a:extLst xmlns:a="http://schemas.openxmlformats.org/drawingml/2006/main">
              <a:ext uri="{FF2B5EF4-FFF2-40B4-BE49-F238E27FC236}">
                <a16:creationId xmlns:a16="http://schemas.microsoft.com/office/drawing/2014/main" id="{161C7D7E-A35E-493E-8985-E1D96A2C1220}"/>
              </a:ext>
            </a:extLst>
          </p:cNvPr>
          <p:cNvSpPr>
            <a:spLocks xmlns:a="http://schemas.openxmlformats.org/drawingml/2006/main" noGrp="1"/>
          </p:cNvSpPr>
          <p:nvPr/>
        </p:nvSpPr>
        <p:spPr>
          <a:xfrm xmlns:a="http://schemas.openxmlformats.org/drawingml/2006/main">
            <a:off x="895350" y="4133850"/>
            <a:ext cx="2571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try a one-to-one</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permutation σ</a:t>
            </a:r>
          </a:p>
        </p:txBody>
      </p:sp>
      <p:sp>
        <p:nvSpPr>
          <p:cNvPr id="10" name="arrow">
            <a:extLst xmlns:a="http://schemas.openxmlformats.org/drawingml/2006/main">
              <a:ext uri="{FF2B5EF4-FFF2-40B4-BE49-F238E27FC236}">
                <a16:creationId xmlns:a16="http://schemas.microsoft.com/office/drawing/2014/main" id="{2C042F9A-F601-4F9F-98DF-A564C764AC59}"/>
              </a:ext>
            </a:extLst>
          </p:cNvPr>
          <p:cNvSpPr>
            <a:spLocks xmlns:a="http://schemas.openxmlformats.org/drawingml/2006/main" noGrp="1"/>
          </p:cNvSpPr>
          <p:nvPr/>
        </p:nvSpPr>
        <p:spPr>
          <a:xfrm xmlns:a="http://schemas.openxmlformats.org/drawingml/2006/main">
            <a:off x="3657600" y="43624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11" name="node">
            <a:extLst xmlns:a="http://schemas.openxmlformats.org/drawingml/2006/main">
              <a:ext uri="{FF2B5EF4-FFF2-40B4-BE49-F238E27FC236}">
                <a16:creationId xmlns:a16="http://schemas.microsoft.com/office/drawing/2014/main" id="{DC1C5A91-0D6F-4EE6-BD6A-0D8B90A02C4A}"/>
              </a:ext>
            </a:extLst>
          </p:cNvPr>
          <p:cNvSpPr>
            <a:spLocks xmlns:a="http://schemas.openxmlformats.org/drawingml/2006/main" noGrp="1"/>
          </p:cNvSpPr>
          <p:nvPr/>
        </p:nvSpPr>
        <p:spPr>
          <a:xfrm xmlns:a="http://schemas.openxmlformats.org/drawingml/2006/main">
            <a:off x="4476750" y="4095750"/>
            <a:ext cx="2724150" cy="876300"/>
          </a:xfrm>
          <a:prstGeom xmlns:a="http://schemas.openxmlformats.org/drawingml/2006/main" prst="roundRect">
            <a:avLst>
              <a:gd name="adj" fmla="val 8696"/>
            </a:avLst>
          </a:prstGeom>
          <a:solidFill xmlns:a="http://schemas.openxmlformats.org/drawingml/2006/main">
            <a:srgbClr val="D9F1FC"/>
          </a:solidFill>
          <a:ln xmlns:a="http://schemas.openxmlformats.org/drawingml/2006/main" w="19050">
            <a:solidFill>
              <a:srgbClr val="3D8DFF"/>
            </a:solidFill>
            <a:prstDash val="solid"/>
          </a:ln>
        </p:spPr>
      </p:sp>
      <p:sp>
        <p:nvSpPr>
          <p:cNvPr id="12" name="node-label">
            <a:extLst xmlns:a="http://schemas.openxmlformats.org/drawingml/2006/main">
              <a:ext uri="{FF2B5EF4-FFF2-40B4-BE49-F238E27FC236}">
                <a16:creationId xmlns:a16="http://schemas.microsoft.com/office/drawing/2014/main" id="{B2343BF2-5651-4F82-9039-62ACC3A1CCCE}"/>
              </a:ext>
            </a:extLst>
          </p:cNvPr>
          <p:cNvSpPr>
            <a:spLocks xmlns:a="http://schemas.openxmlformats.org/drawingml/2006/main" noGrp="1"/>
          </p:cNvSpPr>
          <p:nvPr/>
        </p:nvSpPr>
        <p:spPr>
          <a:xfrm xmlns:a="http://schemas.openxmlformats.org/drawingml/2006/main">
            <a:off x="4552950" y="4133850"/>
            <a:ext cx="2571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sum every selected</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pairwise cost</a:t>
            </a:r>
          </a:p>
        </p:txBody>
      </p:sp>
      <p:sp>
        <p:nvSpPr>
          <p:cNvPr id="13" name="arrow">
            <a:extLst xmlns:a="http://schemas.openxmlformats.org/drawingml/2006/main">
              <a:ext uri="{FF2B5EF4-FFF2-40B4-BE49-F238E27FC236}">
                <a16:creationId xmlns:a16="http://schemas.microsoft.com/office/drawing/2014/main" id="{9B58A85A-6FCB-481E-A9E1-F4A9A0BBDE4D}"/>
              </a:ext>
            </a:extLst>
          </p:cNvPr>
          <p:cNvSpPr>
            <a:spLocks xmlns:a="http://schemas.openxmlformats.org/drawingml/2006/main" noGrp="1"/>
          </p:cNvSpPr>
          <p:nvPr/>
        </p:nvSpPr>
        <p:spPr>
          <a:xfrm xmlns:a="http://schemas.openxmlformats.org/drawingml/2006/main">
            <a:off x="7315200" y="43624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14" name="node">
            <a:extLst xmlns:a="http://schemas.openxmlformats.org/drawingml/2006/main">
              <a:ext uri="{FF2B5EF4-FFF2-40B4-BE49-F238E27FC236}">
                <a16:creationId xmlns:a16="http://schemas.microsoft.com/office/drawing/2014/main" id="{C5624C96-A785-4235-92BA-AD7E303BEF65}"/>
              </a:ext>
            </a:extLst>
          </p:cNvPr>
          <p:cNvSpPr>
            <a:spLocks xmlns:a="http://schemas.openxmlformats.org/drawingml/2006/main" noGrp="1"/>
          </p:cNvSpPr>
          <p:nvPr/>
        </p:nvSpPr>
        <p:spPr>
          <a:xfrm xmlns:a="http://schemas.openxmlformats.org/drawingml/2006/main">
            <a:off x="8134350" y="4095750"/>
            <a:ext cx="2724150" cy="876300"/>
          </a:xfrm>
          <a:prstGeom xmlns:a="http://schemas.openxmlformats.org/drawingml/2006/main" prst="roundRect">
            <a:avLst>
              <a:gd name="adj" fmla="val 8696"/>
            </a:avLst>
          </a:prstGeom>
          <a:solidFill xmlns:a="http://schemas.openxmlformats.org/drawingml/2006/main">
            <a:srgbClr val="DDF4E8"/>
          </a:solidFill>
          <a:ln xmlns:a="http://schemas.openxmlformats.org/drawingml/2006/main" w="19050">
            <a:solidFill>
              <a:srgbClr val="45B97C"/>
            </a:solidFill>
            <a:prstDash val="solid"/>
          </a:ln>
        </p:spPr>
      </p:sp>
      <p:sp>
        <p:nvSpPr>
          <p:cNvPr id="15" name="node-label">
            <a:extLst xmlns:a="http://schemas.openxmlformats.org/drawingml/2006/main">
              <a:ext uri="{FF2B5EF4-FFF2-40B4-BE49-F238E27FC236}">
                <a16:creationId xmlns:a16="http://schemas.microsoft.com/office/drawing/2014/main" id="{AF756F00-9DE3-4380-81F1-1B876CCAA803}"/>
              </a:ext>
            </a:extLst>
          </p:cNvPr>
          <p:cNvSpPr>
            <a:spLocks xmlns:a="http://schemas.openxmlformats.org/drawingml/2006/main" noGrp="1"/>
          </p:cNvSpPr>
          <p:nvPr/>
        </p:nvSpPr>
        <p:spPr>
          <a:xfrm xmlns:a="http://schemas.openxmlformats.org/drawingml/2006/main">
            <a:off x="8210550" y="4133850"/>
            <a:ext cx="2571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keep the smallest</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total cost</a:t>
            </a:r>
          </a:p>
        </p:txBody>
      </p:sp>
      <p:sp>
        <p:nvSpPr>
          <p:cNvPr id="16" name="box">
            <a:extLst xmlns:a="http://schemas.openxmlformats.org/drawingml/2006/main">
              <a:ext uri="{FF2B5EF4-FFF2-40B4-BE49-F238E27FC236}">
                <a16:creationId xmlns:a16="http://schemas.microsoft.com/office/drawing/2014/main" id="{627B4B95-B1FA-4704-9C1D-99E2C9AE1497}"/>
              </a:ext>
            </a:extLst>
          </p:cNvPr>
          <p:cNvSpPr>
            <a:spLocks xmlns:a="http://schemas.openxmlformats.org/drawingml/2006/main" noGrp="1"/>
          </p:cNvSpPr>
          <p:nvPr/>
        </p:nvSpPr>
        <p:spPr>
          <a:xfrm xmlns:a="http://schemas.openxmlformats.org/drawingml/2006/main">
            <a:off x="2114550" y="5410200"/>
            <a:ext cx="7962900" cy="533400"/>
          </a:xfrm>
          <a:prstGeom xmlns:a="http://schemas.openxmlformats.org/drawingml/2006/main" prst="roundRect">
            <a:avLst>
              <a:gd name="adj" fmla="val 14286"/>
            </a:avLst>
          </a:prstGeom>
          <a:solidFill xmlns:a="http://schemas.openxmlformats.org/drawingml/2006/main">
            <a:srgbClr val="FDE7E5"/>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4CAC6926-994A-49F3-B50E-E2283DE4475E}"/>
              </a:ext>
            </a:extLst>
          </p:cNvPr>
          <p:cNvSpPr>
            <a:spLocks xmlns:a="http://schemas.openxmlformats.org/drawingml/2006/main" noGrp="1"/>
          </p:cNvSpPr>
          <p:nvPr/>
        </p:nvSpPr>
        <p:spPr>
          <a:xfrm xmlns:a="http://schemas.openxmlformats.org/drawingml/2006/main">
            <a:off x="2286000" y="5486400"/>
            <a:ext cx="762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EF6A66"/>
                </a:solidFill>
                <a:latin typeface="Helvetica Neue"/>
                <a:ea typeface="Helvetica Neue"/>
                <a:cs typeface="Helvetica Neue"/>
              </a:defRPr>
            </a:pPr>
            <a:r>
              <a:rPr sz="1500" b="1">
                <a:solidFill>
                  <a:srgbClr val="EF6A66"/>
                </a:solidFill>
                <a:latin typeface="Helvetica Neue"/>
                <a:ea typeface="Helvetica Neue"/>
                <a:cs typeface="Helvetica Neue"/>
              </a:rPr>
              <a:t>σ̂ is an index assignment—not a neural-network parameter.</a:t>
            </a:r>
          </a:p>
        </p:txBody>
      </p:sp>
    </p:spTree>
    <p:extLst>
      <p:ext uri="{BB962C8B-B14F-4D97-AF65-F5344CB8AC3E}">
        <p14:creationId xmlns:p14="http://schemas.microsoft.com/office/powerpoint/2010/main" val="16091690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EEC24C09-0C4C-4DCC-85F5-B722D4B739DD}"/>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C0CE2A20-A37C-4633-B7E2-8C9FE09B3CA1}"/>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The paper’s matching cost asks three questions</a:t>
            </a:r>
          </a:p>
        </p:txBody>
      </p:sp>
      <p:sp>
        <p:nvSpPr>
          <p:cNvPr id="3" name="text">
            <a:extLst xmlns:a="http://schemas.openxmlformats.org/drawingml/2006/main">
              <a:ext uri="{FF2B5EF4-FFF2-40B4-BE49-F238E27FC236}">
                <a16:creationId xmlns:a16="http://schemas.microsoft.com/office/drawing/2014/main" id="{C8728C79-37A2-4CDD-BE79-E2FF919A3CFD}"/>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PAPER SUMMARY • MATCHING COST</a:t>
            </a:r>
          </a:p>
        </p:txBody>
      </p:sp>
      <p:sp>
        <p:nvSpPr>
          <p:cNvPr id="4" name="text">
            <a:extLst xmlns:a="http://schemas.openxmlformats.org/drawingml/2006/main">
              <a:ext uri="{FF2B5EF4-FFF2-40B4-BE49-F238E27FC236}">
                <a16:creationId xmlns:a16="http://schemas.microsoft.com/office/drawing/2014/main" id="{3B74E54D-90F3-42E2-830D-5B09DBA1E4F1}"/>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18</a:t>
            </a:r>
          </a:p>
        </p:txBody>
      </p:sp>
      <p:sp>
        <p:nvSpPr>
          <p:cNvPr id="5" name="box">
            <a:extLst xmlns:a="http://schemas.openxmlformats.org/drawingml/2006/main">
              <a:ext uri="{FF2B5EF4-FFF2-40B4-BE49-F238E27FC236}">
                <a16:creationId xmlns:a16="http://schemas.microsoft.com/office/drawing/2014/main" id="{C2B5DDFB-E7C3-46B1-80B4-94A81F236557}"/>
              </a:ext>
            </a:extLst>
          </p:cNvPr>
          <p:cNvSpPr>
            <a:spLocks xmlns:a="http://schemas.openxmlformats.org/drawingml/2006/main" noGrp="1"/>
          </p:cNvSpPr>
          <p:nvPr/>
        </p:nvSpPr>
        <p:spPr>
          <a:xfrm xmlns:a="http://schemas.openxmlformats.org/drawingml/2006/main">
            <a:off x="685800" y="1562100"/>
            <a:ext cx="10820400" cy="933450"/>
          </a:xfrm>
          <a:prstGeom xmlns:a="http://schemas.openxmlformats.org/drawingml/2006/main" prst="roundRect">
            <a:avLst>
              <a:gd name="adj" fmla="val 8163"/>
            </a:avLst>
          </a:prstGeom>
          <a:solidFill xmlns:a="http://schemas.openxmlformats.org/drawingml/2006/main">
            <a:srgbClr val="D9F1FC"/>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4D7E3BAC-FF0B-4811-AEC5-3BEABE830E22}"/>
              </a:ext>
            </a:extLst>
          </p:cNvPr>
          <p:cNvSpPr>
            <a:spLocks xmlns:a="http://schemas.openxmlformats.org/drawingml/2006/main" noGrp="1"/>
          </p:cNvSpPr>
          <p:nvPr/>
        </p:nvSpPr>
        <p:spPr>
          <a:xfrm xmlns:a="http://schemas.openxmlformats.org/drawingml/2006/main">
            <a:off x="914400" y="16954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CLASS</a:t>
            </a:r>
          </a:p>
        </p:txBody>
      </p:sp>
      <p:sp>
        <p:nvSpPr>
          <p:cNvPr id="7" name="text">
            <a:extLst xmlns:a="http://schemas.openxmlformats.org/drawingml/2006/main">
              <a:ext uri="{FF2B5EF4-FFF2-40B4-BE49-F238E27FC236}">
                <a16:creationId xmlns:a16="http://schemas.microsoft.com/office/drawing/2014/main" id="{A82383C2-85EE-478B-8907-F74FDFACA380}"/>
              </a:ext>
            </a:extLst>
          </p:cNvPr>
          <p:cNvSpPr>
            <a:spLocks xmlns:a="http://schemas.openxmlformats.org/drawingml/2006/main" noGrp="1"/>
          </p:cNvSpPr>
          <p:nvPr/>
        </p:nvSpPr>
        <p:spPr>
          <a:xfrm xmlns:a="http://schemas.openxmlformats.org/drawingml/2006/main">
            <a:off x="2781300" y="165735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Is the target class likely?</a:t>
            </a:r>
          </a:p>
        </p:txBody>
      </p:sp>
      <p:sp>
        <p:nvSpPr>
          <p:cNvPr id="8" name="text">
            <a:extLst xmlns:a="http://schemas.openxmlformats.org/drawingml/2006/main">
              <a:ext uri="{FF2B5EF4-FFF2-40B4-BE49-F238E27FC236}">
                <a16:creationId xmlns:a16="http://schemas.microsoft.com/office/drawing/2014/main" id="{04B01C6F-BDFB-4476-9432-38EDE074BBC2}"/>
              </a:ext>
            </a:extLst>
          </p:cNvPr>
          <p:cNvSpPr>
            <a:spLocks xmlns:a="http://schemas.openxmlformats.org/drawingml/2006/main" noGrp="1"/>
          </p:cNvSpPr>
          <p:nvPr/>
        </p:nvSpPr>
        <p:spPr>
          <a:xfrm xmlns:a="http://schemas.openxmlformats.org/drawingml/2006/main">
            <a:off x="8248650" y="16764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 p̂ⱼ(cᵢ)</a:t>
            </a:r>
          </a:p>
        </p:txBody>
      </p:sp>
      <p:sp>
        <p:nvSpPr>
          <p:cNvPr id="9" name="text">
            <a:extLst xmlns:a="http://schemas.openxmlformats.org/drawingml/2006/main">
              <a:ext uri="{FF2B5EF4-FFF2-40B4-BE49-F238E27FC236}">
                <a16:creationId xmlns:a16="http://schemas.microsoft.com/office/drawing/2014/main" id="{C3C6727D-FFC0-4534-A97F-36BFF71694D3}"/>
              </a:ext>
            </a:extLst>
          </p:cNvPr>
          <p:cNvSpPr>
            <a:spLocks xmlns:a="http://schemas.openxmlformats.org/drawingml/2006/main" noGrp="1"/>
          </p:cNvSpPr>
          <p:nvPr/>
        </p:nvSpPr>
        <p:spPr>
          <a:xfrm xmlns:a="http://schemas.openxmlformats.org/drawingml/2006/main">
            <a:off x="8248650" y="20764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5D6673"/>
                </a:solidFill>
                <a:latin typeface="Helvetica Neue"/>
                <a:ea typeface="Helvetica Neue"/>
                <a:cs typeface="Helvetica Neue"/>
              </a:defRPr>
            </a:pPr>
            <a:r>
              <a:rPr sz="1125" b="0">
                <a:solidFill>
                  <a:srgbClr val="5D6673"/>
                </a:solidFill>
                <a:latin typeface="Helvetica Neue"/>
                <a:ea typeface="Helvetica Neue"/>
                <a:cs typeface="Helvetica Neue"/>
              </a:rPr>
              <a:t>classification signal</a:t>
            </a:r>
          </a:p>
        </p:txBody>
      </p:sp>
      <p:sp>
        <p:nvSpPr>
          <p:cNvPr id="10" name="box">
            <a:extLst xmlns:a="http://schemas.openxmlformats.org/drawingml/2006/main">
              <a:ext uri="{FF2B5EF4-FFF2-40B4-BE49-F238E27FC236}">
                <a16:creationId xmlns:a16="http://schemas.microsoft.com/office/drawing/2014/main" id="{3D916579-0C2F-464C-8C1E-43906EFFEC98}"/>
              </a:ext>
            </a:extLst>
          </p:cNvPr>
          <p:cNvSpPr>
            <a:spLocks xmlns:a="http://schemas.openxmlformats.org/drawingml/2006/main" noGrp="1"/>
          </p:cNvSpPr>
          <p:nvPr/>
        </p:nvSpPr>
        <p:spPr>
          <a:xfrm xmlns:a="http://schemas.openxmlformats.org/drawingml/2006/main">
            <a:off x="685800" y="2762250"/>
            <a:ext cx="10820400" cy="933450"/>
          </a:xfrm>
          <a:prstGeom xmlns:a="http://schemas.openxmlformats.org/drawingml/2006/main" prst="roundRect">
            <a:avLst>
              <a:gd name="adj" fmla="val 8163"/>
            </a:avLst>
          </a:prstGeom>
          <a:solidFill xmlns:a="http://schemas.openxmlformats.org/drawingml/2006/main">
            <a:srgbClr val="FFF1CC"/>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6A98CF0B-8548-4084-A130-55039A33AD50}"/>
              </a:ext>
            </a:extLst>
          </p:cNvPr>
          <p:cNvSpPr>
            <a:spLocks xmlns:a="http://schemas.openxmlformats.org/drawingml/2006/main" noGrp="1"/>
          </p:cNvSpPr>
          <p:nvPr/>
        </p:nvSpPr>
        <p:spPr>
          <a:xfrm xmlns:a="http://schemas.openxmlformats.org/drawingml/2006/main">
            <a:off x="914400" y="289560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2B84B"/>
                </a:solidFill>
                <a:latin typeface="Helvetica Neue"/>
                <a:ea typeface="Helvetica Neue"/>
                <a:cs typeface="Helvetica Neue"/>
              </a:defRPr>
            </a:pPr>
            <a:r>
              <a:rPr sz="1200" b="1">
                <a:solidFill>
                  <a:srgbClr val="F2B84B"/>
                </a:solidFill>
                <a:latin typeface="Helvetica Neue"/>
                <a:ea typeface="Helvetica Neue"/>
                <a:cs typeface="Helvetica Neue"/>
              </a:rPr>
              <a:t>COORDINATES</a:t>
            </a:r>
          </a:p>
        </p:txBody>
      </p:sp>
      <p:sp>
        <p:nvSpPr>
          <p:cNvPr id="12" name="text">
            <a:extLst xmlns:a="http://schemas.openxmlformats.org/drawingml/2006/main">
              <a:ext uri="{FF2B5EF4-FFF2-40B4-BE49-F238E27FC236}">
                <a16:creationId xmlns:a16="http://schemas.microsoft.com/office/drawing/2014/main" id="{77494416-EA8D-4752-84CD-A47BE59A6094}"/>
              </a:ext>
            </a:extLst>
          </p:cNvPr>
          <p:cNvSpPr>
            <a:spLocks xmlns:a="http://schemas.openxmlformats.org/drawingml/2006/main" noGrp="1"/>
          </p:cNvSpPr>
          <p:nvPr/>
        </p:nvSpPr>
        <p:spPr>
          <a:xfrm xmlns:a="http://schemas.openxmlformats.org/drawingml/2006/main">
            <a:off x="2781300" y="285750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Are (cₓ, cᵧ, w, h) close?</a:t>
            </a:r>
          </a:p>
        </p:txBody>
      </p:sp>
      <p:sp>
        <p:nvSpPr>
          <p:cNvPr id="13" name="text">
            <a:extLst xmlns:a="http://schemas.openxmlformats.org/drawingml/2006/main">
              <a:ext uri="{FF2B5EF4-FFF2-40B4-BE49-F238E27FC236}">
                <a16:creationId xmlns:a16="http://schemas.microsoft.com/office/drawing/2014/main" id="{0E88FD3A-6FBF-4790-A4E1-88078DF7B6DC}"/>
              </a:ext>
            </a:extLst>
          </p:cNvPr>
          <p:cNvSpPr>
            <a:spLocks xmlns:a="http://schemas.openxmlformats.org/drawingml/2006/main" noGrp="1"/>
          </p:cNvSpPr>
          <p:nvPr/>
        </p:nvSpPr>
        <p:spPr>
          <a:xfrm xmlns:a="http://schemas.openxmlformats.org/drawingml/2006/main">
            <a:off x="8248650" y="28765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2B84B"/>
                </a:solidFill>
                <a:latin typeface="Helvetica Neue"/>
                <a:ea typeface="Helvetica Neue"/>
                <a:cs typeface="Helvetica Neue"/>
              </a:defRPr>
            </a:pPr>
            <a:r>
              <a:rPr sz="1650" b="1">
                <a:solidFill>
                  <a:srgbClr val="F2B84B"/>
                </a:solidFill>
                <a:latin typeface="Helvetica Neue"/>
                <a:ea typeface="Helvetica Neue"/>
                <a:cs typeface="Helvetica Neue"/>
              </a:rPr>
              <a:t>weighted L1</a:t>
            </a:r>
          </a:p>
        </p:txBody>
      </p:sp>
      <p:sp>
        <p:nvSpPr>
          <p:cNvPr id="14" name="text">
            <a:extLst xmlns:a="http://schemas.openxmlformats.org/drawingml/2006/main">
              <a:ext uri="{FF2B5EF4-FFF2-40B4-BE49-F238E27FC236}">
                <a16:creationId xmlns:a16="http://schemas.microsoft.com/office/drawing/2014/main" id="{731702E1-D1E8-436E-8134-E1DA59F352BB}"/>
              </a:ext>
            </a:extLst>
          </p:cNvPr>
          <p:cNvSpPr>
            <a:spLocks xmlns:a="http://schemas.openxmlformats.org/drawingml/2006/main" noGrp="1"/>
          </p:cNvSpPr>
          <p:nvPr/>
        </p:nvSpPr>
        <p:spPr>
          <a:xfrm xmlns:a="http://schemas.openxmlformats.org/drawingml/2006/main">
            <a:off x="8248650" y="32766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5D6673"/>
                </a:solidFill>
                <a:latin typeface="Helvetica Neue"/>
                <a:ea typeface="Helvetica Neue"/>
                <a:cs typeface="Helvetica Neue"/>
              </a:defRPr>
            </a:pPr>
            <a:r>
              <a:rPr sz="1125" b="0">
                <a:solidFill>
                  <a:srgbClr val="5D6673"/>
                </a:solidFill>
                <a:latin typeface="Helvetica Neue"/>
                <a:ea typeface="Helvetica Neue"/>
                <a:cs typeface="Helvetica Neue"/>
              </a:rPr>
              <a:t>box signal</a:t>
            </a:r>
          </a:p>
        </p:txBody>
      </p:sp>
      <p:sp>
        <p:nvSpPr>
          <p:cNvPr id="15" name="box">
            <a:extLst xmlns:a="http://schemas.openxmlformats.org/drawingml/2006/main">
              <a:ext uri="{FF2B5EF4-FFF2-40B4-BE49-F238E27FC236}">
                <a16:creationId xmlns:a16="http://schemas.microsoft.com/office/drawing/2014/main" id="{53DE5A81-817F-4B0A-92B2-ECDFCDCA3F71}"/>
              </a:ext>
            </a:extLst>
          </p:cNvPr>
          <p:cNvSpPr>
            <a:spLocks xmlns:a="http://schemas.openxmlformats.org/drawingml/2006/main" noGrp="1"/>
          </p:cNvSpPr>
          <p:nvPr/>
        </p:nvSpPr>
        <p:spPr>
          <a:xfrm xmlns:a="http://schemas.openxmlformats.org/drawingml/2006/main">
            <a:off x="685800" y="3962400"/>
            <a:ext cx="10820400" cy="933450"/>
          </a:xfrm>
          <a:prstGeom xmlns:a="http://schemas.openxmlformats.org/drawingml/2006/main" prst="roundRect">
            <a:avLst>
              <a:gd name="adj" fmla="val 8163"/>
            </a:avLst>
          </a:prstGeom>
          <a:solidFill xmlns:a="http://schemas.openxmlformats.org/drawingml/2006/main">
            <a:srgbClr val="EEE8FF"/>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1EFA9EC6-45CC-446E-8DC0-0AB344815046}"/>
              </a:ext>
            </a:extLst>
          </p:cNvPr>
          <p:cNvSpPr>
            <a:spLocks xmlns:a="http://schemas.openxmlformats.org/drawingml/2006/main" noGrp="1"/>
          </p:cNvSpPr>
          <p:nvPr/>
        </p:nvSpPr>
        <p:spPr>
          <a:xfrm xmlns:a="http://schemas.openxmlformats.org/drawingml/2006/main">
            <a:off x="914400" y="4095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8E6CEF"/>
                </a:solidFill>
                <a:latin typeface="Helvetica Neue"/>
                <a:ea typeface="Helvetica Neue"/>
                <a:cs typeface="Helvetica Neue"/>
              </a:defRPr>
            </a:pPr>
            <a:r>
              <a:rPr sz="1200" b="1">
                <a:solidFill>
                  <a:srgbClr val="8E6CEF"/>
                </a:solidFill>
                <a:latin typeface="Helvetica Neue"/>
                <a:ea typeface="Helvetica Neue"/>
                <a:cs typeface="Helvetica Neue"/>
              </a:rPr>
              <a:t>REGIONS</a:t>
            </a:r>
          </a:p>
        </p:txBody>
      </p:sp>
      <p:sp>
        <p:nvSpPr>
          <p:cNvPr id="17" name="text">
            <a:extLst xmlns:a="http://schemas.openxmlformats.org/drawingml/2006/main">
              <a:ext uri="{FF2B5EF4-FFF2-40B4-BE49-F238E27FC236}">
                <a16:creationId xmlns:a16="http://schemas.microsoft.com/office/drawing/2014/main" id="{B3B76E9C-4A6B-4A3D-919A-F50C7E671043}"/>
              </a:ext>
            </a:extLst>
          </p:cNvPr>
          <p:cNvSpPr>
            <a:spLocks xmlns:a="http://schemas.openxmlformats.org/drawingml/2006/main" noGrp="1"/>
          </p:cNvSpPr>
          <p:nvPr/>
        </p:nvSpPr>
        <p:spPr>
          <a:xfrm xmlns:a="http://schemas.openxmlformats.org/drawingml/2006/main">
            <a:off x="2781300" y="405765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Do the two boxes agree spatially?</a:t>
            </a:r>
          </a:p>
        </p:txBody>
      </p:sp>
      <p:sp>
        <p:nvSpPr>
          <p:cNvPr id="18" name="text">
            <a:extLst xmlns:a="http://schemas.openxmlformats.org/drawingml/2006/main">
              <a:ext uri="{FF2B5EF4-FFF2-40B4-BE49-F238E27FC236}">
                <a16:creationId xmlns:a16="http://schemas.microsoft.com/office/drawing/2014/main" id="{26313A17-4E1E-4D11-BFF8-C725D9E6F0B0}"/>
              </a:ext>
            </a:extLst>
          </p:cNvPr>
          <p:cNvSpPr>
            <a:spLocks xmlns:a="http://schemas.openxmlformats.org/drawingml/2006/main" noGrp="1"/>
          </p:cNvSpPr>
          <p:nvPr/>
        </p:nvSpPr>
        <p:spPr>
          <a:xfrm xmlns:a="http://schemas.openxmlformats.org/drawingml/2006/main">
            <a:off x="8248650" y="40767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8E6CEF"/>
                </a:solidFill>
                <a:latin typeface="Helvetica Neue"/>
                <a:ea typeface="Helvetica Neue"/>
                <a:cs typeface="Helvetica Neue"/>
              </a:defRPr>
            </a:pPr>
            <a:r>
              <a:rPr sz="1650" b="1">
                <a:solidFill>
                  <a:srgbClr val="8E6CEF"/>
                </a:solidFill>
                <a:latin typeface="Helvetica Neue"/>
                <a:ea typeface="Helvetica Neue"/>
                <a:cs typeface="Helvetica Neue"/>
              </a:rPr>
              <a:t>weighted GIoU</a:t>
            </a:r>
          </a:p>
        </p:txBody>
      </p:sp>
      <p:sp>
        <p:nvSpPr>
          <p:cNvPr id="19" name="text">
            <a:extLst xmlns:a="http://schemas.openxmlformats.org/drawingml/2006/main">
              <a:ext uri="{FF2B5EF4-FFF2-40B4-BE49-F238E27FC236}">
                <a16:creationId xmlns:a16="http://schemas.microsoft.com/office/drawing/2014/main" id="{5275386C-94CA-42F6-8CEA-1CC90AF3A41C}"/>
              </a:ext>
            </a:extLst>
          </p:cNvPr>
          <p:cNvSpPr>
            <a:spLocks xmlns:a="http://schemas.openxmlformats.org/drawingml/2006/main" noGrp="1"/>
          </p:cNvSpPr>
          <p:nvPr/>
        </p:nvSpPr>
        <p:spPr>
          <a:xfrm xmlns:a="http://schemas.openxmlformats.org/drawingml/2006/main">
            <a:off x="8248650" y="44767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5D6673"/>
                </a:solidFill>
                <a:latin typeface="Helvetica Neue"/>
                <a:ea typeface="Helvetica Neue"/>
                <a:cs typeface="Helvetica Neue"/>
              </a:defRPr>
            </a:pPr>
            <a:r>
              <a:rPr sz="1125" b="0">
                <a:solidFill>
                  <a:srgbClr val="5D6673"/>
                </a:solidFill>
                <a:latin typeface="Helvetica Neue"/>
                <a:ea typeface="Helvetica Neue"/>
                <a:cs typeface="Helvetica Neue"/>
              </a:rPr>
              <a:t>box signal</a:t>
            </a:r>
          </a:p>
        </p:txBody>
      </p:sp>
      <p:sp>
        <p:nvSpPr>
          <p:cNvPr id="20" name="box">
            <a:extLst xmlns:a="http://schemas.openxmlformats.org/drawingml/2006/main">
              <a:ext uri="{FF2B5EF4-FFF2-40B4-BE49-F238E27FC236}">
                <a16:creationId xmlns:a16="http://schemas.microsoft.com/office/drawing/2014/main" id="{FD57552A-B703-4A2D-A944-F0541C40BA47}"/>
              </a:ext>
            </a:extLst>
          </p:cNvPr>
          <p:cNvSpPr>
            <a:spLocks xmlns:a="http://schemas.openxmlformats.org/drawingml/2006/main" noGrp="1"/>
          </p:cNvSpPr>
          <p:nvPr/>
        </p:nvSpPr>
        <p:spPr>
          <a:xfrm xmlns:a="http://schemas.openxmlformats.org/drawingml/2006/main">
            <a:off x="1828800" y="5314950"/>
            <a:ext cx="8534400" cy="552450"/>
          </a:xfrm>
          <a:prstGeom xmlns:a="http://schemas.openxmlformats.org/drawingml/2006/main" prst="roundRect">
            <a:avLst>
              <a:gd name="adj" fmla="val 13793"/>
            </a:avLst>
          </a:prstGeom>
          <a:solidFill xmlns:a="http://schemas.openxmlformats.org/drawingml/2006/main">
            <a:srgbClr val="EEF1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686DBC97-3ADF-45A6-916D-9A189FCB1303}"/>
              </a:ext>
            </a:extLst>
          </p:cNvPr>
          <p:cNvSpPr>
            <a:spLocks xmlns:a="http://schemas.openxmlformats.org/drawingml/2006/main" noGrp="1"/>
          </p:cNvSpPr>
          <p:nvPr/>
        </p:nvSpPr>
        <p:spPr>
          <a:xfrm xmlns:a="http://schemas.openxmlformats.org/drawingml/2006/main">
            <a:off x="2000250" y="5391150"/>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Lower total cost = a better prediction–target pairing.</a:t>
            </a:r>
          </a:p>
        </p:txBody>
      </p:sp>
      <p:sp>
        <p:nvSpPr>
          <p:cNvPr id="22" name="paper-citation">
            <a:extLst xmlns:a="http://schemas.openxmlformats.org/drawingml/2006/main">
              <a:ext uri="{FF2B5EF4-FFF2-40B4-BE49-F238E27FC236}">
                <a16:creationId xmlns:a16="http://schemas.microsoft.com/office/drawing/2014/main" id="{D768A413-B4EA-404A-8059-CD4122A5F899}"/>
              </a:ext>
            </a:extLst>
          </p:cNvPr>
          <p:cNvSpPr>
            <a:spLocks xmlns:a="http://schemas.openxmlformats.org/drawingml/2006/main" noGrp="1"/>
          </p:cNvSpPr>
          <p:nvPr/>
        </p:nvSpPr>
        <p:spPr>
          <a:xfrm xmlns:a="http://schemas.openxmlformats.org/drawingml/2006/main">
            <a:off x="609600" y="59817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Adapted from Carion et al., ECCV 2020, matching-cost definition after Eq. (1), p. 5; box loss, p. 6.</a:t>
            </a:r>
          </a:p>
        </p:txBody>
      </p:sp>
    </p:spTree>
    <p:extLst>
      <p:ext uri="{BB962C8B-B14F-4D97-AF65-F5344CB8AC3E}">
        <p14:creationId xmlns:p14="http://schemas.microsoft.com/office/powerpoint/2010/main" val="4865109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9CD0C6DD-87C4-4CA1-9E33-411D468195EB}"/>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4A1AEBFD-409F-48DA-B6D4-6B745F649306}"/>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What goes into one pairwise matching cost?</a:t>
            </a:r>
          </a:p>
        </p:txBody>
      </p:sp>
      <p:sp>
        <p:nvSpPr>
          <p:cNvPr id="3" name="text">
            <a:extLst xmlns:a="http://schemas.openxmlformats.org/drawingml/2006/main">
              <a:ext uri="{FF2B5EF4-FFF2-40B4-BE49-F238E27FC236}">
                <a16:creationId xmlns:a16="http://schemas.microsoft.com/office/drawing/2014/main" id="{FEADA4B9-99C8-4C4E-BEC2-0FA0752AA62D}"/>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4 • PAIRWISE COST</a:t>
            </a:r>
          </a:p>
        </p:txBody>
      </p:sp>
      <p:sp>
        <p:nvSpPr>
          <p:cNvPr id="4" name="text">
            <a:extLst xmlns:a="http://schemas.openxmlformats.org/drawingml/2006/main">
              <a:ext uri="{FF2B5EF4-FFF2-40B4-BE49-F238E27FC236}">
                <a16:creationId xmlns:a16="http://schemas.microsoft.com/office/drawing/2014/main" id="{6A89836E-30CE-4DB0-8C21-562167A6165F}"/>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19</a:t>
            </a:r>
          </a:p>
        </p:txBody>
      </p:sp>
      <p:sp>
        <p:nvSpPr>
          <p:cNvPr id="5" name="math-region">
            <a:extLst xmlns:a="http://schemas.openxmlformats.org/drawingml/2006/main">
              <a:ext uri="{FF2B5EF4-FFF2-40B4-BE49-F238E27FC236}">
                <a16:creationId xmlns:a16="http://schemas.microsoft.com/office/drawing/2014/main" id="{4CCF07DE-76BF-466C-B7F1-539D5A0E1659}"/>
              </a:ext>
            </a:extLst>
          </p:cNvPr>
          <p:cNvSpPr>
            <a:spLocks xmlns:a="http://schemas.openxmlformats.org/drawingml/2006/main" noGrp="1"/>
          </p:cNvSpPr>
          <p:nvPr/>
        </p:nvSpPr>
        <p:spPr>
          <a:xfrm xmlns:a="http://schemas.openxmlformats.org/drawingml/2006/main">
            <a:off x="685800" y="1619250"/>
            <a:ext cx="10820400" cy="1333500"/>
          </a:xfrm>
          <a:prstGeom xmlns:a="http://schemas.openxmlformats.org/drawingml/2006/main" prst="roundRect">
            <a:avLst>
              <a:gd name="adj" fmla="val 5714"/>
            </a:avLst>
          </a:prstGeom>
          <a:solidFill xmlns:a="http://schemas.openxmlformats.org/drawingml/2006/main">
            <a:srgbClr val="EEF1F4"/>
          </a:solidFill>
          <a:ln xmlns:a="http://schemas.openxmlformats.org/drawingml/2006/main" w="19050">
            <a:solidFill>
              <a:srgbClr val="BCC3CC"/>
            </a:solidFill>
            <a:prstDash val="solid"/>
          </a:ln>
        </p:spPr>
      </p:sp>
      <p:sp>
        <p:nvSpPr>
          <p:cNvPr id="6" name="math-fallback-match">
            <a:extLst xmlns:a="http://schemas.openxmlformats.org/drawingml/2006/main">
              <a:ext uri="{FF2B5EF4-FFF2-40B4-BE49-F238E27FC236}">
                <a16:creationId xmlns:a16="http://schemas.microsoft.com/office/drawing/2014/main" id="{2F7BDFFA-3E58-4C37-A369-DFB0187DD711}"/>
              </a:ext>
            </a:extLst>
          </p:cNvPr>
          <p:cNvSpPr>
            <a:spLocks xmlns:a="http://schemas.openxmlformats.org/drawingml/2006/main" noGrp="1"/>
          </p:cNvSpPr>
          <p:nvPr/>
        </p:nvSpPr>
        <p:spPr>
          <a:xfrm xmlns:a="http://schemas.openxmlformats.org/drawingml/2006/main">
            <a:off x="990600" y="1847850"/>
            <a:ext cx="10210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111318"/>
                </a:solidFill>
                <a:latin typeface="Helvetica Neue"/>
                <a:ea typeface="Helvetica Neue"/>
                <a:cs typeface="Helvetica Neue"/>
              </a:defRPr>
            </a:pPr>
            <a:r>
              <a:rPr sz="2550" b="1">
                <a:solidFill>
                  <a:srgbClr val="111318"/>
                </a:solidFill>
                <a:latin typeface="Helvetica Neue"/>
                <a:ea typeface="Helvetica Neue"/>
                <a:cs typeface="Helvetica Neue"/>
              </a:rPr>
              <a:t>Lmatch = class compatibility + Lbox</a:t>
            </a:r>
          </a:p>
        </p:txBody>
      </p:sp>
      <p:sp>
        <p:nvSpPr>
          <p:cNvPr id="7" name="paper-citation">
            <a:extLst xmlns:a="http://schemas.openxmlformats.org/drawingml/2006/main">
              <a:ext uri="{FF2B5EF4-FFF2-40B4-BE49-F238E27FC236}">
                <a16:creationId xmlns:a16="http://schemas.microsoft.com/office/drawing/2014/main" id="{BC4172B2-2359-4476-A42E-A5FB53644622}"/>
              </a:ext>
            </a:extLst>
          </p:cNvPr>
          <p:cNvSpPr>
            <a:spLocks xmlns:a="http://schemas.openxmlformats.org/drawingml/2006/main" noGrp="1"/>
          </p:cNvSpPr>
          <p:nvPr/>
        </p:nvSpPr>
        <p:spPr>
          <a:xfrm xmlns:a="http://schemas.openxmlformats.org/drawingml/2006/main">
            <a:off x="609600" y="31051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Adapted from Carion et al., ECCV 2020, matching-cost definition following Eq. (1).</a:t>
            </a:r>
          </a:p>
        </p:txBody>
      </p:sp>
      <p:sp>
        <p:nvSpPr>
          <p:cNvPr id="8" name="node">
            <a:extLst xmlns:a="http://schemas.openxmlformats.org/drawingml/2006/main">
              <a:ext uri="{FF2B5EF4-FFF2-40B4-BE49-F238E27FC236}">
                <a16:creationId xmlns:a16="http://schemas.microsoft.com/office/drawing/2014/main" id="{20F7B650-41F6-4B23-813C-6CA4C9834175}"/>
              </a:ext>
            </a:extLst>
          </p:cNvPr>
          <p:cNvSpPr>
            <a:spLocks xmlns:a="http://schemas.openxmlformats.org/drawingml/2006/main" noGrp="1"/>
          </p:cNvSpPr>
          <p:nvPr/>
        </p:nvSpPr>
        <p:spPr>
          <a:xfrm xmlns:a="http://schemas.openxmlformats.org/drawingml/2006/main">
            <a:off x="800100" y="4000500"/>
            <a:ext cx="2857500" cy="952500"/>
          </a:xfrm>
          <a:prstGeom xmlns:a="http://schemas.openxmlformats.org/drawingml/2006/main" prst="roundRect">
            <a:avLst>
              <a:gd name="adj" fmla="val 8000"/>
            </a:avLst>
          </a:prstGeom>
          <a:solidFill xmlns:a="http://schemas.openxmlformats.org/drawingml/2006/main">
            <a:srgbClr val="D9F1FC"/>
          </a:solidFill>
          <a:ln xmlns:a="http://schemas.openxmlformats.org/drawingml/2006/main" w="19050">
            <a:solidFill>
              <a:srgbClr val="3D8DFF"/>
            </a:solidFill>
            <a:prstDash val="solid"/>
          </a:ln>
        </p:spPr>
      </p:sp>
      <p:sp>
        <p:nvSpPr>
          <p:cNvPr id="9" name="node-label">
            <a:extLst xmlns:a="http://schemas.openxmlformats.org/drawingml/2006/main">
              <a:ext uri="{FF2B5EF4-FFF2-40B4-BE49-F238E27FC236}">
                <a16:creationId xmlns:a16="http://schemas.microsoft.com/office/drawing/2014/main" id="{19DB708D-9911-4606-80A6-1CBA8975D048}"/>
              </a:ext>
            </a:extLst>
          </p:cNvPr>
          <p:cNvSpPr>
            <a:spLocks xmlns:a="http://schemas.openxmlformats.org/drawingml/2006/main" noGrp="1"/>
          </p:cNvSpPr>
          <p:nvPr/>
        </p:nvSpPr>
        <p:spPr>
          <a:xfrm xmlns:a="http://schemas.openxmlformats.org/drawingml/2006/main">
            <a:off x="876300" y="4038600"/>
            <a:ext cx="2705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classification</a:t>
            </a:r>
          </a:p>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−p̂ⱼ(cᵢ)</a:t>
            </a:r>
          </a:p>
        </p:txBody>
      </p:sp>
      <p:sp>
        <p:nvSpPr>
          <p:cNvPr id="10" name="text">
            <a:extLst xmlns:a="http://schemas.openxmlformats.org/drawingml/2006/main">
              <a:ext uri="{FF2B5EF4-FFF2-40B4-BE49-F238E27FC236}">
                <a16:creationId xmlns:a16="http://schemas.microsoft.com/office/drawing/2014/main" id="{6183009B-BACB-41B0-A09B-09990F469BD4}"/>
              </a:ext>
            </a:extLst>
          </p:cNvPr>
          <p:cNvSpPr>
            <a:spLocks xmlns:a="http://schemas.openxmlformats.org/drawingml/2006/main" noGrp="1"/>
          </p:cNvSpPr>
          <p:nvPr/>
        </p:nvSpPr>
        <p:spPr>
          <a:xfrm xmlns:a="http://schemas.openxmlformats.org/drawingml/2006/main">
            <a:off x="3733800" y="4286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a:t>
            </a:r>
          </a:p>
        </p:txBody>
      </p:sp>
      <p:sp>
        <p:nvSpPr>
          <p:cNvPr id="11" name="node">
            <a:extLst xmlns:a="http://schemas.openxmlformats.org/drawingml/2006/main">
              <a:ext uri="{FF2B5EF4-FFF2-40B4-BE49-F238E27FC236}">
                <a16:creationId xmlns:a16="http://schemas.microsoft.com/office/drawing/2014/main" id="{1A5FB469-D7BE-4524-A64F-63F39C2665AB}"/>
              </a:ext>
            </a:extLst>
          </p:cNvPr>
          <p:cNvSpPr>
            <a:spLocks xmlns:a="http://schemas.openxmlformats.org/drawingml/2006/main" noGrp="1"/>
          </p:cNvSpPr>
          <p:nvPr/>
        </p:nvSpPr>
        <p:spPr>
          <a:xfrm xmlns:a="http://schemas.openxmlformats.org/drawingml/2006/main">
            <a:off x="4305300" y="4000500"/>
            <a:ext cx="3238500" cy="952500"/>
          </a:xfrm>
          <a:prstGeom xmlns:a="http://schemas.openxmlformats.org/drawingml/2006/main" prst="roundRect">
            <a:avLst>
              <a:gd name="adj" fmla="val 8000"/>
            </a:avLst>
          </a:prstGeom>
          <a:solidFill xmlns:a="http://schemas.openxmlformats.org/drawingml/2006/main">
            <a:srgbClr val="FFF1CC"/>
          </a:solidFill>
          <a:ln xmlns:a="http://schemas.openxmlformats.org/drawingml/2006/main" w="19050">
            <a:solidFill>
              <a:srgbClr val="F2B84B"/>
            </a:solidFill>
            <a:prstDash val="solid"/>
          </a:ln>
        </p:spPr>
      </p:sp>
      <p:sp>
        <p:nvSpPr>
          <p:cNvPr id="12" name="node-label">
            <a:extLst xmlns:a="http://schemas.openxmlformats.org/drawingml/2006/main">
              <a:ext uri="{FF2B5EF4-FFF2-40B4-BE49-F238E27FC236}">
                <a16:creationId xmlns:a16="http://schemas.microsoft.com/office/drawing/2014/main" id="{D7AC5E32-8CA5-434E-B5CC-D703AF68F060}"/>
              </a:ext>
            </a:extLst>
          </p:cNvPr>
          <p:cNvSpPr>
            <a:spLocks xmlns:a="http://schemas.openxmlformats.org/drawingml/2006/main" noGrp="1"/>
          </p:cNvSpPr>
          <p:nvPr/>
        </p:nvSpPr>
        <p:spPr>
          <a:xfrm xmlns:a="http://schemas.openxmlformats.org/drawingml/2006/main">
            <a:off x="4381500" y="4038600"/>
            <a:ext cx="3086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coordinate distance</a:t>
            </a:r>
          </a:p>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λL1 ‖bᵢ−b̂ⱼ‖₁</a:t>
            </a:r>
          </a:p>
        </p:txBody>
      </p:sp>
      <p:sp>
        <p:nvSpPr>
          <p:cNvPr id="13" name="text">
            <a:extLst xmlns:a="http://schemas.openxmlformats.org/drawingml/2006/main">
              <a:ext uri="{FF2B5EF4-FFF2-40B4-BE49-F238E27FC236}">
                <a16:creationId xmlns:a16="http://schemas.microsoft.com/office/drawing/2014/main" id="{AEC89B64-65C5-42A3-94CD-63D99E785EBF}"/>
              </a:ext>
            </a:extLst>
          </p:cNvPr>
          <p:cNvSpPr>
            <a:spLocks xmlns:a="http://schemas.openxmlformats.org/drawingml/2006/main" noGrp="1"/>
          </p:cNvSpPr>
          <p:nvPr/>
        </p:nvSpPr>
        <p:spPr>
          <a:xfrm xmlns:a="http://schemas.openxmlformats.org/drawingml/2006/main">
            <a:off x="7620000" y="4286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a:t>
            </a:r>
          </a:p>
        </p:txBody>
      </p:sp>
      <p:sp>
        <p:nvSpPr>
          <p:cNvPr id="14" name="node">
            <a:extLst xmlns:a="http://schemas.openxmlformats.org/drawingml/2006/main">
              <a:ext uri="{FF2B5EF4-FFF2-40B4-BE49-F238E27FC236}">
                <a16:creationId xmlns:a16="http://schemas.microsoft.com/office/drawing/2014/main" id="{A060D56E-BA21-43D3-AC7F-D76A4D916F04}"/>
              </a:ext>
            </a:extLst>
          </p:cNvPr>
          <p:cNvSpPr>
            <a:spLocks xmlns:a="http://schemas.openxmlformats.org/drawingml/2006/main" noGrp="1"/>
          </p:cNvSpPr>
          <p:nvPr/>
        </p:nvSpPr>
        <p:spPr>
          <a:xfrm xmlns:a="http://schemas.openxmlformats.org/drawingml/2006/main">
            <a:off x="8191500" y="4000500"/>
            <a:ext cx="3238500" cy="952500"/>
          </a:xfrm>
          <a:prstGeom xmlns:a="http://schemas.openxmlformats.org/drawingml/2006/main" prst="roundRect">
            <a:avLst>
              <a:gd name="adj" fmla="val 8000"/>
            </a:avLst>
          </a:prstGeom>
          <a:solidFill xmlns:a="http://schemas.openxmlformats.org/drawingml/2006/main">
            <a:srgbClr val="EEE8FF"/>
          </a:solidFill>
          <a:ln xmlns:a="http://schemas.openxmlformats.org/drawingml/2006/main" w="19050">
            <a:solidFill>
              <a:srgbClr val="8E6CEF"/>
            </a:solidFill>
            <a:prstDash val="solid"/>
          </a:ln>
        </p:spPr>
      </p:sp>
      <p:sp>
        <p:nvSpPr>
          <p:cNvPr id="15" name="node-label">
            <a:extLst xmlns:a="http://schemas.openxmlformats.org/drawingml/2006/main">
              <a:ext uri="{FF2B5EF4-FFF2-40B4-BE49-F238E27FC236}">
                <a16:creationId xmlns:a16="http://schemas.microsoft.com/office/drawing/2014/main" id="{FF1AB73A-A67D-4290-A92E-169D29FBDF98}"/>
              </a:ext>
            </a:extLst>
          </p:cNvPr>
          <p:cNvSpPr>
            <a:spLocks xmlns:a="http://schemas.openxmlformats.org/drawingml/2006/main" noGrp="1"/>
          </p:cNvSpPr>
          <p:nvPr/>
        </p:nvSpPr>
        <p:spPr>
          <a:xfrm xmlns:a="http://schemas.openxmlformats.org/drawingml/2006/main">
            <a:off x="8267700" y="4038600"/>
            <a:ext cx="30861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region agreement</a:t>
            </a:r>
          </a:p>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λGIoU LGIoU</a:t>
            </a:r>
          </a:p>
        </p:txBody>
      </p:sp>
      <p:sp>
        <p:nvSpPr>
          <p:cNvPr id="16" name="box">
            <a:extLst xmlns:a="http://schemas.openxmlformats.org/drawingml/2006/main">
              <a:ext uri="{FF2B5EF4-FFF2-40B4-BE49-F238E27FC236}">
                <a16:creationId xmlns:a16="http://schemas.microsoft.com/office/drawing/2014/main" id="{E5107494-7175-4357-8DA8-300F2587E416}"/>
              </a:ext>
            </a:extLst>
          </p:cNvPr>
          <p:cNvSpPr>
            <a:spLocks xmlns:a="http://schemas.openxmlformats.org/drawingml/2006/main" noGrp="1"/>
          </p:cNvSpPr>
          <p:nvPr/>
        </p:nvSpPr>
        <p:spPr>
          <a:xfrm xmlns:a="http://schemas.openxmlformats.org/drawingml/2006/main">
            <a:off x="1485900" y="5410200"/>
            <a:ext cx="9220200" cy="533400"/>
          </a:xfrm>
          <a:prstGeom xmlns:a="http://schemas.openxmlformats.org/drawingml/2006/main" prst="roundRect">
            <a:avLst>
              <a:gd name="adj" fmla="val 14286"/>
            </a:avLst>
          </a:prstGeom>
          <a:solidFill xmlns:a="http://schemas.openxmlformats.org/drawingml/2006/main">
            <a:srgbClr val="EEF1F4"/>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D63847B2-E8CD-46F7-A274-12764FE0CAE7}"/>
              </a:ext>
            </a:extLst>
          </p:cNvPr>
          <p:cNvSpPr>
            <a:spLocks xmlns:a="http://schemas.openxmlformats.org/drawingml/2006/main" noGrp="1"/>
          </p:cNvSpPr>
          <p:nvPr/>
        </p:nvSpPr>
        <p:spPr>
          <a:xfrm xmlns:a="http://schemas.openxmlformats.org/drawingml/2006/main">
            <a:off x="1657350" y="5486400"/>
            <a:ext cx="887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Next: highlight one term at a time while keeping the same prediction–target pair.</a:t>
            </a:r>
          </a:p>
        </p:txBody>
      </p:sp>
    </p:spTree>
    <p:extLst>
      <p:ext uri="{BB962C8B-B14F-4D97-AF65-F5344CB8AC3E}">
        <p14:creationId xmlns:p14="http://schemas.microsoft.com/office/powerpoint/2010/main" val="169541654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5A25F496-C51F-4AC5-8018-44123DA02A57}"/>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4B5CEF9F-B5FB-4BF7-AB29-6A42916EAE7A}"/>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Matching term 1: what class is it?</a:t>
            </a:r>
          </a:p>
        </p:txBody>
      </p:sp>
      <p:sp>
        <p:nvSpPr>
          <p:cNvPr id="3" name="text">
            <a:extLst xmlns:a="http://schemas.openxmlformats.org/drawingml/2006/main">
              <a:ext uri="{FF2B5EF4-FFF2-40B4-BE49-F238E27FC236}">
                <a16:creationId xmlns:a16="http://schemas.microsoft.com/office/drawing/2014/main" id="{0FBC8907-4D52-4490-A273-9F75F70A1441}"/>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4 • PAIRWISE COST</a:t>
            </a:r>
          </a:p>
        </p:txBody>
      </p:sp>
      <p:sp>
        <p:nvSpPr>
          <p:cNvPr id="4" name="text">
            <a:extLst xmlns:a="http://schemas.openxmlformats.org/drawingml/2006/main">
              <a:ext uri="{FF2B5EF4-FFF2-40B4-BE49-F238E27FC236}">
                <a16:creationId xmlns:a16="http://schemas.microsoft.com/office/drawing/2014/main" id="{5413B455-BFFB-48B9-8F2D-50651B69280F}"/>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20</a:t>
            </a:r>
          </a:p>
        </p:txBody>
      </p:sp>
      <p:sp>
        <p:nvSpPr>
          <p:cNvPr id="5" name="text">
            <a:extLst xmlns:a="http://schemas.openxmlformats.org/drawingml/2006/main">
              <a:ext uri="{FF2B5EF4-FFF2-40B4-BE49-F238E27FC236}">
                <a16:creationId xmlns:a16="http://schemas.microsoft.com/office/drawing/2014/main" id="{DF8274CC-9DCC-4BF1-9B11-092BA3174E6B}"/>
              </a:ext>
            </a:extLst>
          </p:cNvPr>
          <p:cNvSpPr>
            <a:spLocks xmlns:a="http://schemas.openxmlformats.org/drawingml/2006/main" noGrp="1"/>
          </p:cNvSpPr>
          <p:nvPr/>
        </p:nvSpPr>
        <p:spPr>
          <a:xfrm xmlns:a="http://schemas.openxmlformats.org/drawingml/2006/main">
            <a:off x="704850" y="1504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EF6A66"/>
                </a:solidFill>
                <a:latin typeface="Helvetica Neue"/>
                <a:ea typeface="Helvetica Neue"/>
                <a:cs typeface="Helvetica Neue"/>
              </a:defRPr>
            </a:pPr>
            <a:r>
              <a:rPr sz="1200" b="1">
                <a:solidFill>
                  <a:srgbClr val="EF6A66"/>
                </a:solidFill>
                <a:latin typeface="Helvetica Neue"/>
                <a:ea typeface="Helvetica Neue"/>
                <a:cs typeface="Helvetica Neue"/>
              </a:rPr>
              <a:t>PAPER TERM</a:t>
            </a:r>
          </a:p>
        </p:txBody>
      </p:sp>
      <p:sp>
        <p:nvSpPr>
          <p:cNvPr id="6" name="math-region">
            <a:extLst xmlns:a="http://schemas.openxmlformats.org/drawingml/2006/main">
              <a:ext uri="{FF2B5EF4-FFF2-40B4-BE49-F238E27FC236}">
                <a16:creationId xmlns:a16="http://schemas.microsoft.com/office/drawing/2014/main" id="{B4A99C03-2EE8-4CE7-A36F-15500CD26D18}"/>
              </a:ext>
            </a:extLst>
          </p:cNvPr>
          <p:cNvSpPr>
            <a:spLocks xmlns:a="http://schemas.openxmlformats.org/drawingml/2006/main" noGrp="1"/>
          </p:cNvSpPr>
          <p:nvPr/>
        </p:nvSpPr>
        <p:spPr>
          <a:xfrm xmlns:a="http://schemas.openxmlformats.org/drawingml/2006/main">
            <a:off x="704850" y="1924050"/>
            <a:ext cx="10782300" cy="1333500"/>
          </a:xfrm>
          <a:prstGeom xmlns:a="http://schemas.openxmlformats.org/drawingml/2006/main" prst="roundRect">
            <a:avLst>
              <a:gd name="adj" fmla="val 5714"/>
            </a:avLst>
          </a:prstGeom>
          <a:solidFill xmlns:a="http://schemas.openxmlformats.org/drawingml/2006/main">
            <a:srgbClr val="FDE7E5"/>
          </a:solidFill>
          <a:ln xmlns:a="http://schemas.openxmlformats.org/drawingml/2006/main" w="19050">
            <a:solidFill>
              <a:srgbClr val="EF6A66"/>
            </a:solidFill>
            <a:prstDash val="solid"/>
          </a:ln>
        </p:spPr>
      </p:sp>
      <p:sp>
        <p:nvSpPr>
          <p:cNvPr id="7" name="math-fallback-class">
            <a:extLst xmlns:a="http://schemas.openxmlformats.org/drawingml/2006/main">
              <a:ext uri="{FF2B5EF4-FFF2-40B4-BE49-F238E27FC236}">
                <a16:creationId xmlns:a16="http://schemas.microsoft.com/office/drawing/2014/main" id="{D0B14FE9-94BF-4E7B-9431-D7EC5D71E80E}"/>
              </a:ext>
            </a:extLst>
          </p:cNvPr>
          <p:cNvSpPr>
            <a:spLocks xmlns:a="http://schemas.openxmlformats.org/drawingml/2006/main" noGrp="1"/>
          </p:cNvSpPr>
          <p:nvPr/>
        </p:nvSpPr>
        <p:spPr>
          <a:xfrm xmlns:a="http://schemas.openxmlformats.org/drawingml/2006/main">
            <a:off x="1047750" y="2133600"/>
            <a:ext cx="10096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111318"/>
                </a:solidFill>
                <a:latin typeface="Helvetica Neue"/>
                <a:ea typeface="Helvetica Neue"/>
                <a:cs typeface="Helvetica Neue"/>
              </a:defRPr>
            </a:pPr>
            <a:r>
              <a:rPr sz="2550" b="1">
                <a:solidFill>
                  <a:srgbClr val="111318"/>
                </a:solidFill>
                <a:latin typeface="Helvetica Neue"/>
                <a:ea typeface="Helvetica Neue"/>
                <a:cs typeface="Helvetica Neue"/>
              </a:rPr>
              <a:t>− 𝟙{cᵢ ≠ ∅} p̂ⱼ(cᵢ)</a:t>
            </a:r>
          </a:p>
        </p:txBody>
      </p:sp>
      <p:sp>
        <p:nvSpPr>
          <p:cNvPr id="8" name="paper-citation">
            <a:extLst xmlns:a="http://schemas.openxmlformats.org/drawingml/2006/main">
              <a:ext uri="{FF2B5EF4-FFF2-40B4-BE49-F238E27FC236}">
                <a16:creationId xmlns:a16="http://schemas.microsoft.com/office/drawing/2014/main" id="{A0441B95-4A2B-4939-8190-F781306CA61A}"/>
              </a:ext>
            </a:extLst>
          </p:cNvPr>
          <p:cNvSpPr>
            <a:spLocks xmlns:a="http://schemas.openxmlformats.org/drawingml/2006/main" noGrp="1"/>
          </p:cNvSpPr>
          <p:nvPr/>
        </p:nvSpPr>
        <p:spPr>
          <a:xfrm xmlns:a="http://schemas.openxmlformats.org/drawingml/2006/main">
            <a:off x="609600" y="34099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Adapted from Carion et al., ECCV 2020, matching-cost definition following Eq. (1).</a:t>
            </a:r>
          </a:p>
        </p:txBody>
      </p:sp>
      <p:sp>
        <p:nvSpPr>
          <p:cNvPr id="9" name="node">
            <a:extLst xmlns:a="http://schemas.openxmlformats.org/drawingml/2006/main">
              <a:ext uri="{FF2B5EF4-FFF2-40B4-BE49-F238E27FC236}">
                <a16:creationId xmlns:a16="http://schemas.microsoft.com/office/drawing/2014/main" id="{557B4DAE-38E0-4474-8FD7-1C919D5BD3EA}"/>
              </a:ext>
            </a:extLst>
          </p:cNvPr>
          <p:cNvSpPr>
            <a:spLocks xmlns:a="http://schemas.openxmlformats.org/drawingml/2006/main" noGrp="1"/>
          </p:cNvSpPr>
          <p:nvPr/>
        </p:nvSpPr>
        <p:spPr>
          <a:xfrm xmlns:a="http://schemas.openxmlformats.org/drawingml/2006/main">
            <a:off x="1238250" y="4210050"/>
            <a:ext cx="2095500" cy="762000"/>
          </a:xfrm>
          <a:prstGeom xmlns:a="http://schemas.openxmlformats.org/drawingml/2006/main" prst="roundRect">
            <a:avLst>
              <a:gd name="adj" fmla="val 10000"/>
            </a:avLst>
          </a:prstGeom>
          <a:solidFill xmlns:a="http://schemas.openxmlformats.org/drawingml/2006/main">
            <a:srgbClr val="D9F1FC"/>
          </a:solidFill>
          <a:ln xmlns:a="http://schemas.openxmlformats.org/drawingml/2006/main" w="19050">
            <a:solidFill>
              <a:srgbClr val="3D8DFF"/>
            </a:solidFill>
            <a:prstDash val="solid"/>
          </a:ln>
        </p:spPr>
      </p:sp>
      <p:sp>
        <p:nvSpPr>
          <p:cNvPr id="10" name="node-label">
            <a:extLst xmlns:a="http://schemas.openxmlformats.org/drawingml/2006/main">
              <a:ext uri="{FF2B5EF4-FFF2-40B4-BE49-F238E27FC236}">
                <a16:creationId xmlns:a16="http://schemas.microsoft.com/office/drawing/2014/main" id="{2242F2B8-C18B-4B1E-8339-EDD3AA0013DB}"/>
              </a:ext>
            </a:extLst>
          </p:cNvPr>
          <p:cNvSpPr>
            <a:spLocks xmlns:a="http://schemas.openxmlformats.org/drawingml/2006/main" noGrp="1"/>
          </p:cNvSpPr>
          <p:nvPr/>
        </p:nvSpPr>
        <p:spPr>
          <a:xfrm xmlns:a="http://schemas.openxmlformats.org/drawingml/2006/main">
            <a:off x="1314450" y="4248150"/>
            <a:ext cx="1943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target class</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cᵢ</a:t>
            </a:r>
          </a:p>
        </p:txBody>
      </p:sp>
      <p:sp>
        <p:nvSpPr>
          <p:cNvPr id="11" name="arrow">
            <a:extLst xmlns:a="http://schemas.openxmlformats.org/drawingml/2006/main">
              <a:ext uri="{FF2B5EF4-FFF2-40B4-BE49-F238E27FC236}">
                <a16:creationId xmlns:a16="http://schemas.microsoft.com/office/drawing/2014/main" id="{675A35A4-52FA-4AC6-B2E0-60DD5C85CB18}"/>
              </a:ext>
            </a:extLst>
          </p:cNvPr>
          <p:cNvSpPr>
            <a:spLocks xmlns:a="http://schemas.openxmlformats.org/drawingml/2006/main" noGrp="1"/>
          </p:cNvSpPr>
          <p:nvPr/>
        </p:nvSpPr>
        <p:spPr>
          <a:xfrm xmlns:a="http://schemas.openxmlformats.org/drawingml/2006/main">
            <a:off x="3448050" y="441960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12" name="node">
            <a:extLst xmlns:a="http://schemas.openxmlformats.org/drawingml/2006/main">
              <a:ext uri="{FF2B5EF4-FFF2-40B4-BE49-F238E27FC236}">
                <a16:creationId xmlns:a16="http://schemas.microsoft.com/office/drawing/2014/main" id="{A393AC54-3958-403D-86B7-A8A7CC8A0120}"/>
              </a:ext>
            </a:extLst>
          </p:cNvPr>
          <p:cNvSpPr>
            <a:spLocks xmlns:a="http://schemas.openxmlformats.org/drawingml/2006/main" noGrp="1"/>
          </p:cNvSpPr>
          <p:nvPr/>
        </p:nvSpPr>
        <p:spPr>
          <a:xfrm xmlns:a="http://schemas.openxmlformats.org/drawingml/2006/main">
            <a:off x="4229100" y="4210050"/>
            <a:ext cx="2857500" cy="762000"/>
          </a:xfrm>
          <a:prstGeom xmlns:a="http://schemas.openxmlformats.org/drawingml/2006/main" prst="roundRect">
            <a:avLst>
              <a:gd name="adj" fmla="val 10000"/>
            </a:avLst>
          </a:prstGeom>
          <a:solidFill xmlns:a="http://schemas.openxmlformats.org/drawingml/2006/main">
            <a:srgbClr val="DDF4E8"/>
          </a:solidFill>
          <a:ln xmlns:a="http://schemas.openxmlformats.org/drawingml/2006/main" w="19050">
            <a:solidFill>
              <a:srgbClr val="45B97C"/>
            </a:solidFill>
            <a:prstDash val="solid"/>
          </a:ln>
        </p:spPr>
      </p:sp>
      <p:sp>
        <p:nvSpPr>
          <p:cNvPr id="13" name="node-label">
            <a:extLst xmlns:a="http://schemas.openxmlformats.org/drawingml/2006/main">
              <a:ext uri="{FF2B5EF4-FFF2-40B4-BE49-F238E27FC236}">
                <a16:creationId xmlns:a16="http://schemas.microsoft.com/office/drawing/2014/main" id="{BA52FE9C-543F-4C75-BC65-90260F7C7921}"/>
              </a:ext>
            </a:extLst>
          </p:cNvPr>
          <p:cNvSpPr>
            <a:spLocks xmlns:a="http://schemas.openxmlformats.org/drawingml/2006/main" noGrp="1"/>
          </p:cNvSpPr>
          <p:nvPr/>
        </p:nvSpPr>
        <p:spPr>
          <a:xfrm xmlns:a="http://schemas.openxmlformats.org/drawingml/2006/main">
            <a:off x="4305300" y="4248150"/>
            <a:ext cx="2705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predicted probability</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p̂ⱼ(cᵢ)</a:t>
            </a:r>
          </a:p>
        </p:txBody>
      </p:sp>
      <p:sp>
        <p:nvSpPr>
          <p:cNvPr id="14" name="arrow">
            <a:extLst xmlns:a="http://schemas.openxmlformats.org/drawingml/2006/main">
              <a:ext uri="{FF2B5EF4-FFF2-40B4-BE49-F238E27FC236}">
                <a16:creationId xmlns:a16="http://schemas.microsoft.com/office/drawing/2014/main" id="{E359BD0F-FA49-458B-9DA5-411221D99E85}"/>
              </a:ext>
            </a:extLst>
          </p:cNvPr>
          <p:cNvSpPr>
            <a:spLocks xmlns:a="http://schemas.openxmlformats.org/drawingml/2006/main" noGrp="1"/>
          </p:cNvSpPr>
          <p:nvPr/>
        </p:nvSpPr>
        <p:spPr>
          <a:xfrm xmlns:a="http://schemas.openxmlformats.org/drawingml/2006/main">
            <a:off x="7200900" y="441960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15" name="node">
            <a:extLst xmlns:a="http://schemas.openxmlformats.org/drawingml/2006/main">
              <a:ext uri="{FF2B5EF4-FFF2-40B4-BE49-F238E27FC236}">
                <a16:creationId xmlns:a16="http://schemas.microsoft.com/office/drawing/2014/main" id="{09675AA2-E594-4598-8B25-490011866CD2}"/>
              </a:ext>
            </a:extLst>
          </p:cNvPr>
          <p:cNvSpPr>
            <a:spLocks xmlns:a="http://schemas.openxmlformats.org/drawingml/2006/main" noGrp="1"/>
          </p:cNvSpPr>
          <p:nvPr/>
        </p:nvSpPr>
        <p:spPr>
          <a:xfrm xmlns:a="http://schemas.openxmlformats.org/drawingml/2006/main">
            <a:off x="7981950" y="4210050"/>
            <a:ext cx="2857500" cy="762000"/>
          </a:xfrm>
          <a:prstGeom xmlns:a="http://schemas.openxmlformats.org/drawingml/2006/main" prst="roundRect">
            <a:avLst>
              <a:gd name="adj" fmla="val 10000"/>
            </a:avLst>
          </a:prstGeom>
          <a:solidFill xmlns:a="http://schemas.openxmlformats.org/drawingml/2006/main">
            <a:srgbClr val="FDE7E5"/>
          </a:solidFill>
          <a:ln xmlns:a="http://schemas.openxmlformats.org/drawingml/2006/main" w="19050">
            <a:solidFill>
              <a:srgbClr val="EF6A66"/>
            </a:solidFill>
            <a:prstDash val="solid"/>
          </a:ln>
        </p:spPr>
      </p:sp>
      <p:sp>
        <p:nvSpPr>
          <p:cNvPr id="16" name="node-label">
            <a:extLst xmlns:a="http://schemas.openxmlformats.org/drawingml/2006/main">
              <a:ext uri="{FF2B5EF4-FFF2-40B4-BE49-F238E27FC236}">
                <a16:creationId xmlns:a16="http://schemas.microsoft.com/office/drawing/2014/main" id="{E4636618-CC3C-433B-9975-B53E03497A67}"/>
              </a:ext>
            </a:extLst>
          </p:cNvPr>
          <p:cNvSpPr>
            <a:spLocks xmlns:a="http://schemas.openxmlformats.org/drawingml/2006/main" noGrp="1"/>
          </p:cNvSpPr>
          <p:nvPr/>
        </p:nvSpPr>
        <p:spPr>
          <a:xfrm xmlns:a="http://schemas.openxmlformats.org/drawingml/2006/main">
            <a:off x="8058150" y="4248150"/>
            <a:ext cx="2705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lower cost when</a:t>
            </a:r>
          </a:p>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probability is high</a:t>
            </a:r>
          </a:p>
        </p:txBody>
      </p:sp>
      <p:sp>
        <p:nvSpPr>
          <p:cNvPr id="17" name="text">
            <a:extLst xmlns:a="http://schemas.openxmlformats.org/drawingml/2006/main">
              <a:ext uri="{FF2B5EF4-FFF2-40B4-BE49-F238E27FC236}">
                <a16:creationId xmlns:a16="http://schemas.microsoft.com/office/drawing/2014/main" id="{EB5808D2-99B6-42F8-9092-A780CC146364}"/>
              </a:ext>
            </a:extLst>
          </p:cNvPr>
          <p:cNvSpPr>
            <a:spLocks xmlns:a="http://schemas.openxmlformats.org/drawingml/2006/main" noGrp="1"/>
          </p:cNvSpPr>
          <p:nvPr/>
        </p:nvSpPr>
        <p:spPr>
          <a:xfrm xmlns:a="http://schemas.openxmlformats.org/drawingml/2006/main">
            <a:off x="1428750" y="539115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5D6673"/>
                </a:solidFill>
                <a:latin typeface="Helvetica Neue"/>
                <a:ea typeface="Helvetica Neue"/>
                <a:cs typeface="Helvetica Neue"/>
              </a:defRPr>
            </a:pPr>
            <a:r>
              <a:rPr sz="1350" b="1">
                <a:solidFill>
                  <a:srgbClr val="5D6673"/>
                </a:solidFill>
                <a:latin typeface="Helvetica Neue"/>
                <a:ea typeface="Helvetica Neue"/>
                <a:cs typeface="Helvetica Neue"/>
              </a:rPr>
              <a:t>For positive teaching numbers, 1 − p̂ gives the same assignment because it differs only by a constant.</a:t>
            </a:r>
          </a:p>
        </p:txBody>
      </p:sp>
    </p:spTree>
    <p:extLst>
      <p:ext uri="{BB962C8B-B14F-4D97-AF65-F5344CB8AC3E}">
        <p14:creationId xmlns:p14="http://schemas.microsoft.com/office/powerpoint/2010/main" val="11619923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4B69705B-2EFE-4C8C-9908-C84F7A52F27B}"/>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72ECF97C-6E89-410C-9B96-AEF38AC63D19}"/>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Matching term 2: are the coordinates close?</a:t>
            </a:r>
          </a:p>
        </p:txBody>
      </p:sp>
      <p:sp>
        <p:nvSpPr>
          <p:cNvPr id="3" name="text">
            <a:extLst xmlns:a="http://schemas.openxmlformats.org/drawingml/2006/main">
              <a:ext uri="{FF2B5EF4-FFF2-40B4-BE49-F238E27FC236}">
                <a16:creationId xmlns:a16="http://schemas.microsoft.com/office/drawing/2014/main" id="{0487FC71-4A07-4DD7-9486-764FF3C6D392}"/>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4 • PAIRWISE COST</a:t>
            </a:r>
          </a:p>
        </p:txBody>
      </p:sp>
      <p:sp>
        <p:nvSpPr>
          <p:cNvPr id="4" name="text">
            <a:extLst xmlns:a="http://schemas.openxmlformats.org/drawingml/2006/main">
              <a:ext uri="{FF2B5EF4-FFF2-40B4-BE49-F238E27FC236}">
                <a16:creationId xmlns:a16="http://schemas.microsoft.com/office/drawing/2014/main" id="{1A9B72D1-D5FC-416D-80EA-19F2D3989EE3}"/>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21</a:t>
            </a:r>
          </a:p>
        </p:txBody>
      </p:sp>
      <p:sp>
        <p:nvSpPr>
          <p:cNvPr id="5" name="math-region">
            <a:extLst xmlns:a="http://schemas.openxmlformats.org/drawingml/2006/main">
              <a:ext uri="{FF2B5EF4-FFF2-40B4-BE49-F238E27FC236}">
                <a16:creationId xmlns:a16="http://schemas.microsoft.com/office/drawing/2014/main" id="{B34CC182-49BF-4ACE-9524-871CE7779ECA}"/>
              </a:ext>
            </a:extLst>
          </p:cNvPr>
          <p:cNvSpPr>
            <a:spLocks xmlns:a="http://schemas.openxmlformats.org/drawingml/2006/main" noGrp="1"/>
          </p:cNvSpPr>
          <p:nvPr/>
        </p:nvSpPr>
        <p:spPr>
          <a:xfrm xmlns:a="http://schemas.openxmlformats.org/drawingml/2006/main">
            <a:off x="704850" y="1790700"/>
            <a:ext cx="10782300" cy="1352550"/>
          </a:xfrm>
          <a:prstGeom xmlns:a="http://schemas.openxmlformats.org/drawingml/2006/main" prst="roundRect">
            <a:avLst>
              <a:gd name="adj" fmla="val 5634"/>
            </a:avLst>
          </a:prstGeom>
          <a:solidFill xmlns:a="http://schemas.openxmlformats.org/drawingml/2006/main">
            <a:srgbClr val="FFF1CC"/>
          </a:solidFill>
          <a:ln xmlns:a="http://schemas.openxmlformats.org/drawingml/2006/main" w="19050">
            <a:solidFill>
              <a:srgbClr val="F2B84B"/>
            </a:solidFill>
            <a:prstDash val="solid"/>
          </a:ln>
        </p:spPr>
      </p:sp>
      <p:sp>
        <p:nvSpPr>
          <p:cNvPr id="6" name="math-fallback-l1">
            <a:extLst xmlns:a="http://schemas.openxmlformats.org/drawingml/2006/main">
              <a:ext uri="{FF2B5EF4-FFF2-40B4-BE49-F238E27FC236}">
                <a16:creationId xmlns:a16="http://schemas.microsoft.com/office/drawing/2014/main" id="{E22EC351-6651-4AF8-9EC8-5DAA819C3A9C}"/>
              </a:ext>
            </a:extLst>
          </p:cNvPr>
          <p:cNvSpPr>
            <a:spLocks xmlns:a="http://schemas.openxmlformats.org/drawingml/2006/main" noGrp="1"/>
          </p:cNvSpPr>
          <p:nvPr/>
        </p:nvSpPr>
        <p:spPr>
          <a:xfrm xmlns:a="http://schemas.openxmlformats.org/drawingml/2006/main">
            <a:off x="1047750" y="2000250"/>
            <a:ext cx="10096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700" b="1">
                <a:solidFill>
                  <a:srgbClr val="111318"/>
                </a:solidFill>
                <a:latin typeface="Helvetica Neue"/>
                <a:ea typeface="Helvetica Neue"/>
                <a:cs typeface="Helvetica Neue"/>
              </a:defRPr>
            </a:pPr>
            <a:r>
              <a:rPr sz="2700" b="1">
                <a:solidFill>
                  <a:srgbClr val="111318"/>
                </a:solidFill>
                <a:latin typeface="Helvetica Neue"/>
                <a:ea typeface="Helvetica Neue"/>
                <a:cs typeface="Helvetica Neue"/>
              </a:rPr>
              <a:t>λL1 ‖bᵢ − b̂ⱼ‖₁</a:t>
            </a:r>
          </a:p>
        </p:txBody>
      </p:sp>
      <p:sp>
        <p:nvSpPr>
          <p:cNvPr id="7" name="paper-citation">
            <a:extLst xmlns:a="http://schemas.openxmlformats.org/drawingml/2006/main">
              <a:ext uri="{FF2B5EF4-FFF2-40B4-BE49-F238E27FC236}">
                <a16:creationId xmlns:a16="http://schemas.microsoft.com/office/drawing/2014/main" id="{37606695-E88A-4E06-881E-EB1B1AA24A5B}"/>
              </a:ext>
            </a:extLst>
          </p:cNvPr>
          <p:cNvSpPr>
            <a:spLocks xmlns:a="http://schemas.openxmlformats.org/drawingml/2006/main" noGrp="1"/>
          </p:cNvSpPr>
          <p:nvPr/>
        </p:nvSpPr>
        <p:spPr>
          <a:xfrm xmlns:a="http://schemas.openxmlformats.org/drawingml/2006/main">
            <a:off x="609600" y="33147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Adapted from Carion et al., ECCV 2020, bounding-box loss definition on p. 6.</a:t>
            </a:r>
          </a:p>
        </p:txBody>
      </p:sp>
      <p:sp>
        <p:nvSpPr>
          <p:cNvPr id="8" name="node">
            <a:extLst xmlns:a="http://schemas.openxmlformats.org/drawingml/2006/main">
              <a:ext uri="{FF2B5EF4-FFF2-40B4-BE49-F238E27FC236}">
                <a16:creationId xmlns:a16="http://schemas.microsoft.com/office/drawing/2014/main" id="{04F7FC15-4EB8-4D13-8C49-CAB0DAD5552F}"/>
              </a:ext>
            </a:extLst>
          </p:cNvPr>
          <p:cNvSpPr>
            <a:spLocks xmlns:a="http://schemas.openxmlformats.org/drawingml/2006/main" noGrp="1"/>
          </p:cNvSpPr>
          <p:nvPr/>
        </p:nvSpPr>
        <p:spPr>
          <a:xfrm xmlns:a="http://schemas.openxmlformats.org/drawingml/2006/main">
            <a:off x="990600" y="4095750"/>
            <a:ext cx="7810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F2B84B"/>
            </a:solidFill>
            <a:prstDash val="solid"/>
          </a:ln>
        </p:spPr>
      </p:sp>
      <p:sp>
        <p:nvSpPr>
          <p:cNvPr id="9" name="node-label">
            <a:extLst xmlns:a="http://schemas.openxmlformats.org/drawingml/2006/main">
              <a:ext uri="{FF2B5EF4-FFF2-40B4-BE49-F238E27FC236}">
                <a16:creationId xmlns:a16="http://schemas.microsoft.com/office/drawing/2014/main" id="{7CDC580B-208F-4D17-B737-84CA8A1F6A1E}"/>
              </a:ext>
            </a:extLst>
          </p:cNvPr>
          <p:cNvSpPr>
            <a:spLocks xmlns:a="http://schemas.openxmlformats.org/drawingml/2006/main" noGrp="1"/>
          </p:cNvSpPr>
          <p:nvPr/>
        </p:nvSpPr>
        <p:spPr>
          <a:xfrm xmlns:a="http://schemas.openxmlformats.org/drawingml/2006/main">
            <a:off x="1066800" y="4133850"/>
            <a:ext cx="628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cₓ</a:t>
            </a:r>
          </a:p>
        </p:txBody>
      </p:sp>
      <p:sp>
        <p:nvSpPr>
          <p:cNvPr id="10" name="text">
            <a:extLst xmlns:a="http://schemas.openxmlformats.org/drawingml/2006/main">
              <a:ext uri="{FF2B5EF4-FFF2-40B4-BE49-F238E27FC236}">
                <a16:creationId xmlns:a16="http://schemas.microsoft.com/office/drawing/2014/main" id="{C7B05F44-D4A7-42EF-8558-0467558618C0}"/>
              </a:ext>
            </a:extLst>
          </p:cNvPr>
          <p:cNvSpPr>
            <a:spLocks xmlns:a="http://schemas.openxmlformats.org/drawingml/2006/main" noGrp="1"/>
          </p:cNvSpPr>
          <p:nvPr/>
        </p:nvSpPr>
        <p:spPr>
          <a:xfrm xmlns:a="http://schemas.openxmlformats.org/drawingml/2006/main">
            <a:off x="1847850" y="4095750"/>
            <a:ext cx="1676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horizontal center</a:t>
            </a:r>
          </a:p>
        </p:txBody>
      </p:sp>
      <p:sp>
        <p:nvSpPr>
          <p:cNvPr id="11" name="node">
            <a:extLst xmlns:a="http://schemas.openxmlformats.org/drawingml/2006/main">
              <a:ext uri="{FF2B5EF4-FFF2-40B4-BE49-F238E27FC236}">
                <a16:creationId xmlns:a16="http://schemas.microsoft.com/office/drawing/2014/main" id="{C9A39C43-4B25-45F3-AD82-4E22913D1D97}"/>
              </a:ext>
            </a:extLst>
          </p:cNvPr>
          <p:cNvSpPr>
            <a:spLocks xmlns:a="http://schemas.openxmlformats.org/drawingml/2006/main" noGrp="1"/>
          </p:cNvSpPr>
          <p:nvPr/>
        </p:nvSpPr>
        <p:spPr>
          <a:xfrm xmlns:a="http://schemas.openxmlformats.org/drawingml/2006/main">
            <a:off x="3714750" y="4095750"/>
            <a:ext cx="7810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F2B84B"/>
            </a:solidFill>
            <a:prstDash val="solid"/>
          </a:ln>
        </p:spPr>
      </p:sp>
      <p:sp>
        <p:nvSpPr>
          <p:cNvPr id="12" name="node-label">
            <a:extLst xmlns:a="http://schemas.openxmlformats.org/drawingml/2006/main">
              <a:ext uri="{FF2B5EF4-FFF2-40B4-BE49-F238E27FC236}">
                <a16:creationId xmlns:a16="http://schemas.microsoft.com/office/drawing/2014/main" id="{78C33BE7-7762-4087-8311-8760E97D5E29}"/>
              </a:ext>
            </a:extLst>
          </p:cNvPr>
          <p:cNvSpPr>
            <a:spLocks xmlns:a="http://schemas.openxmlformats.org/drawingml/2006/main" noGrp="1"/>
          </p:cNvSpPr>
          <p:nvPr/>
        </p:nvSpPr>
        <p:spPr>
          <a:xfrm xmlns:a="http://schemas.openxmlformats.org/drawingml/2006/main">
            <a:off x="3790950" y="4133850"/>
            <a:ext cx="628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cᵧ</a:t>
            </a:r>
          </a:p>
        </p:txBody>
      </p:sp>
      <p:sp>
        <p:nvSpPr>
          <p:cNvPr id="13" name="text">
            <a:extLst xmlns:a="http://schemas.openxmlformats.org/drawingml/2006/main">
              <a:ext uri="{FF2B5EF4-FFF2-40B4-BE49-F238E27FC236}">
                <a16:creationId xmlns:a16="http://schemas.microsoft.com/office/drawing/2014/main" id="{0DB0D905-A7E5-40CE-AB19-E911969D768C}"/>
              </a:ext>
            </a:extLst>
          </p:cNvPr>
          <p:cNvSpPr>
            <a:spLocks xmlns:a="http://schemas.openxmlformats.org/drawingml/2006/main" noGrp="1"/>
          </p:cNvSpPr>
          <p:nvPr/>
        </p:nvSpPr>
        <p:spPr>
          <a:xfrm xmlns:a="http://schemas.openxmlformats.org/drawingml/2006/main">
            <a:off x="4572000" y="4095750"/>
            <a:ext cx="1676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vertical center</a:t>
            </a:r>
          </a:p>
        </p:txBody>
      </p:sp>
      <p:sp>
        <p:nvSpPr>
          <p:cNvPr id="14" name="node">
            <a:extLst xmlns:a="http://schemas.openxmlformats.org/drawingml/2006/main">
              <a:ext uri="{FF2B5EF4-FFF2-40B4-BE49-F238E27FC236}">
                <a16:creationId xmlns:a16="http://schemas.microsoft.com/office/drawing/2014/main" id="{6BEEFEFA-500A-447E-8F3E-B29D9E348C22}"/>
              </a:ext>
            </a:extLst>
          </p:cNvPr>
          <p:cNvSpPr>
            <a:spLocks xmlns:a="http://schemas.openxmlformats.org/drawingml/2006/main" noGrp="1"/>
          </p:cNvSpPr>
          <p:nvPr/>
        </p:nvSpPr>
        <p:spPr>
          <a:xfrm xmlns:a="http://schemas.openxmlformats.org/drawingml/2006/main">
            <a:off x="6438900" y="4095750"/>
            <a:ext cx="7810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F2B84B"/>
            </a:solidFill>
            <a:prstDash val="solid"/>
          </a:ln>
        </p:spPr>
      </p:sp>
      <p:sp>
        <p:nvSpPr>
          <p:cNvPr id="15" name="node-label">
            <a:extLst xmlns:a="http://schemas.openxmlformats.org/drawingml/2006/main">
              <a:ext uri="{FF2B5EF4-FFF2-40B4-BE49-F238E27FC236}">
                <a16:creationId xmlns:a16="http://schemas.microsoft.com/office/drawing/2014/main" id="{E3506493-440B-4A62-BF5E-C3B76406CDE2}"/>
              </a:ext>
            </a:extLst>
          </p:cNvPr>
          <p:cNvSpPr>
            <a:spLocks xmlns:a="http://schemas.openxmlformats.org/drawingml/2006/main" noGrp="1"/>
          </p:cNvSpPr>
          <p:nvPr/>
        </p:nvSpPr>
        <p:spPr>
          <a:xfrm xmlns:a="http://schemas.openxmlformats.org/drawingml/2006/main">
            <a:off x="6515100" y="4133850"/>
            <a:ext cx="628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w</a:t>
            </a:r>
          </a:p>
        </p:txBody>
      </p:sp>
      <p:sp>
        <p:nvSpPr>
          <p:cNvPr id="16" name="text">
            <a:extLst xmlns:a="http://schemas.openxmlformats.org/drawingml/2006/main">
              <a:ext uri="{FF2B5EF4-FFF2-40B4-BE49-F238E27FC236}">
                <a16:creationId xmlns:a16="http://schemas.microsoft.com/office/drawing/2014/main" id="{590B2608-313E-4A86-9373-D18587C9C4F7}"/>
              </a:ext>
            </a:extLst>
          </p:cNvPr>
          <p:cNvSpPr>
            <a:spLocks xmlns:a="http://schemas.openxmlformats.org/drawingml/2006/main" noGrp="1"/>
          </p:cNvSpPr>
          <p:nvPr/>
        </p:nvSpPr>
        <p:spPr>
          <a:xfrm xmlns:a="http://schemas.openxmlformats.org/drawingml/2006/main">
            <a:off x="7296150" y="4095750"/>
            <a:ext cx="1676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width</a:t>
            </a:r>
          </a:p>
        </p:txBody>
      </p:sp>
      <p:sp>
        <p:nvSpPr>
          <p:cNvPr id="17" name="node">
            <a:extLst xmlns:a="http://schemas.openxmlformats.org/drawingml/2006/main">
              <a:ext uri="{FF2B5EF4-FFF2-40B4-BE49-F238E27FC236}">
                <a16:creationId xmlns:a16="http://schemas.microsoft.com/office/drawing/2014/main" id="{76883484-9DD5-41BC-A2EB-91D3F2D08275}"/>
              </a:ext>
            </a:extLst>
          </p:cNvPr>
          <p:cNvSpPr>
            <a:spLocks xmlns:a="http://schemas.openxmlformats.org/drawingml/2006/main" noGrp="1"/>
          </p:cNvSpPr>
          <p:nvPr/>
        </p:nvSpPr>
        <p:spPr>
          <a:xfrm xmlns:a="http://schemas.openxmlformats.org/drawingml/2006/main">
            <a:off x="9163050" y="4095750"/>
            <a:ext cx="7810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F2B84B"/>
            </a:solidFill>
            <a:prstDash val="solid"/>
          </a:ln>
        </p:spPr>
      </p:sp>
      <p:sp>
        <p:nvSpPr>
          <p:cNvPr id="18" name="node-label">
            <a:extLst xmlns:a="http://schemas.openxmlformats.org/drawingml/2006/main">
              <a:ext uri="{FF2B5EF4-FFF2-40B4-BE49-F238E27FC236}">
                <a16:creationId xmlns:a16="http://schemas.microsoft.com/office/drawing/2014/main" id="{96E3ED4B-D63E-4BA9-92D2-B1537F7206DB}"/>
              </a:ext>
            </a:extLst>
          </p:cNvPr>
          <p:cNvSpPr>
            <a:spLocks xmlns:a="http://schemas.openxmlformats.org/drawingml/2006/main" noGrp="1"/>
          </p:cNvSpPr>
          <p:nvPr/>
        </p:nvSpPr>
        <p:spPr>
          <a:xfrm xmlns:a="http://schemas.openxmlformats.org/drawingml/2006/main">
            <a:off x="9239250" y="4133850"/>
            <a:ext cx="628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111318"/>
                </a:solidFill>
                <a:latin typeface="Helvetica Neue"/>
                <a:ea typeface="Helvetica Neue"/>
                <a:cs typeface="Helvetica Neue"/>
              </a:defRPr>
            </a:pPr>
            <a:r>
              <a:rPr sz="1800" b="1">
                <a:solidFill>
                  <a:srgbClr val="111318"/>
                </a:solidFill>
                <a:latin typeface="Helvetica Neue"/>
                <a:ea typeface="Helvetica Neue"/>
                <a:cs typeface="Helvetica Neue"/>
              </a:rPr>
              <a:t>h</a:t>
            </a:r>
          </a:p>
        </p:txBody>
      </p:sp>
      <p:sp>
        <p:nvSpPr>
          <p:cNvPr id="19" name="text">
            <a:extLst xmlns:a="http://schemas.openxmlformats.org/drawingml/2006/main">
              <a:ext uri="{FF2B5EF4-FFF2-40B4-BE49-F238E27FC236}">
                <a16:creationId xmlns:a16="http://schemas.microsoft.com/office/drawing/2014/main" id="{BCCFE4A6-71CC-4C0A-9365-757CCF77DAC8}"/>
              </a:ext>
            </a:extLst>
          </p:cNvPr>
          <p:cNvSpPr>
            <a:spLocks xmlns:a="http://schemas.openxmlformats.org/drawingml/2006/main" noGrp="1"/>
          </p:cNvSpPr>
          <p:nvPr/>
        </p:nvSpPr>
        <p:spPr>
          <a:xfrm xmlns:a="http://schemas.openxmlformats.org/drawingml/2006/main">
            <a:off x="10020300" y="4095750"/>
            <a:ext cx="1676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height</a:t>
            </a:r>
          </a:p>
        </p:txBody>
      </p:sp>
      <p:sp>
        <p:nvSpPr>
          <p:cNvPr id="20" name="box">
            <a:extLst xmlns:a="http://schemas.openxmlformats.org/drawingml/2006/main">
              <a:ext uri="{FF2B5EF4-FFF2-40B4-BE49-F238E27FC236}">
                <a16:creationId xmlns:a16="http://schemas.microsoft.com/office/drawing/2014/main" id="{D5061FD9-BD5D-4205-8486-3AA17B12DA7A}"/>
              </a:ext>
            </a:extLst>
          </p:cNvPr>
          <p:cNvSpPr>
            <a:spLocks xmlns:a="http://schemas.openxmlformats.org/drawingml/2006/main" noGrp="1"/>
          </p:cNvSpPr>
          <p:nvPr/>
        </p:nvSpPr>
        <p:spPr>
          <a:xfrm xmlns:a="http://schemas.openxmlformats.org/drawingml/2006/main">
            <a:off x="1676400" y="5276850"/>
            <a:ext cx="8839200" cy="590550"/>
          </a:xfrm>
          <a:prstGeom xmlns:a="http://schemas.openxmlformats.org/drawingml/2006/main" prst="roundRect">
            <a:avLst>
              <a:gd name="adj" fmla="val 12903"/>
            </a:avLst>
          </a:prstGeom>
          <a:solidFill xmlns:a="http://schemas.openxmlformats.org/drawingml/2006/main">
            <a:srgbClr val="FFF1CC"/>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0523A872-BB72-4738-A30F-403F524F61F1}"/>
              </a:ext>
            </a:extLst>
          </p:cNvPr>
          <p:cNvSpPr>
            <a:spLocks xmlns:a="http://schemas.openxmlformats.org/drawingml/2006/main" noGrp="1"/>
          </p:cNvSpPr>
          <p:nvPr/>
        </p:nvSpPr>
        <p:spPr>
          <a:xfrm xmlns:a="http://schemas.openxmlformats.org/drawingml/2006/main">
            <a:off x="1847850" y="5353050"/>
            <a:ext cx="8496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2B84B"/>
                </a:solidFill>
                <a:latin typeface="Helvetica Neue"/>
                <a:ea typeface="Helvetica Neue"/>
                <a:cs typeface="Helvetica Neue"/>
              </a:defRPr>
            </a:pPr>
            <a:r>
              <a:rPr sz="1500" b="1">
                <a:solidFill>
                  <a:srgbClr val="F2B84B"/>
                </a:solidFill>
                <a:latin typeface="Helvetica Neue"/>
                <a:ea typeface="Helvetica Neue"/>
                <a:cs typeface="Helvetica Neue"/>
              </a:rPr>
              <a:t>L1 adds the four absolute coordinate differences; λL1 controls its weight.</a:t>
            </a:r>
          </a:p>
        </p:txBody>
      </p:sp>
    </p:spTree>
    <p:extLst>
      <p:ext uri="{BB962C8B-B14F-4D97-AF65-F5344CB8AC3E}">
        <p14:creationId xmlns:p14="http://schemas.microsoft.com/office/powerpoint/2010/main" val="16792113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
            <a:extLst xmlns:a="http://schemas.openxmlformats.org/drawingml/2006/main">
              <a:ext uri="{FF2B5EF4-FFF2-40B4-BE49-F238E27FC236}">
                <a16:creationId xmlns:a16="http://schemas.microsoft.com/office/drawing/2014/main" id="{3B74BEFD-DCD9-4762-9FAD-4A76C1CC0A42}"/>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16BB4AF0-2917-4875-B556-FF7547C744FE}"/>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GIoU also measures the gap between two boxes</a:t>
            </a:r>
          </a:p>
        </p:txBody>
      </p:sp>
      <p:sp>
        <p:nvSpPr>
          <p:cNvPr id="3" name="text">
            <a:extLst xmlns:a="http://schemas.openxmlformats.org/drawingml/2006/main">
              <a:ext uri="{FF2B5EF4-FFF2-40B4-BE49-F238E27FC236}">
                <a16:creationId xmlns:a16="http://schemas.microsoft.com/office/drawing/2014/main" id="{C97ADA7A-BF3C-4F0D-8132-803B96CDC570}"/>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4 • PAIRWISE COST</a:t>
            </a:r>
          </a:p>
        </p:txBody>
      </p:sp>
      <p:sp>
        <p:nvSpPr>
          <p:cNvPr id="4" name="text">
            <a:extLst xmlns:a="http://schemas.openxmlformats.org/drawingml/2006/main">
              <a:ext uri="{FF2B5EF4-FFF2-40B4-BE49-F238E27FC236}">
                <a16:creationId xmlns:a16="http://schemas.microsoft.com/office/drawing/2014/main" id="{49EB9D52-6059-43A9-A034-4A0D384274C6}"/>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22</a:t>
            </a:r>
          </a:p>
        </p:txBody>
      </p:sp>
      <p:sp>
        <p:nvSpPr>
          <p:cNvPr id="5" name="math-region">
            <a:extLst xmlns:a="http://schemas.openxmlformats.org/drawingml/2006/main">
              <a:ext uri="{FF2B5EF4-FFF2-40B4-BE49-F238E27FC236}">
                <a16:creationId xmlns:a16="http://schemas.microsoft.com/office/drawing/2014/main" id="{CCB99FCF-AC1F-44AC-8626-88364E430506}"/>
              </a:ext>
            </a:extLst>
          </p:cNvPr>
          <p:cNvSpPr>
            <a:spLocks xmlns:a="http://schemas.openxmlformats.org/drawingml/2006/main" noGrp="1"/>
          </p:cNvSpPr>
          <p:nvPr/>
        </p:nvSpPr>
        <p:spPr>
          <a:xfrm xmlns:a="http://schemas.openxmlformats.org/drawingml/2006/main">
            <a:off x="590550" y="1409700"/>
            <a:ext cx="11010900" cy="1466850"/>
          </a:xfrm>
          <a:prstGeom xmlns:a="http://schemas.openxmlformats.org/drawingml/2006/main" prst="roundRect">
            <a:avLst>
              <a:gd name="adj" fmla="val 5195"/>
            </a:avLst>
          </a:prstGeom>
          <a:solidFill xmlns:a="http://schemas.openxmlformats.org/drawingml/2006/main">
            <a:srgbClr val="EEE8FF"/>
          </a:solidFill>
          <a:ln xmlns:a="http://schemas.openxmlformats.org/drawingml/2006/main" w="19050">
            <a:solidFill>
              <a:srgbClr val="8E6CEF"/>
            </a:solidFill>
            <a:prstDash val="solid"/>
          </a:ln>
        </p:spPr>
      </p:sp>
      <p:sp>
        <p:nvSpPr>
          <p:cNvPr id="6" name="math-fallback-giou">
            <a:extLst xmlns:a="http://schemas.openxmlformats.org/drawingml/2006/main">
              <a:ext uri="{FF2B5EF4-FFF2-40B4-BE49-F238E27FC236}">
                <a16:creationId xmlns:a16="http://schemas.microsoft.com/office/drawing/2014/main" id="{217F59D1-E743-4F7E-B4AB-E193005D0CEB}"/>
              </a:ext>
            </a:extLst>
          </p:cNvPr>
          <p:cNvSpPr>
            <a:spLocks xmlns:a="http://schemas.openxmlformats.org/drawingml/2006/main" noGrp="1"/>
          </p:cNvSpPr>
          <p:nvPr/>
        </p:nvSpPr>
        <p:spPr>
          <a:xfrm xmlns:a="http://schemas.openxmlformats.org/drawingml/2006/main">
            <a:off x="838200" y="1638300"/>
            <a:ext cx="105156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LGIoU = 1 − [ IoU − unused area inside C / area of C ]</a:t>
            </a:r>
          </a:p>
        </p:txBody>
      </p:sp>
      <p:sp>
        <p:nvSpPr>
          <p:cNvPr id="7" name="paper-citation">
            <a:extLst xmlns:a="http://schemas.openxmlformats.org/drawingml/2006/main">
              <a:ext uri="{FF2B5EF4-FFF2-40B4-BE49-F238E27FC236}">
                <a16:creationId xmlns:a16="http://schemas.microsoft.com/office/drawing/2014/main" id="{33213FD1-163B-4071-8F19-6AC072EC1B6A}"/>
              </a:ext>
            </a:extLst>
          </p:cNvPr>
          <p:cNvSpPr>
            <a:spLocks xmlns:a="http://schemas.openxmlformats.org/drawingml/2006/main" noGrp="1"/>
          </p:cNvSpPr>
          <p:nvPr/>
        </p:nvSpPr>
        <p:spPr>
          <a:xfrm xmlns:a="http://schemas.openxmlformats.org/drawingml/2006/main">
            <a:off x="609600" y="29908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Adapted from Rezatofighi et al. (2019); used by Carion et al., ECCV 2020, bounding-box loss on p. 6.</a:t>
            </a:r>
          </a:p>
        </p:txBody>
      </p:sp>
      <p:sp>
        <p:nvSpPr>
          <p:cNvPr id="8" name="enclosing-box-C">
            <a:extLst xmlns:a="http://schemas.openxmlformats.org/drawingml/2006/main">
              <a:ext uri="{FF2B5EF4-FFF2-40B4-BE49-F238E27FC236}">
                <a16:creationId xmlns:a16="http://schemas.microsoft.com/office/drawing/2014/main" id="{9DF9C51B-48F5-4148-AC03-82EF8CCA443E}"/>
              </a:ext>
            </a:extLst>
          </p:cNvPr>
          <p:cNvSpPr>
            <a:spLocks xmlns:a="http://schemas.openxmlformats.org/drawingml/2006/main" noGrp="1"/>
          </p:cNvSpPr>
          <p:nvPr/>
        </p:nvSpPr>
        <p:spPr>
          <a:xfrm xmlns:a="http://schemas.openxmlformats.org/drawingml/2006/main">
            <a:off x="800100" y="3638550"/>
            <a:ext cx="3657600" cy="1466850"/>
          </a:xfrm>
          <a:prstGeom xmlns:a="http://schemas.openxmlformats.org/drawingml/2006/main" prst="rect">
            <a:avLst/>
          </a:prstGeom>
          <a:noFill xmlns:a="http://schemas.openxmlformats.org/drawingml/2006/main"/>
          <a:ln xmlns:a="http://schemas.openxmlformats.org/drawingml/2006/main" w="28575">
            <a:solidFill>
              <a:srgbClr val="8E6CEF"/>
            </a:solidFill>
            <a:prstDash val="solid"/>
          </a:ln>
        </p:spPr>
      </p:sp>
      <p:sp>
        <p:nvSpPr>
          <p:cNvPr id="9" name="predicted-box-A">
            <a:extLst xmlns:a="http://schemas.openxmlformats.org/drawingml/2006/main">
              <a:ext uri="{FF2B5EF4-FFF2-40B4-BE49-F238E27FC236}">
                <a16:creationId xmlns:a16="http://schemas.microsoft.com/office/drawing/2014/main" id="{ADC8DD8D-D7BF-4562-AD73-72B64AB0516A}"/>
              </a:ext>
            </a:extLst>
          </p:cNvPr>
          <p:cNvSpPr>
            <a:spLocks xmlns:a="http://schemas.openxmlformats.org/drawingml/2006/main" noGrp="1"/>
          </p:cNvSpPr>
          <p:nvPr/>
        </p:nvSpPr>
        <p:spPr>
          <a:xfrm xmlns:a="http://schemas.openxmlformats.org/drawingml/2006/main">
            <a:off x="1200150" y="4000500"/>
            <a:ext cx="1733550" cy="742950"/>
          </a:xfrm>
          <a:prstGeom xmlns:a="http://schemas.openxmlformats.org/drawingml/2006/main" prst="rect">
            <a:avLst/>
          </a:prstGeom>
          <a:solidFill xmlns:a="http://schemas.openxmlformats.org/drawingml/2006/main">
            <a:srgbClr val="D9F1FC"/>
          </a:solidFill>
          <a:ln xmlns:a="http://schemas.openxmlformats.org/drawingml/2006/main" w="28575">
            <a:solidFill>
              <a:srgbClr val="3D8DFF"/>
            </a:solidFill>
            <a:prstDash val="solid"/>
          </a:ln>
        </p:spPr>
      </p:sp>
      <p:sp>
        <p:nvSpPr>
          <p:cNvPr id="10" name="target-box-B">
            <a:extLst xmlns:a="http://schemas.openxmlformats.org/drawingml/2006/main">
              <a:ext uri="{FF2B5EF4-FFF2-40B4-BE49-F238E27FC236}">
                <a16:creationId xmlns:a16="http://schemas.microsoft.com/office/drawing/2014/main" id="{C34B4635-D04C-4003-A2DF-6B9FD01B1FCC}"/>
              </a:ext>
            </a:extLst>
          </p:cNvPr>
          <p:cNvSpPr>
            <a:spLocks xmlns:a="http://schemas.openxmlformats.org/drawingml/2006/main" noGrp="1"/>
          </p:cNvSpPr>
          <p:nvPr/>
        </p:nvSpPr>
        <p:spPr>
          <a:xfrm xmlns:a="http://schemas.openxmlformats.org/drawingml/2006/main">
            <a:off x="2381250" y="4171950"/>
            <a:ext cx="1638300" cy="685800"/>
          </a:xfrm>
          <a:prstGeom xmlns:a="http://schemas.openxmlformats.org/drawingml/2006/main" prst="rect">
            <a:avLst/>
          </a:prstGeom>
          <a:solidFill xmlns:a="http://schemas.openxmlformats.org/drawingml/2006/main">
            <a:srgbClr val="DDF4E8"/>
          </a:solidFill>
          <a:ln xmlns:a="http://schemas.openxmlformats.org/drawingml/2006/main" w="28575">
            <a:solidFill>
              <a:srgbClr val="45B97C"/>
            </a:solidFill>
            <a:prstDash val="solid"/>
          </a:ln>
        </p:spPr>
      </p:sp>
      <p:sp>
        <p:nvSpPr>
          <p:cNvPr id="11" name="text">
            <a:extLst xmlns:a="http://schemas.openxmlformats.org/drawingml/2006/main">
              <a:ext uri="{FF2B5EF4-FFF2-40B4-BE49-F238E27FC236}">
                <a16:creationId xmlns:a16="http://schemas.microsoft.com/office/drawing/2014/main" id="{0493AC57-D48C-4988-A746-512F45C95DA1}"/>
              </a:ext>
            </a:extLst>
          </p:cNvPr>
          <p:cNvSpPr>
            <a:spLocks xmlns:a="http://schemas.openxmlformats.org/drawingml/2006/main" noGrp="1"/>
          </p:cNvSpPr>
          <p:nvPr/>
        </p:nvSpPr>
        <p:spPr>
          <a:xfrm xmlns:a="http://schemas.openxmlformats.org/drawingml/2006/main">
            <a:off x="914400" y="33528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8E6CEF"/>
                </a:solidFill>
                <a:latin typeface="Helvetica Neue"/>
                <a:ea typeface="Helvetica Neue"/>
                <a:cs typeface="Helvetica Neue"/>
              </a:defRPr>
            </a:pPr>
            <a:r>
              <a:rPr sz="1275" b="1">
                <a:solidFill>
                  <a:srgbClr val="8E6CEF"/>
                </a:solidFill>
                <a:latin typeface="Helvetica Neue"/>
                <a:ea typeface="Helvetica Neue"/>
                <a:cs typeface="Helvetica Neue"/>
              </a:rPr>
              <a:t>C  smallest enclosing box</a:t>
            </a:r>
          </a:p>
        </p:txBody>
      </p:sp>
      <p:sp>
        <p:nvSpPr>
          <p:cNvPr id="12" name="text">
            <a:extLst xmlns:a="http://schemas.openxmlformats.org/drawingml/2006/main">
              <a:ext uri="{FF2B5EF4-FFF2-40B4-BE49-F238E27FC236}">
                <a16:creationId xmlns:a16="http://schemas.microsoft.com/office/drawing/2014/main" id="{0E3BA92C-07D9-4CD0-A38A-7EAD7180EAD6}"/>
              </a:ext>
            </a:extLst>
          </p:cNvPr>
          <p:cNvSpPr>
            <a:spLocks xmlns:a="http://schemas.openxmlformats.org/drawingml/2006/main" noGrp="1"/>
          </p:cNvSpPr>
          <p:nvPr/>
        </p:nvSpPr>
        <p:spPr>
          <a:xfrm xmlns:a="http://schemas.openxmlformats.org/drawingml/2006/main">
            <a:off x="1219200" y="37338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A  predicted</a:t>
            </a:r>
          </a:p>
        </p:txBody>
      </p:sp>
      <p:sp>
        <p:nvSpPr>
          <p:cNvPr id="13" name="text">
            <a:extLst xmlns:a="http://schemas.openxmlformats.org/drawingml/2006/main">
              <a:ext uri="{FF2B5EF4-FFF2-40B4-BE49-F238E27FC236}">
                <a16:creationId xmlns:a16="http://schemas.microsoft.com/office/drawing/2014/main" id="{49E7BF25-E58E-44F2-9A2E-02ABA18B820E}"/>
              </a:ext>
            </a:extLst>
          </p:cNvPr>
          <p:cNvSpPr>
            <a:spLocks xmlns:a="http://schemas.openxmlformats.org/drawingml/2006/main" noGrp="1"/>
          </p:cNvSpPr>
          <p:nvPr/>
        </p:nvSpPr>
        <p:spPr>
          <a:xfrm xmlns:a="http://schemas.openxmlformats.org/drawingml/2006/main">
            <a:off x="2400300" y="48768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45B97C"/>
                </a:solidFill>
                <a:latin typeface="Helvetica Neue"/>
                <a:ea typeface="Helvetica Neue"/>
                <a:cs typeface="Helvetica Neue"/>
              </a:defRPr>
            </a:pPr>
            <a:r>
              <a:rPr sz="1200" b="1">
                <a:solidFill>
                  <a:srgbClr val="45B97C"/>
                </a:solidFill>
                <a:latin typeface="Helvetica Neue"/>
                <a:ea typeface="Helvetica Neue"/>
                <a:cs typeface="Helvetica Neue"/>
              </a:rPr>
              <a:t>B  target</a:t>
            </a:r>
          </a:p>
        </p:txBody>
      </p:sp>
      <p:sp>
        <p:nvSpPr>
          <p:cNvPr id="14" name="text">
            <a:extLst xmlns:a="http://schemas.openxmlformats.org/drawingml/2006/main">
              <a:ext uri="{FF2B5EF4-FFF2-40B4-BE49-F238E27FC236}">
                <a16:creationId xmlns:a16="http://schemas.microsoft.com/office/drawing/2014/main" id="{F1034BD3-6894-49BC-9881-27C624D789BD}"/>
              </a:ext>
            </a:extLst>
          </p:cNvPr>
          <p:cNvSpPr>
            <a:spLocks xmlns:a="http://schemas.openxmlformats.org/drawingml/2006/main" noGrp="1"/>
          </p:cNvSpPr>
          <p:nvPr/>
        </p:nvSpPr>
        <p:spPr>
          <a:xfrm xmlns:a="http://schemas.openxmlformats.org/drawingml/2006/main">
            <a:off x="5219700" y="35623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3D8DFF"/>
                </a:solidFill>
                <a:latin typeface="Helvetica Neue"/>
                <a:ea typeface="Helvetica Neue"/>
                <a:cs typeface="Helvetica Neue"/>
              </a:defRPr>
            </a:pPr>
            <a:r>
              <a:rPr sz="2025" b="1">
                <a:solidFill>
                  <a:srgbClr val="3D8DFF"/>
                </a:solidFill>
                <a:latin typeface="Helvetica Neue"/>
                <a:ea typeface="Helvetica Neue"/>
                <a:cs typeface="Helvetica Neue"/>
              </a:rPr>
              <a:t>1</a:t>
            </a:r>
          </a:p>
        </p:txBody>
      </p:sp>
      <p:sp>
        <p:nvSpPr>
          <p:cNvPr id="15" name="text">
            <a:extLst xmlns:a="http://schemas.openxmlformats.org/drawingml/2006/main">
              <a:ext uri="{FF2B5EF4-FFF2-40B4-BE49-F238E27FC236}">
                <a16:creationId xmlns:a16="http://schemas.microsoft.com/office/drawing/2014/main" id="{A854262F-81D0-47D9-BF99-47D58F78C55A}"/>
              </a:ext>
            </a:extLst>
          </p:cNvPr>
          <p:cNvSpPr>
            <a:spLocks xmlns:a="http://schemas.openxmlformats.org/drawingml/2006/main" noGrp="1"/>
          </p:cNvSpPr>
          <p:nvPr/>
        </p:nvSpPr>
        <p:spPr>
          <a:xfrm xmlns:a="http://schemas.openxmlformats.org/drawingml/2006/main">
            <a:off x="5810250" y="356235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IoU rewards overlap.</a:t>
            </a:r>
          </a:p>
        </p:txBody>
      </p:sp>
      <p:sp>
        <p:nvSpPr>
          <p:cNvPr id="16" name="text">
            <a:extLst xmlns:a="http://schemas.openxmlformats.org/drawingml/2006/main">
              <a:ext uri="{FF2B5EF4-FFF2-40B4-BE49-F238E27FC236}">
                <a16:creationId xmlns:a16="http://schemas.microsoft.com/office/drawing/2014/main" id="{02F6979C-0B7E-4A47-B3BA-BA55FC3E1389}"/>
              </a:ext>
            </a:extLst>
          </p:cNvPr>
          <p:cNvSpPr>
            <a:spLocks xmlns:a="http://schemas.openxmlformats.org/drawingml/2006/main" noGrp="1"/>
          </p:cNvSpPr>
          <p:nvPr/>
        </p:nvSpPr>
        <p:spPr>
          <a:xfrm xmlns:a="http://schemas.openxmlformats.org/drawingml/2006/main">
            <a:off x="5219700" y="411480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8E6CEF"/>
                </a:solidFill>
                <a:latin typeface="Helvetica Neue"/>
                <a:ea typeface="Helvetica Neue"/>
                <a:cs typeface="Helvetica Neue"/>
              </a:defRPr>
            </a:pPr>
            <a:r>
              <a:rPr sz="2025" b="1">
                <a:solidFill>
                  <a:srgbClr val="8E6CEF"/>
                </a:solidFill>
                <a:latin typeface="Helvetica Neue"/>
                <a:ea typeface="Helvetica Neue"/>
                <a:cs typeface="Helvetica Neue"/>
              </a:rPr>
              <a:t>2</a:t>
            </a:r>
          </a:p>
        </p:txBody>
      </p:sp>
      <p:sp>
        <p:nvSpPr>
          <p:cNvPr id="17" name="text">
            <a:extLst xmlns:a="http://schemas.openxmlformats.org/drawingml/2006/main">
              <a:ext uri="{FF2B5EF4-FFF2-40B4-BE49-F238E27FC236}">
                <a16:creationId xmlns:a16="http://schemas.microsoft.com/office/drawing/2014/main" id="{B0F6BD4A-F4FD-4EFB-B2A9-E07C3F5AFFB2}"/>
              </a:ext>
            </a:extLst>
          </p:cNvPr>
          <p:cNvSpPr>
            <a:spLocks xmlns:a="http://schemas.openxmlformats.org/drawingml/2006/main" noGrp="1"/>
          </p:cNvSpPr>
          <p:nvPr/>
        </p:nvSpPr>
        <p:spPr>
          <a:xfrm xmlns:a="http://schemas.openxmlformats.org/drawingml/2006/main">
            <a:off x="5810250" y="411480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GIoU subtracts unused area inside C.</a:t>
            </a:r>
          </a:p>
        </p:txBody>
      </p:sp>
      <p:sp>
        <p:nvSpPr>
          <p:cNvPr id="18" name="text">
            <a:extLst xmlns:a="http://schemas.openxmlformats.org/drawingml/2006/main">
              <a:ext uri="{FF2B5EF4-FFF2-40B4-BE49-F238E27FC236}">
                <a16:creationId xmlns:a16="http://schemas.microsoft.com/office/drawing/2014/main" id="{3350572A-6891-426B-934D-35655C368983}"/>
              </a:ext>
            </a:extLst>
          </p:cNvPr>
          <p:cNvSpPr>
            <a:spLocks xmlns:a="http://schemas.openxmlformats.org/drawingml/2006/main" noGrp="1"/>
          </p:cNvSpPr>
          <p:nvPr/>
        </p:nvSpPr>
        <p:spPr>
          <a:xfrm xmlns:a="http://schemas.openxmlformats.org/drawingml/2006/main">
            <a:off x="5219700" y="4667250"/>
            <a:ext cx="495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EF6A66"/>
                </a:solidFill>
                <a:latin typeface="Helvetica Neue"/>
                <a:ea typeface="Helvetica Neue"/>
                <a:cs typeface="Helvetica Neue"/>
              </a:defRPr>
            </a:pPr>
            <a:r>
              <a:rPr sz="2025" b="1">
                <a:solidFill>
                  <a:srgbClr val="EF6A66"/>
                </a:solidFill>
                <a:latin typeface="Helvetica Neue"/>
                <a:ea typeface="Helvetica Neue"/>
                <a:cs typeface="Helvetica Neue"/>
              </a:rPr>
              <a:t>3</a:t>
            </a:r>
          </a:p>
        </p:txBody>
      </p:sp>
      <p:sp>
        <p:nvSpPr>
          <p:cNvPr id="19" name="text">
            <a:extLst xmlns:a="http://schemas.openxmlformats.org/drawingml/2006/main">
              <a:ext uri="{FF2B5EF4-FFF2-40B4-BE49-F238E27FC236}">
                <a16:creationId xmlns:a16="http://schemas.microsoft.com/office/drawing/2014/main" id="{FA997CFD-2F42-42D1-9999-BC9CD79A5E77}"/>
              </a:ext>
            </a:extLst>
          </p:cNvPr>
          <p:cNvSpPr>
            <a:spLocks xmlns:a="http://schemas.openxmlformats.org/drawingml/2006/main" noGrp="1"/>
          </p:cNvSpPr>
          <p:nvPr/>
        </p:nvSpPr>
        <p:spPr>
          <a:xfrm xmlns:a="http://schemas.openxmlformats.org/drawingml/2006/main">
            <a:off x="5810250" y="4667250"/>
            <a:ext cx="514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Even with no overlap, the gap still changes.</a:t>
            </a:r>
          </a:p>
        </p:txBody>
      </p:sp>
      <p:sp>
        <p:nvSpPr>
          <p:cNvPr id="20" name="box">
            <a:extLst xmlns:a="http://schemas.openxmlformats.org/drawingml/2006/main">
              <a:ext uri="{FF2B5EF4-FFF2-40B4-BE49-F238E27FC236}">
                <a16:creationId xmlns:a16="http://schemas.microsoft.com/office/drawing/2014/main" id="{DA5FFC78-2014-4106-BE3E-0F33580C9539}"/>
              </a:ext>
            </a:extLst>
          </p:cNvPr>
          <p:cNvSpPr>
            <a:spLocks xmlns:a="http://schemas.openxmlformats.org/drawingml/2006/main" noGrp="1"/>
          </p:cNvSpPr>
          <p:nvPr/>
        </p:nvSpPr>
        <p:spPr>
          <a:xfrm xmlns:a="http://schemas.openxmlformats.org/drawingml/2006/main">
            <a:off x="1390650" y="5410200"/>
            <a:ext cx="9410700" cy="514350"/>
          </a:xfrm>
          <a:prstGeom xmlns:a="http://schemas.openxmlformats.org/drawingml/2006/main" prst="roundRect">
            <a:avLst>
              <a:gd name="adj" fmla="val 14815"/>
            </a:avLst>
          </a:prstGeom>
          <a:solidFill xmlns:a="http://schemas.openxmlformats.org/drawingml/2006/main">
            <a:srgbClr val="EEF1F4"/>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78A57B33-BC75-434D-850E-28A4DE6BF174}"/>
              </a:ext>
            </a:extLst>
          </p:cNvPr>
          <p:cNvSpPr>
            <a:spLocks xmlns:a="http://schemas.openxmlformats.org/drawingml/2006/main" noGrp="1"/>
          </p:cNvSpPr>
          <p:nvPr/>
        </p:nvSpPr>
        <p:spPr>
          <a:xfrm xmlns:a="http://schemas.openxmlformats.org/drawingml/2006/main">
            <a:off x="1562100" y="5486400"/>
            <a:ext cx="9067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Perfect match → loss 0     •     farther boxes → larger loss     •     possible loss range: 0 to 2</a:t>
            </a:r>
          </a:p>
        </p:txBody>
      </p:sp>
    </p:spTree>
    <p:extLst>
      <p:ext uri="{BB962C8B-B14F-4D97-AF65-F5344CB8AC3E}">
        <p14:creationId xmlns:p14="http://schemas.microsoft.com/office/powerpoint/2010/main" val="136408751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
            <a:extLst xmlns:a="http://schemas.openxmlformats.org/drawingml/2006/main">
              <a:ext uri="{FF2B5EF4-FFF2-40B4-BE49-F238E27FC236}">
                <a16:creationId xmlns:a16="http://schemas.microsoft.com/office/drawing/2014/main" id="{DB7D66A4-7EA1-4192-8F3E-64FE05F011E8}"/>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F49CE140-29E9-4E35-B896-F30A4E52593D}"/>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How expensive is one possible match?</a:t>
            </a:r>
          </a:p>
        </p:txBody>
      </p:sp>
      <p:sp>
        <p:nvSpPr>
          <p:cNvPr id="3" name="text">
            <a:extLst xmlns:a="http://schemas.openxmlformats.org/drawingml/2006/main">
              <a:ext uri="{FF2B5EF4-FFF2-40B4-BE49-F238E27FC236}">
                <a16:creationId xmlns:a16="http://schemas.microsoft.com/office/drawing/2014/main" id="{491CBFEE-8317-4B7E-8017-1D42D1AB2C6E}"/>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4 • MATCHING COST</a:t>
            </a:r>
          </a:p>
        </p:txBody>
      </p:sp>
      <p:sp>
        <p:nvSpPr>
          <p:cNvPr id="4" name="text">
            <a:extLst xmlns:a="http://schemas.openxmlformats.org/drawingml/2006/main">
              <a:ext uri="{FF2B5EF4-FFF2-40B4-BE49-F238E27FC236}">
                <a16:creationId xmlns:a16="http://schemas.microsoft.com/office/drawing/2014/main" id="{E3E595B6-EEC9-4A06-BFDA-DD811F66C731}"/>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23</a:t>
            </a:r>
          </a:p>
        </p:txBody>
      </p:sp>
      <p:sp>
        <p:nvSpPr>
          <p:cNvPr id="5" name="node">
            <a:extLst xmlns:a="http://schemas.openxmlformats.org/drawingml/2006/main">
              <a:ext uri="{FF2B5EF4-FFF2-40B4-BE49-F238E27FC236}">
                <a16:creationId xmlns:a16="http://schemas.microsoft.com/office/drawing/2014/main" id="{DC88E842-FFD3-4681-8A29-4281A8803296}"/>
              </a:ext>
            </a:extLst>
          </p:cNvPr>
          <p:cNvSpPr>
            <a:spLocks xmlns:a="http://schemas.openxmlformats.org/drawingml/2006/main" noGrp="1"/>
          </p:cNvSpPr>
          <p:nvPr/>
        </p:nvSpPr>
        <p:spPr>
          <a:xfrm xmlns:a="http://schemas.openxmlformats.org/drawingml/2006/main">
            <a:off x="609600" y="1600200"/>
            <a:ext cx="2381250" cy="704850"/>
          </a:xfrm>
          <a:prstGeom xmlns:a="http://schemas.openxmlformats.org/drawingml/2006/main" prst="roundRect">
            <a:avLst>
              <a:gd name="adj" fmla="val 10811"/>
            </a:avLst>
          </a:prstGeom>
          <a:solidFill xmlns:a="http://schemas.openxmlformats.org/drawingml/2006/main">
            <a:srgbClr val="DDF4E8"/>
          </a:solidFill>
          <a:ln xmlns:a="http://schemas.openxmlformats.org/drawingml/2006/main" w="19050">
            <a:solidFill>
              <a:srgbClr val="45B97C"/>
            </a:solidFill>
            <a:prstDash val="solid"/>
          </a:ln>
        </p:spPr>
      </p:sp>
      <p:sp>
        <p:nvSpPr>
          <p:cNvPr id="6" name="node-label">
            <a:extLst xmlns:a="http://schemas.openxmlformats.org/drawingml/2006/main">
              <a:ext uri="{FF2B5EF4-FFF2-40B4-BE49-F238E27FC236}">
                <a16:creationId xmlns:a16="http://schemas.microsoft.com/office/drawing/2014/main" id="{E558F79D-A639-4FD5-8659-25EDF9281E79}"/>
              </a:ext>
            </a:extLst>
          </p:cNvPr>
          <p:cNvSpPr>
            <a:spLocks xmlns:a="http://schemas.openxmlformats.org/drawingml/2006/main" noGrp="1"/>
          </p:cNvSpPr>
          <p:nvPr/>
        </p:nvSpPr>
        <p:spPr>
          <a:xfrm xmlns:a="http://schemas.openxmlformats.org/drawingml/2006/main">
            <a:off x="685800" y="1638300"/>
            <a:ext cx="2228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Q2 prediction</a:t>
            </a:r>
          </a:p>
        </p:txBody>
      </p:sp>
      <p:sp>
        <p:nvSpPr>
          <p:cNvPr id="7" name="arrow">
            <a:extLst xmlns:a="http://schemas.openxmlformats.org/drawingml/2006/main">
              <a:ext uri="{FF2B5EF4-FFF2-40B4-BE49-F238E27FC236}">
                <a16:creationId xmlns:a16="http://schemas.microsoft.com/office/drawing/2014/main" id="{5CB9AE7B-3EA6-4061-933A-5E1D84E60EC4}"/>
              </a:ext>
            </a:extLst>
          </p:cNvPr>
          <p:cNvSpPr>
            <a:spLocks xmlns:a="http://schemas.openxmlformats.org/drawingml/2006/main" noGrp="1"/>
          </p:cNvSpPr>
          <p:nvPr/>
        </p:nvSpPr>
        <p:spPr>
          <a:xfrm xmlns:a="http://schemas.openxmlformats.org/drawingml/2006/main">
            <a:off x="3086100" y="18097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8" name="node">
            <a:extLst xmlns:a="http://schemas.openxmlformats.org/drawingml/2006/main">
              <a:ext uri="{FF2B5EF4-FFF2-40B4-BE49-F238E27FC236}">
                <a16:creationId xmlns:a16="http://schemas.microsoft.com/office/drawing/2014/main" id="{9981204B-FA3B-4E54-81C9-927967C2A761}"/>
              </a:ext>
            </a:extLst>
          </p:cNvPr>
          <p:cNvSpPr>
            <a:spLocks xmlns:a="http://schemas.openxmlformats.org/drawingml/2006/main" noGrp="1"/>
          </p:cNvSpPr>
          <p:nvPr/>
        </p:nvSpPr>
        <p:spPr>
          <a:xfrm xmlns:a="http://schemas.openxmlformats.org/drawingml/2006/main">
            <a:off x="3886200" y="1600200"/>
            <a:ext cx="2381250" cy="704850"/>
          </a:xfrm>
          <a:prstGeom xmlns:a="http://schemas.openxmlformats.org/drawingml/2006/main" prst="roundRect">
            <a:avLst>
              <a:gd name="adj" fmla="val 10811"/>
            </a:avLst>
          </a:prstGeom>
          <a:solidFill xmlns:a="http://schemas.openxmlformats.org/drawingml/2006/main">
            <a:srgbClr val="DDF4E8"/>
          </a:solidFill>
          <a:ln xmlns:a="http://schemas.openxmlformats.org/drawingml/2006/main" w="19050">
            <a:solidFill>
              <a:srgbClr val="45B97C"/>
            </a:solidFill>
            <a:prstDash val="solid"/>
          </a:ln>
        </p:spPr>
      </p:sp>
      <p:sp>
        <p:nvSpPr>
          <p:cNvPr id="9" name="node-label">
            <a:extLst xmlns:a="http://schemas.openxmlformats.org/drawingml/2006/main">
              <a:ext uri="{FF2B5EF4-FFF2-40B4-BE49-F238E27FC236}">
                <a16:creationId xmlns:a16="http://schemas.microsoft.com/office/drawing/2014/main" id="{0E536C1B-F07F-46CE-8430-B0C120960892}"/>
              </a:ext>
            </a:extLst>
          </p:cNvPr>
          <p:cNvSpPr>
            <a:spLocks xmlns:a="http://schemas.openxmlformats.org/drawingml/2006/main" noGrp="1"/>
          </p:cNvSpPr>
          <p:nvPr/>
        </p:nvSpPr>
        <p:spPr>
          <a:xfrm xmlns:a="http://schemas.openxmlformats.org/drawingml/2006/main">
            <a:off x="3962400" y="1638300"/>
            <a:ext cx="2228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318"/>
                </a:solidFill>
                <a:latin typeface="Helvetica Neue"/>
                <a:ea typeface="Helvetica Neue"/>
                <a:cs typeface="Helvetica Neue"/>
              </a:defRPr>
            </a:pPr>
            <a:r>
              <a:rPr sz="1575" b="1">
                <a:solidFill>
                  <a:srgbClr val="111318"/>
                </a:solidFill>
                <a:latin typeface="Helvetica Neue"/>
                <a:ea typeface="Helvetica Neue"/>
                <a:cs typeface="Helvetica Neue"/>
              </a:rPr>
              <a:t>dog target</a:t>
            </a:r>
          </a:p>
        </p:txBody>
      </p:sp>
      <p:sp>
        <p:nvSpPr>
          <p:cNvPr id="10" name="box">
            <a:extLst xmlns:a="http://schemas.openxmlformats.org/drawingml/2006/main">
              <a:ext uri="{FF2B5EF4-FFF2-40B4-BE49-F238E27FC236}">
                <a16:creationId xmlns:a16="http://schemas.microsoft.com/office/drawing/2014/main" id="{BA417841-00C2-4320-9F32-7A63EFADCEE5}"/>
              </a:ext>
            </a:extLst>
          </p:cNvPr>
          <p:cNvSpPr>
            <a:spLocks xmlns:a="http://schemas.openxmlformats.org/drawingml/2006/main" noGrp="1"/>
          </p:cNvSpPr>
          <p:nvPr/>
        </p:nvSpPr>
        <p:spPr>
          <a:xfrm xmlns:a="http://schemas.openxmlformats.org/drawingml/2006/main">
            <a:off x="704850" y="3067050"/>
            <a:ext cx="3048000" cy="1047750"/>
          </a:xfrm>
          <a:prstGeom xmlns:a="http://schemas.openxmlformats.org/drawingml/2006/main" prst="roundRect">
            <a:avLst>
              <a:gd name="adj" fmla="val 7273"/>
            </a:avLst>
          </a:prstGeom>
          <a:solidFill xmlns:a="http://schemas.openxmlformats.org/drawingml/2006/main">
            <a:srgbClr val="D9F1FC"/>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9051F3F3-3996-47F9-901B-8025B550AA1C}"/>
              </a:ext>
            </a:extLst>
          </p:cNvPr>
          <p:cNvSpPr>
            <a:spLocks xmlns:a="http://schemas.openxmlformats.org/drawingml/2006/main" noGrp="1"/>
          </p:cNvSpPr>
          <p:nvPr/>
        </p:nvSpPr>
        <p:spPr>
          <a:xfrm xmlns:a="http://schemas.openxmlformats.org/drawingml/2006/main">
            <a:off x="876300" y="3219450"/>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1 − p(dog)</a:t>
            </a:r>
          </a:p>
        </p:txBody>
      </p:sp>
      <p:sp>
        <p:nvSpPr>
          <p:cNvPr id="12" name="text">
            <a:extLst xmlns:a="http://schemas.openxmlformats.org/drawingml/2006/main">
              <a:ext uri="{FF2B5EF4-FFF2-40B4-BE49-F238E27FC236}">
                <a16:creationId xmlns:a16="http://schemas.microsoft.com/office/drawing/2014/main" id="{E9B733BC-2609-481E-88A4-CB830FFDD87C}"/>
              </a:ext>
            </a:extLst>
          </p:cNvPr>
          <p:cNvSpPr>
            <a:spLocks xmlns:a="http://schemas.openxmlformats.org/drawingml/2006/main" noGrp="1"/>
          </p:cNvSpPr>
          <p:nvPr/>
        </p:nvSpPr>
        <p:spPr>
          <a:xfrm xmlns:a="http://schemas.openxmlformats.org/drawingml/2006/main">
            <a:off x="876300" y="35433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0.10</a:t>
            </a:r>
          </a:p>
        </p:txBody>
      </p:sp>
      <p:sp>
        <p:nvSpPr>
          <p:cNvPr id="13" name="text">
            <a:extLst xmlns:a="http://schemas.openxmlformats.org/drawingml/2006/main">
              <a:ext uri="{FF2B5EF4-FFF2-40B4-BE49-F238E27FC236}">
                <a16:creationId xmlns:a16="http://schemas.microsoft.com/office/drawing/2014/main" id="{AE227517-0583-40B2-A0BC-94EFA776FAA8}"/>
              </a:ext>
            </a:extLst>
          </p:cNvPr>
          <p:cNvSpPr>
            <a:spLocks xmlns:a="http://schemas.openxmlformats.org/drawingml/2006/main" noGrp="1"/>
          </p:cNvSpPr>
          <p:nvPr/>
        </p:nvSpPr>
        <p:spPr>
          <a:xfrm xmlns:a="http://schemas.openxmlformats.org/drawingml/2006/main">
            <a:off x="3667125" y="33718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a:t>
            </a:r>
          </a:p>
        </p:txBody>
      </p:sp>
      <p:sp>
        <p:nvSpPr>
          <p:cNvPr id="14" name="box">
            <a:extLst xmlns:a="http://schemas.openxmlformats.org/drawingml/2006/main">
              <a:ext uri="{FF2B5EF4-FFF2-40B4-BE49-F238E27FC236}">
                <a16:creationId xmlns:a16="http://schemas.microsoft.com/office/drawing/2014/main" id="{C794FDE2-CED7-49FD-9C08-24A4C52C41F7}"/>
              </a:ext>
            </a:extLst>
          </p:cNvPr>
          <p:cNvSpPr>
            <a:spLocks xmlns:a="http://schemas.openxmlformats.org/drawingml/2006/main" noGrp="1"/>
          </p:cNvSpPr>
          <p:nvPr/>
        </p:nvSpPr>
        <p:spPr>
          <a:xfrm xmlns:a="http://schemas.openxmlformats.org/drawingml/2006/main">
            <a:off x="4133850" y="3067050"/>
            <a:ext cx="3048000" cy="1047750"/>
          </a:xfrm>
          <a:prstGeom xmlns:a="http://schemas.openxmlformats.org/drawingml/2006/main" prst="roundRect">
            <a:avLst>
              <a:gd name="adj" fmla="val 7273"/>
            </a:avLst>
          </a:prstGeom>
          <a:solidFill xmlns:a="http://schemas.openxmlformats.org/drawingml/2006/main">
            <a:srgbClr val="FFF1CC"/>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19D9225C-CE33-4CD4-BCDE-ADC02D3856E0}"/>
              </a:ext>
            </a:extLst>
          </p:cNvPr>
          <p:cNvSpPr>
            <a:spLocks xmlns:a="http://schemas.openxmlformats.org/drawingml/2006/main" noGrp="1"/>
          </p:cNvSpPr>
          <p:nvPr/>
        </p:nvSpPr>
        <p:spPr>
          <a:xfrm xmlns:a="http://schemas.openxmlformats.org/drawingml/2006/main">
            <a:off x="4305300" y="3219450"/>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latin typeface="Helvetica Neue"/>
                <a:ea typeface="Helvetica Neue"/>
                <a:cs typeface="Helvetica Neue"/>
              </a:defRPr>
            </a:pPr>
            <a:r>
              <a:rPr sz="1350" b="1">
                <a:solidFill>
                  <a:srgbClr val="F2B84B"/>
                </a:solidFill>
                <a:latin typeface="Helvetica Neue"/>
                <a:ea typeface="Helvetica Neue"/>
                <a:cs typeface="Helvetica Neue"/>
              </a:rPr>
              <a:t>5 × L1 box</a:t>
            </a:r>
          </a:p>
        </p:txBody>
      </p:sp>
      <p:sp>
        <p:nvSpPr>
          <p:cNvPr id="16" name="text">
            <a:extLst xmlns:a="http://schemas.openxmlformats.org/drawingml/2006/main">
              <a:ext uri="{FF2B5EF4-FFF2-40B4-BE49-F238E27FC236}">
                <a16:creationId xmlns:a16="http://schemas.microsoft.com/office/drawing/2014/main" id="{D6F27510-53DE-448E-9EB5-B5076AE8606F}"/>
              </a:ext>
            </a:extLst>
          </p:cNvPr>
          <p:cNvSpPr>
            <a:spLocks xmlns:a="http://schemas.openxmlformats.org/drawingml/2006/main" noGrp="1"/>
          </p:cNvSpPr>
          <p:nvPr/>
        </p:nvSpPr>
        <p:spPr>
          <a:xfrm xmlns:a="http://schemas.openxmlformats.org/drawingml/2006/main">
            <a:off x="4305300" y="35433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F2B84B"/>
                </a:solidFill>
                <a:latin typeface="Helvetica Neue"/>
                <a:ea typeface="Helvetica Neue"/>
                <a:cs typeface="Helvetica Neue"/>
              </a:defRPr>
            </a:pPr>
            <a:r>
              <a:rPr sz="2250" b="1">
                <a:solidFill>
                  <a:srgbClr val="F2B84B"/>
                </a:solidFill>
                <a:latin typeface="Helvetica Neue"/>
                <a:ea typeface="Helvetica Neue"/>
                <a:cs typeface="Helvetica Neue"/>
              </a:rPr>
              <a:t>0.20</a:t>
            </a:r>
          </a:p>
        </p:txBody>
      </p:sp>
      <p:sp>
        <p:nvSpPr>
          <p:cNvPr id="17" name="text">
            <a:extLst xmlns:a="http://schemas.openxmlformats.org/drawingml/2006/main">
              <a:ext uri="{FF2B5EF4-FFF2-40B4-BE49-F238E27FC236}">
                <a16:creationId xmlns:a16="http://schemas.microsoft.com/office/drawing/2014/main" id="{A6EF2C45-2637-4CF1-9D4D-5351C7F1859F}"/>
              </a:ext>
            </a:extLst>
          </p:cNvPr>
          <p:cNvSpPr>
            <a:spLocks xmlns:a="http://schemas.openxmlformats.org/drawingml/2006/main" noGrp="1"/>
          </p:cNvSpPr>
          <p:nvPr/>
        </p:nvSpPr>
        <p:spPr>
          <a:xfrm xmlns:a="http://schemas.openxmlformats.org/drawingml/2006/main">
            <a:off x="7096125" y="33718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111318"/>
                </a:solidFill>
                <a:latin typeface="Helvetica Neue"/>
                <a:ea typeface="Helvetica Neue"/>
                <a:cs typeface="Helvetica Neue"/>
              </a:defRPr>
            </a:pPr>
            <a:r>
              <a:rPr sz="2250" b="1">
                <a:solidFill>
                  <a:srgbClr val="111318"/>
                </a:solidFill>
                <a:latin typeface="Helvetica Neue"/>
                <a:ea typeface="Helvetica Neue"/>
                <a:cs typeface="Helvetica Neue"/>
              </a:rPr>
              <a:t>+</a:t>
            </a:r>
          </a:p>
        </p:txBody>
      </p:sp>
      <p:sp>
        <p:nvSpPr>
          <p:cNvPr id="18" name="box">
            <a:extLst xmlns:a="http://schemas.openxmlformats.org/drawingml/2006/main">
              <a:ext uri="{FF2B5EF4-FFF2-40B4-BE49-F238E27FC236}">
                <a16:creationId xmlns:a16="http://schemas.microsoft.com/office/drawing/2014/main" id="{F720D691-16C0-498D-8B35-82D4A95BF36F}"/>
              </a:ext>
            </a:extLst>
          </p:cNvPr>
          <p:cNvSpPr>
            <a:spLocks xmlns:a="http://schemas.openxmlformats.org/drawingml/2006/main" noGrp="1"/>
          </p:cNvSpPr>
          <p:nvPr/>
        </p:nvSpPr>
        <p:spPr>
          <a:xfrm xmlns:a="http://schemas.openxmlformats.org/drawingml/2006/main">
            <a:off x="7562850" y="3067050"/>
            <a:ext cx="3048000" cy="1047750"/>
          </a:xfrm>
          <a:prstGeom xmlns:a="http://schemas.openxmlformats.org/drawingml/2006/main" prst="roundRect">
            <a:avLst>
              <a:gd name="adj" fmla="val 7273"/>
            </a:avLst>
          </a:prstGeom>
          <a:solidFill xmlns:a="http://schemas.openxmlformats.org/drawingml/2006/main">
            <a:srgbClr val="EEE8FF"/>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747F7C1E-30BE-4196-A8EB-70683C4B846C}"/>
              </a:ext>
            </a:extLst>
          </p:cNvPr>
          <p:cNvSpPr>
            <a:spLocks xmlns:a="http://schemas.openxmlformats.org/drawingml/2006/main" noGrp="1"/>
          </p:cNvSpPr>
          <p:nvPr/>
        </p:nvSpPr>
        <p:spPr>
          <a:xfrm xmlns:a="http://schemas.openxmlformats.org/drawingml/2006/main">
            <a:off x="7734300" y="3219450"/>
            <a:ext cx="2705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8E6CEF"/>
                </a:solidFill>
                <a:latin typeface="Helvetica Neue"/>
                <a:ea typeface="Helvetica Neue"/>
                <a:cs typeface="Helvetica Neue"/>
              </a:defRPr>
            </a:pPr>
            <a:r>
              <a:rPr sz="1350" b="1">
                <a:solidFill>
                  <a:srgbClr val="8E6CEF"/>
                </a:solidFill>
                <a:latin typeface="Helvetica Neue"/>
                <a:ea typeface="Helvetica Neue"/>
                <a:cs typeface="Helvetica Neue"/>
              </a:rPr>
              <a:t>2 × GIoU loss</a:t>
            </a:r>
          </a:p>
        </p:txBody>
      </p:sp>
      <p:sp>
        <p:nvSpPr>
          <p:cNvPr id="20" name="text">
            <a:extLst xmlns:a="http://schemas.openxmlformats.org/drawingml/2006/main">
              <a:ext uri="{FF2B5EF4-FFF2-40B4-BE49-F238E27FC236}">
                <a16:creationId xmlns:a16="http://schemas.microsoft.com/office/drawing/2014/main" id="{45E7B510-1FDD-4A5B-9FEF-389A85227D7B}"/>
              </a:ext>
            </a:extLst>
          </p:cNvPr>
          <p:cNvSpPr>
            <a:spLocks xmlns:a="http://schemas.openxmlformats.org/drawingml/2006/main" noGrp="1"/>
          </p:cNvSpPr>
          <p:nvPr/>
        </p:nvSpPr>
        <p:spPr>
          <a:xfrm xmlns:a="http://schemas.openxmlformats.org/drawingml/2006/main">
            <a:off x="7734300" y="3543300"/>
            <a:ext cx="270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8E6CEF"/>
                </a:solidFill>
                <a:latin typeface="Helvetica Neue"/>
                <a:ea typeface="Helvetica Neue"/>
                <a:cs typeface="Helvetica Neue"/>
              </a:defRPr>
            </a:pPr>
            <a:r>
              <a:rPr sz="2250" b="1">
                <a:solidFill>
                  <a:srgbClr val="8E6CEF"/>
                </a:solidFill>
                <a:latin typeface="Helvetica Neue"/>
                <a:ea typeface="Helvetica Neue"/>
                <a:cs typeface="Helvetica Neue"/>
              </a:rPr>
              <a:t>0.20</a:t>
            </a:r>
          </a:p>
        </p:txBody>
      </p:sp>
      <p:sp>
        <p:nvSpPr>
          <p:cNvPr id="21" name="box">
            <a:extLst xmlns:a="http://schemas.openxmlformats.org/drawingml/2006/main">
              <a:ext uri="{FF2B5EF4-FFF2-40B4-BE49-F238E27FC236}">
                <a16:creationId xmlns:a16="http://schemas.microsoft.com/office/drawing/2014/main" id="{8CD2A1D0-1290-4CB7-8691-98F0F47014FF}"/>
              </a:ext>
            </a:extLst>
          </p:cNvPr>
          <p:cNvSpPr>
            <a:spLocks xmlns:a="http://schemas.openxmlformats.org/drawingml/2006/main" noGrp="1"/>
          </p:cNvSpPr>
          <p:nvPr/>
        </p:nvSpPr>
        <p:spPr>
          <a:xfrm xmlns:a="http://schemas.openxmlformats.org/drawingml/2006/main">
            <a:off x="1714500" y="4629150"/>
            <a:ext cx="8763000" cy="723900"/>
          </a:xfrm>
          <a:prstGeom xmlns:a="http://schemas.openxmlformats.org/drawingml/2006/main" prst="roundRect">
            <a:avLst>
              <a:gd name="adj" fmla="val 10526"/>
            </a:avLst>
          </a:prstGeom>
          <a:solidFill xmlns:a="http://schemas.openxmlformats.org/drawingml/2006/main">
            <a:srgbClr val="FDE7E5"/>
          </a:solidFill>
          <a:ln xmlns:a="http://schemas.openxmlformats.org/drawingml/2006/main" w="0">
            <a:noFill/>
            <a:prstDash val="solid"/>
          </a:ln>
        </p:spPr>
      </p:sp>
      <p:sp>
        <p:nvSpPr>
          <p:cNvPr id="22" name="text">
            <a:extLst xmlns:a="http://schemas.openxmlformats.org/drawingml/2006/main">
              <a:ext uri="{FF2B5EF4-FFF2-40B4-BE49-F238E27FC236}">
                <a16:creationId xmlns:a16="http://schemas.microsoft.com/office/drawing/2014/main" id="{4819DCF7-8237-47B5-9FF0-53B4E3B28F9C}"/>
              </a:ext>
            </a:extLst>
          </p:cNvPr>
          <p:cNvSpPr>
            <a:spLocks xmlns:a="http://schemas.openxmlformats.org/drawingml/2006/main" noGrp="1"/>
          </p:cNvSpPr>
          <p:nvPr/>
        </p:nvSpPr>
        <p:spPr>
          <a:xfrm xmlns:a="http://schemas.openxmlformats.org/drawingml/2006/main">
            <a:off x="1885950" y="4705350"/>
            <a:ext cx="842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EF6A66"/>
                </a:solidFill>
                <a:latin typeface="Helvetica Neue"/>
                <a:ea typeface="Helvetica Neue"/>
                <a:cs typeface="Helvetica Neue"/>
              </a:defRPr>
            </a:pPr>
            <a:r>
              <a:rPr sz="1500" b="1">
                <a:solidFill>
                  <a:srgbClr val="EF6A66"/>
                </a:solidFill>
                <a:latin typeface="Helvetica Neue"/>
                <a:ea typeface="Helvetica Neue"/>
                <a:cs typeface="Helvetica Neue"/>
              </a:rPr>
              <a:t>C(Q2, dog) = 0.10 + 0.20 + 0.20 = 0.50</a:t>
            </a:r>
          </a:p>
        </p:txBody>
      </p:sp>
      <p:sp>
        <p:nvSpPr>
          <p:cNvPr id="23" name="text">
            <a:extLst xmlns:a="http://schemas.openxmlformats.org/drawingml/2006/main">
              <a:ext uri="{FF2B5EF4-FFF2-40B4-BE49-F238E27FC236}">
                <a16:creationId xmlns:a16="http://schemas.microsoft.com/office/drawing/2014/main" id="{A34F6544-DEC8-4841-8D7E-B393C9EACF1A}"/>
              </a:ext>
            </a:extLst>
          </p:cNvPr>
          <p:cNvSpPr>
            <a:spLocks xmlns:a="http://schemas.openxmlformats.org/drawingml/2006/main" noGrp="1"/>
          </p:cNvSpPr>
          <p:nvPr/>
        </p:nvSpPr>
        <p:spPr>
          <a:xfrm xmlns:a="http://schemas.openxmlformats.org/drawingml/2006/main">
            <a:off x="2000250" y="552450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5D6673"/>
                </a:solidFill>
                <a:latin typeface="Helvetica Neue"/>
                <a:ea typeface="Helvetica Neue"/>
                <a:cs typeface="Helvetica Neue"/>
              </a:defRPr>
            </a:pPr>
            <a:r>
              <a:rPr sz="1500" b="1">
                <a:solidFill>
                  <a:srgbClr val="5D6673"/>
                </a:solidFill>
                <a:latin typeface="Helvetica Neue"/>
                <a:ea typeface="Helvetica Neue"/>
                <a:cs typeface="Helvetica Neue"/>
              </a:rPr>
              <a:t>Lower cost means a more compatible class and box.</a:t>
            </a:r>
          </a:p>
        </p:txBody>
      </p:sp>
    </p:spTree>
    <p:extLst>
      <p:ext uri="{BB962C8B-B14F-4D97-AF65-F5344CB8AC3E}">
        <p14:creationId xmlns:p14="http://schemas.microsoft.com/office/powerpoint/2010/main" val="60693686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 name="text">
            <a:extLst xmlns:a="http://schemas.openxmlformats.org/drawingml/2006/main">
              <a:ext uri="{FF2B5EF4-FFF2-40B4-BE49-F238E27FC236}">
                <a16:creationId xmlns:a16="http://schemas.microsoft.com/office/drawing/2014/main" id="{3D83639E-8A24-40E0-9D9B-C362B762817F}"/>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F63A026F-2A02-4616-AC48-DF0633235667}"/>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How does Hungarian matching assign responsibility?</a:t>
            </a:r>
          </a:p>
        </p:txBody>
      </p:sp>
      <p:sp>
        <p:nvSpPr>
          <p:cNvPr id="3" name="text">
            <a:extLst xmlns:a="http://schemas.openxmlformats.org/drawingml/2006/main">
              <a:ext uri="{FF2B5EF4-FFF2-40B4-BE49-F238E27FC236}">
                <a16:creationId xmlns:a16="http://schemas.microsoft.com/office/drawing/2014/main" id="{7A664519-97A2-4654-A01C-D15185680D7F}"/>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4 • MATCHING</a:t>
            </a:r>
          </a:p>
        </p:txBody>
      </p:sp>
      <p:sp>
        <p:nvSpPr>
          <p:cNvPr id="4" name="text">
            <a:extLst xmlns:a="http://schemas.openxmlformats.org/drawingml/2006/main">
              <a:ext uri="{FF2B5EF4-FFF2-40B4-BE49-F238E27FC236}">
                <a16:creationId xmlns:a16="http://schemas.microsoft.com/office/drawing/2014/main" id="{C6362BCA-AC42-41DF-A91E-9F37DA305B8F}"/>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24</a:t>
            </a:r>
          </a:p>
        </p:txBody>
      </p:sp>
      <p:sp>
        <p:nvSpPr>
          <p:cNvPr id="5" name="text">
            <a:extLst xmlns:a="http://schemas.openxmlformats.org/drawingml/2006/main">
              <a:ext uri="{FF2B5EF4-FFF2-40B4-BE49-F238E27FC236}">
                <a16:creationId xmlns:a16="http://schemas.microsoft.com/office/drawing/2014/main" id="{DB68AF30-F732-4822-A109-F06F53E7B92C}"/>
              </a:ext>
            </a:extLst>
          </p:cNvPr>
          <p:cNvSpPr>
            <a:spLocks xmlns:a="http://schemas.openxmlformats.org/drawingml/2006/main" noGrp="1"/>
          </p:cNvSpPr>
          <p:nvPr/>
        </p:nvSpPr>
        <p:spPr>
          <a:xfrm xmlns:a="http://schemas.openxmlformats.org/drawingml/2006/main">
            <a:off x="2247900" y="14097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person</a:t>
            </a:r>
          </a:p>
        </p:txBody>
      </p:sp>
      <p:sp>
        <p:nvSpPr>
          <p:cNvPr id="6" name="text">
            <a:extLst xmlns:a="http://schemas.openxmlformats.org/drawingml/2006/main">
              <a:ext uri="{FF2B5EF4-FFF2-40B4-BE49-F238E27FC236}">
                <a16:creationId xmlns:a16="http://schemas.microsoft.com/office/drawing/2014/main" id="{30A5503D-6792-41A6-91AC-B8B8F8EF2EB5}"/>
              </a:ext>
            </a:extLst>
          </p:cNvPr>
          <p:cNvSpPr>
            <a:spLocks xmlns:a="http://schemas.openxmlformats.org/drawingml/2006/main" noGrp="1"/>
          </p:cNvSpPr>
          <p:nvPr/>
        </p:nvSpPr>
        <p:spPr>
          <a:xfrm xmlns:a="http://schemas.openxmlformats.org/drawingml/2006/main">
            <a:off x="3714750" y="14097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45B97C"/>
                </a:solidFill>
                <a:latin typeface="Helvetica Neue"/>
                <a:ea typeface="Helvetica Neue"/>
                <a:cs typeface="Helvetica Neue"/>
              </a:defRPr>
            </a:pPr>
            <a:r>
              <a:rPr sz="1275" b="1">
                <a:solidFill>
                  <a:srgbClr val="45B97C"/>
                </a:solidFill>
                <a:latin typeface="Helvetica Neue"/>
                <a:ea typeface="Helvetica Neue"/>
                <a:cs typeface="Helvetica Neue"/>
              </a:rPr>
              <a:t>dog</a:t>
            </a:r>
          </a:p>
        </p:txBody>
      </p:sp>
      <p:sp>
        <p:nvSpPr>
          <p:cNvPr id="7" name="text">
            <a:extLst xmlns:a="http://schemas.openxmlformats.org/drawingml/2006/main">
              <a:ext uri="{FF2B5EF4-FFF2-40B4-BE49-F238E27FC236}">
                <a16:creationId xmlns:a16="http://schemas.microsoft.com/office/drawing/2014/main" id="{1D4C6B86-997F-4456-AB1D-94957DB443A1}"/>
              </a:ext>
            </a:extLst>
          </p:cNvPr>
          <p:cNvSpPr>
            <a:spLocks xmlns:a="http://schemas.openxmlformats.org/drawingml/2006/main" noGrp="1"/>
          </p:cNvSpPr>
          <p:nvPr/>
        </p:nvSpPr>
        <p:spPr>
          <a:xfrm xmlns:a="http://schemas.openxmlformats.org/drawingml/2006/main">
            <a:off x="5181600" y="14097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latin typeface="Helvetica Neue"/>
                <a:ea typeface="Helvetica Neue"/>
                <a:cs typeface="Helvetica Neue"/>
              </a:defRPr>
            </a:pPr>
            <a:r>
              <a:rPr sz="1275" b="1">
                <a:solidFill>
                  <a:srgbClr val="F2B84B"/>
                </a:solidFill>
                <a:latin typeface="Helvetica Neue"/>
                <a:ea typeface="Helvetica Neue"/>
                <a:cs typeface="Helvetica Neue"/>
              </a:rPr>
              <a:t>bicycle</a:t>
            </a:r>
          </a:p>
        </p:txBody>
      </p:sp>
      <p:sp>
        <p:nvSpPr>
          <p:cNvPr id="8" name="text">
            <a:extLst xmlns:a="http://schemas.openxmlformats.org/drawingml/2006/main">
              <a:ext uri="{FF2B5EF4-FFF2-40B4-BE49-F238E27FC236}">
                <a16:creationId xmlns:a16="http://schemas.microsoft.com/office/drawing/2014/main" id="{C15B6C86-FDAF-4CFE-9F9F-A5E07BE59976}"/>
              </a:ext>
            </a:extLst>
          </p:cNvPr>
          <p:cNvSpPr>
            <a:spLocks xmlns:a="http://schemas.openxmlformats.org/drawingml/2006/main" noGrp="1"/>
          </p:cNvSpPr>
          <p:nvPr/>
        </p:nvSpPr>
        <p:spPr>
          <a:xfrm xmlns:a="http://schemas.openxmlformats.org/drawingml/2006/main">
            <a:off x="590550" y="18478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Q1</a:t>
            </a:r>
          </a:p>
        </p:txBody>
      </p:sp>
      <p:sp>
        <p:nvSpPr>
          <p:cNvPr id="9" name="text">
            <a:extLst xmlns:a="http://schemas.openxmlformats.org/drawingml/2006/main">
              <a:ext uri="{FF2B5EF4-FFF2-40B4-BE49-F238E27FC236}">
                <a16:creationId xmlns:a16="http://schemas.microsoft.com/office/drawing/2014/main" id="{DD03B21D-C747-4208-9E74-EB4ED59CA98D}"/>
              </a:ext>
            </a:extLst>
          </p:cNvPr>
          <p:cNvSpPr>
            <a:spLocks xmlns:a="http://schemas.openxmlformats.org/drawingml/2006/main" noGrp="1"/>
          </p:cNvSpPr>
          <p:nvPr/>
        </p:nvSpPr>
        <p:spPr>
          <a:xfrm xmlns:a="http://schemas.openxmlformats.org/drawingml/2006/main">
            <a:off x="590550" y="243840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Q2</a:t>
            </a:r>
          </a:p>
        </p:txBody>
      </p:sp>
      <p:sp>
        <p:nvSpPr>
          <p:cNvPr id="10" name="text">
            <a:extLst xmlns:a="http://schemas.openxmlformats.org/drawingml/2006/main">
              <a:ext uri="{FF2B5EF4-FFF2-40B4-BE49-F238E27FC236}">
                <a16:creationId xmlns:a16="http://schemas.microsoft.com/office/drawing/2014/main" id="{D1664501-ADBE-40C3-BAF0-AF2D766E853B}"/>
              </a:ext>
            </a:extLst>
          </p:cNvPr>
          <p:cNvSpPr>
            <a:spLocks xmlns:a="http://schemas.openxmlformats.org/drawingml/2006/main" noGrp="1"/>
          </p:cNvSpPr>
          <p:nvPr/>
        </p:nvSpPr>
        <p:spPr>
          <a:xfrm xmlns:a="http://schemas.openxmlformats.org/drawingml/2006/main">
            <a:off x="590550" y="30289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Q3</a:t>
            </a:r>
          </a:p>
        </p:txBody>
      </p:sp>
      <p:sp>
        <p:nvSpPr>
          <p:cNvPr id="11" name="text">
            <a:extLst xmlns:a="http://schemas.openxmlformats.org/drawingml/2006/main">
              <a:ext uri="{FF2B5EF4-FFF2-40B4-BE49-F238E27FC236}">
                <a16:creationId xmlns:a16="http://schemas.microsoft.com/office/drawing/2014/main" id="{7281BBBD-353E-49AA-805F-3A773139C4AE}"/>
              </a:ext>
            </a:extLst>
          </p:cNvPr>
          <p:cNvSpPr>
            <a:spLocks xmlns:a="http://schemas.openxmlformats.org/drawingml/2006/main" noGrp="1"/>
          </p:cNvSpPr>
          <p:nvPr/>
        </p:nvSpPr>
        <p:spPr>
          <a:xfrm xmlns:a="http://schemas.openxmlformats.org/drawingml/2006/main">
            <a:off x="590550" y="361950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Q4</a:t>
            </a:r>
          </a:p>
        </p:txBody>
      </p:sp>
      <p:sp>
        <p:nvSpPr>
          <p:cNvPr id="12" name="text">
            <a:extLst xmlns:a="http://schemas.openxmlformats.org/drawingml/2006/main">
              <a:ext uri="{FF2B5EF4-FFF2-40B4-BE49-F238E27FC236}">
                <a16:creationId xmlns:a16="http://schemas.microsoft.com/office/drawing/2014/main" id="{125BCF6C-BF3B-4C02-AE12-A5318693B7EA}"/>
              </a:ext>
            </a:extLst>
          </p:cNvPr>
          <p:cNvSpPr>
            <a:spLocks xmlns:a="http://schemas.openxmlformats.org/drawingml/2006/main" noGrp="1"/>
          </p:cNvSpPr>
          <p:nvPr/>
        </p:nvSpPr>
        <p:spPr>
          <a:xfrm xmlns:a="http://schemas.openxmlformats.org/drawingml/2006/main">
            <a:off x="590550" y="4210050"/>
            <a:ext cx="781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Q5</a:t>
            </a:r>
          </a:p>
        </p:txBody>
      </p:sp>
      <p:sp>
        <p:nvSpPr>
          <p:cNvPr id="13" name="cost">
            <a:extLst xmlns:a="http://schemas.openxmlformats.org/drawingml/2006/main">
              <a:ext uri="{FF2B5EF4-FFF2-40B4-BE49-F238E27FC236}">
                <a16:creationId xmlns:a16="http://schemas.microsoft.com/office/drawing/2014/main" id="{5778BCB9-353B-458E-9A0A-4CD97865F85E}"/>
              </a:ext>
            </a:extLst>
          </p:cNvPr>
          <p:cNvSpPr>
            <a:spLocks xmlns:a="http://schemas.openxmlformats.org/drawingml/2006/main" noGrp="1"/>
          </p:cNvSpPr>
          <p:nvPr/>
        </p:nvSpPr>
        <p:spPr>
          <a:xfrm xmlns:a="http://schemas.openxmlformats.org/drawingml/2006/main">
            <a:off x="2190750" y="1828800"/>
            <a:ext cx="1333500" cy="438150"/>
          </a:xfrm>
          <a:prstGeom xmlns:a="http://schemas.openxmlformats.org/drawingml/2006/main" prst="roundRect">
            <a:avLst>
              <a:gd name="adj" fmla="val 17391"/>
            </a:avLst>
          </a:prstGeom>
          <a:solidFill xmlns:a="http://schemas.openxmlformats.org/drawingml/2006/main">
            <a:srgbClr val="D9F1FC"/>
          </a:solidFill>
          <a:ln xmlns:a="http://schemas.openxmlformats.org/drawingml/2006/main" w="28575">
            <a:solidFill>
              <a:srgbClr val="3D8DFF"/>
            </a:solidFill>
            <a:prstDash val="solid"/>
          </a:ln>
        </p:spPr>
      </p:sp>
      <p:sp>
        <p:nvSpPr>
          <p:cNvPr id="14" name="text">
            <a:extLst xmlns:a="http://schemas.openxmlformats.org/drawingml/2006/main">
              <a:ext uri="{FF2B5EF4-FFF2-40B4-BE49-F238E27FC236}">
                <a16:creationId xmlns:a16="http://schemas.microsoft.com/office/drawing/2014/main" id="{CE96A313-DEF4-420D-91D1-8437F6D437F5}"/>
              </a:ext>
            </a:extLst>
          </p:cNvPr>
          <p:cNvSpPr>
            <a:spLocks xmlns:a="http://schemas.openxmlformats.org/drawingml/2006/main" noGrp="1"/>
          </p:cNvSpPr>
          <p:nvPr/>
        </p:nvSpPr>
        <p:spPr>
          <a:xfrm xmlns:a="http://schemas.openxmlformats.org/drawingml/2006/main">
            <a:off x="2190750" y="18288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0.3</a:t>
            </a:r>
          </a:p>
        </p:txBody>
      </p:sp>
      <p:sp>
        <p:nvSpPr>
          <p:cNvPr id="15" name="cost">
            <a:extLst xmlns:a="http://schemas.openxmlformats.org/drawingml/2006/main">
              <a:ext uri="{FF2B5EF4-FFF2-40B4-BE49-F238E27FC236}">
                <a16:creationId xmlns:a16="http://schemas.microsoft.com/office/drawing/2014/main" id="{18DCD1B9-35E4-421C-A4C5-E15A06E219E9}"/>
              </a:ext>
            </a:extLst>
          </p:cNvPr>
          <p:cNvSpPr>
            <a:spLocks xmlns:a="http://schemas.openxmlformats.org/drawingml/2006/main" noGrp="1"/>
          </p:cNvSpPr>
          <p:nvPr/>
        </p:nvSpPr>
        <p:spPr>
          <a:xfrm xmlns:a="http://schemas.openxmlformats.org/drawingml/2006/main">
            <a:off x="3657600" y="182880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55A932AA-AEF8-47E3-8AB0-72FDD3E7CD3B}"/>
              </a:ext>
            </a:extLst>
          </p:cNvPr>
          <p:cNvSpPr>
            <a:spLocks xmlns:a="http://schemas.openxmlformats.org/drawingml/2006/main" noGrp="1"/>
          </p:cNvSpPr>
          <p:nvPr/>
        </p:nvSpPr>
        <p:spPr>
          <a:xfrm xmlns:a="http://schemas.openxmlformats.org/drawingml/2006/main">
            <a:off x="3657600" y="18288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4.2</a:t>
            </a:r>
          </a:p>
        </p:txBody>
      </p:sp>
      <p:sp>
        <p:nvSpPr>
          <p:cNvPr id="17" name="cost">
            <a:extLst xmlns:a="http://schemas.openxmlformats.org/drawingml/2006/main">
              <a:ext uri="{FF2B5EF4-FFF2-40B4-BE49-F238E27FC236}">
                <a16:creationId xmlns:a16="http://schemas.microsoft.com/office/drawing/2014/main" id="{81F2730C-848C-4EC6-AD80-AC998317FD0E}"/>
              </a:ext>
            </a:extLst>
          </p:cNvPr>
          <p:cNvSpPr>
            <a:spLocks xmlns:a="http://schemas.openxmlformats.org/drawingml/2006/main" noGrp="1"/>
          </p:cNvSpPr>
          <p:nvPr/>
        </p:nvSpPr>
        <p:spPr>
          <a:xfrm xmlns:a="http://schemas.openxmlformats.org/drawingml/2006/main">
            <a:off x="5124450" y="182880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AFB42C50-9D2A-433E-AA4F-801D8733403A}"/>
              </a:ext>
            </a:extLst>
          </p:cNvPr>
          <p:cNvSpPr>
            <a:spLocks xmlns:a="http://schemas.openxmlformats.org/drawingml/2006/main" noGrp="1"/>
          </p:cNvSpPr>
          <p:nvPr/>
        </p:nvSpPr>
        <p:spPr>
          <a:xfrm xmlns:a="http://schemas.openxmlformats.org/drawingml/2006/main">
            <a:off x="5124450" y="18288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3.6</a:t>
            </a:r>
          </a:p>
        </p:txBody>
      </p:sp>
      <p:sp>
        <p:nvSpPr>
          <p:cNvPr id="19" name="cost">
            <a:extLst xmlns:a="http://schemas.openxmlformats.org/drawingml/2006/main">
              <a:ext uri="{FF2B5EF4-FFF2-40B4-BE49-F238E27FC236}">
                <a16:creationId xmlns:a16="http://schemas.microsoft.com/office/drawing/2014/main" id="{DFFBDA87-F2B5-4D9C-90C2-E2F104418034}"/>
              </a:ext>
            </a:extLst>
          </p:cNvPr>
          <p:cNvSpPr>
            <a:spLocks xmlns:a="http://schemas.openxmlformats.org/drawingml/2006/main" noGrp="1"/>
          </p:cNvSpPr>
          <p:nvPr/>
        </p:nvSpPr>
        <p:spPr>
          <a:xfrm xmlns:a="http://schemas.openxmlformats.org/drawingml/2006/main">
            <a:off x="2190750" y="241935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20" name="text">
            <a:extLst xmlns:a="http://schemas.openxmlformats.org/drawingml/2006/main">
              <a:ext uri="{FF2B5EF4-FFF2-40B4-BE49-F238E27FC236}">
                <a16:creationId xmlns:a16="http://schemas.microsoft.com/office/drawing/2014/main" id="{8AFF687A-5706-49B8-B110-81263DF8A364}"/>
              </a:ext>
            </a:extLst>
          </p:cNvPr>
          <p:cNvSpPr>
            <a:spLocks xmlns:a="http://schemas.openxmlformats.org/drawingml/2006/main" noGrp="1"/>
          </p:cNvSpPr>
          <p:nvPr/>
        </p:nvSpPr>
        <p:spPr>
          <a:xfrm xmlns:a="http://schemas.openxmlformats.org/drawingml/2006/main">
            <a:off x="2190750" y="241935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3.7</a:t>
            </a:r>
          </a:p>
        </p:txBody>
      </p:sp>
      <p:sp>
        <p:nvSpPr>
          <p:cNvPr id="21" name="cost">
            <a:extLst xmlns:a="http://schemas.openxmlformats.org/drawingml/2006/main">
              <a:ext uri="{FF2B5EF4-FFF2-40B4-BE49-F238E27FC236}">
                <a16:creationId xmlns:a16="http://schemas.microsoft.com/office/drawing/2014/main" id="{DFB024A9-8F21-4BA6-B0A9-1B8AB2D37155}"/>
              </a:ext>
            </a:extLst>
          </p:cNvPr>
          <p:cNvSpPr>
            <a:spLocks xmlns:a="http://schemas.openxmlformats.org/drawingml/2006/main" noGrp="1"/>
          </p:cNvSpPr>
          <p:nvPr/>
        </p:nvSpPr>
        <p:spPr>
          <a:xfrm xmlns:a="http://schemas.openxmlformats.org/drawingml/2006/main">
            <a:off x="3657600" y="2419350"/>
            <a:ext cx="1333500" cy="438150"/>
          </a:xfrm>
          <a:prstGeom xmlns:a="http://schemas.openxmlformats.org/drawingml/2006/main" prst="roundRect">
            <a:avLst>
              <a:gd name="adj" fmla="val 17391"/>
            </a:avLst>
          </a:prstGeom>
          <a:solidFill xmlns:a="http://schemas.openxmlformats.org/drawingml/2006/main">
            <a:srgbClr val="DDF4E8"/>
          </a:solidFill>
          <a:ln xmlns:a="http://schemas.openxmlformats.org/drawingml/2006/main" w="28575">
            <a:solidFill>
              <a:srgbClr val="45B97C"/>
            </a:solidFill>
            <a:prstDash val="solid"/>
          </a:ln>
        </p:spPr>
      </p:sp>
      <p:sp>
        <p:nvSpPr>
          <p:cNvPr id="22" name="text">
            <a:extLst xmlns:a="http://schemas.openxmlformats.org/drawingml/2006/main">
              <a:ext uri="{FF2B5EF4-FFF2-40B4-BE49-F238E27FC236}">
                <a16:creationId xmlns:a16="http://schemas.microsoft.com/office/drawing/2014/main" id="{6F50DD00-9F7F-427B-ABDB-0B2BDE9805EA}"/>
              </a:ext>
            </a:extLst>
          </p:cNvPr>
          <p:cNvSpPr>
            <a:spLocks xmlns:a="http://schemas.openxmlformats.org/drawingml/2006/main" noGrp="1"/>
          </p:cNvSpPr>
          <p:nvPr/>
        </p:nvSpPr>
        <p:spPr>
          <a:xfrm xmlns:a="http://schemas.openxmlformats.org/drawingml/2006/main">
            <a:off x="3657600" y="241935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0.5</a:t>
            </a:r>
          </a:p>
        </p:txBody>
      </p:sp>
      <p:sp>
        <p:nvSpPr>
          <p:cNvPr id="23" name="cost">
            <a:extLst xmlns:a="http://schemas.openxmlformats.org/drawingml/2006/main">
              <a:ext uri="{FF2B5EF4-FFF2-40B4-BE49-F238E27FC236}">
                <a16:creationId xmlns:a16="http://schemas.microsoft.com/office/drawing/2014/main" id="{99E20FB3-607A-43D2-9847-7FAEF463EF94}"/>
              </a:ext>
            </a:extLst>
          </p:cNvPr>
          <p:cNvSpPr>
            <a:spLocks xmlns:a="http://schemas.openxmlformats.org/drawingml/2006/main" noGrp="1"/>
          </p:cNvSpPr>
          <p:nvPr/>
        </p:nvSpPr>
        <p:spPr>
          <a:xfrm xmlns:a="http://schemas.openxmlformats.org/drawingml/2006/main">
            <a:off x="5124450" y="241935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24" name="text">
            <a:extLst xmlns:a="http://schemas.openxmlformats.org/drawingml/2006/main">
              <a:ext uri="{FF2B5EF4-FFF2-40B4-BE49-F238E27FC236}">
                <a16:creationId xmlns:a16="http://schemas.microsoft.com/office/drawing/2014/main" id="{054A1DEC-55FA-4A06-A01C-9EF9142A734A}"/>
              </a:ext>
            </a:extLst>
          </p:cNvPr>
          <p:cNvSpPr>
            <a:spLocks xmlns:a="http://schemas.openxmlformats.org/drawingml/2006/main" noGrp="1"/>
          </p:cNvSpPr>
          <p:nvPr/>
        </p:nvSpPr>
        <p:spPr>
          <a:xfrm xmlns:a="http://schemas.openxmlformats.org/drawingml/2006/main">
            <a:off x="5124450" y="241935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2.8</a:t>
            </a:r>
          </a:p>
        </p:txBody>
      </p:sp>
      <p:sp>
        <p:nvSpPr>
          <p:cNvPr id="25" name="cost">
            <a:extLst xmlns:a="http://schemas.openxmlformats.org/drawingml/2006/main">
              <a:ext uri="{FF2B5EF4-FFF2-40B4-BE49-F238E27FC236}">
                <a16:creationId xmlns:a16="http://schemas.microsoft.com/office/drawing/2014/main" id="{80BB741E-F02C-4805-A52C-EE02F2838109}"/>
              </a:ext>
            </a:extLst>
          </p:cNvPr>
          <p:cNvSpPr>
            <a:spLocks xmlns:a="http://schemas.openxmlformats.org/drawingml/2006/main" noGrp="1"/>
          </p:cNvSpPr>
          <p:nvPr/>
        </p:nvSpPr>
        <p:spPr>
          <a:xfrm xmlns:a="http://schemas.openxmlformats.org/drawingml/2006/main">
            <a:off x="2190750" y="300990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26" name="text">
            <a:extLst xmlns:a="http://schemas.openxmlformats.org/drawingml/2006/main">
              <a:ext uri="{FF2B5EF4-FFF2-40B4-BE49-F238E27FC236}">
                <a16:creationId xmlns:a16="http://schemas.microsoft.com/office/drawing/2014/main" id="{B25FB319-EADA-4019-B573-753EDA5DABDE}"/>
              </a:ext>
            </a:extLst>
          </p:cNvPr>
          <p:cNvSpPr>
            <a:spLocks xmlns:a="http://schemas.openxmlformats.org/drawingml/2006/main" noGrp="1"/>
          </p:cNvSpPr>
          <p:nvPr/>
        </p:nvSpPr>
        <p:spPr>
          <a:xfrm xmlns:a="http://schemas.openxmlformats.org/drawingml/2006/main">
            <a:off x="2190750" y="30099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1.2</a:t>
            </a:r>
          </a:p>
        </p:txBody>
      </p:sp>
      <p:sp>
        <p:nvSpPr>
          <p:cNvPr id="27" name="cost">
            <a:extLst xmlns:a="http://schemas.openxmlformats.org/drawingml/2006/main">
              <a:ext uri="{FF2B5EF4-FFF2-40B4-BE49-F238E27FC236}">
                <a16:creationId xmlns:a16="http://schemas.microsoft.com/office/drawing/2014/main" id="{0C7D29E7-E24B-4E4F-B2AA-93FE680F63D0}"/>
              </a:ext>
            </a:extLst>
          </p:cNvPr>
          <p:cNvSpPr>
            <a:spLocks xmlns:a="http://schemas.openxmlformats.org/drawingml/2006/main" noGrp="1"/>
          </p:cNvSpPr>
          <p:nvPr/>
        </p:nvSpPr>
        <p:spPr>
          <a:xfrm xmlns:a="http://schemas.openxmlformats.org/drawingml/2006/main">
            <a:off x="3657600" y="300990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28" name="text">
            <a:extLst xmlns:a="http://schemas.openxmlformats.org/drawingml/2006/main">
              <a:ext uri="{FF2B5EF4-FFF2-40B4-BE49-F238E27FC236}">
                <a16:creationId xmlns:a16="http://schemas.microsoft.com/office/drawing/2014/main" id="{D680CDF4-5863-4BED-A088-3CEF56FE7F6C}"/>
              </a:ext>
            </a:extLst>
          </p:cNvPr>
          <p:cNvSpPr>
            <a:spLocks xmlns:a="http://schemas.openxmlformats.org/drawingml/2006/main" noGrp="1"/>
          </p:cNvSpPr>
          <p:nvPr/>
        </p:nvSpPr>
        <p:spPr>
          <a:xfrm xmlns:a="http://schemas.openxmlformats.org/drawingml/2006/main">
            <a:off x="3657600" y="30099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3.1</a:t>
            </a:r>
          </a:p>
        </p:txBody>
      </p:sp>
      <p:sp>
        <p:nvSpPr>
          <p:cNvPr id="29" name="cost">
            <a:extLst xmlns:a="http://schemas.openxmlformats.org/drawingml/2006/main">
              <a:ext uri="{FF2B5EF4-FFF2-40B4-BE49-F238E27FC236}">
                <a16:creationId xmlns:a16="http://schemas.microsoft.com/office/drawing/2014/main" id="{D204CF43-F6CC-4AD7-B979-DDC0FBFC2053}"/>
              </a:ext>
            </a:extLst>
          </p:cNvPr>
          <p:cNvSpPr>
            <a:spLocks xmlns:a="http://schemas.openxmlformats.org/drawingml/2006/main" noGrp="1"/>
          </p:cNvSpPr>
          <p:nvPr/>
        </p:nvSpPr>
        <p:spPr>
          <a:xfrm xmlns:a="http://schemas.openxmlformats.org/drawingml/2006/main">
            <a:off x="5124450" y="3009900"/>
            <a:ext cx="1333500" cy="438150"/>
          </a:xfrm>
          <a:prstGeom xmlns:a="http://schemas.openxmlformats.org/drawingml/2006/main" prst="roundRect">
            <a:avLst>
              <a:gd name="adj" fmla="val 17391"/>
            </a:avLst>
          </a:prstGeom>
          <a:solidFill xmlns:a="http://schemas.openxmlformats.org/drawingml/2006/main">
            <a:srgbClr val="FFF1CC"/>
          </a:solidFill>
          <a:ln xmlns:a="http://schemas.openxmlformats.org/drawingml/2006/main" w="28575">
            <a:solidFill>
              <a:srgbClr val="F2B84B"/>
            </a:solidFill>
            <a:prstDash val="solid"/>
          </a:ln>
        </p:spPr>
      </p:sp>
      <p:sp>
        <p:nvSpPr>
          <p:cNvPr id="30" name="text">
            <a:extLst xmlns:a="http://schemas.openxmlformats.org/drawingml/2006/main">
              <a:ext uri="{FF2B5EF4-FFF2-40B4-BE49-F238E27FC236}">
                <a16:creationId xmlns:a16="http://schemas.microsoft.com/office/drawing/2014/main" id="{DD92E097-2B05-474B-BAA6-1CD4226BCF58}"/>
              </a:ext>
            </a:extLst>
          </p:cNvPr>
          <p:cNvSpPr>
            <a:spLocks xmlns:a="http://schemas.openxmlformats.org/drawingml/2006/main" noGrp="1"/>
          </p:cNvSpPr>
          <p:nvPr/>
        </p:nvSpPr>
        <p:spPr>
          <a:xfrm xmlns:a="http://schemas.openxmlformats.org/drawingml/2006/main">
            <a:off x="5124450" y="30099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0.4</a:t>
            </a:r>
          </a:p>
        </p:txBody>
      </p:sp>
      <p:sp>
        <p:nvSpPr>
          <p:cNvPr id="31" name="cost">
            <a:extLst xmlns:a="http://schemas.openxmlformats.org/drawingml/2006/main">
              <a:ext uri="{FF2B5EF4-FFF2-40B4-BE49-F238E27FC236}">
                <a16:creationId xmlns:a16="http://schemas.microsoft.com/office/drawing/2014/main" id="{413E6592-24DC-470B-9365-D3658CD133CB}"/>
              </a:ext>
            </a:extLst>
          </p:cNvPr>
          <p:cNvSpPr>
            <a:spLocks xmlns:a="http://schemas.openxmlformats.org/drawingml/2006/main" noGrp="1"/>
          </p:cNvSpPr>
          <p:nvPr/>
        </p:nvSpPr>
        <p:spPr>
          <a:xfrm xmlns:a="http://schemas.openxmlformats.org/drawingml/2006/main">
            <a:off x="2190750" y="360045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32" name="text">
            <a:extLst xmlns:a="http://schemas.openxmlformats.org/drawingml/2006/main">
              <a:ext uri="{FF2B5EF4-FFF2-40B4-BE49-F238E27FC236}">
                <a16:creationId xmlns:a16="http://schemas.microsoft.com/office/drawing/2014/main" id="{EFE24125-B7D8-41E4-8630-9F340C639601}"/>
              </a:ext>
            </a:extLst>
          </p:cNvPr>
          <p:cNvSpPr>
            <a:spLocks xmlns:a="http://schemas.openxmlformats.org/drawingml/2006/main" noGrp="1"/>
          </p:cNvSpPr>
          <p:nvPr/>
        </p:nvSpPr>
        <p:spPr>
          <a:xfrm xmlns:a="http://schemas.openxmlformats.org/drawingml/2006/main">
            <a:off x="2190750" y="360045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2.9</a:t>
            </a:r>
          </a:p>
        </p:txBody>
      </p:sp>
      <p:sp>
        <p:nvSpPr>
          <p:cNvPr id="33" name="cost">
            <a:extLst xmlns:a="http://schemas.openxmlformats.org/drawingml/2006/main">
              <a:ext uri="{FF2B5EF4-FFF2-40B4-BE49-F238E27FC236}">
                <a16:creationId xmlns:a16="http://schemas.microsoft.com/office/drawing/2014/main" id="{EA45B751-32C9-46F1-A321-52EA31489A92}"/>
              </a:ext>
            </a:extLst>
          </p:cNvPr>
          <p:cNvSpPr>
            <a:spLocks xmlns:a="http://schemas.openxmlformats.org/drawingml/2006/main" noGrp="1"/>
          </p:cNvSpPr>
          <p:nvPr/>
        </p:nvSpPr>
        <p:spPr>
          <a:xfrm xmlns:a="http://schemas.openxmlformats.org/drawingml/2006/main">
            <a:off x="3657600" y="360045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34" name="text">
            <a:extLst xmlns:a="http://schemas.openxmlformats.org/drawingml/2006/main">
              <a:ext uri="{FF2B5EF4-FFF2-40B4-BE49-F238E27FC236}">
                <a16:creationId xmlns:a16="http://schemas.microsoft.com/office/drawing/2014/main" id="{F1D48BD0-AF4D-4D76-AE98-33980BAF9CBC}"/>
              </a:ext>
            </a:extLst>
          </p:cNvPr>
          <p:cNvSpPr>
            <a:spLocks xmlns:a="http://schemas.openxmlformats.org/drawingml/2006/main" noGrp="1"/>
          </p:cNvSpPr>
          <p:nvPr/>
        </p:nvSpPr>
        <p:spPr>
          <a:xfrm xmlns:a="http://schemas.openxmlformats.org/drawingml/2006/main">
            <a:off x="3657600" y="360045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1.1</a:t>
            </a:r>
          </a:p>
        </p:txBody>
      </p:sp>
      <p:sp>
        <p:nvSpPr>
          <p:cNvPr id="35" name="cost">
            <a:extLst xmlns:a="http://schemas.openxmlformats.org/drawingml/2006/main">
              <a:ext uri="{FF2B5EF4-FFF2-40B4-BE49-F238E27FC236}">
                <a16:creationId xmlns:a16="http://schemas.microsoft.com/office/drawing/2014/main" id="{31D90B7D-1734-4946-81D6-7E80B3C8DBFE}"/>
              </a:ext>
            </a:extLst>
          </p:cNvPr>
          <p:cNvSpPr>
            <a:spLocks xmlns:a="http://schemas.openxmlformats.org/drawingml/2006/main" noGrp="1"/>
          </p:cNvSpPr>
          <p:nvPr/>
        </p:nvSpPr>
        <p:spPr>
          <a:xfrm xmlns:a="http://schemas.openxmlformats.org/drawingml/2006/main">
            <a:off x="5124450" y="360045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36" name="text">
            <a:extLst xmlns:a="http://schemas.openxmlformats.org/drawingml/2006/main">
              <a:ext uri="{FF2B5EF4-FFF2-40B4-BE49-F238E27FC236}">
                <a16:creationId xmlns:a16="http://schemas.microsoft.com/office/drawing/2014/main" id="{3701DCD9-171B-41BB-8651-E30AB189AA04}"/>
              </a:ext>
            </a:extLst>
          </p:cNvPr>
          <p:cNvSpPr>
            <a:spLocks xmlns:a="http://schemas.openxmlformats.org/drawingml/2006/main" noGrp="1"/>
          </p:cNvSpPr>
          <p:nvPr/>
        </p:nvSpPr>
        <p:spPr>
          <a:xfrm xmlns:a="http://schemas.openxmlformats.org/drawingml/2006/main">
            <a:off x="5124450" y="360045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2.2</a:t>
            </a:r>
          </a:p>
        </p:txBody>
      </p:sp>
      <p:sp>
        <p:nvSpPr>
          <p:cNvPr id="37" name="cost">
            <a:extLst xmlns:a="http://schemas.openxmlformats.org/drawingml/2006/main">
              <a:ext uri="{FF2B5EF4-FFF2-40B4-BE49-F238E27FC236}">
                <a16:creationId xmlns:a16="http://schemas.microsoft.com/office/drawing/2014/main" id="{86AF3A4D-79D6-43F0-A3C8-6FE328B18FA1}"/>
              </a:ext>
            </a:extLst>
          </p:cNvPr>
          <p:cNvSpPr>
            <a:spLocks xmlns:a="http://schemas.openxmlformats.org/drawingml/2006/main" noGrp="1"/>
          </p:cNvSpPr>
          <p:nvPr/>
        </p:nvSpPr>
        <p:spPr>
          <a:xfrm xmlns:a="http://schemas.openxmlformats.org/drawingml/2006/main">
            <a:off x="2190750" y="419100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38" name="text">
            <a:extLst xmlns:a="http://schemas.openxmlformats.org/drawingml/2006/main">
              <a:ext uri="{FF2B5EF4-FFF2-40B4-BE49-F238E27FC236}">
                <a16:creationId xmlns:a16="http://schemas.microsoft.com/office/drawing/2014/main" id="{C53A7491-0C2B-438F-B39A-57BE02E05565}"/>
              </a:ext>
            </a:extLst>
          </p:cNvPr>
          <p:cNvSpPr>
            <a:spLocks xmlns:a="http://schemas.openxmlformats.org/drawingml/2006/main" noGrp="1"/>
          </p:cNvSpPr>
          <p:nvPr/>
        </p:nvSpPr>
        <p:spPr>
          <a:xfrm xmlns:a="http://schemas.openxmlformats.org/drawingml/2006/main">
            <a:off x="2190750" y="41910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2.5</a:t>
            </a:r>
          </a:p>
        </p:txBody>
      </p:sp>
      <p:sp>
        <p:nvSpPr>
          <p:cNvPr id="39" name="cost">
            <a:extLst xmlns:a="http://schemas.openxmlformats.org/drawingml/2006/main">
              <a:ext uri="{FF2B5EF4-FFF2-40B4-BE49-F238E27FC236}">
                <a16:creationId xmlns:a16="http://schemas.microsoft.com/office/drawing/2014/main" id="{4C797A40-4D96-4391-B240-58A31A197957}"/>
              </a:ext>
            </a:extLst>
          </p:cNvPr>
          <p:cNvSpPr>
            <a:spLocks xmlns:a="http://schemas.openxmlformats.org/drawingml/2006/main" noGrp="1"/>
          </p:cNvSpPr>
          <p:nvPr/>
        </p:nvSpPr>
        <p:spPr>
          <a:xfrm xmlns:a="http://schemas.openxmlformats.org/drawingml/2006/main">
            <a:off x="3657600" y="419100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40" name="text">
            <a:extLst xmlns:a="http://schemas.openxmlformats.org/drawingml/2006/main">
              <a:ext uri="{FF2B5EF4-FFF2-40B4-BE49-F238E27FC236}">
                <a16:creationId xmlns:a16="http://schemas.microsoft.com/office/drawing/2014/main" id="{56BC6C97-8AD0-4030-9C38-DEDAB4C7B550}"/>
              </a:ext>
            </a:extLst>
          </p:cNvPr>
          <p:cNvSpPr>
            <a:spLocks xmlns:a="http://schemas.openxmlformats.org/drawingml/2006/main" noGrp="1"/>
          </p:cNvSpPr>
          <p:nvPr/>
        </p:nvSpPr>
        <p:spPr>
          <a:xfrm xmlns:a="http://schemas.openxmlformats.org/drawingml/2006/main">
            <a:off x="3657600" y="41910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2.4</a:t>
            </a:r>
          </a:p>
        </p:txBody>
      </p:sp>
      <p:sp>
        <p:nvSpPr>
          <p:cNvPr id="41" name="cost">
            <a:extLst xmlns:a="http://schemas.openxmlformats.org/drawingml/2006/main">
              <a:ext uri="{FF2B5EF4-FFF2-40B4-BE49-F238E27FC236}">
                <a16:creationId xmlns:a16="http://schemas.microsoft.com/office/drawing/2014/main" id="{5F440AAB-F910-46FA-BB22-6CD728D0A27F}"/>
              </a:ext>
            </a:extLst>
          </p:cNvPr>
          <p:cNvSpPr>
            <a:spLocks xmlns:a="http://schemas.openxmlformats.org/drawingml/2006/main" noGrp="1"/>
          </p:cNvSpPr>
          <p:nvPr/>
        </p:nvSpPr>
        <p:spPr>
          <a:xfrm xmlns:a="http://schemas.openxmlformats.org/drawingml/2006/main">
            <a:off x="5124450" y="4191000"/>
            <a:ext cx="1333500" cy="438150"/>
          </a:xfrm>
          <a:prstGeom xmlns:a="http://schemas.openxmlformats.org/drawingml/2006/main" prst="roundRect">
            <a:avLst>
              <a:gd name="adj" fmla="val 17391"/>
            </a:avLst>
          </a:prstGeom>
          <a:solidFill xmlns:a="http://schemas.openxmlformats.org/drawingml/2006/main">
            <a:srgbClr val="EEF1F4"/>
          </a:solidFill>
          <a:ln xmlns:a="http://schemas.openxmlformats.org/drawingml/2006/main" w="0">
            <a:noFill/>
            <a:prstDash val="solid"/>
          </a:ln>
        </p:spPr>
      </p:sp>
      <p:sp>
        <p:nvSpPr>
          <p:cNvPr id="42" name="text">
            <a:extLst xmlns:a="http://schemas.openxmlformats.org/drawingml/2006/main">
              <a:ext uri="{FF2B5EF4-FFF2-40B4-BE49-F238E27FC236}">
                <a16:creationId xmlns:a16="http://schemas.microsoft.com/office/drawing/2014/main" id="{3C0CB947-DDBD-4221-84AB-31CC2CF45D7E}"/>
              </a:ext>
            </a:extLst>
          </p:cNvPr>
          <p:cNvSpPr>
            <a:spLocks xmlns:a="http://schemas.openxmlformats.org/drawingml/2006/main" noGrp="1"/>
          </p:cNvSpPr>
          <p:nvPr/>
        </p:nvSpPr>
        <p:spPr>
          <a:xfrm xmlns:a="http://schemas.openxmlformats.org/drawingml/2006/main">
            <a:off x="5124450" y="4191000"/>
            <a:ext cx="133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1.7</a:t>
            </a:r>
          </a:p>
        </p:txBody>
      </p:sp>
      <p:sp>
        <p:nvSpPr>
          <p:cNvPr id="43" name="box">
            <a:extLst xmlns:a="http://schemas.openxmlformats.org/drawingml/2006/main">
              <a:ext uri="{FF2B5EF4-FFF2-40B4-BE49-F238E27FC236}">
                <a16:creationId xmlns:a16="http://schemas.microsoft.com/office/drawing/2014/main" id="{D2FB772A-52D3-46CD-A9E3-D3D078496C31}"/>
              </a:ext>
            </a:extLst>
          </p:cNvPr>
          <p:cNvSpPr>
            <a:spLocks xmlns:a="http://schemas.openxmlformats.org/drawingml/2006/main" noGrp="1"/>
          </p:cNvSpPr>
          <p:nvPr/>
        </p:nvSpPr>
        <p:spPr>
          <a:xfrm xmlns:a="http://schemas.openxmlformats.org/drawingml/2006/main">
            <a:off x="7029450" y="1428750"/>
            <a:ext cx="4438650" cy="2324100"/>
          </a:xfrm>
          <a:prstGeom xmlns:a="http://schemas.openxmlformats.org/drawingml/2006/main" prst="roundRect">
            <a:avLst>
              <a:gd name="adj" fmla="val 3279"/>
            </a:avLst>
          </a:prstGeom>
          <a:solidFill xmlns:a="http://schemas.openxmlformats.org/drawingml/2006/main">
            <a:srgbClr val="EEF1F4"/>
          </a:solidFill>
          <a:ln xmlns:a="http://schemas.openxmlformats.org/drawingml/2006/main" w="0">
            <a:noFill/>
            <a:prstDash val="solid"/>
          </a:ln>
        </p:spPr>
      </p:sp>
      <p:sp>
        <p:nvSpPr>
          <p:cNvPr id="44" name="text">
            <a:extLst xmlns:a="http://schemas.openxmlformats.org/drawingml/2006/main">
              <a:ext uri="{FF2B5EF4-FFF2-40B4-BE49-F238E27FC236}">
                <a16:creationId xmlns:a16="http://schemas.microsoft.com/office/drawing/2014/main" id="{7C5BE460-D2B0-456B-BB33-ED9226B61C79}"/>
              </a:ext>
            </a:extLst>
          </p:cNvPr>
          <p:cNvSpPr>
            <a:spLocks xmlns:a="http://schemas.openxmlformats.org/drawingml/2006/main" noGrp="1"/>
          </p:cNvSpPr>
          <p:nvPr/>
        </p:nvSpPr>
        <p:spPr>
          <a:xfrm xmlns:a="http://schemas.openxmlformats.org/drawingml/2006/main">
            <a:off x="7334250" y="163830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Selected one-to-one pairs</a:t>
            </a:r>
          </a:p>
        </p:txBody>
      </p:sp>
      <p:sp>
        <p:nvSpPr>
          <p:cNvPr id="45" name="text">
            <a:extLst xmlns:a="http://schemas.openxmlformats.org/drawingml/2006/main">
              <a:ext uri="{FF2B5EF4-FFF2-40B4-BE49-F238E27FC236}">
                <a16:creationId xmlns:a16="http://schemas.microsoft.com/office/drawing/2014/main" id="{5F7AC929-C706-45A3-9EE2-EADF8A986B8B}"/>
              </a:ext>
            </a:extLst>
          </p:cNvPr>
          <p:cNvSpPr>
            <a:spLocks xmlns:a="http://schemas.openxmlformats.org/drawingml/2006/main" noGrp="1"/>
          </p:cNvSpPr>
          <p:nvPr/>
        </p:nvSpPr>
        <p:spPr>
          <a:xfrm xmlns:a="http://schemas.openxmlformats.org/drawingml/2006/main">
            <a:off x="7505700" y="21336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Q1 → person     cost 0.3</a:t>
            </a:r>
          </a:p>
        </p:txBody>
      </p:sp>
      <p:sp>
        <p:nvSpPr>
          <p:cNvPr id="46" name="text">
            <a:extLst xmlns:a="http://schemas.openxmlformats.org/drawingml/2006/main">
              <a:ext uri="{FF2B5EF4-FFF2-40B4-BE49-F238E27FC236}">
                <a16:creationId xmlns:a16="http://schemas.microsoft.com/office/drawing/2014/main" id="{6B31FDE7-BC3B-42CD-8CE7-7B8EBF7FDA7C}"/>
              </a:ext>
            </a:extLst>
          </p:cNvPr>
          <p:cNvSpPr>
            <a:spLocks xmlns:a="http://schemas.openxmlformats.org/drawingml/2006/main" noGrp="1"/>
          </p:cNvSpPr>
          <p:nvPr/>
        </p:nvSpPr>
        <p:spPr>
          <a:xfrm xmlns:a="http://schemas.openxmlformats.org/drawingml/2006/main">
            <a:off x="7505700" y="25717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45B97C"/>
                </a:solidFill>
                <a:latin typeface="Helvetica Neue"/>
                <a:ea typeface="Helvetica Neue"/>
                <a:cs typeface="Helvetica Neue"/>
              </a:defRPr>
            </a:pPr>
            <a:r>
              <a:rPr sz="1500" b="1">
                <a:solidFill>
                  <a:srgbClr val="45B97C"/>
                </a:solidFill>
                <a:latin typeface="Helvetica Neue"/>
                <a:ea typeface="Helvetica Neue"/>
                <a:cs typeface="Helvetica Neue"/>
              </a:rPr>
              <a:t>Q2 → dog        cost 0.5</a:t>
            </a:r>
          </a:p>
        </p:txBody>
      </p:sp>
      <p:sp>
        <p:nvSpPr>
          <p:cNvPr id="47" name="text">
            <a:extLst xmlns:a="http://schemas.openxmlformats.org/drawingml/2006/main">
              <a:ext uri="{FF2B5EF4-FFF2-40B4-BE49-F238E27FC236}">
                <a16:creationId xmlns:a16="http://schemas.microsoft.com/office/drawing/2014/main" id="{325107E5-94BC-4423-8A4B-F56D8A259339}"/>
              </a:ext>
            </a:extLst>
          </p:cNvPr>
          <p:cNvSpPr>
            <a:spLocks xmlns:a="http://schemas.openxmlformats.org/drawingml/2006/main" noGrp="1"/>
          </p:cNvSpPr>
          <p:nvPr/>
        </p:nvSpPr>
        <p:spPr>
          <a:xfrm xmlns:a="http://schemas.openxmlformats.org/drawingml/2006/main">
            <a:off x="7505700" y="30099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F2B84B"/>
                </a:solidFill>
                <a:latin typeface="Helvetica Neue"/>
                <a:ea typeface="Helvetica Neue"/>
                <a:cs typeface="Helvetica Neue"/>
              </a:defRPr>
            </a:pPr>
            <a:r>
              <a:rPr sz="1500" b="1">
                <a:solidFill>
                  <a:srgbClr val="F2B84B"/>
                </a:solidFill>
                <a:latin typeface="Helvetica Neue"/>
                <a:ea typeface="Helvetica Neue"/>
                <a:cs typeface="Helvetica Neue"/>
              </a:rPr>
              <a:t>Q3 → bicycle    cost 0.4</a:t>
            </a:r>
          </a:p>
        </p:txBody>
      </p:sp>
      <p:sp>
        <p:nvSpPr>
          <p:cNvPr id="48" name="unmatched">
            <a:extLst xmlns:a="http://schemas.openxmlformats.org/drawingml/2006/main">
              <a:ext uri="{FF2B5EF4-FFF2-40B4-BE49-F238E27FC236}">
                <a16:creationId xmlns:a16="http://schemas.microsoft.com/office/drawing/2014/main" id="{6280D1E9-9DAD-4754-A48F-49FD53B9F017}"/>
              </a:ext>
            </a:extLst>
          </p:cNvPr>
          <p:cNvSpPr>
            <a:spLocks xmlns:a="http://schemas.openxmlformats.org/drawingml/2006/main" noGrp="1"/>
          </p:cNvSpPr>
          <p:nvPr/>
        </p:nvSpPr>
        <p:spPr>
          <a:xfrm xmlns:a="http://schemas.openxmlformats.org/drawingml/2006/main">
            <a:off x="7029450" y="3962400"/>
            <a:ext cx="4438650" cy="1181100"/>
          </a:xfrm>
          <a:prstGeom xmlns:a="http://schemas.openxmlformats.org/drawingml/2006/main" prst="roundRect">
            <a:avLst>
              <a:gd name="adj" fmla="val 6452"/>
            </a:avLst>
          </a:prstGeom>
          <a:solidFill xmlns:a="http://schemas.openxmlformats.org/drawingml/2006/main">
            <a:srgbClr val="FDE7E5"/>
          </a:solidFill>
          <a:ln xmlns:a="http://schemas.openxmlformats.org/drawingml/2006/main" w="19050">
            <a:solidFill>
              <a:srgbClr val="EF6A66"/>
            </a:solidFill>
            <a:prstDash val="solid"/>
          </a:ln>
        </p:spPr>
      </p:sp>
      <p:sp>
        <p:nvSpPr>
          <p:cNvPr id="49" name="text">
            <a:extLst xmlns:a="http://schemas.openxmlformats.org/drawingml/2006/main">
              <a:ext uri="{FF2B5EF4-FFF2-40B4-BE49-F238E27FC236}">
                <a16:creationId xmlns:a16="http://schemas.microsoft.com/office/drawing/2014/main" id="{FB163261-C52E-4D2D-B9D1-C8BC57190229}"/>
              </a:ext>
            </a:extLst>
          </p:cNvPr>
          <p:cNvSpPr>
            <a:spLocks xmlns:a="http://schemas.openxmlformats.org/drawingml/2006/main" noGrp="1"/>
          </p:cNvSpPr>
          <p:nvPr/>
        </p:nvSpPr>
        <p:spPr>
          <a:xfrm xmlns:a="http://schemas.openxmlformats.org/drawingml/2006/main">
            <a:off x="7277100" y="4095750"/>
            <a:ext cx="3943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EF6A66"/>
                </a:solidFill>
                <a:latin typeface="Helvetica Neue"/>
                <a:ea typeface="Helvetica Neue"/>
                <a:cs typeface="Helvetica Neue"/>
              </a:defRPr>
            </a:pPr>
            <a:r>
              <a:rPr sz="1575" b="1">
                <a:solidFill>
                  <a:srgbClr val="EF6A66"/>
                </a:solidFill>
                <a:latin typeface="Helvetica Neue"/>
                <a:ea typeface="Helvetica Neue"/>
                <a:cs typeface="Helvetica Neue"/>
              </a:rPr>
              <a:t>Q4 and Q5 remain unmatched</a:t>
            </a:r>
          </a:p>
        </p:txBody>
      </p:sp>
      <p:sp>
        <p:nvSpPr>
          <p:cNvPr id="50" name="text">
            <a:extLst xmlns:a="http://schemas.openxmlformats.org/drawingml/2006/main">
              <a:ext uri="{FF2B5EF4-FFF2-40B4-BE49-F238E27FC236}">
                <a16:creationId xmlns:a16="http://schemas.microsoft.com/office/drawing/2014/main" id="{B11E8FCD-B2B3-4C80-A791-41FE08240565}"/>
              </a:ext>
            </a:extLst>
          </p:cNvPr>
          <p:cNvSpPr>
            <a:spLocks xmlns:a="http://schemas.openxmlformats.org/drawingml/2006/main" noGrp="1"/>
          </p:cNvSpPr>
          <p:nvPr/>
        </p:nvSpPr>
        <p:spPr>
          <a:xfrm xmlns:a="http://schemas.openxmlformats.org/drawingml/2006/main">
            <a:off x="7277100" y="4552950"/>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They become no-object targets afterward.</a:t>
            </a:r>
          </a:p>
        </p:txBody>
      </p:sp>
      <p:sp>
        <p:nvSpPr>
          <p:cNvPr id="51" name="text">
            <a:extLst xmlns:a="http://schemas.openxmlformats.org/drawingml/2006/main">
              <a:ext uri="{FF2B5EF4-FFF2-40B4-BE49-F238E27FC236}">
                <a16:creationId xmlns:a16="http://schemas.microsoft.com/office/drawing/2014/main" id="{F96C1A57-F3CF-479A-BC7A-07F1FD06A745}"/>
              </a:ext>
            </a:extLst>
          </p:cNvPr>
          <p:cNvSpPr>
            <a:spLocks xmlns:a="http://schemas.openxmlformats.org/drawingml/2006/main" noGrp="1"/>
          </p:cNvSpPr>
          <p:nvPr/>
        </p:nvSpPr>
        <p:spPr>
          <a:xfrm xmlns:a="http://schemas.openxmlformats.org/drawingml/2006/main">
            <a:off x="1390650" y="5353050"/>
            <a:ext cx="9410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5D6673"/>
                </a:solidFill>
                <a:latin typeface="Helvetica Neue"/>
                <a:ea typeface="Helvetica Neue"/>
                <a:cs typeface="Helvetica Neue"/>
              </a:defRPr>
            </a:pPr>
            <a:r>
              <a:rPr sz="1500" b="1">
                <a:solidFill>
                  <a:srgbClr val="5D6673"/>
                </a:solidFill>
                <a:latin typeface="Helvetica Neue"/>
                <a:ea typeface="Helvetica Neue"/>
                <a:cs typeface="Helvetica Neue"/>
              </a:rPr>
              <a:t>Paper: pad targets with ∅ to N.     Code: solve an N × M real-object matrix.</a:t>
            </a:r>
          </a:p>
        </p:txBody>
      </p:sp>
      <p:sp>
        <p:nvSpPr>
          <p:cNvPr id="52" name="hungarian-tutorial-link">
            <a:extLst xmlns:a="http://schemas.openxmlformats.org/drawingml/2006/main">
              <a:ext uri="{FF2B5EF4-FFF2-40B4-BE49-F238E27FC236}">
                <a16:creationId xmlns:a16="http://schemas.microsoft.com/office/drawing/2014/main" id="{8B056D07-6932-4519-980B-C346C9B1E134}"/>
              </a:ext>
            </a:extLst>
          </p:cNvPr>
          <p:cNvSpPr>
            <a:spLocks xmlns:a="http://schemas.openxmlformats.org/drawingml/2006/main" noGrp="1"/>
          </p:cNvSpPr>
          <p:nvPr/>
        </p:nvSpPr>
        <p:spPr>
          <a:xfrm xmlns:a="http://schemas.openxmlformats.org/drawingml/2006/main">
            <a:off x="1428750" y="58674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FYI: Hungarian Algorithm and Its Applications in Computer Vision — Towards Data Science</a:t>
            </a:r>
          </a:p>
        </p:txBody>
      </p:sp>
    </p:spTree>
    <p:extLst>
      <p:ext uri="{BB962C8B-B14F-4D97-AF65-F5344CB8AC3E}">
        <p14:creationId xmlns:p14="http://schemas.microsoft.com/office/powerpoint/2010/main" val="160823893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72C9A648-FC79-4672-AD0C-A574EF5182F8}"/>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09981F16-51A5-4338-9769-3958D5CCFE49}"/>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Does Hungarian matching receive gradients?</a:t>
            </a:r>
          </a:p>
        </p:txBody>
      </p:sp>
      <p:sp>
        <p:nvSpPr>
          <p:cNvPr id="3" name="text">
            <a:extLst xmlns:a="http://schemas.openxmlformats.org/drawingml/2006/main">
              <a:ext uri="{FF2B5EF4-FFF2-40B4-BE49-F238E27FC236}">
                <a16:creationId xmlns:a16="http://schemas.microsoft.com/office/drawing/2014/main" id="{C4F68247-C911-4019-8875-D62502D06F9E}"/>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4 • DISCRETE ASSIGNMENT</a:t>
            </a:r>
          </a:p>
        </p:txBody>
      </p:sp>
      <p:sp>
        <p:nvSpPr>
          <p:cNvPr id="4" name="text">
            <a:extLst xmlns:a="http://schemas.openxmlformats.org/drawingml/2006/main">
              <a:ext uri="{FF2B5EF4-FFF2-40B4-BE49-F238E27FC236}">
                <a16:creationId xmlns:a16="http://schemas.microsoft.com/office/drawing/2014/main" id="{89268DB3-49E1-4970-A229-93D82C2279C3}"/>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25</a:t>
            </a:r>
          </a:p>
        </p:txBody>
      </p:sp>
      <p:sp>
        <p:nvSpPr>
          <p:cNvPr id="5" name="node">
            <a:extLst xmlns:a="http://schemas.openxmlformats.org/drawingml/2006/main">
              <a:ext uri="{FF2B5EF4-FFF2-40B4-BE49-F238E27FC236}">
                <a16:creationId xmlns:a16="http://schemas.microsoft.com/office/drawing/2014/main" id="{999761DC-CC82-44CA-8EFB-D611A134DAFE}"/>
              </a:ext>
            </a:extLst>
          </p:cNvPr>
          <p:cNvSpPr>
            <a:spLocks xmlns:a="http://schemas.openxmlformats.org/drawingml/2006/main" noGrp="1"/>
          </p:cNvSpPr>
          <p:nvPr/>
        </p:nvSpPr>
        <p:spPr>
          <a:xfrm xmlns:a="http://schemas.openxmlformats.org/drawingml/2006/main">
            <a:off x="514350" y="2190750"/>
            <a:ext cx="2190750" cy="781050"/>
          </a:xfrm>
          <a:prstGeom xmlns:a="http://schemas.openxmlformats.org/drawingml/2006/main" prst="roundRect">
            <a:avLst>
              <a:gd name="adj" fmla="val 9756"/>
            </a:avLst>
          </a:prstGeom>
          <a:solidFill xmlns:a="http://schemas.openxmlformats.org/drawingml/2006/main">
            <a:srgbClr val="EEF1F4"/>
          </a:solidFill>
          <a:ln xmlns:a="http://schemas.openxmlformats.org/drawingml/2006/main" w="19050">
            <a:solidFill>
              <a:srgbClr val="BCC3CC"/>
            </a:solidFill>
            <a:prstDash val="solid"/>
          </a:ln>
        </p:spPr>
      </p:sp>
      <p:sp>
        <p:nvSpPr>
          <p:cNvPr id="6" name="node-label">
            <a:extLst xmlns:a="http://schemas.openxmlformats.org/drawingml/2006/main">
              <a:ext uri="{FF2B5EF4-FFF2-40B4-BE49-F238E27FC236}">
                <a16:creationId xmlns:a16="http://schemas.microsoft.com/office/drawing/2014/main" id="{218CABB3-CE9E-4A1C-82D8-AA9085ADB3A1}"/>
              </a:ext>
            </a:extLst>
          </p:cNvPr>
          <p:cNvSpPr>
            <a:spLocks xmlns:a="http://schemas.openxmlformats.org/drawingml/2006/main" noGrp="1"/>
          </p:cNvSpPr>
          <p:nvPr/>
        </p:nvSpPr>
        <p:spPr>
          <a:xfrm xmlns:a="http://schemas.openxmlformats.org/drawingml/2006/main">
            <a:off x="590550" y="2228850"/>
            <a:ext cx="2038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cost matrix</a:t>
            </a:r>
          </a:p>
        </p:txBody>
      </p:sp>
      <p:sp>
        <p:nvSpPr>
          <p:cNvPr id="7" name="arrow">
            <a:extLst xmlns:a="http://schemas.openxmlformats.org/drawingml/2006/main">
              <a:ext uri="{FF2B5EF4-FFF2-40B4-BE49-F238E27FC236}">
                <a16:creationId xmlns:a16="http://schemas.microsoft.com/office/drawing/2014/main" id="{B42D940A-316B-46E0-A91D-E7E5E176CDBE}"/>
              </a:ext>
            </a:extLst>
          </p:cNvPr>
          <p:cNvSpPr>
            <a:spLocks xmlns:a="http://schemas.openxmlformats.org/drawingml/2006/main" noGrp="1"/>
          </p:cNvSpPr>
          <p:nvPr/>
        </p:nvSpPr>
        <p:spPr>
          <a:xfrm xmlns:a="http://schemas.openxmlformats.org/drawingml/2006/main">
            <a:off x="2800350" y="24193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8" name="node">
            <a:extLst xmlns:a="http://schemas.openxmlformats.org/drawingml/2006/main">
              <a:ext uri="{FF2B5EF4-FFF2-40B4-BE49-F238E27FC236}">
                <a16:creationId xmlns:a16="http://schemas.microsoft.com/office/drawing/2014/main" id="{F1B88C8D-44AC-4CB2-8DEA-DBDB3CE444AB}"/>
              </a:ext>
            </a:extLst>
          </p:cNvPr>
          <p:cNvSpPr>
            <a:spLocks xmlns:a="http://schemas.openxmlformats.org/drawingml/2006/main" noGrp="1"/>
          </p:cNvSpPr>
          <p:nvPr/>
        </p:nvSpPr>
        <p:spPr>
          <a:xfrm xmlns:a="http://schemas.openxmlformats.org/drawingml/2006/main">
            <a:off x="3581400" y="2076450"/>
            <a:ext cx="2381250" cy="1009650"/>
          </a:xfrm>
          <a:prstGeom xmlns:a="http://schemas.openxmlformats.org/drawingml/2006/main" prst="roundRect">
            <a:avLst>
              <a:gd name="adj" fmla="val 7547"/>
            </a:avLst>
          </a:prstGeom>
          <a:solidFill xmlns:a="http://schemas.openxmlformats.org/drawingml/2006/main">
            <a:srgbClr val="FDE7E5"/>
          </a:solidFill>
          <a:ln xmlns:a="http://schemas.openxmlformats.org/drawingml/2006/main" w="19050">
            <a:solidFill>
              <a:srgbClr val="EF6A66"/>
            </a:solidFill>
            <a:prstDash val="solid"/>
          </a:ln>
        </p:spPr>
      </p:sp>
      <p:sp>
        <p:nvSpPr>
          <p:cNvPr id="9" name="node-label">
            <a:extLst xmlns:a="http://schemas.openxmlformats.org/drawingml/2006/main">
              <a:ext uri="{FF2B5EF4-FFF2-40B4-BE49-F238E27FC236}">
                <a16:creationId xmlns:a16="http://schemas.microsoft.com/office/drawing/2014/main" id="{D9701C30-707D-4094-BC40-1EE8EA2ADA8F}"/>
              </a:ext>
            </a:extLst>
          </p:cNvPr>
          <p:cNvSpPr>
            <a:spLocks xmlns:a="http://schemas.openxmlformats.org/drawingml/2006/main" noGrp="1"/>
          </p:cNvSpPr>
          <p:nvPr/>
        </p:nvSpPr>
        <p:spPr>
          <a:xfrm xmlns:a="http://schemas.openxmlformats.org/drawingml/2006/main">
            <a:off x="3657600" y="2114550"/>
            <a:ext cx="2228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Hungarian</a:t>
            </a:r>
          </a:p>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assignment</a:t>
            </a:r>
          </a:p>
        </p:txBody>
      </p:sp>
      <p:sp>
        <p:nvSpPr>
          <p:cNvPr id="10" name="arrow">
            <a:extLst xmlns:a="http://schemas.openxmlformats.org/drawingml/2006/main">
              <a:ext uri="{FF2B5EF4-FFF2-40B4-BE49-F238E27FC236}">
                <a16:creationId xmlns:a16="http://schemas.microsoft.com/office/drawing/2014/main" id="{6F09986E-5BCB-430C-BC95-18D212C611F8}"/>
              </a:ext>
            </a:extLst>
          </p:cNvPr>
          <p:cNvSpPr>
            <a:spLocks xmlns:a="http://schemas.openxmlformats.org/drawingml/2006/main" noGrp="1"/>
          </p:cNvSpPr>
          <p:nvPr/>
        </p:nvSpPr>
        <p:spPr>
          <a:xfrm xmlns:a="http://schemas.openxmlformats.org/drawingml/2006/main">
            <a:off x="6076950" y="24193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11" name="node">
            <a:extLst xmlns:a="http://schemas.openxmlformats.org/drawingml/2006/main">
              <a:ext uri="{FF2B5EF4-FFF2-40B4-BE49-F238E27FC236}">
                <a16:creationId xmlns:a16="http://schemas.microsoft.com/office/drawing/2014/main" id="{A8718DB7-B3F1-4672-8DE3-D4CB02B37BEE}"/>
              </a:ext>
            </a:extLst>
          </p:cNvPr>
          <p:cNvSpPr>
            <a:spLocks xmlns:a="http://schemas.openxmlformats.org/drawingml/2006/main" noGrp="1"/>
          </p:cNvSpPr>
          <p:nvPr/>
        </p:nvSpPr>
        <p:spPr>
          <a:xfrm xmlns:a="http://schemas.openxmlformats.org/drawingml/2006/main">
            <a:off x="6858000" y="2076450"/>
            <a:ext cx="2381250" cy="1009650"/>
          </a:xfrm>
          <a:prstGeom xmlns:a="http://schemas.openxmlformats.org/drawingml/2006/main" prst="roundRect">
            <a:avLst>
              <a:gd name="adj" fmla="val 7547"/>
            </a:avLst>
          </a:prstGeom>
          <a:solidFill xmlns:a="http://schemas.openxmlformats.org/drawingml/2006/main">
            <a:srgbClr val="EEF1F4"/>
          </a:solidFill>
          <a:ln xmlns:a="http://schemas.openxmlformats.org/drawingml/2006/main" w="19050">
            <a:solidFill>
              <a:srgbClr val="BCC3CC"/>
            </a:solidFill>
            <a:prstDash val="solid"/>
          </a:ln>
        </p:spPr>
      </p:sp>
      <p:sp>
        <p:nvSpPr>
          <p:cNvPr id="12" name="node-label">
            <a:extLst xmlns:a="http://schemas.openxmlformats.org/drawingml/2006/main">
              <a:ext uri="{FF2B5EF4-FFF2-40B4-BE49-F238E27FC236}">
                <a16:creationId xmlns:a16="http://schemas.microsoft.com/office/drawing/2014/main" id="{3BAB7182-5885-4176-BE23-2F68CE4F0B90}"/>
              </a:ext>
            </a:extLst>
          </p:cNvPr>
          <p:cNvSpPr>
            <a:spLocks xmlns:a="http://schemas.openxmlformats.org/drawingml/2006/main" noGrp="1"/>
          </p:cNvSpPr>
          <p:nvPr/>
        </p:nvSpPr>
        <p:spPr>
          <a:xfrm xmlns:a="http://schemas.openxmlformats.org/drawingml/2006/main">
            <a:off x="6934200" y="2114550"/>
            <a:ext cx="2228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fixed pairs</a:t>
            </a:r>
          </a:p>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for this step</a:t>
            </a:r>
          </a:p>
        </p:txBody>
      </p:sp>
      <p:sp>
        <p:nvSpPr>
          <p:cNvPr id="13" name="arrow">
            <a:extLst xmlns:a="http://schemas.openxmlformats.org/drawingml/2006/main">
              <a:ext uri="{FF2B5EF4-FFF2-40B4-BE49-F238E27FC236}">
                <a16:creationId xmlns:a16="http://schemas.microsoft.com/office/drawing/2014/main" id="{64D7BC85-0A50-4B9C-98C9-C0D5217540FE}"/>
              </a:ext>
            </a:extLst>
          </p:cNvPr>
          <p:cNvSpPr>
            <a:spLocks xmlns:a="http://schemas.openxmlformats.org/drawingml/2006/main" noGrp="1"/>
          </p:cNvSpPr>
          <p:nvPr/>
        </p:nvSpPr>
        <p:spPr>
          <a:xfrm xmlns:a="http://schemas.openxmlformats.org/drawingml/2006/main">
            <a:off x="9353550" y="2419350"/>
            <a:ext cx="66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14" name="node">
            <a:extLst xmlns:a="http://schemas.openxmlformats.org/drawingml/2006/main">
              <a:ext uri="{FF2B5EF4-FFF2-40B4-BE49-F238E27FC236}">
                <a16:creationId xmlns:a16="http://schemas.microsoft.com/office/drawing/2014/main" id="{623DCC5B-8EAE-4819-8E36-8F8DF64A5060}"/>
              </a:ext>
            </a:extLst>
          </p:cNvPr>
          <p:cNvSpPr>
            <a:spLocks xmlns:a="http://schemas.openxmlformats.org/drawingml/2006/main" noGrp="1"/>
          </p:cNvSpPr>
          <p:nvPr/>
        </p:nvSpPr>
        <p:spPr>
          <a:xfrm xmlns:a="http://schemas.openxmlformats.org/drawingml/2006/main">
            <a:off x="10134600" y="2076450"/>
            <a:ext cx="1619250" cy="1009650"/>
          </a:xfrm>
          <a:prstGeom xmlns:a="http://schemas.openxmlformats.org/drawingml/2006/main" prst="roundRect">
            <a:avLst>
              <a:gd name="adj" fmla="val 7547"/>
            </a:avLst>
          </a:prstGeom>
          <a:solidFill xmlns:a="http://schemas.openxmlformats.org/drawingml/2006/main">
            <a:srgbClr val="EEE8FF"/>
          </a:solidFill>
          <a:ln xmlns:a="http://schemas.openxmlformats.org/drawingml/2006/main" w="19050">
            <a:solidFill>
              <a:srgbClr val="8E6CEF"/>
            </a:solidFill>
            <a:prstDash val="solid"/>
          </a:ln>
        </p:spPr>
      </p:sp>
      <p:sp>
        <p:nvSpPr>
          <p:cNvPr id="15" name="node-label">
            <a:extLst xmlns:a="http://schemas.openxmlformats.org/drawingml/2006/main">
              <a:ext uri="{FF2B5EF4-FFF2-40B4-BE49-F238E27FC236}">
                <a16:creationId xmlns:a16="http://schemas.microsoft.com/office/drawing/2014/main" id="{CA1B7590-0419-42F2-81C7-9EB5D90ACF70}"/>
              </a:ext>
            </a:extLst>
          </p:cNvPr>
          <p:cNvSpPr>
            <a:spLocks xmlns:a="http://schemas.openxmlformats.org/drawingml/2006/main" noGrp="1"/>
          </p:cNvSpPr>
          <p:nvPr/>
        </p:nvSpPr>
        <p:spPr>
          <a:xfrm xmlns:a="http://schemas.openxmlformats.org/drawingml/2006/main">
            <a:off x="10210800" y="2114550"/>
            <a:ext cx="1466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differentiable</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training losses</a:t>
            </a:r>
          </a:p>
        </p:txBody>
      </p:sp>
      <p:sp>
        <p:nvSpPr>
          <p:cNvPr id="16" name="text">
            <a:extLst xmlns:a="http://schemas.openxmlformats.org/drawingml/2006/main">
              <a:ext uri="{FF2B5EF4-FFF2-40B4-BE49-F238E27FC236}">
                <a16:creationId xmlns:a16="http://schemas.microsoft.com/office/drawing/2014/main" id="{7A943061-90F9-4A60-83CA-4E2A8178D9A1}"/>
              </a:ext>
            </a:extLst>
          </p:cNvPr>
          <p:cNvSpPr>
            <a:spLocks xmlns:a="http://schemas.openxmlformats.org/drawingml/2006/main" noGrp="1"/>
          </p:cNvSpPr>
          <p:nvPr/>
        </p:nvSpPr>
        <p:spPr>
          <a:xfrm xmlns:a="http://schemas.openxmlformats.org/drawingml/2006/main">
            <a:off x="3714750" y="33528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EF6A66"/>
                </a:solidFill>
                <a:latin typeface="Helvetica Neue"/>
                <a:ea typeface="Helvetica Neue"/>
                <a:cs typeface="Helvetica Neue"/>
              </a:defRPr>
            </a:pPr>
            <a:r>
              <a:rPr sz="1350" b="1">
                <a:solidFill>
                  <a:srgbClr val="EF6A66"/>
                </a:solidFill>
                <a:latin typeface="Helvetica Neue"/>
                <a:ea typeface="Helvetica Neue"/>
                <a:cs typeface="Helvetica Neue"/>
              </a:rPr>
              <a:t>NO BACKPROP</a:t>
            </a:r>
          </a:p>
        </p:txBody>
      </p:sp>
      <p:sp>
        <p:nvSpPr>
          <p:cNvPr id="17" name="text">
            <a:extLst xmlns:a="http://schemas.openxmlformats.org/drawingml/2006/main">
              <a:ext uri="{FF2B5EF4-FFF2-40B4-BE49-F238E27FC236}">
                <a16:creationId xmlns:a16="http://schemas.microsoft.com/office/drawing/2014/main" id="{D247C1AF-CA03-4E0A-9B20-F2001144F75D}"/>
              </a:ext>
            </a:extLst>
          </p:cNvPr>
          <p:cNvSpPr>
            <a:spLocks xmlns:a="http://schemas.openxmlformats.org/drawingml/2006/main" noGrp="1"/>
          </p:cNvSpPr>
          <p:nvPr/>
        </p:nvSpPr>
        <p:spPr>
          <a:xfrm xmlns:a="http://schemas.openxmlformats.org/drawingml/2006/main">
            <a:off x="9791700" y="3352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8E6CEF"/>
                </a:solidFill>
                <a:latin typeface="Helvetica Neue"/>
                <a:ea typeface="Helvetica Neue"/>
                <a:cs typeface="Helvetica Neue"/>
              </a:defRPr>
            </a:pPr>
            <a:r>
              <a:rPr sz="1275" b="1">
                <a:solidFill>
                  <a:srgbClr val="8E6CEF"/>
                </a:solidFill>
                <a:latin typeface="Helvetica Neue"/>
                <a:ea typeface="Helvetica Neue"/>
                <a:cs typeface="Helvetica Neue"/>
              </a:rPr>
              <a:t>GRADIENT STARTS HERE</a:t>
            </a:r>
          </a:p>
        </p:txBody>
      </p:sp>
      <p:sp>
        <p:nvSpPr>
          <p:cNvPr id="18" name="box">
            <a:extLst xmlns:a="http://schemas.openxmlformats.org/drawingml/2006/main">
              <a:ext uri="{FF2B5EF4-FFF2-40B4-BE49-F238E27FC236}">
                <a16:creationId xmlns:a16="http://schemas.microsoft.com/office/drawing/2014/main" id="{EFE986BE-F303-4CAF-A090-E607CEDCB2E1}"/>
              </a:ext>
            </a:extLst>
          </p:cNvPr>
          <p:cNvSpPr>
            <a:spLocks xmlns:a="http://schemas.openxmlformats.org/drawingml/2006/main" noGrp="1"/>
          </p:cNvSpPr>
          <p:nvPr/>
        </p:nvSpPr>
        <p:spPr>
          <a:xfrm xmlns:a="http://schemas.openxmlformats.org/drawingml/2006/main">
            <a:off x="819150" y="4248150"/>
            <a:ext cx="10553700" cy="723900"/>
          </a:xfrm>
          <a:prstGeom xmlns:a="http://schemas.openxmlformats.org/drawingml/2006/main" prst="roundRect">
            <a:avLst>
              <a:gd name="adj" fmla="val 10526"/>
            </a:avLst>
          </a:prstGeom>
          <a:solidFill xmlns:a="http://schemas.openxmlformats.org/drawingml/2006/main">
            <a:srgbClr val="EEF1F4"/>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6E1E1486-53C3-4E68-82EE-BA409323EDBB}"/>
              </a:ext>
            </a:extLst>
          </p:cNvPr>
          <p:cNvSpPr>
            <a:spLocks xmlns:a="http://schemas.openxmlformats.org/drawingml/2006/main" noGrp="1"/>
          </p:cNvSpPr>
          <p:nvPr/>
        </p:nvSpPr>
        <p:spPr>
          <a:xfrm xmlns:a="http://schemas.openxmlformats.org/drawingml/2006/main">
            <a:off x="990600" y="4324350"/>
            <a:ext cx="10210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forward → costs → match → freeze indices → loss → backward → update → match again</a:t>
            </a:r>
          </a:p>
        </p:txBody>
      </p:sp>
      <p:sp>
        <p:nvSpPr>
          <p:cNvPr id="20" name="text">
            <a:extLst xmlns:a="http://schemas.openxmlformats.org/drawingml/2006/main">
              <a:ext uri="{FF2B5EF4-FFF2-40B4-BE49-F238E27FC236}">
                <a16:creationId xmlns:a16="http://schemas.microsoft.com/office/drawing/2014/main" id="{AB3E164A-7AFE-4F8D-AFBA-E4572A016879}"/>
              </a:ext>
            </a:extLst>
          </p:cNvPr>
          <p:cNvSpPr>
            <a:spLocks xmlns:a="http://schemas.openxmlformats.org/drawingml/2006/main" noGrp="1"/>
          </p:cNvSpPr>
          <p:nvPr/>
        </p:nvSpPr>
        <p:spPr>
          <a:xfrm xmlns:a="http://schemas.openxmlformats.org/drawingml/2006/main">
            <a:off x="990600" y="5314950"/>
            <a:ext cx="1021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Analogy: the matcher assigns homework; the loss grades it. The assignment rule itself is not learned.</a:t>
            </a:r>
          </a:p>
        </p:txBody>
      </p:sp>
    </p:spTree>
    <p:extLst>
      <p:ext uri="{BB962C8B-B14F-4D97-AF65-F5344CB8AC3E}">
        <p14:creationId xmlns:p14="http://schemas.microsoft.com/office/powerpoint/2010/main" val="131398231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5AA1C745-BC73-4BD1-B21C-2F1A1851CB01}"/>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BD4714B4-BDF7-4F6C-8497-058B0964A9EB}"/>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What loss does the paper apply after matching?</a:t>
            </a:r>
          </a:p>
        </p:txBody>
      </p:sp>
      <p:sp>
        <p:nvSpPr>
          <p:cNvPr id="3" name="text">
            <a:extLst xmlns:a="http://schemas.openxmlformats.org/drawingml/2006/main">
              <a:ext uri="{FF2B5EF4-FFF2-40B4-BE49-F238E27FC236}">
                <a16:creationId xmlns:a16="http://schemas.microsoft.com/office/drawing/2014/main" id="{75D44171-A691-4B94-A4B7-67D978359AF1}"/>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PAPER EQUATION • SOURCE</a:t>
            </a:r>
          </a:p>
        </p:txBody>
      </p:sp>
      <p:sp>
        <p:nvSpPr>
          <p:cNvPr id="4" name="text">
            <a:extLst xmlns:a="http://schemas.openxmlformats.org/drawingml/2006/main">
              <a:ext uri="{FF2B5EF4-FFF2-40B4-BE49-F238E27FC236}">
                <a16:creationId xmlns:a16="http://schemas.microsoft.com/office/drawing/2014/main" id="{E06F1389-6647-4D3D-B92D-3E6A8801F184}"/>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26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48746b8973544d2"/>
          <a:stretch xmlns:a="http://schemas.openxmlformats.org/drawingml/2006/main"/>
        </p:blipFill>
        <p:spPr>
          <a:xfrm xmlns:a="http://schemas.openxmlformats.org/drawingml/2006/main">
            <a:off x="704850" y="1562589"/>
            <a:ext cx="10782300" cy="1465872"/>
          </a:xfrm>
          <a:prstGeom xmlns:a="http://schemas.openxmlformats.org/drawingml/2006/main" prst="rect">
            <a:avLst/>
          </a:prstGeom>
        </p:spPr>
      </p:pic>
      <p:sp>
        <p:nvSpPr>
          <p:cNvPr id="6" name="paper-citation">
            <a:extLst xmlns:a="http://schemas.openxmlformats.org/drawingml/2006/main">
              <a:ext uri="{FF2B5EF4-FFF2-40B4-BE49-F238E27FC236}">
                <a16:creationId xmlns:a16="http://schemas.microsoft.com/office/drawing/2014/main" id="{E96041F1-8E9A-4210-B4BB-4BF3FD9501C7}"/>
              </a:ext>
            </a:extLst>
          </p:cNvPr>
          <p:cNvSpPr>
            <a:spLocks xmlns:a="http://schemas.openxmlformats.org/drawingml/2006/main" noGrp="1"/>
          </p:cNvSpPr>
          <p:nvPr/>
        </p:nvSpPr>
        <p:spPr>
          <a:xfrm xmlns:a="http://schemas.openxmlformats.org/drawingml/2006/main">
            <a:off x="609600" y="32956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Source: Carion et al., “End-to-End Object Detection with Transformers,” ECCV 2020, Eq. (2).</a:t>
            </a:r>
          </a:p>
        </p:txBody>
      </p:sp>
      <p:sp>
        <p:nvSpPr>
          <p:cNvPr id="7" name="box">
            <a:extLst xmlns:a="http://schemas.openxmlformats.org/drawingml/2006/main">
              <a:ext uri="{FF2B5EF4-FFF2-40B4-BE49-F238E27FC236}">
                <a16:creationId xmlns:a16="http://schemas.microsoft.com/office/drawing/2014/main" id="{9B4BF12D-A1C7-48D5-B03A-45BAEDEDC000}"/>
              </a:ext>
            </a:extLst>
          </p:cNvPr>
          <p:cNvSpPr>
            <a:spLocks xmlns:a="http://schemas.openxmlformats.org/drawingml/2006/main" noGrp="1"/>
          </p:cNvSpPr>
          <p:nvPr/>
        </p:nvSpPr>
        <p:spPr>
          <a:xfrm xmlns:a="http://schemas.openxmlformats.org/drawingml/2006/main">
            <a:off x="857250" y="4019550"/>
            <a:ext cx="4857750" cy="1066800"/>
          </a:xfrm>
          <a:prstGeom xmlns:a="http://schemas.openxmlformats.org/drawingml/2006/main" prst="roundRect">
            <a:avLst>
              <a:gd name="adj" fmla="val 7143"/>
            </a:avLst>
          </a:prstGeom>
          <a:solidFill xmlns:a="http://schemas.openxmlformats.org/drawingml/2006/main">
            <a:srgbClr val="D9F1FC"/>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B0E8A1C7-C255-4FA2-8645-0271B86FD054}"/>
              </a:ext>
            </a:extLst>
          </p:cNvPr>
          <p:cNvSpPr>
            <a:spLocks xmlns:a="http://schemas.openxmlformats.org/drawingml/2006/main" noGrp="1"/>
          </p:cNvSpPr>
          <p:nvPr/>
        </p:nvSpPr>
        <p:spPr>
          <a:xfrm xmlns:a="http://schemas.openxmlformats.org/drawingml/2006/main">
            <a:off x="1143000" y="41719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 log p̂σ̂(i)(cᵢ)</a:t>
            </a:r>
          </a:p>
        </p:txBody>
      </p:sp>
      <p:sp>
        <p:nvSpPr>
          <p:cNvPr id="9" name="text">
            <a:extLst xmlns:a="http://schemas.openxmlformats.org/drawingml/2006/main">
              <a:ext uri="{FF2B5EF4-FFF2-40B4-BE49-F238E27FC236}">
                <a16:creationId xmlns:a16="http://schemas.microsoft.com/office/drawing/2014/main" id="{795E7A44-B4F5-4797-BA49-3EEDEA904179}"/>
              </a:ext>
            </a:extLst>
          </p:cNvPr>
          <p:cNvSpPr>
            <a:spLocks xmlns:a="http://schemas.openxmlformats.org/drawingml/2006/main" noGrp="1"/>
          </p:cNvSpPr>
          <p:nvPr/>
        </p:nvSpPr>
        <p:spPr>
          <a:xfrm xmlns:a="http://schemas.openxmlformats.org/drawingml/2006/main">
            <a:off x="1143000" y="46101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classification term for every slot</a:t>
            </a:r>
          </a:p>
        </p:txBody>
      </p:sp>
      <p:sp>
        <p:nvSpPr>
          <p:cNvPr id="10" name="box">
            <a:extLst xmlns:a="http://schemas.openxmlformats.org/drawingml/2006/main">
              <a:ext uri="{FF2B5EF4-FFF2-40B4-BE49-F238E27FC236}">
                <a16:creationId xmlns:a16="http://schemas.microsoft.com/office/drawing/2014/main" id="{3399D785-CE46-4AF1-9553-09FDE16A3A2F}"/>
              </a:ext>
            </a:extLst>
          </p:cNvPr>
          <p:cNvSpPr>
            <a:spLocks xmlns:a="http://schemas.openxmlformats.org/drawingml/2006/main" noGrp="1"/>
          </p:cNvSpPr>
          <p:nvPr/>
        </p:nvSpPr>
        <p:spPr>
          <a:xfrm xmlns:a="http://schemas.openxmlformats.org/drawingml/2006/main">
            <a:off x="6477000" y="4019550"/>
            <a:ext cx="4857750" cy="1066800"/>
          </a:xfrm>
          <a:prstGeom xmlns:a="http://schemas.openxmlformats.org/drawingml/2006/main" prst="roundRect">
            <a:avLst>
              <a:gd name="adj" fmla="val 7143"/>
            </a:avLst>
          </a:prstGeom>
          <a:solidFill xmlns:a="http://schemas.openxmlformats.org/drawingml/2006/main">
            <a:srgbClr val="FFF1CC"/>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718D3FD9-5576-4ECC-BB58-5CDDBEDF3A01}"/>
              </a:ext>
            </a:extLst>
          </p:cNvPr>
          <p:cNvSpPr>
            <a:spLocks xmlns:a="http://schemas.openxmlformats.org/drawingml/2006/main" noGrp="1"/>
          </p:cNvSpPr>
          <p:nvPr/>
        </p:nvSpPr>
        <p:spPr>
          <a:xfrm xmlns:a="http://schemas.openxmlformats.org/drawingml/2006/main">
            <a:off x="6762750" y="417195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F2B84B"/>
                </a:solidFill>
                <a:latin typeface="Helvetica Neue"/>
                <a:ea typeface="Helvetica Neue"/>
                <a:cs typeface="Helvetica Neue"/>
              </a:defRPr>
            </a:pPr>
            <a:r>
              <a:rPr sz="2100" b="1">
                <a:solidFill>
                  <a:srgbClr val="F2B84B"/>
                </a:solidFill>
                <a:latin typeface="Helvetica Neue"/>
                <a:ea typeface="Helvetica Neue"/>
                <a:cs typeface="Helvetica Neue"/>
              </a:rPr>
              <a:t>𝟙{cᵢ ≠ ∅} Lbox(…)</a:t>
            </a:r>
          </a:p>
        </p:txBody>
      </p:sp>
      <p:sp>
        <p:nvSpPr>
          <p:cNvPr id="12" name="text">
            <a:extLst xmlns:a="http://schemas.openxmlformats.org/drawingml/2006/main">
              <a:ext uri="{FF2B5EF4-FFF2-40B4-BE49-F238E27FC236}">
                <a16:creationId xmlns:a16="http://schemas.microsoft.com/office/drawing/2014/main" id="{A599E1B9-2467-4A14-BD7F-65AB5E4583E5}"/>
              </a:ext>
            </a:extLst>
          </p:cNvPr>
          <p:cNvSpPr>
            <a:spLocks xmlns:a="http://schemas.openxmlformats.org/drawingml/2006/main" noGrp="1"/>
          </p:cNvSpPr>
          <p:nvPr/>
        </p:nvSpPr>
        <p:spPr>
          <a:xfrm xmlns:a="http://schemas.openxmlformats.org/drawingml/2006/main">
            <a:off x="6762750" y="46101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box term only for real targets</a:t>
            </a:r>
          </a:p>
        </p:txBody>
      </p:sp>
    </p:spTree>
    <p:extLst>
      <p:ext uri="{BB962C8B-B14F-4D97-AF65-F5344CB8AC3E}">
        <p14:creationId xmlns:p14="http://schemas.microsoft.com/office/powerpoint/2010/main" val="176438296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text">
            <a:extLst xmlns:a="http://schemas.openxmlformats.org/drawingml/2006/main">
              <a:ext uri="{FF2B5EF4-FFF2-40B4-BE49-F238E27FC236}">
                <a16:creationId xmlns:a16="http://schemas.microsoft.com/office/drawing/2014/main" id="{03F6BA35-80B8-419A-B5EE-686932D939A1}"/>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B89050B9-33C9-4B2E-BFFB-CAF83BC5E008}"/>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What class targets exist after matching?</a:t>
            </a:r>
          </a:p>
        </p:txBody>
      </p:sp>
      <p:sp>
        <p:nvSpPr>
          <p:cNvPr id="3" name="text">
            <a:extLst xmlns:a="http://schemas.openxmlformats.org/drawingml/2006/main">
              <a:ext uri="{FF2B5EF4-FFF2-40B4-BE49-F238E27FC236}">
                <a16:creationId xmlns:a16="http://schemas.microsoft.com/office/drawing/2014/main" id="{A0E1091F-FB40-42FB-96E1-5B0FFF6CE7A6}"/>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5 • BUILD TARGETS</a:t>
            </a:r>
          </a:p>
        </p:txBody>
      </p:sp>
      <p:sp>
        <p:nvSpPr>
          <p:cNvPr id="4" name="text">
            <a:extLst xmlns:a="http://schemas.openxmlformats.org/drawingml/2006/main">
              <a:ext uri="{FF2B5EF4-FFF2-40B4-BE49-F238E27FC236}">
                <a16:creationId xmlns:a16="http://schemas.microsoft.com/office/drawing/2014/main" id="{79FEB6C5-DB29-45B8-9A64-A17F9FF6E74F}"/>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27</a:t>
            </a:r>
          </a:p>
        </p:txBody>
      </p:sp>
      <p:sp>
        <p:nvSpPr>
          <p:cNvPr id="5" name="text">
            <a:extLst xmlns:a="http://schemas.openxmlformats.org/drawingml/2006/main">
              <a:ext uri="{FF2B5EF4-FFF2-40B4-BE49-F238E27FC236}">
                <a16:creationId xmlns:a16="http://schemas.microsoft.com/office/drawing/2014/main" id="{3A1C2D14-E890-435A-9A66-F3C9D60AD1B0}"/>
              </a:ext>
            </a:extLst>
          </p:cNvPr>
          <p:cNvSpPr>
            <a:spLocks xmlns:a="http://schemas.openxmlformats.org/drawingml/2006/main" noGrp="1"/>
          </p:cNvSpPr>
          <p:nvPr/>
        </p:nvSpPr>
        <p:spPr>
          <a:xfrm xmlns:a="http://schemas.openxmlformats.org/drawingml/2006/main">
            <a:off x="533400" y="13525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MATCHED PAIRS</a:t>
            </a:r>
          </a:p>
        </p:txBody>
      </p:sp>
      <p:sp>
        <p:nvSpPr>
          <p:cNvPr id="6" name="node">
            <a:extLst xmlns:a="http://schemas.openxmlformats.org/drawingml/2006/main">
              <a:ext uri="{FF2B5EF4-FFF2-40B4-BE49-F238E27FC236}">
                <a16:creationId xmlns:a16="http://schemas.microsoft.com/office/drawing/2014/main" id="{32287309-B629-4E17-BC59-14747258D5AC}"/>
              </a:ext>
            </a:extLst>
          </p:cNvPr>
          <p:cNvSpPr>
            <a:spLocks xmlns:a="http://schemas.openxmlformats.org/drawingml/2006/main" noGrp="1"/>
          </p:cNvSpPr>
          <p:nvPr/>
        </p:nvSpPr>
        <p:spPr>
          <a:xfrm xmlns:a="http://schemas.openxmlformats.org/drawingml/2006/main">
            <a:off x="552450" y="1752600"/>
            <a:ext cx="723900" cy="457200"/>
          </a:xfrm>
          <a:prstGeom xmlns:a="http://schemas.openxmlformats.org/drawingml/2006/main" prst="roundRect">
            <a:avLst>
              <a:gd name="adj" fmla="val 16667"/>
            </a:avLst>
          </a:prstGeom>
          <a:solidFill xmlns:a="http://schemas.openxmlformats.org/drawingml/2006/main">
            <a:srgbClr val="D9F1FC"/>
          </a:solidFill>
          <a:ln xmlns:a="http://schemas.openxmlformats.org/drawingml/2006/main" w="19050">
            <a:solidFill>
              <a:srgbClr val="3D8DFF"/>
            </a:solidFill>
            <a:prstDash val="solid"/>
          </a:ln>
        </p:spPr>
      </p:sp>
      <p:sp>
        <p:nvSpPr>
          <p:cNvPr id="7" name="node-label">
            <a:extLst xmlns:a="http://schemas.openxmlformats.org/drawingml/2006/main">
              <a:ext uri="{FF2B5EF4-FFF2-40B4-BE49-F238E27FC236}">
                <a16:creationId xmlns:a16="http://schemas.microsoft.com/office/drawing/2014/main" id="{57380154-E203-4FE1-92F9-C16598F8C151}"/>
              </a:ext>
            </a:extLst>
          </p:cNvPr>
          <p:cNvSpPr>
            <a:spLocks xmlns:a="http://schemas.openxmlformats.org/drawingml/2006/main" noGrp="1"/>
          </p:cNvSpPr>
          <p:nvPr/>
        </p:nvSpPr>
        <p:spPr>
          <a:xfrm xmlns:a="http://schemas.openxmlformats.org/drawingml/2006/main">
            <a:off x="628650" y="17907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Q1</a:t>
            </a:r>
          </a:p>
        </p:txBody>
      </p:sp>
      <p:sp>
        <p:nvSpPr>
          <p:cNvPr id="8" name="text">
            <a:extLst xmlns:a="http://schemas.openxmlformats.org/drawingml/2006/main">
              <a:ext uri="{FF2B5EF4-FFF2-40B4-BE49-F238E27FC236}">
                <a16:creationId xmlns:a16="http://schemas.microsoft.com/office/drawing/2014/main" id="{3FE4CA82-D910-44CC-8610-B0A9A1061059}"/>
              </a:ext>
            </a:extLst>
          </p:cNvPr>
          <p:cNvSpPr>
            <a:spLocks xmlns:a="http://schemas.openxmlformats.org/drawingml/2006/main" noGrp="1"/>
          </p:cNvSpPr>
          <p:nvPr/>
        </p:nvSpPr>
        <p:spPr>
          <a:xfrm xmlns:a="http://schemas.openxmlformats.org/drawingml/2006/main">
            <a:off x="1409700" y="175260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person</a:t>
            </a:r>
          </a:p>
        </p:txBody>
      </p:sp>
      <p:sp>
        <p:nvSpPr>
          <p:cNvPr id="9" name="node">
            <a:extLst xmlns:a="http://schemas.openxmlformats.org/drawingml/2006/main">
              <a:ext uri="{FF2B5EF4-FFF2-40B4-BE49-F238E27FC236}">
                <a16:creationId xmlns:a16="http://schemas.microsoft.com/office/drawing/2014/main" id="{FA145132-3158-4DAE-AF7C-13D2ACB58396}"/>
              </a:ext>
            </a:extLst>
          </p:cNvPr>
          <p:cNvSpPr>
            <a:spLocks xmlns:a="http://schemas.openxmlformats.org/drawingml/2006/main" noGrp="1"/>
          </p:cNvSpPr>
          <p:nvPr/>
        </p:nvSpPr>
        <p:spPr>
          <a:xfrm xmlns:a="http://schemas.openxmlformats.org/drawingml/2006/main">
            <a:off x="552450" y="2343150"/>
            <a:ext cx="723900" cy="457200"/>
          </a:xfrm>
          <a:prstGeom xmlns:a="http://schemas.openxmlformats.org/drawingml/2006/main" prst="roundRect">
            <a:avLst>
              <a:gd name="adj" fmla="val 16667"/>
            </a:avLst>
          </a:prstGeom>
          <a:solidFill xmlns:a="http://schemas.openxmlformats.org/drawingml/2006/main">
            <a:srgbClr val="DDF4E8"/>
          </a:solidFill>
          <a:ln xmlns:a="http://schemas.openxmlformats.org/drawingml/2006/main" w="19050">
            <a:solidFill>
              <a:srgbClr val="45B97C"/>
            </a:solidFill>
            <a:prstDash val="solid"/>
          </a:ln>
        </p:spPr>
      </p:sp>
      <p:sp>
        <p:nvSpPr>
          <p:cNvPr id="10" name="node-label">
            <a:extLst xmlns:a="http://schemas.openxmlformats.org/drawingml/2006/main">
              <a:ext uri="{FF2B5EF4-FFF2-40B4-BE49-F238E27FC236}">
                <a16:creationId xmlns:a16="http://schemas.microsoft.com/office/drawing/2014/main" id="{0A22526D-157D-4884-AC58-0B9A31958A01}"/>
              </a:ext>
            </a:extLst>
          </p:cNvPr>
          <p:cNvSpPr>
            <a:spLocks xmlns:a="http://schemas.openxmlformats.org/drawingml/2006/main" noGrp="1"/>
          </p:cNvSpPr>
          <p:nvPr/>
        </p:nvSpPr>
        <p:spPr>
          <a:xfrm xmlns:a="http://schemas.openxmlformats.org/drawingml/2006/main">
            <a:off x="628650" y="238125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45B97C"/>
                </a:solidFill>
                <a:latin typeface="Helvetica Neue"/>
                <a:ea typeface="Helvetica Neue"/>
                <a:cs typeface="Helvetica Neue"/>
              </a:defRPr>
            </a:pPr>
            <a:r>
              <a:rPr sz="1350" b="1">
                <a:solidFill>
                  <a:srgbClr val="45B97C"/>
                </a:solidFill>
                <a:latin typeface="Helvetica Neue"/>
                <a:ea typeface="Helvetica Neue"/>
                <a:cs typeface="Helvetica Neue"/>
              </a:rPr>
              <a:t>Q2</a:t>
            </a:r>
          </a:p>
        </p:txBody>
      </p:sp>
      <p:sp>
        <p:nvSpPr>
          <p:cNvPr id="11" name="text">
            <a:extLst xmlns:a="http://schemas.openxmlformats.org/drawingml/2006/main">
              <a:ext uri="{FF2B5EF4-FFF2-40B4-BE49-F238E27FC236}">
                <a16:creationId xmlns:a16="http://schemas.microsoft.com/office/drawing/2014/main" id="{42484C58-CFD6-4853-A7FD-0E4B334D5E88}"/>
              </a:ext>
            </a:extLst>
          </p:cNvPr>
          <p:cNvSpPr>
            <a:spLocks xmlns:a="http://schemas.openxmlformats.org/drawingml/2006/main" noGrp="1"/>
          </p:cNvSpPr>
          <p:nvPr/>
        </p:nvSpPr>
        <p:spPr>
          <a:xfrm xmlns:a="http://schemas.openxmlformats.org/drawingml/2006/main">
            <a:off x="1409700" y="234315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45B97C"/>
                </a:solidFill>
                <a:latin typeface="Helvetica Neue"/>
                <a:ea typeface="Helvetica Neue"/>
                <a:cs typeface="Helvetica Neue"/>
              </a:defRPr>
            </a:pPr>
            <a:r>
              <a:rPr sz="1425" b="1">
                <a:solidFill>
                  <a:srgbClr val="45B97C"/>
                </a:solidFill>
                <a:latin typeface="Helvetica Neue"/>
                <a:ea typeface="Helvetica Neue"/>
                <a:cs typeface="Helvetica Neue"/>
              </a:rPr>
              <a:t>dog</a:t>
            </a:r>
          </a:p>
        </p:txBody>
      </p:sp>
      <p:sp>
        <p:nvSpPr>
          <p:cNvPr id="12" name="node">
            <a:extLst xmlns:a="http://schemas.openxmlformats.org/drawingml/2006/main">
              <a:ext uri="{FF2B5EF4-FFF2-40B4-BE49-F238E27FC236}">
                <a16:creationId xmlns:a16="http://schemas.microsoft.com/office/drawing/2014/main" id="{2B0FF73D-57AA-4D17-8C35-3757C4A11CBD}"/>
              </a:ext>
            </a:extLst>
          </p:cNvPr>
          <p:cNvSpPr>
            <a:spLocks xmlns:a="http://schemas.openxmlformats.org/drawingml/2006/main" noGrp="1"/>
          </p:cNvSpPr>
          <p:nvPr/>
        </p:nvSpPr>
        <p:spPr>
          <a:xfrm xmlns:a="http://schemas.openxmlformats.org/drawingml/2006/main">
            <a:off x="552450" y="2933700"/>
            <a:ext cx="723900" cy="457200"/>
          </a:xfrm>
          <a:prstGeom xmlns:a="http://schemas.openxmlformats.org/drawingml/2006/main" prst="roundRect">
            <a:avLst>
              <a:gd name="adj" fmla="val 16667"/>
            </a:avLst>
          </a:prstGeom>
          <a:solidFill xmlns:a="http://schemas.openxmlformats.org/drawingml/2006/main">
            <a:srgbClr val="FFF1CC"/>
          </a:solidFill>
          <a:ln xmlns:a="http://schemas.openxmlformats.org/drawingml/2006/main" w="19050">
            <a:solidFill>
              <a:srgbClr val="F2B84B"/>
            </a:solidFill>
            <a:prstDash val="solid"/>
          </a:ln>
        </p:spPr>
      </p:sp>
      <p:sp>
        <p:nvSpPr>
          <p:cNvPr id="13" name="node-label">
            <a:extLst xmlns:a="http://schemas.openxmlformats.org/drawingml/2006/main">
              <a:ext uri="{FF2B5EF4-FFF2-40B4-BE49-F238E27FC236}">
                <a16:creationId xmlns:a16="http://schemas.microsoft.com/office/drawing/2014/main" id="{78BC30DD-A605-431A-8D78-42FAD550A11A}"/>
              </a:ext>
            </a:extLst>
          </p:cNvPr>
          <p:cNvSpPr>
            <a:spLocks xmlns:a="http://schemas.openxmlformats.org/drawingml/2006/main" noGrp="1"/>
          </p:cNvSpPr>
          <p:nvPr/>
        </p:nvSpPr>
        <p:spPr>
          <a:xfrm xmlns:a="http://schemas.openxmlformats.org/drawingml/2006/main">
            <a:off x="628650" y="29718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latin typeface="Helvetica Neue"/>
                <a:ea typeface="Helvetica Neue"/>
                <a:cs typeface="Helvetica Neue"/>
              </a:defRPr>
            </a:pPr>
            <a:r>
              <a:rPr sz="1350" b="1">
                <a:solidFill>
                  <a:srgbClr val="F2B84B"/>
                </a:solidFill>
                <a:latin typeface="Helvetica Neue"/>
                <a:ea typeface="Helvetica Neue"/>
                <a:cs typeface="Helvetica Neue"/>
              </a:rPr>
              <a:t>Q3</a:t>
            </a:r>
          </a:p>
        </p:txBody>
      </p:sp>
      <p:sp>
        <p:nvSpPr>
          <p:cNvPr id="14" name="text">
            <a:extLst xmlns:a="http://schemas.openxmlformats.org/drawingml/2006/main">
              <a:ext uri="{FF2B5EF4-FFF2-40B4-BE49-F238E27FC236}">
                <a16:creationId xmlns:a16="http://schemas.microsoft.com/office/drawing/2014/main" id="{8A51019A-9F18-4ABD-B008-855C52D88172}"/>
              </a:ext>
            </a:extLst>
          </p:cNvPr>
          <p:cNvSpPr>
            <a:spLocks xmlns:a="http://schemas.openxmlformats.org/drawingml/2006/main" noGrp="1"/>
          </p:cNvSpPr>
          <p:nvPr/>
        </p:nvSpPr>
        <p:spPr>
          <a:xfrm xmlns:a="http://schemas.openxmlformats.org/drawingml/2006/main">
            <a:off x="1409700" y="293370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2B84B"/>
                </a:solidFill>
                <a:latin typeface="Helvetica Neue"/>
                <a:ea typeface="Helvetica Neue"/>
                <a:cs typeface="Helvetica Neue"/>
              </a:defRPr>
            </a:pPr>
            <a:r>
              <a:rPr sz="1425" b="1">
                <a:solidFill>
                  <a:srgbClr val="F2B84B"/>
                </a:solidFill>
                <a:latin typeface="Helvetica Neue"/>
                <a:ea typeface="Helvetica Neue"/>
                <a:cs typeface="Helvetica Neue"/>
              </a:rPr>
              <a:t>bicycle</a:t>
            </a:r>
          </a:p>
        </p:txBody>
      </p:sp>
      <p:sp>
        <p:nvSpPr>
          <p:cNvPr id="15" name="node">
            <a:extLst xmlns:a="http://schemas.openxmlformats.org/drawingml/2006/main">
              <a:ext uri="{FF2B5EF4-FFF2-40B4-BE49-F238E27FC236}">
                <a16:creationId xmlns:a16="http://schemas.microsoft.com/office/drawing/2014/main" id="{DADEBF4C-253B-4775-9D2C-4C8C39CE4561}"/>
              </a:ext>
            </a:extLst>
          </p:cNvPr>
          <p:cNvSpPr>
            <a:spLocks xmlns:a="http://schemas.openxmlformats.org/drawingml/2006/main" noGrp="1"/>
          </p:cNvSpPr>
          <p:nvPr/>
        </p:nvSpPr>
        <p:spPr>
          <a:xfrm xmlns:a="http://schemas.openxmlformats.org/drawingml/2006/main">
            <a:off x="552450" y="3524250"/>
            <a:ext cx="723900" cy="457200"/>
          </a:xfrm>
          <a:prstGeom xmlns:a="http://schemas.openxmlformats.org/drawingml/2006/main" prst="roundRect">
            <a:avLst>
              <a:gd name="adj" fmla="val 16667"/>
            </a:avLst>
          </a:prstGeom>
          <a:solidFill xmlns:a="http://schemas.openxmlformats.org/drawingml/2006/main">
            <a:srgbClr val="EEF1F4"/>
          </a:solidFill>
          <a:ln xmlns:a="http://schemas.openxmlformats.org/drawingml/2006/main" w="19050">
            <a:solidFill>
              <a:srgbClr val="BCC3CC"/>
            </a:solidFill>
            <a:prstDash val="solid"/>
          </a:ln>
        </p:spPr>
      </p:sp>
      <p:sp>
        <p:nvSpPr>
          <p:cNvPr id="16" name="node-label">
            <a:extLst xmlns:a="http://schemas.openxmlformats.org/drawingml/2006/main">
              <a:ext uri="{FF2B5EF4-FFF2-40B4-BE49-F238E27FC236}">
                <a16:creationId xmlns:a16="http://schemas.microsoft.com/office/drawing/2014/main" id="{0C273FD7-56B9-4140-8DB1-4BADA30CE0D4}"/>
              </a:ext>
            </a:extLst>
          </p:cNvPr>
          <p:cNvSpPr>
            <a:spLocks xmlns:a="http://schemas.openxmlformats.org/drawingml/2006/main" noGrp="1"/>
          </p:cNvSpPr>
          <p:nvPr/>
        </p:nvSpPr>
        <p:spPr>
          <a:xfrm xmlns:a="http://schemas.openxmlformats.org/drawingml/2006/main">
            <a:off x="628650" y="356235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5D6673"/>
                </a:solidFill>
                <a:latin typeface="Helvetica Neue"/>
                <a:ea typeface="Helvetica Neue"/>
                <a:cs typeface="Helvetica Neue"/>
              </a:defRPr>
            </a:pPr>
            <a:r>
              <a:rPr sz="1350" b="1">
                <a:solidFill>
                  <a:srgbClr val="5D6673"/>
                </a:solidFill>
                <a:latin typeface="Helvetica Neue"/>
                <a:ea typeface="Helvetica Neue"/>
                <a:cs typeface="Helvetica Neue"/>
              </a:rPr>
              <a:t>Q4</a:t>
            </a:r>
          </a:p>
        </p:txBody>
      </p:sp>
      <p:sp>
        <p:nvSpPr>
          <p:cNvPr id="17" name="text">
            <a:extLst xmlns:a="http://schemas.openxmlformats.org/drawingml/2006/main">
              <a:ext uri="{FF2B5EF4-FFF2-40B4-BE49-F238E27FC236}">
                <a16:creationId xmlns:a16="http://schemas.microsoft.com/office/drawing/2014/main" id="{BC352F56-6F7D-43EF-824D-0C1C8BCC53C5}"/>
              </a:ext>
            </a:extLst>
          </p:cNvPr>
          <p:cNvSpPr>
            <a:spLocks xmlns:a="http://schemas.openxmlformats.org/drawingml/2006/main" noGrp="1"/>
          </p:cNvSpPr>
          <p:nvPr/>
        </p:nvSpPr>
        <p:spPr>
          <a:xfrm xmlns:a="http://schemas.openxmlformats.org/drawingml/2006/main">
            <a:off x="1409700" y="352425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5D6673"/>
                </a:solidFill>
                <a:latin typeface="Helvetica Neue"/>
                <a:ea typeface="Helvetica Neue"/>
                <a:cs typeface="Helvetica Neue"/>
              </a:defRPr>
            </a:pPr>
            <a:r>
              <a:rPr sz="1425" b="1">
                <a:solidFill>
                  <a:srgbClr val="5D6673"/>
                </a:solidFill>
                <a:latin typeface="Helvetica Neue"/>
                <a:ea typeface="Helvetica Neue"/>
                <a:cs typeface="Helvetica Neue"/>
              </a:rPr>
              <a:t>unmatched</a:t>
            </a:r>
          </a:p>
        </p:txBody>
      </p:sp>
      <p:sp>
        <p:nvSpPr>
          <p:cNvPr id="18" name="node">
            <a:extLst xmlns:a="http://schemas.openxmlformats.org/drawingml/2006/main">
              <a:ext uri="{FF2B5EF4-FFF2-40B4-BE49-F238E27FC236}">
                <a16:creationId xmlns:a16="http://schemas.microsoft.com/office/drawing/2014/main" id="{607EEF50-3F6C-464D-84E0-4339D6771395}"/>
              </a:ext>
            </a:extLst>
          </p:cNvPr>
          <p:cNvSpPr>
            <a:spLocks xmlns:a="http://schemas.openxmlformats.org/drawingml/2006/main" noGrp="1"/>
          </p:cNvSpPr>
          <p:nvPr/>
        </p:nvSpPr>
        <p:spPr>
          <a:xfrm xmlns:a="http://schemas.openxmlformats.org/drawingml/2006/main">
            <a:off x="552450" y="4114800"/>
            <a:ext cx="723900" cy="457200"/>
          </a:xfrm>
          <a:prstGeom xmlns:a="http://schemas.openxmlformats.org/drawingml/2006/main" prst="roundRect">
            <a:avLst>
              <a:gd name="adj" fmla="val 16667"/>
            </a:avLst>
          </a:prstGeom>
          <a:solidFill xmlns:a="http://schemas.openxmlformats.org/drawingml/2006/main">
            <a:srgbClr val="EEF1F4"/>
          </a:solidFill>
          <a:ln xmlns:a="http://schemas.openxmlformats.org/drawingml/2006/main" w="19050">
            <a:solidFill>
              <a:srgbClr val="BCC3CC"/>
            </a:solidFill>
            <a:prstDash val="solid"/>
          </a:ln>
        </p:spPr>
      </p:sp>
      <p:sp>
        <p:nvSpPr>
          <p:cNvPr id="19" name="node-label">
            <a:extLst xmlns:a="http://schemas.openxmlformats.org/drawingml/2006/main">
              <a:ext uri="{FF2B5EF4-FFF2-40B4-BE49-F238E27FC236}">
                <a16:creationId xmlns:a16="http://schemas.microsoft.com/office/drawing/2014/main" id="{98C685AB-91B5-494A-98D2-CF0ADC42490C}"/>
              </a:ext>
            </a:extLst>
          </p:cNvPr>
          <p:cNvSpPr>
            <a:spLocks xmlns:a="http://schemas.openxmlformats.org/drawingml/2006/main" noGrp="1"/>
          </p:cNvSpPr>
          <p:nvPr/>
        </p:nvSpPr>
        <p:spPr>
          <a:xfrm xmlns:a="http://schemas.openxmlformats.org/drawingml/2006/main">
            <a:off x="628650" y="415290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5D6673"/>
                </a:solidFill>
                <a:latin typeface="Helvetica Neue"/>
                <a:ea typeface="Helvetica Neue"/>
                <a:cs typeface="Helvetica Neue"/>
              </a:defRPr>
            </a:pPr>
            <a:r>
              <a:rPr sz="1350" b="1">
                <a:solidFill>
                  <a:srgbClr val="5D6673"/>
                </a:solidFill>
                <a:latin typeface="Helvetica Neue"/>
                <a:ea typeface="Helvetica Neue"/>
                <a:cs typeface="Helvetica Neue"/>
              </a:rPr>
              <a:t>Q5</a:t>
            </a:r>
          </a:p>
        </p:txBody>
      </p:sp>
      <p:sp>
        <p:nvSpPr>
          <p:cNvPr id="20" name="text">
            <a:extLst xmlns:a="http://schemas.openxmlformats.org/drawingml/2006/main">
              <a:ext uri="{FF2B5EF4-FFF2-40B4-BE49-F238E27FC236}">
                <a16:creationId xmlns:a16="http://schemas.microsoft.com/office/drawing/2014/main" id="{7F8CA226-CE2D-4667-A147-103BE26FC3B5}"/>
              </a:ext>
            </a:extLst>
          </p:cNvPr>
          <p:cNvSpPr>
            <a:spLocks xmlns:a="http://schemas.openxmlformats.org/drawingml/2006/main" noGrp="1"/>
          </p:cNvSpPr>
          <p:nvPr/>
        </p:nvSpPr>
        <p:spPr>
          <a:xfrm xmlns:a="http://schemas.openxmlformats.org/drawingml/2006/main">
            <a:off x="1409700" y="411480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5D6673"/>
                </a:solidFill>
                <a:latin typeface="Helvetica Neue"/>
                <a:ea typeface="Helvetica Neue"/>
                <a:cs typeface="Helvetica Neue"/>
              </a:defRPr>
            </a:pPr>
            <a:r>
              <a:rPr sz="1425" b="1">
                <a:solidFill>
                  <a:srgbClr val="5D6673"/>
                </a:solidFill>
                <a:latin typeface="Helvetica Neue"/>
                <a:ea typeface="Helvetica Neue"/>
                <a:cs typeface="Helvetica Neue"/>
              </a:rPr>
              <a:t>unmatched</a:t>
            </a:r>
          </a:p>
        </p:txBody>
      </p:sp>
      <p:sp>
        <p:nvSpPr>
          <p:cNvPr id="21" name="arrow">
            <a:extLst xmlns:a="http://schemas.openxmlformats.org/drawingml/2006/main">
              <a:ext uri="{FF2B5EF4-FFF2-40B4-BE49-F238E27FC236}">
                <a16:creationId xmlns:a16="http://schemas.microsoft.com/office/drawing/2014/main" id="{2E700704-2DA6-48A1-833C-94B3F994EDAB}"/>
              </a:ext>
            </a:extLst>
          </p:cNvPr>
          <p:cNvSpPr>
            <a:spLocks xmlns:a="http://schemas.openxmlformats.org/drawingml/2006/main" noGrp="1"/>
          </p:cNvSpPr>
          <p:nvPr/>
        </p:nvSpPr>
        <p:spPr>
          <a:xfrm xmlns:a="http://schemas.openxmlformats.org/drawingml/2006/main">
            <a:off x="5314950" y="2857500"/>
            <a:ext cx="81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22" name="box">
            <a:extLst xmlns:a="http://schemas.openxmlformats.org/drawingml/2006/main">
              <a:ext uri="{FF2B5EF4-FFF2-40B4-BE49-F238E27FC236}">
                <a16:creationId xmlns:a16="http://schemas.microsoft.com/office/drawing/2014/main" id="{14404DF5-540C-42BF-B4F3-7F21507E668C}"/>
              </a:ext>
            </a:extLst>
          </p:cNvPr>
          <p:cNvSpPr>
            <a:spLocks xmlns:a="http://schemas.openxmlformats.org/drawingml/2006/main" noGrp="1"/>
          </p:cNvSpPr>
          <p:nvPr/>
        </p:nvSpPr>
        <p:spPr>
          <a:xfrm xmlns:a="http://schemas.openxmlformats.org/drawingml/2006/main">
            <a:off x="6419850" y="1676400"/>
            <a:ext cx="4762500" cy="3048000"/>
          </a:xfrm>
          <a:prstGeom xmlns:a="http://schemas.openxmlformats.org/drawingml/2006/main" prst="roundRect">
            <a:avLst>
              <a:gd name="adj" fmla="val 2500"/>
            </a:avLst>
          </a:prstGeom>
          <a:solidFill xmlns:a="http://schemas.openxmlformats.org/drawingml/2006/main">
            <a:srgbClr val="EEF1F4"/>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1037233E-BE45-433E-B868-E067D1EDD9CD}"/>
              </a:ext>
            </a:extLst>
          </p:cNvPr>
          <p:cNvSpPr>
            <a:spLocks xmlns:a="http://schemas.openxmlformats.org/drawingml/2006/main" noGrp="1"/>
          </p:cNvSpPr>
          <p:nvPr/>
        </p:nvSpPr>
        <p:spPr>
          <a:xfrm xmlns:a="http://schemas.openxmlformats.org/drawingml/2006/main">
            <a:off x="6705600" y="18669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CLASS TARGET VECTOR</a:t>
            </a:r>
          </a:p>
        </p:txBody>
      </p:sp>
      <p:sp>
        <p:nvSpPr>
          <p:cNvPr id="24" name="box">
            <a:extLst xmlns:a="http://schemas.openxmlformats.org/drawingml/2006/main">
              <a:ext uri="{FF2B5EF4-FFF2-40B4-BE49-F238E27FC236}">
                <a16:creationId xmlns:a16="http://schemas.microsoft.com/office/drawing/2014/main" id="{FB3FB13E-CFB9-4C17-9858-B012EAE1BA5F}"/>
              </a:ext>
            </a:extLst>
          </p:cNvPr>
          <p:cNvSpPr>
            <a:spLocks xmlns:a="http://schemas.openxmlformats.org/drawingml/2006/main" noGrp="1"/>
          </p:cNvSpPr>
          <p:nvPr/>
        </p:nvSpPr>
        <p:spPr>
          <a:xfrm xmlns:a="http://schemas.openxmlformats.org/drawingml/2006/main">
            <a:off x="7086600" y="2324100"/>
            <a:ext cx="3429000" cy="323850"/>
          </a:xfrm>
          <a:prstGeom xmlns:a="http://schemas.openxmlformats.org/drawingml/2006/main" prst="roundRect">
            <a:avLst>
              <a:gd name="adj" fmla="val 23529"/>
            </a:avLst>
          </a:prstGeom>
          <a:solidFill xmlns:a="http://schemas.openxmlformats.org/drawingml/2006/main">
            <a:srgbClr val="D9F1FC"/>
          </a:solidFill>
          <a:ln xmlns:a="http://schemas.openxmlformats.org/drawingml/2006/main" w="0">
            <a:noFill/>
            <a:prstDash val="solid"/>
          </a:ln>
        </p:spPr>
      </p:sp>
      <p:sp>
        <p:nvSpPr>
          <p:cNvPr id="25" name="text">
            <a:extLst xmlns:a="http://schemas.openxmlformats.org/drawingml/2006/main">
              <a:ext uri="{FF2B5EF4-FFF2-40B4-BE49-F238E27FC236}">
                <a16:creationId xmlns:a16="http://schemas.microsoft.com/office/drawing/2014/main" id="{4DAED49A-6974-4556-8972-AB64B84F3474}"/>
              </a:ext>
            </a:extLst>
          </p:cNvPr>
          <p:cNvSpPr>
            <a:spLocks xmlns:a="http://schemas.openxmlformats.org/drawingml/2006/main" noGrp="1"/>
          </p:cNvSpPr>
          <p:nvPr/>
        </p:nvSpPr>
        <p:spPr>
          <a:xfrm xmlns:a="http://schemas.openxmlformats.org/drawingml/2006/main">
            <a:off x="7162800" y="2343150"/>
            <a:ext cx="3276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Q1  person</a:t>
            </a:r>
          </a:p>
        </p:txBody>
      </p:sp>
      <p:sp>
        <p:nvSpPr>
          <p:cNvPr id="26" name="box">
            <a:extLst xmlns:a="http://schemas.openxmlformats.org/drawingml/2006/main">
              <a:ext uri="{FF2B5EF4-FFF2-40B4-BE49-F238E27FC236}">
                <a16:creationId xmlns:a16="http://schemas.microsoft.com/office/drawing/2014/main" id="{1ABAA4D7-37D9-4EB6-91D7-C4B9AA6F8A1A}"/>
              </a:ext>
            </a:extLst>
          </p:cNvPr>
          <p:cNvSpPr>
            <a:spLocks xmlns:a="http://schemas.openxmlformats.org/drawingml/2006/main" noGrp="1"/>
          </p:cNvSpPr>
          <p:nvPr/>
        </p:nvSpPr>
        <p:spPr>
          <a:xfrm xmlns:a="http://schemas.openxmlformats.org/drawingml/2006/main">
            <a:off x="7086600" y="2781300"/>
            <a:ext cx="3429000" cy="323850"/>
          </a:xfrm>
          <a:prstGeom xmlns:a="http://schemas.openxmlformats.org/drawingml/2006/main" prst="roundRect">
            <a:avLst>
              <a:gd name="adj" fmla="val 23529"/>
            </a:avLst>
          </a:prstGeom>
          <a:solidFill xmlns:a="http://schemas.openxmlformats.org/drawingml/2006/main">
            <a:srgbClr val="DDF4E8"/>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4F21A2FD-778C-4A39-86E6-CD1221C65FF1}"/>
              </a:ext>
            </a:extLst>
          </p:cNvPr>
          <p:cNvSpPr>
            <a:spLocks xmlns:a="http://schemas.openxmlformats.org/drawingml/2006/main" noGrp="1"/>
          </p:cNvSpPr>
          <p:nvPr/>
        </p:nvSpPr>
        <p:spPr>
          <a:xfrm xmlns:a="http://schemas.openxmlformats.org/drawingml/2006/main">
            <a:off x="7162800" y="2800350"/>
            <a:ext cx="3276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45B97C"/>
                </a:solidFill>
                <a:latin typeface="Helvetica Neue"/>
                <a:ea typeface="Helvetica Neue"/>
                <a:cs typeface="Helvetica Neue"/>
              </a:defRPr>
            </a:pPr>
            <a:r>
              <a:rPr sz="1125" b="1">
                <a:solidFill>
                  <a:srgbClr val="45B97C"/>
                </a:solidFill>
                <a:latin typeface="Helvetica Neue"/>
                <a:ea typeface="Helvetica Neue"/>
                <a:cs typeface="Helvetica Neue"/>
              </a:rPr>
              <a:t>Q2  dog</a:t>
            </a:r>
          </a:p>
        </p:txBody>
      </p:sp>
      <p:sp>
        <p:nvSpPr>
          <p:cNvPr id="28" name="box">
            <a:extLst xmlns:a="http://schemas.openxmlformats.org/drawingml/2006/main">
              <a:ext uri="{FF2B5EF4-FFF2-40B4-BE49-F238E27FC236}">
                <a16:creationId xmlns:a16="http://schemas.microsoft.com/office/drawing/2014/main" id="{74B1BEFA-A36C-4EE3-B7BC-B2E70A89E76D}"/>
              </a:ext>
            </a:extLst>
          </p:cNvPr>
          <p:cNvSpPr>
            <a:spLocks xmlns:a="http://schemas.openxmlformats.org/drawingml/2006/main" noGrp="1"/>
          </p:cNvSpPr>
          <p:nvPr/>
        </p:nvSpPr>
        <p:spPr>
          <a:xfrm xmlns:a="http://schemas.openxmlformats.org/drawingml/2006/main">
            <a:off x="7086600" y="3238500"/>
            <a:ext cx="3429000" cy="323850"/>
          </a:xfrm>
          <a:prstGeom xmlns:a="http://schemas.openxmlformats.org/drawingml/2006/main" prst="roundRect">
            <a:avLst>
              <a:gd name="adj" fmla="val 23529"/>
            </a:avLst>
          </a:prstGeom>
          <a:solidFill xmlns:a="http://schemas.openxmlformats.org/drawingml/2006/main">
            <a:srgbClr val="FFF1CC"/>
          </a:solidFill>
          <a:ln xmlns:a="http://schemas.openxmlformats.org/drawingml/2006/main" w="0">
            <a:noFill/>
            <a:prstDash val="solid"/>
          </a:ln>
        </p:spPr>
      </p:sp>
      <p:sp>
        <p:nvSpPr>
          <p:cNvPr id="29" name="text">
            <a:extLst xmlns:a="http://schemas.openxmlformats.org/drawingml/2006/main">
              <a:ext uri="{FF2B5EF4-FFF2-40B4-BE49-F238E27FC236}">
                <a16:creationId xmlns:a16="http://schemas.microsoft.com/office/drawing/2014/main" id="{6ABFB789-C0FA-4F36-9CEC-4B4CC6DA1FFA}"/>
              </a:ext>
            </a:extLst>
          </p:cNvPr>
          <p:cNvSpPr>
            <a:spLocks xmlns:a="http://schemas.openxmlformats.org/drawingml/2006/main" noGrp="1"/>
          </p:cNvSpPr>
          <p:nvPr/>
        </p:nvSpPr>
        <p:spPr>
          <a:xfrm xmlns:a="http://schemas.openxmlformats.org/drawingml/2006/main">
            <a:off x="7162800" y="3257550"/>
            <a:ext cx="3276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2B84B"/>
                </a:solidFill>
                <a:latin typeface="Helvetica Neue"/>
                <a:ea typeface="Helvetica Neue"/>
                <a:cs typeface="Helvetica Neue"/>
              </a:defRPr>
            </a:pPr>
            <a:r>
              <a:rPr sz="1125" b="1">
                <a:solidFill>
                  <a:srgbClr val="F2B84B"/>
                </a:solidFill>
                <a:latin typeface="Helvetica Neue"/>
                <a:ea typeface="Helvetica Neue"/>
                <a:cs typeface="Helvetica Neue"/>
              </a:rPr>
              <a:t>Q3  bicycle</a:t>
            </a:r>
          </a:p>
        </p:txBody>
      </p:sp>
      <p:sp>
        <p:nvSpPr>
          <p:cNvPr id="30" name="box">
            <a:extLst xmlns:a="http://schemas.openxmlformats.org/drawingml/2006/main">
              <a:ext uri="{FF2B5EF4-FFF2-40B4-BE49-F238E27FC236}">
                <a16:creationId xmlns:a16="http://schemas.microsoft.com/office/drawing/2014/main" id="{303D0DB8-B531-4C53-B225-2D4833CB4EF6}"/>
              </a:ext>
            </a:extLst>
          </p:cNvPr>
          <p:cNvSpPr>
            <a:spLocks xmlns:a="http://schemas.openxmlformats.org/drawingml/2006/main" noGrp="1"/>
          </p:cNvSpPr>
          <p:nvPr/>
        </p:nvSpPr>
        <p:spPr>
          <a:xfrm xmlns:a="http://schemas.openxmlformats.org/drawingml/2006/main">
            <a:off x="7086600" y="3695700"/>
            <a:ext cx="34290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sp>
      <p:sp>
        <p:nvSpPr>
          <p:cNvPr id="31" name="text">
            <a:extLst xmlns:a="http://schemas.openxmlformats.org/drawingml/2006/main">
              <a:ext uri="{FF2B5EF4-FFF2-40B4-BE49-F238E27FC236}">
                <a16:creationId xmlns:a16="http://schemas.microsoft.com/office/drawing/2014/main" id="{6EEBC6D8-2B8B-4C64-9AC0-57C0C4E0122D}"/>
              </a:ext>
            </a:extLst>
          </p:cNvPr>
          <p:cNvSpPr>
            <a:spLocks xmlns:a="http://schemas.openxmlformats.org/drawingml/2006/main" noGrp="1"/>
          </p:cNvSpPr>
          <p:nvPr/>
        </p:nvSpPr>
        <p:spPr>
          <a:xfrm xmlns:a="http://schemas.openxmlformats.org/drawingml/2006/main">
            <a:off x="7162800" y="3714750"/>
            <a:ext cx="3276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A7AFBA"/>
                </a:solidFill>
                <a:latin typeface="Helvetica Neue"/>
                <a:ea typeface="Helvetica Neue"/>
                <a:cs typeface="Helvetica Neue"/>
              </a:defRPr>
            </a:pPr>
            <a:r>
              <a:rPr sz="1125" b="1">
                <a:solidFill>
                  <a:srgbClr val="A7AFBA"/>
                </a:solidFill>
                <a:latin typeface="Helvetica Neue"/>
                <a:ea typeface="Helvetica Neue"/>
                <a:cs typeface="Helvetica Neue"/>
              </a:rPr>
              <a:t>Q4  ∅</a:t>
            </a:r>
          </a:p>
        </p:txBody>
      </p:sp>
      <p:sp>
        <p:nvSpPr>
          <p:cNvPr id="32" name="box">
            <a:extLst xmlns:a="http://schemas.openxmlformats.org/drawingml/2006/main">
              <a:ext uri="{FF2B5EF4-FFF2-40B4-BE49-F238E27FC236}">
                <a16:creationId xmlns:a16="http://schemas.microsoft.com/office/drawing/2014/main" id="{358FF95A-321F-4109-9967-C8D1739A7970}"/>
              </a:ext>
            </a:extLst>
          </p:cNvPr>
          <p:cNvSpPr>
            <a:spLocks xmlns:a="http://schemas.openxmlformats.org/drawingml/2006/main" noGrp="1"/>
          </p:cNvSpPr>
          <p:nvPr/>
        </p:nvSpPr>
        <p:spPr>
          <a:xfrm xmlns:a="http://schemas.openxmlformats.org/drawingml/2006/main">
            <a:off x="7086600" y="4152900"/>
            <a:ext cx="34290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sp>
      <p:sp>
        <p:nvSpPr>
          <p:cNvPr id="33" name="text">
            <a:extLst xmlns:a="http://schemas.openxmlformats.org/drawingml/2006/main">
              <a:ext uri="{FF2B5EF4-FFF2-40B4-BE49-F238E27FC236}">
                <a16:creationId xmlns:a16="http://schemas.microsoft.com/office/drawing/2014/main" id="{EF891A35-1F7C-410B-A30A-81B0D7080C3F}"/>
              </a:ext>
            </a:extLst>
          </p:cNvPr>
          <p:cNvSpPr>
            <a:spLocks xmlns:a="http://schemas.openxmlformats.org/drawingml/2006/main" noGrp="1"/>
          </p:cNvSpPr>
          <p:nvPr/>
        </p:nvSpPr>
        <p:spPr>
          <a:xfrm xmlns:a="http://schemas.openxmlformats.org/drawingml/2006/main">
            <a:off x="7162800" y="4171950"/>
            <a:ext cx="3276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A7AFBA"/>
                </a:solidFill>
                <a:latin typeface="Helvetica Neue"/>
                <a:ea typeface="Helvetica Neue"/>
                <a:cs typeface="Helvetica Neue"/>
              </a:defRPr>
            </a:pPr>
            <a:r>
              <a:rPr sz="1125" b="1">
                <a:solidFill>
                  <a:srgbClr val="A7AFBA"/>
                </a:solidFill>
                <a:latin typeface="Helvetica Neue"/>
                <a:ea typeface="Helvetica Neue"/>
                <a:cs typeface="Helvetica Neue"/>
              </a:rPr>
              <a:t>Q5  ∅</a:t>
            </a:r>
          </a:p>
        </p:txBody>
      </p:sp>
      <p:sp>
        <p:nvSpPr>
          <p:cNvPr id="34" name="box">
            <a:extLst xmlns:a="http://schemas.openxmlformats.org/drawingml/2006/main">
              <a:ext uri="{FF2B5EF4-FFF2-40B4-BE49-F238E27FC236}">
                <a16:creationId xmlns:a16="http://schemas.microsoft.com/office/drawing/2014/main" id="{6E5C2583-C993-4865-81EC-1E4ED1E508DD}"/>
              </a:ext>
            </a:extLst>
          </p:cNvPr>
          <p:cNvSpPr>
            <a:spLocks xmlns:a="http://schemas.openxmlformats.org/drawingml/2006/main" noGrp="1"/>
          </p:cNvSpPr>
          <p:nvPr/>
        </p:nvSpPr>
        <p:spPr>
          <a:xfrm xmlns:a="http://schemas.openxmlformats.org/drawingml/2006/main">
            <a:off x="1466850" y="5219700"/>
            <a:ext cx="9258300" cy="666750"/>
          </a:xfrm>
          <a:prstGeom xmlns:a="http://schemas.openxmlformats.org/drawingml/2006/main" prst="roundRect">
            <a:avLst>
              <a:gd name="adj" fmla="val 11429"/>
            </a:avLst>
          </a:prstGeom>
          <a:solidFill xmlns:a="http://schemas.openxmlformats.org/drawingml/2006/main">
            <a:srgbClr val="D9F1FC"/>
          </a:solidFill>
          <a:ln xmlns:a="http://schemas.openxmlformats.org/drawingml/2006/main" w="0">
            <a:noFill/>
            <a:prstDash val="solid"/>
          </a:ln>
        </p:spPr>
      </p:sp>
      <p:sp>
        <p:nvSpPr>
          <p:cNvPr id="35" name="text">
            <a:extLst xmlns:a="http://schemas.openxmlformats.org/drawingml/2006/main">
              <a:ext uri="{FF2B5EF4-FFF2-40B4-BE49-F238E27FC236}">
                <a16:creationId xmlns:a16="http://schemas.microsoft.com/office/drawing/2014/main" id="{0A40EF8F-C5E8-4BFA-8367-F287F61BA304}"/>
              </a:ext>
            </a:extLst>
          </p:cNvPr>
          <p:cNvSpPr>
            <a:spLocks xmlns:a="http://schemas.openxmlformats.org/drawingml/2006/main" noGrp="1"/>
          </p:cNvSpPr>
          <p:nvPr/>
        </p:nvSpPr>
        <p:spPr>
          <a:xfrm xmlns:a="http://schemas.openxmlformats.org/drawingml/2006/main">
            <a:off x="1638300" y="5295900"/>
            <a:ext cx="8915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Cross-entropy trains all five queries.</a:t>
            </a:r>
          </a:p>
          <a:p xmlns:a="http://schemas.openxmlformats.org/drawingml/2006/main">
            <a:pPr algn="ct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The ∅ class is down-weighted.</a:t>
            </a:r>
          </a:p>
        </p:txBody>
      </p:sp>
    </p:spTree>
    <p:extLst>
      <p:ext uri="{BB962C8B-B14F-4D97-AF65-F5344CB8AC3E}">
        <p14:creationId xmlns:p14="http://schemas.microsoft.com/office/powerpoint/2010/main" val="191658256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573D2422-57F7-43C2-9B88-ACD917F74AC6}"/>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0CC3D986-1E6E-426A-8AC1-49A460EC429D}"/>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The paper combines two complementary box signals</a:t>
            </a:r>
          </a:p>
        </p:txBody>
      </p:sp>
      <p:sp>
        <p:nvSpPr>
          <p:cNvPr id="3" name="text">
            <a:extLst xmlns:a="http://schemas.openxmlformats.org/drawingml/2006/main">
              <a:ext uri="{FF2B5EF4-FFF2-40B4-BE49-F238E27FC236}">
                <a16:creationId xmlns:a16="http://schemas.microsoft.com/office/drawing/2014/main" id="{61B0FC6A-4106-4864-802F-294B79F5BFB8}"/>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PAPER SUMMARY • BOX LOSS</a:t>
            </a:r>
          </a:p>
        </p:txBody>
      </p:sp>
      <p:sp>
        <p:nvSpPr>
          <p:cNvPr id="4" name="text">
            <a:extLst xmlns:a="http://schemas.openxmlformats.org/drawingml/2006/main">
              <a:ext uri="{FF2B5EF4-FFF2-40B4-BE49-F238E27FC236}">
                <a16:creationId xmlns:a16="http://schemas.microsoft.com/office/drawing/2014/main" id="{4C0CE610-BCF1-48A2-8D5F-7F809072721F}"/>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28</a:t>
            </a:r>
          </a:p>
        </p:txBody>
      </p:sp>
      <p:sp>
        <p:nvSpPr>
          <p:cNvPr id="5" name="math-region">
            <a:extLst xmlns:a="http://schemas.openxmlformats.org/drawingml/2006/main">
              <a:ext uri="{FF2B5EF4-FFF2-40B4-BE49-F238E27FC236}">
                <a16:creationId xmlns:a16="http://schemas.microsoft.com/office/drawing/2014/main" id="{74403DCC-B75F-4EAF-96DF-984AF053042F}"/>
              </a:ext>
            </a:extLst>
          </p:cNvPr>
          <p:cNvSpPr>
            <a:spLocks xmlns:a="http://schemas.openxmlformats.org/drawingml/2006/main" noGrp="1"/>
          </p:cNvSpPr>
          <p:nvPr/>
        </p:nvSpPr>
        <p:spPr>
          <a:xfrm xmlns:a="http://schemas.openxmlformats.org/drawingml/2006/main">
            <a:off x="666750" y="1466850"/>
            <a:ext cx="10858500" cy="1352550"/>
          </a:xfrm>
          <a:prstGeom xmlns:a="http://schemas.openxmlformats.org/drawingml/2006/main" prst="roundRect">
            <a:avLst>
              <a:gd name="adj" fmla="val 5634"/>
            </a:avLst>
          </a:prstGeom>
          <a:solidFill xmlns:a="http://schemas.openxmlformats.org/drawingml/2006/main">
            <a:srgbClr val="EEF1F4"/>
          </a:solidFill>
          <a:ln xmlns:a="http://schemas.openxmlformats.org/drawingml/2006/main" w="19050">
            <a:solidFill>
              <a:srgbClr val="BCC3CC"/>
            </a:solidFill>
            <a:prstDash val="solid"/>
          </a:ln>
        </p:spPr>
      </p:sp>
      <p:sp>
        <p:nvSpPr>
          <p:cNvPr id="6" name="math-fallback-box-loss">
            <a:extLst xmlns:a="http://schemas.openxmlformats.org/drawingml/2006/main">
              <a:ext uri="{FF2B5EF4-FFF2-40B4-BE49-F238E27FC236}">
                <a16:creationId xmlns:a16="http://schemas.microsoft.com/office/drawing/2014/main" id="{EB3FE4EC-19E0-4ADC-9A33-64519C6E33A5}"/>
              </a:ext>
            </a:extLst>
          </p:cNvPr>
          <p:cNvSpPr>
            <a:spLocks xmlns:a="http://schemas.openxmlformats.org/drawingml/2006/main" noGrp="1"/>
          </p:cNvSpPr>
          <p:nvPr/>
        </p:nvSpPr>
        <p:spPr>
          <a:xfrm xmlns:a="http://schemas.openxmlformats.org/drawingml/2006/main">
            <a:off x="952500" y="17145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400" b="1">
                <a:solidFill>
                  <a:srgbClr val="111318"/>
                </a:solidFill>
                <a:latin typeface="Helvetica Neue"/>
                <a:ea typeface="Helvetica Neue"/>
                <a:cs typeface="Helvetica Neue"/>
              </a:defRPr>
            </a:pPr>
            <a:r>
              <a:rPr sz="2400" b="1">
                <a:solidFill>
                  <a:srgbClr val="111318"/>
                </a:solidFill>
                <a:latin typeface="Helvetica Neue"/>
                <a:ea typeface="Helvetica Neue"/>
                <a:cs typeface="Helvetica Neue"/>
              </a:rPr>
              <a:t>Lbox = weighted GIoU loss + weighted L1 loss</a:t>
            </a:r>
          </a:p>
        </p:txBody>
      </p:sp>
      <p:sp>
        <p:nvSpPr>
          <p:cNvPr id="7" name="paper-citation">
            <a:extLst xmlns:a="http://schemas.openxmlformats.org/drawingml/2006/main">
              <a:ext uri="{FF2B5EF4-FFF2-40B4-BE49-F238E27FC236}">
                <a16:creationId xmlns:a16="http://schemas.microsoft.com/office/drawing/2014/main" id="{47B77270-9823-49F4-985B-705171E02D26}"/>
              </a:ext>
            </a:extLst>
          </p:cNvPr>
          <p:cNvSpPr>
            <a:spLocks xmlns:a="http://schemas.openxmlformats.org/drawingml/2006/main" noGrp="1"/>
          </p:cNvSpPr>
          <p:nvPr/>
        </p:nvSpPr>
        <p:spPr>
          <a:xfrm xmlns:a="http://schemas.openxmlformats.org/drawingml/2006/main">
            <a:off x="609600" y="29908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Adapted from Carion et al., “End-to-End Object Detection with Transformers,” ECCV 2020, p. 6, “Bounding box loss.”</a:t>
            </a:r>
          </a:p>
        </p:txBody>
      </p:sp>
      <p:sp>
        <p:nvSpPr>
          <p:cNvPr id="8" name="l1-summary">
            <a:extLst xmlns:a="http://schemas.openxmlformats.org/drawingml/2006/main">
              <a:ext uri="{FF2B5EF4-FFF2-40B4-BE49-F238E27FC236}">
                <a16:creationId xmlns:a16="http://schemas.microsoft.com/office/drawing/2014/main" id="{3D5664E2-3E5A-40B5-8DD0-79110161DEE9}"/>
              </a:ext>
            </a:extLst>
          </p:cNvPr>
          <p:cNvSpPr>
            <a:spLocks xmlns:a="http://schemas.openxmlformats.org/drawingml/2006/main" noGrp="1"/>
          </p:cNvSpPr>
          <p:nvPr/>
        </p:nvSpPr>
        <p:spPr>
          <a:xfrm xmlns:a="http://schemas.openxmlformats.org/drawingml/2006/main">
            <a:off x="876300" y="3714750"/>
            <a:ext cx="4762500" cy="1352550"/>
          </a:xfrm>
          <a:prstGeom xmlns:a="http://schemas.openxmlformats.org/drawingml/2006/main" prst="roundRect">
            <a:avLst>
              <a:gd name="adj" fmla="val 5634"/>
            </a:avLst>
          </a:prstGeom>
          <a:solidFill xmlns:a="http://schemas.openxmlformats.org/drawingml/2006/main">
            <a:srgbClr val="FFF1CC"/>
          </a:solidFill>
          <a:ln xmlns:a="http://schemas.openxmlformats.org/drawingml/2006/main" w="19050">
            <a:solidFill>
              <a:srgbClr val="F2B84B"/>
            </a:solidFill>
            <a:prstDash val="solid"/>
          </a:ln>
        </p:spPr>
      </p:sp>
      <p:sp>
        <p:nvSpPr>
          <p:cNvPr id="9" name="text">
            <a:extLst xmlns:a="http://schemas.openxmlformats.org/drawingml/2006/main">
              <a:ext uri="{FF2B5EF4-FFF2-40B4-BE49-F238E27FC236}">
                <a16:creationId xmlns:a16="http://schemas.microsoft.com/office/drawing/2014/main" id="{589E6A27-8C4B-4504-A09B-DDAEEA5001CA}"/>
              </a:ext>
            </a:extLst>
          </p:cNvPr>
          <p:cNvSpPr>
            <a:spLocks xmlns:a="http://schemas.openxmlformats.org/drawingml/2006/main" noGrp="1"/>
          </p:cNvSpPr>
          <p:nvPr/>
        </p:nvSpPr>
        <p:spPr>
          <a:xfrm xmlns:a="http://schemas.openxmlformats.org/drawingml/2006/main">
            <a:off x="1162050" y="38862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F2B84B"/>
                </a:solidFill>
                <a:latin typeface="Helvetica Neue"/>
                <a:ea typeface="Helvetica Neue"/>
                <a:cs typeface="Helvetica Neue"/>
              </a:defRPr>
            </a:pPr>
            <a:r>
              <a:rPr sz="1725" b="1">
                <a:solidFill>
                  <a:srgbClr val="F2B84B"/>
                </a:solidFill>
                <a:latin typeface="Helvetica Neue"/>
                <a:ea typeface="Helvetica Neue"/>
                <a:cs typeface="Helvetica Neue"/>
              </a:rPr>
              <a:t>L1: coordinate agreement</a:t>
            </a:r>
          </a:p>
        </p:txBody>
      </p:sp>
      <p:sp>
        <p:nvSpPr>
          <p:cNvPr id="10" name="text">
            <a:extLst xmlns:a="http://schemas.openxmlformats.org/drawingml/2006/main">
              <a:ext uri="{FF2B5EF4-FFF2-40B4-BE49-F238E27FC236}">
                <a16:creationId xmlns:a16="http://schemas.microsoft.com/office/drawing/2014/main" id="{649272D0-8C40-4F43-915A-EB6D835AA462}"/>
              </a:ext>
            </a:extLst>
          </p:cNvPr>
          <p:cNvSpPr>
            <a:spLocks xmlns:a="http://schemas.openxmlformats.org/drawingml/2006/main" noGrp="1"/>
          </p:cNvSpPr>
          <p:nvPr/>
        </p:nvSpPr>
        <p:spPr>
          <a:xfrm xmlns:a="http://schemas.openxmlformats.org/drawingml/2006/main">
            <a:off x="1200150" y="4305300"/>
            <a:ext cx="411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Compares normalized (cₓ, cᵧ, w, h)</a:t>
            </a:r>
          </a:p>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with absolute coordinate differences.</a:t>
            </a:r>
          </a:p>
        </p:txBody>
      </p:sp>
      <p:sp>
        <p:nvSpPr>
          <p:cNvPr id="11" name="giou-summary">
            <a:extLst xmlns:a="http://schemas.openxmlformats.org/drawingml/2006/main">
              <a:ext uri="{FF2B5EF4-FFF2-40B4-BE49-F238E27FC236}">
                <a16:creationId xmlns:a16="http://schemas.microsoft.com/office/drawing/2014/main" id="{6F4B6600-5397-4F67-A97A-9CC5297C94F3}"/>
              </a:ext>
            </a:extLst>
          </p:cNvPr>
          <p:cNvSpPr>
            <a:spLocks xmlns:a="http://schemas.openxmlformats.org/drawingml/2006/main" noGrp="1"/>
          </p:cNvSpPr>
          <p:nvPr/>
        </p:nvSpPr>
        <p:spPr>
          <a:xfrm xmlns:a="http://schemas.openxmlformats.org/drawingml/2006/main">
            <a:off x="6553200" y="3714750"/>
            <a:ext cx="4762500" cy="1352550"/>
          </a:xfrm>
          <a:prstGeom xmlns:a="http://schemas.openxmlformats.org/drawingml/2006/main" prst="roundRect">
            <a:avLst>
              <a:gd name="adj" fmla="val 5634"/>
            </a:avLst>
          </a:prstGeom>
          <a:solidFill xmlns:a="http://schemas.openxmlformats.org/drawingml/2006/main">
            <a:srgbClr val="EEE8FF"/>
          </a:solidFill>
          <a:ln xmlns:a="http://schemas.openxmlformats.org/drawingml/2006/main" w="19050">
            <a:solidFill>
              <a:srgbClr val="8E6CEF"/>
            </a:solidFill>
            <a:prstDash val="solid"/>
          </a:ln>
        </p:spPr>
      </p:sp>
      <p:sp>
        <p:nvSpPr>
          <p:cNvPr id="12" name="text">
            <a:extLst xmlns:a="http://schemas.openxmlformats.org/drawingml/2006/main">
              <a:ext uri="{FF2B5EF4-FFF2-40B4-BE49-F238E27FC236}">
                <a16:creationId xmlns:a16="http://schemas.microsoft.com/office/drawing/2014/main" id="{D042EE51-F31A-4769-8365-3FFE110B780F}"/>
              </a:ext>
            </a:extLst>
          </p:cNvPr>
          <p:cNvSpPr>
            <a:spLocks xmlns:a="http://schemas.openxmlformats.org/drawingml/2006/main" noGrp="1"/>
          </p:cNvSpPr>
          <p:nvPr/>
        </p:nvSpPr>
        <p:spPr>
          <a:xfrm xmlns:a="http://schemas.openxmlformats.org/drawingml/2006/main">
            <a:off x="6838950" y="38862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8E6CEF"/>
                </a:solidFill>
                <a:latin typeface="Helvetica Neue"/>
                <a:ea typeface="Helvetica Neue"/>
                <a:cs typeface="Helvetica Neue"/>
              </a:defRPr>
            </a:pPr>
            <a:r>
              <a:rPr sz="1725" b="1">
                <a:solidFill>
                  <a:srgbClr val="8E6CEF"/>
                </a:solidFill>
                <a:latin typeface="Helvetica Neue"/>
                <a:ea typeface="Helvetica Neue"/>
                <a:cs typeface="Helvetica Neue"/>
              </a:rPr>
              <a:t>GIoU: region agreement</a:t>
            </a:r>
          </a:p>
        </p:txBody>
      </p:sp>
      <p:sp>
        <p:nvSpPr>
          <p:cNvPr id="13" name="text">
            <a:extLst xmlns:a="http://schemas.openxmlformats.org/drawingml/2006/main">
              <a:ext uri="{FF2B5EF4-FFF2-40B4-BE49-F238E27FC236}">
                <a16:creationId xmlns:a16="http://schemas.microsoft.com/office/drawing/2014/main" id="{5FC2319B-1D23-418E-9651-5BE5FFAFEC64}"/>
              </a:ext>
            </a:extLst>
          </p:cNvPr>
          <p:cNvSpPr>
            <a:spLocks xmlns:a="http://schemas.openxmlformats.org/drawingml/2006/main" noGrp="1"/>
          </p:cNvSpPr>
          <p:nvPr/>
        </p:nvSpPr>
        <p:spPr>
          <a:xfrm xmlns:a="http://schemas.openxmlformats.org/drawingml/2006/main">
            <a:off x="6877050" y="4305300"/>
            <a:ext cx="411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Measures overlap and the enclosing gap;</a:t>
            </a:r>
          </a:p>
          <a:p xmlns:a="http://schemas.openxmlformats.org/drawingml/2006/main">
            <a:pPr algn="ctr">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less sensitive to absolute box scale.</a:t>
            </a:r>
          </a:p>
        </p:txBody>
      </p:sp>
      <p:sp>
        <p:nvSpPr>
          <p:cNvPr id="14" name="box">
            <a:extLst xmlns:a="http://schemas.openxmlformats.org/drawingml/2006/main">
              <a:ext uri="{FF2B5EF4-FFF2-40B4-BE49-F238E27FC236}">
                <a16:creationId xmlns:a16="http://schemas.microsoft.com/office/drawing/2014/main" id="{3BEA39F4-8AA9-4289-BBAB-A4933D5078CC}"/>
              </a:ext>
            </a:extLst>
          </p:cNvPr>
          <p:cNvSpPr>
            <a:spLocks xmlns:a="http://schemas.openxmlformats.org/drawingml/2006/main" noGrp="1"/>
          </p:cNvSpPr>
          <p:nvPr/>
        </p:nvSpPr>
        <p:spPr>
          <a:xfrm xmlns:a="http://schemas.openxmlformats.org/drawingml/2006/main">
            <a:off x="1504950" y="5410200"/>
            <a:ext cx="9182100" cy="533400"/>
          </a:xfrm>
          <a:prstGeom xmlns:a="http://schemas.openxmlformats.org/drawingml/2006/main" prst="roundRect">
            <a:avLst>
              <a:gd name="adj" fmla="val 14286"/>
            </a:avLst>
          </a:prstGeom>
          <a:solidFill xmlns:a="http://schemas.openxmlformats.org/drawingml/2006/main">
            <a:srgbClr val="EEF1F4"/>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C8B9CB3A-D8C4-4540-89BA-A0C0DF68F06F}"/>
              </a:ext>
            </a:extLst>
          </p:cNvPr>
          <p:cNvSpPr>
            <a:spLocks xmlns:a="http://schemas.openxmlformats.org/drawingml/2006/main" noGrp="1"/>
          </p:cNvSpPr>
          <p:nvPr/>
        </p:nvSpPr>
        <p:spPr>
          <a:xfrm xmlns:a="http://schemas.openxmlformats.org/drawingml/2006/main">
            <a:off x="1676400" y="5486400"/>
            <a:ext cx="8839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The weights balance the two signals; box loss is applied only to matched predictions.</a:t>
            </a:r>
          </a:p>
        </p:txBody>
      </p:sp>
    </p:spTree>
    <p:extLst>
      <p:ext uri="{BB962C8B-B14F-4D97-AF65-F5344CB8AC3E}">
        <p14:creationId xmlns:p14="http://schemas.microsoft.com/office/powerpoint/2010/main" val="37043740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text">
            <a:extLst xmlns:a="http://schemas.openxmlformats.org/drawingml/2006/main">
              <a:ext uri="{FF2B5EF4-FFF2-40B4-BE49-F238E27FC236}">
                <a16:creationId xmlns:a16="http://schemas.microsoft.com/office/drawing/2014/main" id="{9945F97B-0627-4E14-80DF-AF8F30B79DFF}"/>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AB12ED7D-A6E5-447D-8066-64688C79D66B}"/>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Which queries receive box losses?</a:t>
            </a:r>
          </a:p>
        </p:txBody>
      </p:sp>
      <p:sp>
        <p:nvSpPr>
          <p:cNvPr id="3" name="text">
            <a:extLst xmlns:a="http://schemas.openxmlformats.org/drawingml/2006/main">
              <a:ext uri="{FF2B5EF4-FFF2-40B4-BE49-F238E27FC236}">
                <a16:creationId xmlns:a16="http://schemas.microsoft.com/office/drawing/2014/main" id="{EEF0D292-CEAE-4C95-8592-F525AB12C398}"/>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6 • TRAINING LOSS</a:t>
            </a:r>
          </a:p>
        </p:txBody>
      </p:sp>
      <p:sp>
        <p:nvSpPr>
          <p:cNvPr id="4" name="text">
            <a:extLst xmlns:a="http://schemas.openxmlformats.org/drawingml/2006/main">
              <a:ext uri="{FF2B5EF4-FFF2-40B4-BE49-F238E27FC236}">
                <a16:creationId xmlns:a16="http://schemas.microsoft.com/office/drawing/2014/main" id="{89AC0E07-7CD6-477D-905D-768ACB6A86BB}"/>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29</a:t>
            </a:r>
          </a:p>
        </p:txBody>
      </p:sp>
      <p:sp>
        <p:nvSpPr>
          <p:cNvPr id="5" name="text">
            <a:extLst xmlns:a="http://schemas.openxmlformats.org/drawingml/2006/main">
              <a:ext uri="{FF2B5EF4-FFF2-40B4-BE49-F238E27FC236}">
                <a16:creationId xmlns:a16="http://schemas.microsoft.com/office/drawing/2014/main" id="{3AF3480E-4F0A-4311-9E59-4092456522D0}"/>
              </a:ext>
            </a:extLst>
          </p:cNvPr>
          <p:cNvSpPr>
            <a:spLocks xmlns:a="http://schemas.openxmlformats.org/drawingml/2006/main" noGrp="1"/>
          </p:cNvSpPr>
          <p:nvPr/>
        </p:nvSpPr>
        <p:spPr>
          <a:xfrm xmlns:a="http://schemas.openxmlformats.org/drawingml/2006/main">
            <a:off x="571500" y="13906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5D6673"/>
                </a:solidFill>
                <a:latin typeface="Helvetica Neue"/>
                <a:ea typeface="Helvetica Neue"/>
                <a:cs typeface="Helvetica Neue"/>
              </a:defRPr>
            </a:pPr>
            <a:r>
              <a:rPr sz="1125" b="1">
                <a:solidFill>
                  <a:srgbClr val="5D6673"/>
                </a:solidFill>
                <a:latin typeface="Helvetica Neue"/>
                <a:ea typeface="Helvetica Neue"/>
                <a:cs typeface="Helvetica Neue"/>
              </a:rPr>
              <a:t>QUERY</a:t>
            </a:r>
          </a:p>
        </p:txBody>
      </p:sp>
      <p:sp>
        <p:nvSpPr>
          <p:cNvPr id="6" name="text">
            <a:extLst xmlns:a="http://schemas.openxmlformats.org/drawingml/2006/main">
              <a:ext uri="{FF2B5EF4-FFF2-40B4-BE49-F238E27FC236}">
                <a16:creationId xmlns:a16="http://schemas.microsoft.com/office/drawing/2014/main" id="{234C7FA2-9396-4754-B021-888218615735}"/>
              </a:ext>
            </a:extLst>
          </p:cNvPr>
          <p:cNvSpPr>
            <a:spLocks xmlns:a="http://schemas.openxmlformats.org/drawingml/2006/main" noGrp="1"/>
          </p:cNvSpPr>
          <p:nvPr/>
        </p:nvSpPr>
        <p:spPr>
          <a:xfrm xmlns:a="http://schemas.openxmlformats.org/drawingml/2006/main">
            <a:off x="2190750" y="13906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5D6673"/>
                </a:solidFill>
                <a:latin typeface="Helvetica Neue"/>
                <a:ea typeface="Helvetica Neue"/>
                <a:cs typeface="Helvetica Neue"/>
              </a:defRPr>
            </a:pPr>
            <a:r>
              <a:rPr sz="1125" b="1">
                <a:solidFill>
                  <a:srgbClr val="5D6673"/>
                </a:solidFill>
                <a:latin typeface="Helvetica Neue"/>
                <a:ea typeface="Helvetica Neue"/>
                <a:cs typeface="Helvetica Neue"/>
              </a:rPr>
              <a:t>CLASS LOSS</a:t>
            </a:r>
          </a:p>
        </p:txBody>
      </p:sp>
      <p:sp>
        <p:nvSpPr>
          <p:cNvPr id="7" name="text">
            <a:extLst xmlns:a="http://schemas.openxmlformats.org/drawingml/2006/main">
              <a:ext uri="{FF2B5EF4-FFF2-40B4-BE49-F238E27FC236}">
                <a16:creationId xmlns:a16="http://schemas.microsoft.com/office/drawing/2014/main" id="{76A2901E-247B-4BD7-9851-CC87E6C5C12A}"/>
              </a:ext>
            </a:extLst>
          </p:cNvPr>
          <p:cNvSpPr>
            <a:spLocks xmlns:a="http://schemas.openxmlformats.org/drawingml/2006/main" noGrp="1"/>
          </p:cNvSpPr>
          <p:nvPr/>
        </p:nvSpPr>
        <p:spPr>
          <a:xfrm xmlns:a="http://schemas.openxmlformats.org/drawingml/2006/main">
            <a:off x="5334000" y="13906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5D6673"/>
                </a:solidFill>
                <a:latin typeface="Helvetica Neue"/>
                <a:ea typeface="Helvetica Neue"/>
                <a:cs typeface="Helvetica Neue"/>
              </a:defRPr>
            </a:pPr>
            <a:r>
              <a:rPr sz="1125" b="1">
                <a:solidFill>
                  <a:srgbClr val="5D6673"/>
                </a:solidFill>
                <a:latin typeface="Helvetica Neue"/>
                <a:ea typeface="Helvetica Neue"/>
                <a:cs typeface="Helvetica Neue"/>
              </a:rPr>
              <a:t>BOX LOSS</a:t>
            </a:r>
          </a:p>
        </p:txBody>
      </p:sp>
      <p:sp>
        <p:nvSpPr>
          <p:cNvPr id="8" name="text">
            <a:extLst xmlns:a="http://schemas.openxmlformats.org/drawingml/2006/main">
              <a:ext uri="{FF2B5EF4-FFF2-40B4-BE49-F238E27FC236}">
                <a16:creationId xmlns:a16="http://schemas.microsoft.com/office/drawing/2014/main" id="{6266E4C9-B98D-4243-830A-2CC50386A63B}"/>
              </a:ext>
            </a:extLst>
          </p:cNvPr>
          <p:cNvSpPr>
            <a:spLocks xmlns:a="http://schemas.openxmlformats.org/drawingml/2006/main" noGrp="1"/>
          </p:cNvSpPr>
          <p:nvPr/>
        </p:nvSpPr>
        <p:spPr>
          <a:xfrm xmlns:a="http://schemas.openxmlformats.org/drawingml/2006/main">
            <a:off x="571500" y="179070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Q1 person</a:t>
            </a:r>
          </a:p>
        </p:txBody>
      </p:sp>
      <p:sp>
        <p:nvSpPr>
          <p:cNvPr id="9" name="box">
            <a:extLst xmlns:a="http://schemas.openxmlformats.org/drawingml/2006/main">
              <a:ext uri="{FF2B5EF4-FFF2-40B4-BE49-F238E27FC236}">
                <a16:creationId xmlns:a16="http://schemas.microsoft.com/office/drawing/2014/main" id="{3A8D2E0C-E92A-47CB-B300-1B924EA1A6D4}"/>
              </a:ext>
            </a:extLst>
          </p:cNvPr>
          <p:cNvSpPr>
            <a:spLocks xmlns:a="http://schemas.openxmlformats.org/drawingml/2006/main" noGrp="1"/>
          </p:cNvSpPr>
          <p:nvPr/>
        </p:nvSpPr>
        <p:spPr>
          <a:xfrm xmlns:a="http://schemas.openxmlformats.org/drawingml/2006/main">
            <a:off x="2190750" y="1790700"/>
            <a:ext cx="2476500" cy="400050"/>
          </a:xfrm>
          <a:prstGeom xmlns:a="http://schemas.openxmlformats.org/drawingml/2006/main" prst="roundRect">
            <a:avLst>
              <a:gd name="adj" fmla="val 19048"/>
            </a:avLst>
          </a:prstGeom>
          <a:solidFill xmlns:a="http://schemas.openxmlformats.org/drawingml/2006/main">
            <a:srgbClr val="D9F1FC"/>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EEA46C28-B1B7-4987-846A-437041E78FB1}"/>
              </a:ext>
            </a:extLst>
          </p:cNvPr>
          <p:cNvSpPr>
            <a:spLocks xmlns:a="http://schemas.openxmlformats.org/drawingml/2006/main" noGrp="1"/>
          </p:cNvSpPr>
          <p:nvPr/>
        </p:nvSpPr>
        <p:spPr>
          <a:xfrm xmlns:a="http://schemas.openxmlformats.org/drawingml/2006/main">
            <a:off x="2266950" y="18288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cross-entropy</a:t>
            </a:r>
          </a:p>
        </p:txBody>
      </p:sp>
      <p:sp>
        <p:nvSpPr>
          <p:cNvPr id="11" name="box">
            <a:extLst xmlns:a="http://schemas.openxmlformats.org/drawingml/2006/main">
              <a:ext uri="{FF2B5EF4-FFF2-40B4-BE49-F238E27FC236}">
                <a16:creationId xmlns:a16="http://schemas.microsoft.com/office/drawing/2014/main" id="{A8E9B019-475F-4CA4-AF2A-48402B02C259}"/>
              </a:ext>
            </a:extLst>
          </p:cNvPr>
          <p:cNvSpPr>
            <a:spLocks xmlns:a="http://schemas.openxmlformats.org/drawingml/2006/main" noGrp="1"/>
          </p:cNvSpPr>
          <p:nvPr/>
        </p:nvSpPr>
        <p:spPr>
          <a:xfrm xmlns:a="http://schemas.openxmlformats.org/drawingml/2006/main">
            <a:off x="5334000" y="1790700"/>
            <a:ext cx="1524000" cy="400050"/>
          </a:xfrm>
          <a:prstGeom xmlns:a="http://schemas.openxmlformats.org/drawingml/2006/main" prst="roundRect">
            <a:avLst>
              <a:gd name="adj" fmla="val 19048"/>
            </a:avLst>
          </a:prstGeom>
          <a:solidFill xmlns:a="http://schemas.openxmlformats.org/drawingml/2006/main">
            <a:srgbClr val="FFF1CC"/>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8E77A922-89C4-4018-AF79-148CF4A3DDE8}"/>
              </a:ext>
            </a:extLst>
          </p:cNvPr>
          <p:cNvSpPr>
            <a:spLocks xmlns:a="http://schemas.openxmlformats.org/drawingml/2006/main" noGrp="1"/>
          </p:cNvSpPr>
          <p:nvPr/>
        </p:nvSpPr>
        <p:spPr>
          <a:xfrm xmlns:a="http://schemas.openxmlformats.org/drawingml/2006/main">
            <a:off x="5410200" y="18288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2B84B"/>
                </a:solidFill>
                <a:latin typeface="Helvetica Neue"/>
                <a:ea typeface="Helvetica Neue"/>
                <a:cs typeface="Helvetica Neue"/>
              </a:defRPr>
            </a:pPr>
            <a:r>
              <a:rPr sz="1200" b="1">
                <a:solidFill>
                  <a:srgbClr val="F2B84B"/>
                </a:solidFill>
                <a:latin typeface="Helvetica Neue"/>
                <a:ea typeface="Helvetica Neue"/>
                <a:cs typeface="Helvetica Neue"/>
              </a:rPr>
              <a:t>L1</a:t>
            </a:r>
          </a:p>
        </p:txBody>
      </p:sp>
      <p:sp>
        <p:nvSpPr>
          <p:cNvPr id="13" name="text">
            <a:extLst xmlns:a="http://schemas.openxmlformats.org/drawingml/2006/main">
              <a:ext uri="{FF2B5EF4-FFF2-40B4-BE49-F238E27FC236}">
                <a16:creationId xmlns:a16="http://schemas.microsoft.com/office/drawing/2014/main" id="{E904A07C-4CDE-49FB-B871-7CD725F081ED}"/>
              </a:ext>
            </a:extLst>
          </p:cNvPr>
          <p:cNvSpPr>
            <a:spLocks xmlns:a="http://schemas.openxmlformats.org/drawingml/2006/main" noGrp="1"/>
          </p:cNvSpPr>
          <p:nvPr/>
        </p:nvSpPr>
        <p:spPr>
          <a:xfrm xmlns:a="http://schemas.openxmlformats.org/drawingml/2006/main">
            <a:off x="6934200" y="17907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a:t>
            </a:r>
          </a:p>
        </p:txBody>
      </p:sp>
      <p:sp>
        <p:nvSpPr>
          <p:cNvPr id="14" name="box">
            <a:extLst xmlns:a="http://schemas.openxmlformats.org/drawingml/2006/main">
              <a:ext uri="{FF2B5EF4-FFF2-40B4-BE49-F238E27FC236}">
                <a16:creationId xmlns:a16="http://schemas.microsoft.com/office/drawing/2014/main" id="{FCBB9388-E8A2-4DD6-8FC6-1BDEC21FF893}"/>
              </a:ext>
            </a:extLst>
          </p:cNvPr>
          <p:cNvSpPr>
            <a:spLocks xmlns:a="http://schemas.openxmlformats.org/drawingml/2006/main" noGrp="1"/>
          </p:cNvSpPr>
          <p:nvPr/>
        </p:nvSpPr>
        <p:spPr>
          <a:xfrm xmlns:a="http://schemas.openxmlformats.org/drawingml/2006/main">
            <a:off x="7429500" y="1790700"/>
            <a:ext cx="1809750" cy="400050"/>
          </a:xfrm>
          <a:prstGeom xmlns:a="http://schemas.openxmlformats.org/drawingml/2006/main" prst="roundRect">
            <a:avLst>
              <a:gd name="adj" fmla="val 19048"/>
            </a:avLst>
          </a:prstGeom>
          <a:solidFill xmlns:a="http://schemas.openxmlformats.org/drawingml/2006/main">
            <a:srgbClr val="EEE8FF"/>
          </a:solidFill>
          <a:ln xmlns:a="http://schemas.openxmlformats.org/drawingml/2006/main" w="0">
            <a:noFill/>
            <a:prstDash val="solid"/>
          </a:ln>
        </p:spPr>
      </p:sp>
      <p:sp>
        <p:nvSpPr>
          <p:cNvPr id="15" name="text">
            <a:extLst xmlns:a="http://schemas.openxmlformats.org/drawingml/2006/main">
              <a:ext uri="{FF2B5EF4-FFF2-40B4-BE49-F238E27FC236}">
                <a16:creationId xmlns:a16="http://schemas.microsoft.com/office/drawing/2014/main" id="{1F28C74A-0BA1-4F38-ACB5-32C604D4B173}"/>
              </a:ext>
            </a:extLst>
          </p:cNvPr>
          <p:cNvSpPr>
            <a:spLocks xmlns:a="http://schemas.openxmlformats.org/drawingml/2006/main" noGrp="1"/>
          </p:cNvSpPr>
          <p:nvPr/>
        </p:nvSpPr>
        <p:spPr>
          <a:xfrm xmlns:a="http://schemas.openxmlformats.org/drawingml/2006/main">
            <a:off x="7505700" y="182880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8E6CEF"/>
                </a:solidFill>
                <a:latin typeface="Helvetica Neue"/>
                <a:ea typeface="Helvetica Neue"/>
                <a:cs typeface="Helvetica Neue"/>
              </a:defRPr>
            </a:pPr>
            <a:r>
              <a:rPr sz="1200" b="1">
                <a:solidFill>
                  <a:srgbClr val="8E6CEF"/>
                </a:solidFill>
                <a:latin typeface="Helvetica Neue"/>
                <a:ea typeface="Helvetica Neue"/>
                <a:cs typeface="Helvetica Neue"/>
              </a:rPr>
              <a:t>GIoU</a:t>
            </a:r>
          </a:p>
        </p:txBody>
      </p:sp>
      <p:sp>
        <p:nvSpPr>
          <p:cNvPr id="16" name="text">
            <a:extLst xmlns:a="http://schemas.openxmlformats.org/drawingml/2006/main">
              <a:ext uri="{FF2B5EF4-FFF2-40B4-BE49-F238E27FC236}">
                <a16:creationId xmlns:a16="http://schemas.microsoft.com/office/drawing/2014/main" id="{7C88F1C8-9925-49CF-AFD6-A5E17291EC4E}"/>
              </a:ext>
            </a:extLst>
          </p:cNvPr>
          <p:cNvSpPr>
            <a:spLocks xmlns:a="http://schemas.openxmlformats.org/drawingml/2006/main" noGrp="1"/>
          </p:cNvSpPr>
          <p:nvPr/>
        </p:nvSpPr>
        <p:spPr>
          <a:xfrm xmlns:a="http://schemas.openxmlformats.org/drawingml/2006/main">
            <a:off x="571500" y="243840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45B97C"/>
                </a:solidFill>
                <a:latin typeface="Helvetica Neue"/>
                <a:ea typeface="Helvetica Neue"/>
                <a:cs typeface="Helvetica Neue"/>
              </a:defRPr>
            </a:pPr>
            <a:r>
              <a:rPr sz="1425" b="1">
                <a:solidFill>
                  <a:srgbClr val="45B97C"/>
                </a:solidFill>
                <a:latin typeface="Helvetica Neue"/>
                <a:ea typeface="Helvetica Neue"/>
                <a:cs typeface="Helvetica Neue"/>
              </a:rPr>
              <a:t>Q2 dog</a:t>
            </a:r>
          </a:p>
        </p:txBody>
      </p:sp>
      <p:sp>
        <p:nvSpPr>
          <p:cNvPr id="17" name="box">
            <a:extLst xmlns:a="http://schemas.openxmlformats.org/drawingml/2006/main">
              <a:ext uri="{FF2B5EF4-FFF2-40B4-BE49-F238E27FC236}">
                <a16:creationId xmlns:a16="http://schemas.microsoft.com/office/drawing/2014/main" id="{A953F407-C8BF-40C3-BF27-60FC0CAA4D25}"/>
              </a:ext>
            </a:extLst>
          </p:cNvPr>
          <p:cNvSpPr>
            <a:spLocks xmlns:a="http://schemas.openxmlformats.org/drawingml/2006/main" noGrp="1"/>
          </p:cNvSpPr>
          <p:nvPr/>
        </p:nvSpPr>
        <p:spPr>
          <a:xfrm xmlns:a="http://schemas.openxmlformats.org/drawingml/2006/main">
            <a:off x="2190750" y="2438400"/>
            <a:ext cx="2476500" cy="400050"/>
          </a:xfrm>
          <a:prstGeom xmlns:a="http://schemas.openxmlformats.org/drawingml/2006/main" prst="roundRect">
            <a:avLst>
              <a:gd name="adj" fmla="val 19048"/>
            </a:avLst>
          </a:prstGeom>
          <a:solidFill xmlns:a="http://schemas.openxmlformats.org/drawingml/2006/main">
            <a:srgbClr val="D9F1FC"/>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7A08B4CB-ACBD-4E74-8D8C-7EFC784D2A17}"/>
              </a:ext>
            </a:extLst>
          </p:cNvPr>
          <p:cNvSpPr>
            <a:spLocks xmlns:a="http://schemas.openxmlformats.org/drawingml/2006/main" noGrp="1"/>
          </p:cNvSpPr>
          <p:nvPr/>
        </p:nvSpPr>
        <p:spPr>
          <a:xfrm xmlns:a="http://schemas.openxmlformats.org/drawingml/2006/main">
            <a:off x="2266950" y="24765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cross-entropy</a:t>
            </a:r>
          </a:p>
        </p:txBody>
      </p:sp>
      <p:sp>
        <p:nvSpPr>
          <p:cNvPr id="19" name="box">
            <a:extLst xmlns:a="http://schemas.openxmlformats.org/drawingml/2006/main">
              <a:ext uri="{FF2B5EF4-FFF2-40B4-BE49-F238E27FC236}">
                <a16:creationId xmlns:a16="http://schemas.microsoft.com/office/drawing/2014/main" id="{77297C2D-C90F-4470-ACAE-9B000D737A90}"/>
              </a:ext>
            </a:extLst>
          </p:cNvPr>
          <p:cNvSpPr>
            <a:spLocks xmlns:a="http://schemas.openxmlformats.org/drawingml/2006/main" noGrp="1"/>
          </p:cNvSpPr>
          <p:nvPr/>
        </p:nvSpPr>
        <p:spPr>
          <a:xfrm xmlns:a="http://schemas.openxmlformats.org/drawingml/2006/main">
            <a:off x="5334000" y="2438400"/>
            <a:ext cx="1524000" cy="400050"/>
          </a:xfrm>
          <a:prstGeom xmlns:a="http://schemas.openxmlformats.org/drawingml/2006/main" prst="roundRect">
            <a:avLst>
              <a:gd name="adj" fmla="val 19048"/>
            </a:avLst>
          </a:prstGeom>
          <a:solidFill xmlns:a="http://schemas.openxmlformats.org/drawingml/2006/main">
            <a:srgbClr val="FFF1CC"/>
          </a:solidFill>
          <a:ln xmlns:a="http://schemas.openxmlformats.org/drawingml/2006/main" w="0">
            <a:noFill/>
            <a:prstDash val="solid"/>
          </a:ln>
        </p:spPr>
      </p:sp>
      <p:sp>
        <p:nvSpPr>
          <p:cNvPr id="20" name="text">
            <a:extLst xmlns:a="http://schemas.openxmlformats.org/drawingml/2006/main">
              <a:ext uri="{FF2B5EF4-FFF2-40B4-BE49-F238E27FC236}">
                <a16:creationId xmlns:a16="http://schemas.microsoft.com/office/drawing/2014/main" id="{430DF596-6EB9-4C06-B0D5-C803302AADB7}"/>
              </a:ext>
            </a:extLst>
          </p:cNvPr>
          <p:cNvSpPr>
            <a:spLocks xmlns:a="http://schemas.openxmlformats.org/drawingml/2006/main" noGrp="1"/>
          </p:cNvSpPr>
          <p:nvPr/>
        </p:nvSpPr>
        <p:spPr>
          <a:xfrm xmlns:a="http://schemas.openxmlformats.org/drawingml/2006/main">
            <a:off x="5410200" y="24765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2B84B"/>
                </a:solidFill>
                <a:latin typeface="Helvetica Neue"/>
                <a:ea typeface="Helvetica Neue"/>
                <a:cs typeface="Helvetica Neue"/>
              </a:defRPr>
            </a:pPr>
            <a:r>
              <a:rPr sz="1200" b="1">
                <a:solidFill>
                  <a:srgbClr val="F2B84B"/>
                </a:solidFill>
                <a:latin typeface="Helvetica Neue"/>
                <a:ea typeface="Helvetica Neue"/>
                <a:cs typeface="Helvetica Neue"/>
              </a:rPr>
              <a:t>L1</a:t>
            </a:r>
          </a:p>
        </p:txBody>
      </p:sp>
      <p:sp>
        <p:nvSpPr>
          <p:cNvPr id="21" name="text">
            <a:extLst xmlns:a="http://schemas.openxmlformats.org/drawingml/2006/main">
              <a:ext uri="{FF2B5EF4-FFF2-40B4-BE49-F238E27FC236}">
                <a16:creationId xmlns:a16="http://schemas.microsoft.com/office/drawing/2014/main" id="{20372730-3926-4F78-A1F5-25E524579CD9}"/>
              </a:ext>
            </a:extLst>
          </p:cNvPr>
          <p:cNvSpPr>
            <a:spLocks xmlns:a="http://schemas.openxmlformats.org/drawingml/2006/main" noGrp="1"/>
          </p:cNvSpPr>
          <p:nvPr/>
        </p:nvSpPr>
        <p:spPr>
          <a:xfrm xmlns:a="http://schemas.openxmlformats.org/drawingml/2006/main">
            <a:off x="6934200" y="24384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a:t>
            </a:r>
          </a:p>
        </p:txBody>
      </p:sp>
      <p:sp>
        <p:nvSpPr>
          <p:cNvPr id="22" name="box">
            <a:extLst xmlns:a="http://schemas.openxmlformats.org/drawingml/2006/main">
              <a:ext uri="{FF2B5EF4-FFF2-40B4-BE49-F238E27FC236}">
                <a16:creationId xmlns:a16="http://schemas.microsoft.com/office/drawing/2014/main" id="{2EBB207C-D261-4227-AB53-6B1E65212622}"/>
              </a:ext>
            </a:extLst>
          </p:cNvPr>
          <p:cNvSpPr>
            <a:spLocks xmlns:a="http://schemas.openxmlformats.org/drawingml/2006/main" noGrp="1"/>
          </p:cNvSpPr>
          <p:nvPr/>
        </p:nvSpPr>
        <p:spPr>
          <a:xfrm xmlns:a="http://schemas.openxmlformats.org/drawingml/2006/main">
            <a:off x="7429500" y="2438400"/>
            <a:ext cx="1809750" cy="400050"/>
          </a:xfrm>
          <a:prstGeom xmlns:a="http://schemas.openxmlformats.org/drawingml/2006/main" prst="roundRect">
            <a:avLst>
              <a:gd name="adj" fmla="val 19048"/>
            </a:avLst>
          </a:prstGeom>
          <a:solidFill xmlns:a="http://schemas.openxmlformats.org/drawingml/2006/main">
            <a:srgbClr val="EEE8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4DC2583B-8805-4291-ACF2-265A03695956}"/>
              </a:ext>
            </a:extLst>
          </p:cNvPr>
          <p:cNvSpPr>
            <a:spLocks xmlns:a="http://schemas.openxmlformats.org/drawingml/2006/main" noGrp="1"/>
          </p:cNvSpPr>
          <p:nvPr/>
        </p:nvSpPr>
        <p:spPr>
          <a:xfrm xmlns:a="http://schemas.openxmlformats.org/drawingml/2006/main">
            <a:off x="7505700" y="247650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8E6CEF"/>
                </a:solidFill>
                <a:latin typeface="Helvetica Neue"/>
                <a:ea typeface="Helvetica Neue"/>
                <a:cs typeface="Helvetica Neue"/>
              </a:defRPr>
            </a:pPr>
            <a:r>
              <a:rPr sz="1200" b="1">
                <a:solidFill>
                  <a:srgbClr val="8E6CEF"/>
                </a:solidFill>
                <a:latin typeface="Helvetica Neue"/>
                <a:ea typeface="Helvetica Neue"/>
                <a:cs typeface="Helvetica Neue"/>
              </a:rPr>
              <a:t>GIoU</a:t>
            </a:r>
          </a:p>
        </p:txBody>
      </p:sp>
      <p:sp>
        <p:nvSpPr>
          <p:cNvPr id="24" name="text">
            <a:extLst xmlns:a="http://schemas.openxmlformats.org/drawingml/2006/main">
              <a:ext uri="{FF2B5EF4-FFF2-40B4-BE49-F238E27FC236}">
                <a16:creationId xmlns:a16="http://schemas.microsoft.com/office/drawing/2014/main" id="{A2B0CA38-5DB2-4A65-8C6C-939C870DF058}"/>
              </a:ext>
            </a:extLst>
          </p:cNvPr>
          <p:cNvSpPr>
            <a:spLocks xmlns:a="http://schemas.openxmlformats.org/drawingml/2006/main" noGrp="1"/>
          </p:cNvSpPr>
          <p:nvPr/>
        </p:nvSpPr>
        <p:spPr>
          <a:xfrm xmlns:a="http://schemas.openxmlformats.org/drawingml/2006/main">
            <a:off x="571500" y="308610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2B84B"/>
                </a:solidFill>
                <a:latin typeface="Helvetica Neue"/>
                <a:ea typeface="Helvetica Neue"/>
                <a:cs typeface="Helvetica Neue"/>
              </a:defRPr>
            </a:pPr>
            <a:r>
              <a:rPr sz="1425" b="1">
                <a:solidFill>
                  <a:srgbClr val="F2B84B"/>
                </a:solidFill>
                <a:latin typeface="Helvetica Neue"/>
                <a:ea typeface="Helvetica Neue"/>
                <a:cs typeface="Helvetica Neue"/>
              </a:rPr>
              <a:t>Q3 bicycle</a:t>
            </a:r>
          </a:p>
        </p:txBody>
      </p:sp>
      <p:sp>
        <p:nvSpPr>
          <p:cNvPr id="25" name="box">
            <a:extLst xmlns:a="http://schemas.openxmlformats.org/drawingml/2006/main">
              <a:ext uri="{FF2B5EF4-FFF2-40B4-BE49-F238E27FC236}">
                <a16:creationId xmlns:a16="http://schemas.microsoft.com/office/drawing/2014/main" id="{DA69EE4F-D173-4B10-A5EB-5B2F4BB0FFE3}"/>
              </a:ext>
            </a:extLst>
          </p:cNvPr>
          <p:cNvSpPr>
            <a:spLocks xmlns:a="http://schemas.openxmlformats.org/drawingml/2006/main" noGrp="1"/>
          </p:cNvSpPr>
          <p:nvPr/>
        </p:nvSpPr>
        <p:spPr>
          <a:xfrm xmlns:a="http://schemas.openxmlformats.org/drawingml/2006/main">
            <a:off x="2190750" y="3086100"/>
            <a:ext cx="2476500" cy="400050"/>
          </a:xfrm>
          <a:prstGeom xmlns:a="http://schemas.openxmlformats.org/drawingml/2006/main" prst="roundRect">
            <a:avLst>
              <a:gd name="adj" fmla="val 19048"/>
            </a:avLst>
          </a:prstGeom>
          <a:solidFill xmlns:a="http://schemas.openxmlformats.org/drawingml/2006/main">
            <a:srgbClr val="D9F1FC"/>
          </a:solidFill>
          <a:ln xmlns:a="http://schemas.openxmlformats.org/drawingml/2006/main" w="0">
            <a:noFill/>
            <a:prstDash val="solid"/>
          </a:ln>
        </p:spPr>
      </p:sp>
      <p:sp>
        <p:nvSpPr>
          <p:cNvPr id="26" name="text">
            <a:extLst xmlns:a="http://schemas.openxmlformats.org/drawingml/2006/main">
              <a:ext uri="{FF2B5EF4-FFF2-40B4-BE49-F238E27FC236}">
                <a16:creationId xmlns:a16="http://schemas.microsoft.com/office/drawing/2014/main" id="{7348164C-E83E-404B-8419-94178B16097F}"/>
              </a:ext>
            </a:extLst>
          </p:cNvPr>
          <p:cNvSpPr>
            <a:spLocks xmlns:a="http://schemas.openxmlformats.org/drawingml/2006/main" noGrp="1"/>
          </p:cNvSpPr>
          <p:nvPr/>
        </p:nvSpPr>
        <p:spPr>
          <a:xfrm xmlns:a="http://schemas.openxmlformats.org/drawingml/2006/main">
            <a:off x="2266950" y="31242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cross-entropy</a:t>
            </a:r>
          </a:p>
        </p:txBody>
      </p:sp>
      <p:sp>
        <p:nvSpPr>
          <p:cNvPr id="27" name="box">
            <a:extLst xmlns:a="http://schemas.openxmlformats.org/drawingml/2006/main">
              <a:ext uri="{FF2B5EF4-FFF2-40B4-BE49-F238E27FC236}">
                <a16:creationId xmlns:a16="http://schemas.microsoft.com/office/drawing/2014/main" id="{7813AB23-28DC-4F57-BB86-63A8A5B2636A}"/>
              </a:ext>
            </a:extLst>
          </p:cNvPr>
          <p:cNvSpPr>
            <a:spLocks xmlns:a="http://schemas.openxmlformats.org/drawingml/2006/main" noGrp="1"/>
          </p:cNvSpPr>
          <p:nvPr/>
        </p:nvSpPr>
        <p:spPr>
          <a:xfrm xmlns:a="http://schemas.openxmlformats.org/drawingml/2006/main">
            <a:off x="5334000" y="3086100"/>
            <a:ext cx="1524000" cy="400050"/>
          </a:xfrm>
          <a:prstGeom xmlns:a="http://schemas.openxmlformats.org/drawingml/2006/main" prst="roundRect">
            <a:avLst>
              <a:gd name="adj" fmla="val 19048"/>
            </a:avLst>
          </a:prstGeom>
          <a:solidFill xmlns:a="http://schemas.openxmlformats.org/drawingml/2006/main">
            <a:srgbClr val="FFF1CC"/>
          </a:solidFill>
          <a:ln xmlns:a="http://schemas.openxmlformats.org/drawingml/2006/main" w="0">
            <a:noFill/>
            <a:prstDash val="solid"/>
          </a:ln>
        </p:spPr>
      </p:sp>
      <p:sp>
        <p:nvSpPr>
          <p:cNvPr id="28" name="text">
            <a:extLst xmlns:a="http://schemas.openxmlformats.org/drawingml/2006/main">
              <a:ext uri="{FF2B5EF4-FFF2-40B4-BE49-F238E27FC236}">
                <a16:creationId xmlns:a16="http://schemas.microsoft.com/office/drawing/2014/main" id="{EBE1BE59-DC7D-4393-A5A0-035FA9401FC2}"/>
              </a:ext>
            </a:extLst>
          </p:cNvPr>
          <p:cNvSpPr>
            <a:spLocks xmlns:a="http://schemas.openxmlformats.org/drawingml/2006/main" noGrp="1"/>
          </p:cNvSpPr>
          <p:nvPr/>
        </p:nvSpPr>
        <p:spPr>
          <a:xfrm xmlns:a="http://schemas.openxmlformats.org/drawingml/2006/main">
            <a:off x="5410200" y="31242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2B84B"/>
                </a:solidFill>
                <a:latin typeface="Helvetica Neue"/>
                <a:ea typeface="Helvetica Neue"/>
                <a:cs typeface="Helvetica Neue"/>
              </a:defRPr>
            </a:pPr>
            <a:r>
              <a:rPr sz="1200" b="1">
                <a:solidFill>
                  <a:srgbClr val="F2B84B"/>
                </a:solidFill>
                <a:latin typeface="Helvetica Neue"/>
                <a:ea typeface="Helvetica Neue"/>
                <a:cs typeface="Helvetica Neue"/>
              </a:rPr>
              <a:t>L1</a:t>
            </a:r>
          </a:p>
        </p:txBody>
      </p:sp>
      <p:sp>
        <p:nvSpPr>
          <p:cNvPr id="29" name="text">
            <a:extLst xmlns:a="http://schemas.openxmlformats.org/drawingml/2006/main">
              <a:ext uri="{FF2B5EF4-FFF2-40B4-BE49-F238E27FC236}">
                <a16:creationId xmlns:a16="http://schemas.microsoft.com/office/drawing/2014/main" id="{381DE5A5-3F38-4D14-9023-5A58E730C826}"/>
              </a:ext>
            </a:extLst>
          </p:cNvPr>
          <p:cNvSpPr>
            <a:spLocks xmlns:a="http://schemas.openxmlformats.org/drawingml/2006/main" noGrp="1"/>
          </p:cNvSpPr>
          <p:nvPr/>
        </p:nvSpPr>
        <p:spPr>
          <a:xfrm xmlns:a="http://schemas.openxmlformats.org/drawingml/2006/main">
            <a:off x="6934200" y="30861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318"/>
                </a:solidFill>
                <a:latin typeface="Helvetica Neue"/>
                <a:ea typeface="Helvetica Neue"/>
                <a:cs typeface="Helvetica Neue"/>
              </a:defRPr>
            </a:pPr>
            <a:r>
              <a:rPr sz="1650" b="1">
                <a:solidFill>
                  <a:srgbClr val="111318"/>
                </a:solidFill>
                <a:latin typeface="Helvetica Neue"/>
                <a:ea typeface="Helvetica Neue"/>
                <a:cs typeface="Helvetica Neue"/>
              </a:rPr>
              <a:t>+</a:t>
            </a:r>
          </a:p>
        </p:txBody>
      </p:sp>
      <p:sp>
        <p:nvSpPr>
          <p:cNvPr id="30" name="box">
            <a:extLst xmlns:a="http://schemas.openxmlformats.org/drawingml/2006/main">
              <a:ext uri="{FF2B5EF4-FFF2-40B4-BE49-F238E27FC236}">
                <a16:creationId xmlns:a16="http://schemas.microsoft.com/office/drawing/2014/main" id="{EB0B1604-7EEB-42E2-9A98-7D8EB8FDE6F9}"/>
              </a:ext>
            </a:extLst>
          </p:cNvPr>
          <p:cNvSpPr>
            <a:spLocks xmlns:a="http://schemas.openxmlformats.org/drawingml/2006/main" noGrp="1"/>
          </p:cNvSpPr>
          <p:nvPr/>
        </p:nvSpPr>
        <p:spPr>
          <a:xfrm xmlns:a="http://schemas.openxmlformats.org/drawingml/2006/main">
            <a:off x="7429500" y="3086100"/>
            <a:ext cx="1809750" cy="400050"/>
          </a:xfrm>
          <a:prstGeom xmlns:a="http://schemas.openxmlformats.org/drawingml/2006/main" prst="roundRect">
            <a:avLst>
              <a:gd name="adj" fmla="val 19048"/>
            </a:avLst>
          </a:prstGeom>
          <a:solidFill xmlns:a="http://schemas.openxmlformats.org/drawingml/2006/main">
            <a:srgbClr val="EEE8FF"/>
          </a:solidFill>
          <a:ln xmlns:a="http://schemas.openxmlformats.org/drawingml/2006/main" w="0">
            <a:noFill/>
            <a:prstDash val="solid"/>
          </a:ln>
        </p:spPr>
      </p:sp>
      <p:sp>
        <p:nvSpPr>
          <p:cNvPr id="31" name="text">
            <a:extLst xmlns:a="http://schemas.openxmlformats.org/drawingml/2006/main">
              <a:ext uri="{FF2B5EF4-FFF2-40B4-BE49-F238E27FC236}">
                <a16:creationId xmlns:a16="http://schemas.microsoft.com/office/drawing/2014/main" id="{58BD66DE-A739-402A-B5F0-7A915A0F8EA1}"/>
              </a:ext>
            </a:extLst>
          </p:cNvPr>
          <p:cNvSpPr>
            <a:spLocks xmlns:a="http://schemas.openxmlformats.org/drawingml/2006/main" noGrp="1"/>
          </p:cNvSpPr>
          <p:nvPr/>
        </p:nvSpPr>
        <p:spPr>
          <a:xfrm xmlns:a="http://schemas.openxmlformats.org/drawingml/2006/main">
            <a:off x="7505700" y="3124200"/>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8E6CEF"/>
                </a:solidFill>
                <a:latin typeface="Helvetica Neue"/>
                <a:ea typeface="Helvetica Neue"/>
                <a:cs typeface="Helvetica Neue"/>
              </a:defRPr>
            </a:pPr>
            <a:r>
              <a:rPr sz="1200" b="1">
                <a:solidFill>
                  <a:srgbClr val="8E6CEF"/>
                </a:solidFill>
                <a:latin typeface="Helvetica Neue"/>
                <a:ea typeface="Helvetica Neue"/>
                <a:cs typeface="Helvetica Neue"/>
              </a:rPr>
              <a:t>GIoU</a:t>
            </a:r>
          </a:p>
        </p:txBody>
      </p:sp>
      <p:sp>
        <p:nvSpPr>
          <p:cNvPr id="32" name="text">
            <a:extLst xmlns:a="http://schemas.openxmlformats.org/drawingml/2006/main">
              <a:ext uri="{FF2B5EF4-FFF2-40B4-BE49-F238E27FC236}">
                <a16:creationId xmlns:a16="http://schemas.microsoft.com/office/drawing/2014/main" id="{099A7EEC-3202-44B0-8D7E-21A2D5AE4DCB}"/>
              </a:ext>
            </a:extLst>
          </p:cNvPr>
          <p:cNvSpPr>
            <a:spLocks xmlns:a="http://schemas.openxmlformats.org/drawingml/2006/main" noGrp="1"/>
          </p:cNvSpPr>
          <p:nvPr/>
        </p:nvSpPr>
        <p:spPr>
          <a:xfrm xmlns:a="http://schemas.openxmlformats.org/drawingml/2006/main">
            <a:off x="571500" y="373380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A7AFBA"/>
                </a:solidFill>
                <a:latin typeface="Helvetica Neue"/>
                <a:ea typeface="Helvetica Neue"/>
                <a:cs typeface="Helvetica Neue"/>
              </a:defRPr>
            </a:pPr>
            <a:r>
              <a:rPr sz="1425" b="1">
                <a:solidFill>
                  <a:srgbClr val="A7AFBA"/>
                </a:solidFill>
                <a:latin typeface="Helvetica Neue"/>
                <a:ea typeface="Helvetica Neue"/>
                <a:cs typeface="Helvetica Neue"/>
              </a:rPr>
              <a:t>Q4 ∅</a:t>
            </a:r>
          </a:p>
        </p:txBody>
      </p:sp>
      <p:sp>
        <p:nvSpPr>
          <p:cNvPr id="33" name="box">
            <a:extLst xmlns:a="http://schemas.openxmlformats.org/drawingml/2006/main">
              <a:ext uri="{FF2B5EF4-FFF2-40B4-BE49-F238E27FC236}">
                <a16:creationId xmlns:a16="http://schemas.microsoft.com/office/drawing/2014/main" id="{9400E55D-136D-403A-A38D-B7003F1B05FE}"/>
              </a:ext>
            </a:extLst>
          </p:cNvPr>
          <p:cNvSpPr>
            <a:spLocks xmlns:a="http://schemas.openxmlformats.org/drawingml/2006/main" noGrp="1"/>
          </p:cNvSpPr>
          <p:nvPr/>
        </p:nvSpPr>
        <p:spPr>
          <a:xfrm xmlns:a="http://schemas.openxmlformats.org/drawingml/2006/main">
            <a:off x="2190750" y="3733800"/>
            <a:ext cx="2476500" cy="400050"/>
          </a:xfrm>
          <a:prstGeom xmlns:a="http://schemas.openxmlformats.org/drawingml/2006/main" prst="roundRect">
            <a:avLst>
              <a:gd name="adj" fmla="val 19048"/>
            </a:avLst>
          </a:prstGeom>
          <a:solidFill xmlns:a="http://schemas.openxmlformats.org/drawingml/2006/main">
            <a:srgbClr val="D9F1FC"/>
          </a:solidFill>
          <a:ln xmlns:a="http://schemas.openxmlformats.org/drawingml/2006/main" w="0">
            <a:noFill/>
            <a:prstDash val="solid"/>
          </a:ln>
        </p:spPr>
      </p:sp>
      <p:sp>
        <p:nvSpPr>
          <p:cNvPr id="34" name="text">
            <a:extLst xmlns:a="http://schemas.openxmlformats.org/drawingml/2006/main">
              <a:ext uri="{FF2B5EF4-FFF2-40B4-BE49-F238E27FC236}">
                <a16:creationId xmlns:a16="http://schemas.microsoft.com/office/drawing/2014/main" id="{D270A975-0518-490D-81F0-D6D2A16B4C64}"/>
              </a:ext>
            </a:extLst>
          </p:cNvPr>
          <p:cNvSpPr>
            <a:spLocks xmlns:a="http://schemas.openxmlformats.org/drawingml/2006/main" noGrp="1"/>
          </p:cNvSpPr>
          <p:nvPr/>
        </p:nvSpPr>
        <p:spPr>
          <a:xfrm xmlns:a="http://schemas.openxmlformats.org/drawingml/2006/main">
            <a:off x="2266950" y="37719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cross-entropy</a:t>
            </a:r>
          </a:p>
        </p:txBody>
      </p:sp>
      <p:sp>
        <p:nvSpPr>
          <p:cNvPr id="35" name="box">
            <a:extLst xmlns:a="http://schemas.openxmlformats.org/drawingml/2006/main">
              <a:ext uri="{FF2B5EF4-FFF2-40B4-BE49-F238E27FC236}">
                <a16:creationId xmlns:a16="http://schemas.microsoft.com/office/drawing/2014/main" id="{F0276CFA-334C-4889-85F4-B9FB490DF708}"/>
              </a:ext>
            </a:extLst>
          </p:cNvPr>
          <p:cNvSpPr>
            <a:spLocks xmlns:a="http://schemas.openxmlformats.org/drawingml/2006/main" noGrp="1"/>
          </p:cNvSpPr>
          <p:nvPr/>
        </p:nvSpPr>
        <p:spPr>
          <a:xfrm xmlns:a="http://schemas.openxmlformats.org/drawingml/2006/main">
            <a:off x="5334000" y="3733800"/>
            <a:ext cx="3905250" cy="400050"/>
          </a:xfrm>
          <a:prstGeom xmlns:a="http://schemas.openxmlformats.org/drawingml/2006/main" prst="roundRect">
            <a:avLst>
              <a:gd name="adj" fmla="val 19048"/>
            </a:avLst>
          </a:prstGeom>
          <a:solidFill xmlns:a="http://schemas.openxmlformats.org/drawingml/2006/main">
            <a:srgbClr val="EEF1F4"/>
          </a:solidFill>
          <a:ln xmlns:a="http://schemas.openxmlformats.org/drawingml/2006/main" w="0">
            <a:noFill/>
            <a:prstDash val="solid"/>
          </a:ln>
        </p:spPr>
      </p:sp>
      <p:sp>
        <p:nvSpPr>
          <p:cNvPr id="36" name="text">
            <a:extLst xmlns:a="http://schemas.openxmlformats.org/drawingml/2006/main">
              <a:ext uri="{FF2B5EF4-FFF2-40B4-BE49-F238E27FC236}">
                <a16:creationId xmlns:a16="http://schemas.microsoft.com/office/drawing/2014/main" id="{8D6C8361-13F9-4756-A540-3B5D21E041FC}"/>
              </a:ext>
            </a:extLst>
          </p:cNvPr>
          <p:cNvSpPr>
            <a:spLocks xmlns:a="http://schemas.openxmlformats.org/drawingml/2006/main" noGrp="1"/>
          </p:cNvSpPr>
          <p:nvPr/>
        </p:nvSpPr>
        <p:spPr>
          <a:xfrm xmlns:a="http://schemas.openxmlformats.org/drawingml/2006/main">
            <a:off x="5448300" y="3771900"/>
            <a:ext cx="3676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A7AFBA"/>
                </a:solidFill>
                <a:latin typeface="Helvetica Neue"/>
                <a:ea typeface="Helvetica Neue"/>
                <a:cs typeface="Helvetica Neue"/>
              </a:defRPr>
            </a:pPr>
            <a:r>
              <a:rPr sz="1275" b="1">
                <a:solidFill>
                  <a:srgbClr val="A7AFBA"/>
                </a:solidFill>
                <a:latin typeface="Helvetica Neue"/>
                <a:ea typeface="Helvetica Neue"/>
                <a:cs typeface="Helvetica Neue"/>
              </a:rPr>
              <a:t>none — no target box for ∅</a:t>
            </a:r>
          </a:p>
        </p:txBody>
      </p:sp>
      <p:sp>
        <p:nvSpPr>
          <p:cNvPr id="37" name="text">
            <a:extLst xmlns:a="http://schemas.openxmlformats.org/drawingml/2006/main">
              <a:ext uri="{FF2B5EF4-FFF2-40B4-BE49-F238E27FC236}">
                <a16:creationId xmlns:a16="http://schemas.microsoft.com/office/drawing/2014/main" id="{3BC08291-2C71-46C2-8DAA-737B4F15A39D}"/>
              </a:ext>
            </a:extLst>
          </p:cNvPr>
          <p:cNvSpPr>
            <a:spLocks xmlns:a="http://schemas.openxmlformats.org/drawingml/2006/main" noGrp="1"/>
          </p:cNvSpPr>
          <p:nvPr/>
        </p:nvSpPr>
        <p:spPr>
          <a:xfrm xmlns:a="http://schemas.openxmlformats.org/drawingml/2006/main">
            <a:off x="571500" y="438150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A7AFBA"/>
                </a:solidFill>
                <a:latin typeface="Helvetica Neue"/>
                <a:ea typeface="Helvetica Neue"/>
                <a:cs typeface="Helvetica Neue"/>
              </a:defRPr>
            </a:pPr>
            <a:r>
              <a:rPr sz="1425" b="1">
                <a:solidFill>
                  <a:srgbClr val="A7AFBA"/>
                </a:solidFill>
                <a:latin typeface="Helvetica Neue"/>
                <a:ea typeface="Helvetica Neue"/>
                <a:cs typeface="Helvetica Neue"/>
              </a:rPr>
              <a:t>Q5 ∅</a:t>
            </a:r>
          </a:p>
        </p:txBody>
      </p:sp>
      <p:sp>
        <p:nvSpPr>
          <p:cNvPr id="38" name="box">
            <a:extLst xmlns:a="http://schemas.openxmlformats.org/drawingml/2006/main">
              <a:ext uri="{FF2B5EF4-FFF2-40B4-BE49-F238E27FC236}">
                <a16:creationId xmlns:a16="http://schemas.microsoft.com/office/drawing/2014/main" id="{185D8863-85B9-4F86-99AE-7325AA6A80FA}"/>
              </a:ext>
            </a:extLst>
          </p:cNvPr>
          <p:cNvSpPr>
            <a:spLocks xmlns:a="http://schemas.openxmlformats.org/drawingml/2006/main" noGrp="1"/>
          </p:cNvSpPr>
          <p:nvPr/>
        </p:nvSpPr>
        <p:spPr>
          <a:xfrm xmlns:a="http://schemas.openxmlformats.org/drawingml/2006/main">
            <a:off x="2190750" y="4381500"/>
            <a:ext cx="2476500" cy="400050"/>
          </a:xfrm>
          <a:prstGeom xmlns:a="http://schemas.openxmlformats.org/drawingml/2006/main" prst="roundRect">
            <a:avLst>
              <a:gd name="adj" fmla="val 19048"/>
            </a:avLst>
          </a:prstGeom>
          <a:solidFill xmlns:a="http://schemas.openxmlformats.org/drawingml/2006/main">
            <a:srgbClr val="D9F1FC"/>
          </a:solidFill>
          <a:ln xmlns:a="http://schemas.openxmlformats.org/drawingml/2006/main" w="0">
            <a:noFill/>
            <a:prstDash val="solid"/>
          </a:ln>
        </p:spPr>
      </p:sp>
      <p:sp>
        <p:nvSpPr>
          <p:cNvPr id="39" name="text">
            <a:extLst xmlns:a="http://schemas.openxmlformats.org/drawingml/2006/main">
              <a:ext uri="{FF2B5EF4-FFF2-40B4-BE49-F238E27FC236}">
                <a16:creationId xmlns:a16="http://schemas.microsoft.com/office/drawing/2014/main" id="{0AE5CFBC-BB42-4C44-9494-6BFAC8637A51}"/>
              </a:ext>
            </a:extLst>
          </p:cNvPr>
          <p:cNvSpPr>
            <a:spLocks xmlns:a="http://schemas.openxmlformats.org/drawingml/2006/main" noGrp="1"/>
          </p:cNvSpPr>
          <p:nvPr/>
        </p:nvSpPr>
        <p:spPr>
          <a:xfrm xmlns:a="http://schemas.openxmlformats.org/drawingml/2006/main">
            <a:off x="2266950" y="441960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cross-entropy</a:t>
            </a:r>
          </a:p>
        </p:txBody>
      </p:sp>
      <p:sp>
        <p:nvSpPr>
          <p:cNvPr id="40" name="box">
            <a:extLst xmlns:a="http://schemas.openxmlformats.org/drawingml/2006/main">
              <a:ext uri="{FF2B5EF4-FFF2-40B4-BE49-F238E27FC236}">
                <a16:creationId xmlns:a16="http://schemas.microsoft.com/office/drawing/2014/main" id="{E55BC98D-65B8-4574-A0C1-5AD2535F2F18}"/>
              </a:ext>
            </a:extLst>
          </p:cNvPr>
          <p:cNvSpPr>
            <a:spLocks xmlns:a="http://schemas.openxmlformats.org/drawingml/2006/main" noGrp="1"/>
          </p:cNvSpPr>
          <p:nvPr/>
        </p:nvSpPr>
        <p:spPr>
          <a:xfrm xmlns:a="http://schemas.openxmlformats.org/drawingml/2006/main">
            <a:off x="5334000" y="4381500"/>
            <a:ext cx="3905250" cy="400050"/>
          </a:xfrm>
          <a:prstGeom xmlns:a="http://schemas.openxmlformats.org/drawingml/2006/main" prst="roundRect">
            <a:avLst>
              <a:gd name="adj" fmla="val 19048"/>
            </a:avLst>
          </a:prstGeom>
          <a:solidFill xmlns:a="http://schemas.openxmlformats.org/drawingml/2006/main">
            <a:srgbClr val="EEF1F4"/>
          </a:solidFill>
          <a:ln xmlns:a="http://schemas.openxmlformats.org/drawingml/2006/main" w="0">
            <a:noFill/>
            <a:prstDash val="solid"/>
          </a:ln>
        </p:spPr>
      </p:sp>
      <p:sp>
        <p:nvSpPr>
          <p:cNvPr id="41" name="text">
            <a:extLst xmlns:a="http://schemas.openxmlformats.org/drawingml/2006/main">
              <a:ext uri="{FF2B5EF4-FFF2-40B4-BE49-F238E27FC236}">
                <a16:creationId xmlns:a16="http://schemas.microsoft.com/office/drawing/2014/main" id="{6417F869-1D7B-4424-A9DE-FE0F2C7FF9C3}"/>
              </a:ext>
            </a:extLst>
          </p:cNvPr>
          <p:cNvSpPr>
            <a:spLocks xmlns:a="http://schemas.openxmlformats.org/drawingml/2006/main" noGrp="1"/>
          </p:cNvSpPr>
          <p:nvPr/>
        </p:nvSpPr>
        <p:spPr>
          <a:xfrm xmlns:a="http://schemas.openxmlformats.org/drawingml/2006/main">
            <a:off x="5448300" y="4419600"/>
            <a:ext cx="3676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A7AFBA"/>
                </a:solidFill>
                <a:latin typeface="Helvetica Neue"/>
                <a:ea typeface="Helvetica Neue"/>
                <a:cs typeface="Helvetica Neue"/>
              </a:defRPr>
            </a:pPr>
            <a:r>
              <a:rPr sz="1275" b="1">
                <a:solidFill>
                  <a:srgbClr val="A7AFBA"/>
                </a:solidFill>
                <a:latin typeface="Helvetica Neue"/>
                <a:ea typeface="Helvetica Neue"/>
                <a:cs typeface="Helvetica Neue"/>
              </a:rPr>
              <a:t>none — no target box for ∅</a:t>
            </a:r>
          </a:p>
        </p:txBody>
      </p:sp>
      <p:sp>
        <p:nvSpPr>
          <p:cNvPr id="42" name="box">
            <a:extLst xmlns:a="http://schemas.openxmlformats.org/drawingml/2006/main">
              <a:ext uri="{FF2B5EF4-FFF2-40B4-BE49-F238E27FC236}">
                <a16:creationId xmlns:a16="http://schemas.microsoft.com/office/drawing/2014/main" id="{C549780A-8EEB-41D0-AD77-E3A79802012B}"/>
              </a:ext>
            </a:extLst>
          </p:cNvPr>
          <p:cNvSpPr>
            <a:spLocks xmlns:a="http://schemas.openxmlformats.org/drawingml/2006/main" noGrp="1"/>
          </p:cNvSpPr>
          <p:nvPr/>
        </p:nvSpPr>
        <p:spPr>
          <a:xfrm xmlns:a="http://schemas.openxmlformats.org/drawingml/2006/main">
            <a:off x="1695450" y="5295900"/>
            <a:ext cx="8801100" cy="590550"/>
          </a:xfrm>
          <a:prstGeom xmlns:a="http://schemas.openxmlformats.org/drawingml/2006/main" prst="roundRect">
            <a:avLst>
              <a:gd name="adj" fmla="val 12903"/>
            </a:avLst>
          </a:prstGeom>
          <a:solidFill xmlns:a="http://schemas.openxmlformats.org/drawingml/2006/main">
            <a:srgbClr val="EEF1F4"/>
          </a:solidFill>
          <a:ln xmlns:a="http://schemas.openxmlformats.org/drawingml/2006/main" w="0">
            <a:noFill/>
            <a:prstDash val="solid"/>
          </a:ln>
        </p:spPr>
      </p:sp>
      <p:sp>
        <p:nvSpPr>
          <p:cNvPr id="43" name="text">
            <a:extLst xmlns:a="http://schemas.openxmlformats.org/drawingml/2006/main">
              <a:ext uri="{FF2B5EF4-FFF2-40B4-BE49-F238E27FC236}">
                <a16:creationId xmlns:a16="http://schemas.microsoft.com/office/drawing/2014/main" id="{1B43DCDF-2EA1-489F-9DA5-28A6D6C869F6}"/>
              </a:ext>
            </a:extLst>
          </p:cNvPr>
          <p:cNvSpPr>
            <a:spLocks xmlns:a="http://schemas.openxmlformats.org/drawingml/2006/main" noGrp="1"/>
          </p:cNvSpPr>
          <p:nvPr/>
        </p:nvSpPr>
        <p:spPr>
          <a:xfrm xmlns:a="http://schemas.openxmlformats.org/drawingml/2006/main">
            <a:off x="1866900" y="5372100"/>
            <a:ext cx="8458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Classification: Q1–Q5     •     Box regression: Q1–Q3 only</a:t>
            </a:r>
          </a:p>
        </p:txBody>
      </p:sp>
    </p:spTree>
    <p:extLst>
      <p:ext uri="{BB962C8B-B14F-4D97-AF65-F5344CB8AC3E}">
        <p14:creationId xmlns:p14="http://schemas.microsoft.com/office/powerpoint/2010/main" val="178238773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46B3639B-609E-4B5A-8281-E8A070CA356D}"/>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08C59F81-1129-446C-BEB6-A6EF8D0194F2}"/>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How should we read Equation (2)?</a:t>
            </a:r>
          </a:p>
        </p:txBody>
      </p:sp>
      <p:sp>
        <p:nvSpPr>
          <p:cNvPr id="3" name="text">
            <a:extLst xmlns:a="http://schemas.openxmlformats.org/drawingml/2006/main">
              <a:ext uri="{FF2B5EF4-FFF2-40B4-BE49-F238E27FC236}">
                <a16:creationId xmlns:a16="http://schemas.microsoft.com/office/drawing/2014/main" id="{562C6D9A-2CFD-4BAE-81CA-0C7D231DBA0A}"/>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6 • HUNGARIAN TRAINING LOSS</a:t>
            </a:r>
          </a:p>
        </p:txBody>
      </p:sp>
      <p:sp>
        <p:nvSpPr>
          <p:cNvPr id="4" name="text">
            <a:extLst xmlns:a="http://schemas.openxmlformats.org/drawingml/2006/main">
              <a:ext uri="{FF2B5EF4-FFF2-40B4-BE49-F238E27FC236}">
                <a16:creationId xmlns:a16="http://schemas.microsoft.com/office/drawing/2014/main" id="{A17CCB88-D526-41FD-B0CB-5CA78897CAB5}"/>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30</a:t>
            </a:r>
          </a:p>
        </p:txBody>
      </p:sp>
      <p:sp>
        <p:nvSpPr>
          <p:cNvPr id="5" name="math-region">
            <a:extLst xmlns:a="http://schemas.openxmlformats.org/drawingml/2006/main">
              <a:ext uri="{FF2B5EF4-FFF2-40B4-BE49-F238E27FC236}">
                <a16:creationId xmlns:a16="http://schemas.microsoft.com/office/drawing/2014/main" id="{8F4A8AE3-A872-4CB4-A85A-06482FFE4243}"/>
              </a:ext>
            </a:extLst>
          </p:cNvPr>
          <p:cNvSpPr>
            <a:spLocks xmlns:a="http://schemas.openxmlformats.org/drawingml/2006/main" noGrp="1"/>
          </p:cNvSpPr>
          <p:nvPr/>
        </p:nvSpPr>
        <p:spPr>
          <a:xfrm xmlns:a="http://schemas.openxmlformats.org/drawingml/2006/main">
            <a:off x="552450" y="1619250"/>
            <a:ext cx="11087100" cy="1485900"/>
          </a:xfrm>
          <a:prstGeom xmlns:a="http://schemas.openxmlformats.org/drawingml/2006/main" prst="roundRect">
            <a:avLst>
              <a:gd name="adj" fmla="val 5128"/>
            </a:avLst>
          </a:prstGeom>
          <a:solidFill xmlns:a="http://schemas.openxmlformats.org/drawingml/2006/main">
            <a:srgbClr val="EEE8FF"/>
          </a:solidFill>
          <a:ln xmlns:a="http://schemas.openxmlformats.org/drawingml/2006/main" w="19050">
            <a:solidFill>
              <a:srgbClr val="8E6CEF"/>
            </a:solidFill>
            <a:prstDash val="solid"/>
          </a:ln>
        </p:spPr>
      </p:sp>
      <p:sp>
        <p:nvSpPr>
          <p:cNvPr id="6" name="math-fallback-eq2">
            <a:extLst xmlns:a="http://schemas.openxmlformats.org/drawingml/2006/main">
              <a:ext uri="{FF2B5EF4-FFF2-40B4-BE49-F238E27FC236}">
                <a16:creationId xmlns:a16="http://schemas.microsoft.com/office/drawing/2014/main" id="{2C5E7084-3516-40D1-93AB-1838A90A8595}"/>
              </a:ext>
            </a:extLst>
          </p:cNvPr>
          <p:cNvSpPr>
            <a:spLocks xmlns:a="http://schemas.openxmlformats.org/drawingml/2006/main" noGrp="1"/>
          </p:cNvSpPr>
          <p:nvPr/>
        </p:nvSpPr>
        <p:spPr>
          <a:xfrm xmlns:a="http://schemas.openxmlformats.org/drawingml/2006/main">
            <a:off x="781050" y="1809750"/>
            <a:ext cx="106299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111318"/>
                </a:solidFill>
                <a:latin typeface="Helvetica Neue"/>
                <a:ea typeface="Helvetica Neue"/>
                <a:cs typeface="Helvetica Neue"/>
              </a:defRPr>
            </a:pPr>
            <a:r>
              <a:rPr sz="2100" b="1">
                <a:solidFill>
                  <a:srgbClr val="111318"/>
                </a:solidFill>
                <a:latin typeface="Helvetica Neue"/>
                <a:ea typeface="Helvetica Neue"/>
                <a:cs typeface="Helvetica Neue"/>
              </a:rPr>
              <a:t>LHungarian(y, ŷ) = Σᵢ [−log p̂σ̂(i)(cᵢ) + 𝟙{cᵢ≠∅} Lbox(bᵢ,b̂σ̂(i))]</a:t>
            </a:r>
          </a:p>
        </p:txBody>
      </p:sp>
      <p:sp>
        <p:nvSpPr>
          <p:cNvPr id="7" name="paper-citation">
            <a:extLst xmlns:a="http://schemas.openxmlformats.org/drawingml/2006/main">
              <a:ext uri="{FF2B5EF4-FFF2-40B4-BE49-F238E27FC236}">
                <a16:creationId xmlns:a16="http://schemas.microsoft.com/office/drawing/2014/main" id="{90B1FA7D-7BDF-4F69-B509-C2C420DA86B8}"/>
              </a:ext>
            </a:extLst>
          </p:cNvPr>
          <p:cNvSpPr>
            <a:spLocks xmlns:a="http://schemas.openxmlformats.org/drawingml/2006/main" noGrp="1"/>
          </p:cNvSpPr>
          <p:nvPr/>
        </p:nvSpPr>
        <p:spPr>
          <a:xfrm xmlns:a="http://schemas.openxmlformats.org/drawingml/2006/main">
            <a:off x="609600" y="3238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5D6673"/>
                </a:solidFill>
                <a:latin typeface="Helvetica Neue"/>
                <a:ea typeface="Helvetica Neue"/>
                <a:cs typeface="Helvetica Neue"/>
              </a:defRPr>
            </a:pPr>
            <a:r>
              <a:rPr sz="1050" b="0">
                <a:solidFill>
                  <a:srgbClr val="5D6673"/>
                </a:solidFill>
                <a:latin typeface="Helvetica Neue"/>
                <a:ea typeface="Helvetica Neue"/>
                <a:cs typeface="Helvetica Neue"/>
              </a:rPr>
              <a:t>Reproduced from Carion et al., ECCV 2020, Eq. (2).</a:t>
            </a:r>
          </a:p>
        </p:txBody>
      </p:sp>
      <p:sp>
        <p:nvSpPr>
          <p:cNvPr id="8" name="node">
            <a:extLst xmlns:a="http://schemas.openxmlformats.org/drawingml/2006/main">
              <a:ext uri="{FF2B5EF4-FFF2-40B4-BE49-F238E27FC236}">
                <a16:creationId xmlns:a16="http://schemas.microsoft.com/office/drawing/2014/main" id="{A5C656EE-208E-49B9-8BE1-FF848484786C}"/>
              </a:ext>
            </a:extLst>
          </p:cNvPr>
          <p:cNvSpPr>
            <a:spLocks xmlns:a="http://schemas.openxmlformats.org/drawingml/2006/main" noGrp="1"/>
          </p:cNvSpPr>
          <p:nvPr/>
        </p:nvSpPr>
        <p:spPr>
          <a:xfrm xmlns:a="http://schemas.openxmlformats.org/drawingml/2006/main">
            <a:off x="876300" y="4095750"/>
            <a:ext cx="2667000" cy="876300"/>
          </a:xfrm>
          <a:prstGeom xmlns:a="http://schemas.openxmlformats.org/drawingml/2006/main" prst="roundRect">
            <a:avLst>
              <a:gd name="adj" fmla="val 8696"/>
            </a:avLst>
          </a:prstGeom>
          <a:solidFill xmlns:a="http://schemas.openxmlformats.org/drawingml/2006/main">
            <a:srgbClr val="FDE7E5"/>
          </a:solidFill>
          <a:ln xmlns:a="http://schemas.openxmlformats.org/drawingml/2006/main" w="19050">
            <a:solidFill>
              <a:srgbClr val="EF6A66"/>
            </a:solidFill>
            <a:prstDash val="solid"/>
          </a:ln>
        </p:spPr>
      </p:sp>
      <p:sp>
        <p:nvSpPr>
          <p:cNvPr id="9" name="node-label">
            <a:extLst xmlns:a="http://schemas.openxmlformats.org/drawingml/2006/main">
              <a:ext uri="{FF2B5EF4-FFF2-40B4-BE49-F238E27FC236}">
                <a16:creationId xmlns:a16="http://schemas.microsoft.com/office/drawing/2014/main" id="{61632F52-4B5C-451B-B2FE-D49C07137082}"/>
              </a:ext>
            </a:extLst>
          </p:cNvPr>
          <p:cNvSpPr>
            <a:spLocks xmlns:a="http://schemas.openxmlformats.org/drawingml/2006/main" noGrp="1"/>
          </p:cNvSpPr>
          <p:nvPr/>
        </p:nvSpPr>
        <p:spPr>
          <a:xfrm xmlns:a="http://schemas.openxmlformats.org/drawingml/2006/main">
            <a:off x="952500" y="4133850"/>
            <a:ext cx="2514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assignment σ̂</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already chosen</a:t>
            </a:r>
          </a:p>
        </p:txBody>
      </p:sp>
      <p:sp>
        <p:nvSpPr>
          <p:cNvPr id="10" name="arrow">
            <a:extLst xmlns:a="http://schemas.openxmlformats.org/drawingml/2006/main">
              <a:ext uri="{FF2B5EF4-FFF2-40B4-BE49-F238E27FC236}">
                <a16:creationId xmlns:a16="http://schemas.microsoft.com/office/drawing/2014/main" id="{E18900BB-299B-492B-BFC8-CD9F87DF6446}"/>
              </a:ext>
            </a:extLst>
          </p:cNvPr>
          <p:cNvSpPr>
            <a:spLocks xmlns:a="http://schemas.openxmlformats.org/drawingml/2006/main" noGrp="1"/>
          </p:cNvSpPr>
          <p:nvPr/>
        </p:nvSpPr>
        <p:spPr>
          <a:xfrm xmlns:a="http://schemas.openxmlformats.org/drawingml/2006/main">
            <a:off x="3657600" y="43624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11" name="node">
            <a:extLst xmlns:a="http://schemas.openxmlformats.org/drawingml/2006/main">
              <a:ext uri="{FF2B5EF4-FFF2-40B4-BE49-F238E27FC236}">
                <a16:creationId xmlns:a16="http://schemas.microsoft.com/office/drawing/2014/main" id="{2C09CAFA-BE43-4F23-BA07-898A8B95F2A0}"/>
              </a:ext>
            </a:extLst>
          </p:cNvPr>
          <p:cNvSpPr>
            <a:spLocks xmlns:a="http://schemas.openxmlformats.org/drawingml/2006/main" noGrp="1"/>
          </p:cNvSpPr>
          <p:nvPr/>
        </p:nvSpPr>
        <p:spPr>
          <a:xfrm xmlns:a="http://schemas.openxmlformats.org/drawingml/2006/main">
            <a:off x="4476750" y="4095750"/>
            <a:ext cx="2667000" cy="876300"/>
          </a:xfrm>
          <a:prstGeom xmlns:a="http://schemas.openxmlformats.org/drawingml/2006/main" prst="roundRect">
            <a:avLst>
              <a:gd name="adj" fmla="val 8696"/>
            </a:avLst>
          </a:prstGeom>
          <a:solidFill xmlns:a="http://schemas.openxmlformats.org/drawingml/2006/main">
            <a:srgbClr val="D9F1FC"/>
          </a:solidFill>
          <a:ln xmlns:a="http://schemas.openxmlformats.org/drawingml/2006/main" w="19050">
            <a:solidFill>
              <a:srgbClr val="3D8DFF"/>
            </a:solidFill>
            <a:prstDash val="solid"/>
          </a:ln>
        </p:spPr>
      </p:sp>
      <p:sp>
        <p:nvSpPr>
          <p:cNvPr id="12" name="node-label">
            <a:extLst xmlns:a="http://schemas.openxmlformats.org/drawingml/2006/main">
              <a:ext uri="{FF2B5EF4-FFF2-40B4-BE49-F238E27FC236}">
                <a16:creationId xmlns:a16="http://schemas.microsoft.com/office/drawing/2014/main" id="{191A3253-2747-481F-A1C2-1BE6000977D1}"/>
              </a:ext>
            </a:extLst>
          </p:cNvPr>
          <p:cNvSpPr>
            <a:spLocks xmlns:a="http://schemas.openxmlformats.org/drawingml/2006/main" noGrp="1"/>
          </p:cNvSpPr>
          <p:nvPr/>
        </p:nvSpPr>
        <p:spPr>
          <a:xfrm xmlns:a="http://schemas.openxmlformats.org/drawingml/2006/main">
            <a:off x="4552950" y="4133850"/>
            <a:ext cx="2514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class loss</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for every slot</a:t>
            </a:r>
          </a:p>
        </p:txBody>
      </p:sp>
      <p:sp>
        <p:nvSpPr>
          <p:cNvPr id="13" name="arrow">
            <a:extLst xmlns:a="http://schemas.openxmlformats.org/drawingml/2006/main">
              <a:ext uri="{FF2B5EF4-FFF2-40B4-BE49-F238E27FC236}">
                <a16:creationId xmlns:a16="http://schemas.microsoft.com/office/drawing/2014/main" id="{0FED5428-B9C9-47E2-9311-C50CCBC7E15F}"/>
              </a:ext>
            </a:extLst>
          </p:cNvPr>
          <p:cNvSpPr>
            <a:spLocks xmlns:a="http://schemas.openxmlformats.org/drawingml/2006/main" noGrp="1"/>
          </p:cNvSpPr>
          <p:nvPr/>
        </p:nvSpPr>
        <p:spPr>
          <a:xfrm xmlns:a="http://schemas.openxmlformats.org/drawingml/2006/main">
            <a:off x="7258050" y="4362450"/>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14" name="node">
            <a:extLst xmlns:a="http://schemas.openxmlformats.org/drawingml/2006/main">
              <a:ext uri="{FF2B5EF4-FFF2-40B4-BE49-F238E27FC236}">
                <a16:creationId xmlns:a16="http://schemas.microsoft.com/office/drawing/2014/main" id="{76ADB5BF-464C-4885-BA69-64528FC54AB9}"/>
              </a:ext>
            </a:extLst>
          </p:cNvPr>
          <p:cNvSpPr>
            <a:spLocks xmlns:a="http://schemas.openxmlformats.org/drawingml/2006/main" noGrp="1"/>
          </p:cNvSpPr>
          <p:nvPr/>
        </p:nvSpPr>
        <p:spPr>
          <a:xfrm xmlns:a="http://schemas.openxmlformats.org/drawingml/2006/main">
            <a:off x="8077200" y="4095750"/>
            <a:ext cx="2667000" cy="876300"/>
          </a:xfrm>
          <a:prstGeom xmlns:a="http://schemas.openxmlformats.org/drawingml/2006/main" prst="roundRect">
            <a:avLst>
              <a:gd name="adj" fmla="val 8696"/>
            </a:avLst>
          </a:prstGeom>
          <a:solidFill xmlns:a="http://schemas.openxmlformats.org/drawingml/2006/main">
            <a:srgbClr val="FFF1CC"/>
          </a:solidFill>
          <a:ln xmlns:a="http://schemas.openxmlformats.org/drawingml/2006/main" w="19050">
            <a:solidFill>
              <a:srgbClr val="F2B84B"/>
            </a:solidFill>
            <a:prstDash val="solid"/>
          </a:ln>
        </p:spPr>
      </p:sp>
      <p:sp>
        <p:nvSpPr>
          <p:cNvPr id="15" name="node-label">
            <a:extLst xmlns:a="http://schemas.openxmlformats.org/drawingml/2006/main">
              <a:ext uri="{FF2B5EF4-FFF2-40B4-BE49-F238E27FC236}">
                <a16:creationId xmlns:a16="http://schemas.microsoft.com/office/drawing/2014/main" id="{9682CADE-CCAF-4000-990F-D486834B4F9A}"/>
              </a:ext>
            </a:extLst>
          </p:cNvPr>
          <p:cNvSpPr>
            <a:spLocks xmlns:a="http://schemas.openxmlformats.org/drawingml/2006/main" noGrp="1"/>
          </p:cNvSpPr>
          <p:nvPr/>
        </p:nvSpPr>
        <p:spPr>
          <a:xfrm xmlns:a="http://schemas.openxmlformats.org/drawingml/2006/main">
            <a:off x="8153400" y="4133850"/>
            <a:ext cx="2514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box loss only</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when cᵢ ≠ ∅</a:t>
            </a:r>
          </a:p>
        </p:txBody>
      </p:sp>
      <p:sp>
        <p:nvSpPr>
          <p:cNvPr id="16" name="box">
            <a:extLst xmlns:a="http://schemas.openxmlformats.org/drawingml/2006/main">
              <a:ext uri="{FF2B5EF4-FFF2-40B4-BE49-F238E27FC236}">
                <a16:creationId xmlns:a16="http://schemas.microsoft.com/office/drawing/2014/main" id="{54A28830-D16B-441D-90DD-72F03FE7EECB}"/>
              </a:ext>
            </a:extLst>
          </p:cNvPr>
          <p:cNvSpPr>
            <a:spLocks xmlns:a="http://schemas.openxmlformats.org/drawingml/2006/main" noGrp="1"/>
          </p:cNvSpPr>
          <p:nvPr/>
        </p:nvSpPr>
        <p:spPr>
          <a:xfrm xmlns:a="http://schemas.openxmlformats.org/drawingml/2006/main">
            <a:off x="1352550" y="5391150"/>
            <a:ext cx="9486900" cy="552450"/>
          </a:xfrm>
          <a:prstGeom xmlns:a="http://schemas.openxmlformats.org/drawingml/2006/main" prst="roundRect">
            <a:avLst>
              <a:gd name="adj" fmla="val 13793"/>
            </a:avLst>
          </a:prstGeom>
          <a:solidFill xmlns:a="http://schemas.openxmlformats.org/drawingml/2006/main">
            <a:srgbClr val="EEF1F4"/>
          </a:solidFill>
          <a:ln xmlns:a="http://schemas.openxmlformats.org/drawingml/2006/main" w="0">
            <a:noFill/>
            <a:prstDash val="solid"/>
          </a:ln>
        </p:spPr>
      </p:sp>
      <p:sp>
        <p:nvSpPr>
          <p:cNvPr id="17" name="text">
            <a:extLst xmlns:a="http://schemas.openxmlformats.org/drawingml/2006/main">
              <a:ext uri="{FF2B5EF4-FFF2-40B4-BE49-F238E27FC236}">
                <a16:creationId xmlns:a16="http://schemas.microsoft.com/office/drawing/2014/main" id="{9B62AA7D-7CF5-4DE5-9010-1F1935C6E18C}"/>
              </a:ext>
            </a:extLst>
          </p:cNvPr>
          <p:cNvSpPr>
            <a:spLocks xmlns:a="http://schemas.openxmlformats.org/drawingml/2006/main" noGrp="1"/>
          </p:cNvSpPr>
          <p:nvPr/>
        </p:nvSpPr>
        <p:spPr>
          <a:xfrm xmlns:a="http://schemas.openxmlformats.org/drawingml/2006/main">
            <a:off x="1524000" y="546735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This equation is differentiable after σ̂ is fixed; the discrete solver is not differentiated.</a:t>
            </a:r>
          </a:p>
        </p:txBody>
      </p:sp>
    </p:spTree>
    <p:extLst>
      <p:ext uri="{BB962C8B-B14F-4D97-AF65-F5344CB8AC3E}">
        <p14:creationId xmlns:p14="http://schemas.microsoft.com/office/powerpoint/2010/main" val="20317513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913E81D6-7DAD-4502-B8C1-6CFE0E2E2442}"/>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F0756338-1BD9-471D-95CF-3E03EB84A253}"/>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Matching cost or training loss?</a:t>
            </a:r>
          </a:p>
        </p:txBody>
      </p:sp>
      <p:sp>
        <p:nvSpPr>
          <p:cNvPr id="3" name="text">
            <a:extLst xmlns:a="http://schemas.openxmlformats.org/drawingml/2006/main">
              <a:ext uri="{FF2B5EF4-FFF2-40B4-BE49-F238E27FC236}">
                <a16:creationId xmlns:a16="http://schemas.microsoft.com/office/drawing/2014/main" id="{42D1EE15-62D4-4B4B-AC8D-5AC240E7B6D4}"/>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6 • DO NOT CONFUSE</a:t>
            </a:r>
          </a:p>
        </p:txBody>
      </p:sp>
      <p:sp>
        <p:nvSpPr>
          <p:cNvPr id="4" name="text">
            <a:extLst xmlns:a="http://schemas.openxmlformats.org/drawingml/2006/main">
              <a:ext uri="{FF2B5EF4-FFF2-40B4-BE49-F238E27FC236}">
                <a16:creationId xmlns:a16="http://schemas.microsoft.com/office/drawing/2014/main" id="{FAB8F66A-296C-45D3-9D1E-2260F1E228D5}"/>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31</a:t>
            </a:r>
          </a:p>
        </p:txBody>
      </p:sp>
      <p:sp>
        <p:nvSpPr>
          <p:cNvPr id="5" name="match-panel">
            <a:extLst xmlns:a="http://schemas.openxmlformats.org/drawingml/2006/main">
              <a:ext uri="{FF2B5EF4-FFF2-40B4-BE49-F238E27FC236}">
                <a16:creationId xmlns:a16="http://schemas.microsoft.com/office/drawing/2014/main" id="{B27830E8-3FE5-4174-8D0E-614F06F20EA9}"/>
              </a:ext>
            </a:extLst>
          </p:cNvPr>
          <p:cNvSpPr>
            <a:spLocks xmlns:a="http://schemas.openxmlformats.org/drawingml/2006/main" noGrp="1"/>
          </p:cNvSpPr>
          <p:nvPr/>
        </p:nvSpPr>
        <p:spPr>
          <a:xfrm xmlns:a="http://schemas.openxmlformats.org/drawingml/2006/main">
            <a:off x="514350" y="1466850"/>
            <a:ext cx="5219700" cy="3429000"/>
          </a:xfrm>
          <a:prstGeom xmlns:a="http://schemas.openxmlformats.org/drawingml/2006/main" prst="roundRect">
            <a:avLst>
              <a:gd name="adj" fmla="val 2222"/>
            </a:avLst>
          </a:prstGeom>
          <a:solidFill xmlns:a="http://schemas.openxmlformats.org/drawingml/2006/main">
            <a:srgbClr val="FDE7E5"/>
          </a:solidFill>
          <a:ln xmlns:a="http://schemas.openxmlformats.org/drawingml/2006/main" w="19050">
            <a:solidFill>
              <a:srgbClr val="EF6A66"/>
            </a:solidFill>
            <a:prstDash val="solid"/>
          </a:ln>
        </p:spPr>
      </p:sp>
      <p:sp>
        <p:nvSpPr>
          <p:cNvPr id="6" name="text">
            <a:extLst xmlns:a="http://schemas.openxmlformats.org/drawingml/2006/main">
              <a:ext uri="{FF2B5EF4-FFF2-40B4-BE49-F238E27FC236}">
                <a16:creationId xmlns:a16="http://schemas.microsoft.com/office/drawing/2014/main" id="{3DD8DAC8-369D-4C5B-85CA-A2D2CFD1CE13}"/>
              </a:ext>
            </a:extLst>
          </p:cNvPr>
          <p:cNvSpPr>
            <a:spLocks xmlns:a="http://schemas.openxmlformats.org/drawingml/2006/main" noGrp="1"/>
          </p:cNvSpPr>
          <p:nvPr/>
        </p:nvSpPr>
        <p:spPr>
          <a:xfrm xmlns:a="http://schemas.openxmlformats.org/drawingml/2006/main">
            <a:off x="800100" y="1695450"/>
            <a:ext cx="464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EF6A66"/>
                </a:solidFill>
                <a:latin typeface="Helvetica Neue"/>
                <a:ea typeface="Helvetica Neue"/>
                <a:cs typeface="Helvetica Neue"/>
              </a:defRPr>
            </a:pPr>
            <a:r>
              <a:rPr sz="1800" b="1">
                <a:solidFill>
                  <a:srgbClr val="EF6A66"/>
                </a:solidFill>
                <a:latin typeface="Helvetica Neue"/>
                <a:ea typeface="Helvetica Neue"/>
                <a:cs typeface="Helvetica Neue"/>
              </a:rPr>
              <a:t>MATCHING COST</a:t>
            </a:r>
          </a:p>
        </p:txBody>
      </p:sp>
      <p:sp>
        <p:nvSpPr>
          <p:cNvPr id="7" name="text">
            <a:extLst xmlns:a="http://schemas.openxmlformats.org/drawingml/2006/main">
              <a:ext uri="{FF2B5EF4-FFF2-40B4-BE49-F238E27FC236}">
                <a16:creationId xmlns:a16="http://schemas.microsoft.com/office/drawing/2014/main" id="{D89517C4-0A0D-4581-B5CC-4EF58D5EEFDE}"/>
              </a:ext>
            </a:extLst>
          </p:cNvPr>
          <p:cNvSpPr>
            <a:spLocks xmlns:a="http://schemas.openxmlformats.org/drawingml/2006/main" noGrp="1"/>
          </p:cNvSpPr>
          <p:nvPr/>
        </p:nvSpPr>
        <p:spPr>
          <a:xfrm xmlns:a="http://schemas.openxmlformats.org/drawingml/2006/main">
            <a:off x="800100" y="2190750"/>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Job: choose responsibility</a:t>
            </a:r>
          </a:p>
        </p:txBody>
      </p:sp>
      <p:sp>
        <p:nvSpPr>
          <p:cNvPr id="8" name="text">
            <a:extLst xmlns:a="http://schemas.openxmlformats.org/drawingml/2006/main">
              <a:ext uri="{FF2B5EF4-FFF2-40B4-BE49-F238E27FC236}">
                <a16:creationId xmlns:a16="http://schemas.microsoft.com/office/drawing/2014/main" id="{33EF3E9B-3010-4D00-8590-1AC593E2E924}"/>
              </a:ext>
            </a:extLst>
          </p:cNvPr>
          <p:cNvSpPr>
            <a:spLocks xmlns:a="http://schemas.openxmlformats.org/drawingml/2006/main" noGrp="1"/>
          </p:cNvSpPr>
          <p:nvPr/>
        </p:nvSpPr>
        <p:spPr>
          <a:xfrm xmlns:a="http://schemas.openxmlformats.org/drawingml/2006/main">
            <a:off x="1104900" y="2724150"/>
            <a:ext cx="40386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 p(target class)</a:t>
            </a:r>
          </a:p>
          <a:p xmlns:a="http://schemas.openxmlformats.org/drawingml/2006/main">
            <a:pPr algn="ct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 weighted L1</a:t>
            </a:r>
          </a:p>
          <a:p xmlns:a="http://schemas.openxmlformats.org/drawingml/2006/main">
            <a:pPr algn="ct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 weighted GIoU loss</a:t>
            </a:r>
          </a:p>
        </p:txBody>
      </p:sp>
      <p:sp>
        <p:nvSpPr>
          <p:cNvPr id="9" name="box">
            <a:extLst xmlns:a="http://schemas.openxmlformats.org/drawingml/2006/main">
              <a:ext uri="{FF2B5EF4-FFF2-40B4-BE49-F238E27FC236}">
                <a16:creationId xmlns:a16="http://schemas.microsoft.com/office/drawing/2014/main" id="{B9CB4A98-2B39-4907-A8D8-DA3927A5D6F2}"/>
              </a:ext>
            </a:extLst>
          </p:cNvPr>
          <p:cNvSpPr>
            <a:spLocks xmlns:a="http://schemas.openxmlformats.org/drawingml/2006/main" noGrp="1"/>
          </p:cNvSpPr>
          <p:nvPr/>
        </p:nvSpPr>
        <p:spPr>
          <a:xfrm xmlns:a="http://schemas.openxmlformats.org/drawingml/2006/main">
            <a:off x="1219200" y="4171950"/>
            <a:ext cx="38100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BCB76DB4-BFBA-4A6A-8705-5FF10910D231}"/>
              </a:ext>
            </a:extLst>
          </p:cNvPr>
          <p:cNvSpPr>
            <a:spLocks xmlns:a="http://schemas.openxmlformats.org/drawingml/2006/main" noGrp="1"/>
          </p:cNvSpPr>
          <p:nvPr/>
        </p:nvSpPr>
        <p:spPr>
          <a:xfrm xmlns:a="http://schemas.openxmlformats.org/drawingml/2006/main">
            <a:off x="1295400" y="4191000"/>
            <a:ext cx="3657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EF6A66"/>
                </a:solidFill>
                <a:latin typeface="Helvetica Neue"/>
                <a:ea typeface="Helvetica Neue"/>
                <a:cs typeface="Helvetica Neue"/>
              </a:defRPr>
            </a:pPr>
            <a:r>
              <a:rPr sz="1125" b="1">
                <a:solidFill>
                  <a:srgbClr val="EF6A66"/>
                </a:solidFill>
                <a:latin typeface="Helvetica Neue"/>
                <a:ea typeface="Helvetica Neue"/>
                <a:cs typeface="Helvetica Neue"/>
              </a:rPr>
              <a:t>discrete selection • no direct gradient</a:t>
            </a:r>
          </a:p>
        </p:txBody>
      </p:sp>
      <p:sp>
        <p:nvSpPr>
          <p:cNvPr id="11" name="loss-panel">
            <a:extLst xmlns:a="http://schemas.openxmlformats.org/drawingml/2006/main">
              <a:ext uri="{FF2B5EF4-FFF2-40B4-BE49-F238E27FC236}">
                <a16:creationId xmlns:a16="http://schemas.microsoft.com/office/drawing/2014/main" id="{22B6C9EA-B42F-4DD1-96EE-204FD195D716}"/>
              </a:ext>
            </a:extLst>
          </p:cNvPr>
          <p:cNvSpPr>
            <a:spLocks xmlns:a="http://schemas.openxmlformats.org/drawingml/2006/main" noGrp="1"/>
          </p:cNvSpPr>
          <p:nvPr/>
        </p:nvSpPr>
        <p:spPr>
          <a:xfrm xmlns:a="http://schemas.openxmlformats.org/drawingml/2006/main">
            <a:off x="6457950" y="1466850"/>
            <a:ext cx="5219700" cy="3429000"/>
          </a:xfrm>
          <a:prstGeom xmlns:a="http://schemas.openxmlformats.org/drawingml/2006/main" prst="roundRect">
            <a:avLst>
              <a:gd name="adj" fmla="val 2222"/>
            </a:avLst>
          </a:prstGeom>
          <a:solidFill xmlns:a="http://schemas.openxmlformats.org/drawingml/2006/main">
            <a:srgbClr val="EEE8FF"/>
          </a:solidFill>
          <a:ln xmlns:a="http://schemas.openxmlformats.org/drawingml/2006/main" w="19050">
            <a:solidFill>
              <a:srgbClr val="8E6CEF"/>
            </a:solidFill>
            <a:prstDash val="solid"/>
          </a:ln>
        </p:spPr>
      </p:sp>
      <p:sp>
        <p:nvSpPr>
          <p:cNvPr id="12" name="text">
            <a:extLst xmlns:a="http://schemas.openxmlformats.org/drawingml/2006/main">
              <a:ext uri="{FF2B5EF4-FFF2-40B4-BE49-F238E27FC236}">
                <a16:creationId xmlns:a16="http://schemas.microsoft.com/office/drawing/2014/main" id="{79E93B09-9ABC-4FA1-A23F-20C23E1A1BD3}"/>
              </a:ext>
            </a:extLst>
          </p:cNvPr>
          <p:cNvSpPr>
            <a:spLocks xmlns:a="http://schemas.openxmlformats.org/drawingml/2006/main" noGrp="1"/>
          </p:cNvSpPr>
          <p:nvPr/>
        </p:nvSpPr>
        <p:spPr>
          <a:xfrm xmlns:a="http://schemas.openxmlformats.org/drawingml/2006/main">
            <a:off x="6743700" y="1695450"/>
            <a:ext cx="4648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8E6CEF"/>
                </a:solidFill>
                <a:latin typeface="Helvetica Neue"/>
                <a:ea typeface="Helvetica Neue"/>
                <a:cs typeface="Helvetica Neue"/>
              </a:defRPr>
            </a:pPr>
            <a:r>
              <a:rPr sz="1800" b="1">
                <a:solidFill>
                  <a:srgbClr val="8E6CEF"/>
                </a:solidFill>
                <a:latin typeface="Helvetica Neue"/>
                <a:ea typeface="Helvetica Neue"/>
                <a:cs typeface="Helvetica Neue"/>
              </a:rPr>
              <a:t>TRAINING LOSS</a:t>
            </a:r>
          </a:p>
        </p:txBody>
      </p:sp>
      <p:sp>
        <p:nvSpPr>
          <p:cNvPr id="13" name="text">
            <a:extLst xmlns:a="http://schemas.openxmlformats.org/drawingml/2006/main">
              <a:ext uri="{FF2B5EF4-FFF2-40B4-BE49-F238E27FC236}">
                <a16:creationId xmlns:a16="http://schemas.microsoft.com/office/drawing/2014/main" id="{A4F43E3F-1881-4164-8653-5A286A936B8D}"/>
              </a:ext>
            </a:extLst>
          </p:cNvPr>
          <p:cNvSpPr>
            <a:spLocks xmlns:a="http://schemas.openxmlformats.org/drawingml/2006/main" noGrp="1"/>
          </p:cNvSpPr>
          <p:nvPr/>
        </p:nvSpPr>
        <p:spPr>
          <a:xfrm xmlns:a="http://schemas.openxmlformats.org/drawingml/2006/main">
            <a:off x="6743700" y="2190750"/>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Job: update parameters</a:t>
            </a:r>
          </a:p>
        </p:txBody>
      </p:sp>
      <p:sp>
        <p:nvSpPr>
          <p:cNvPr id="14" name="text">
            <a:extLst xmlns:a="http://schemas.openxmlformats.org/drawingml/2006/main">
              <a:ext uri="{FF2B5EF4-FFF2-40B4-BE49-F238E27FC236}">
                <a16:creationId xmlns:a16="http://schemas.microsoft.com/office/drawing/2014/main" id="{B9992008-32C2-4DB4-A5E6-6E87FBE28D42}"/>
              </a:ext>
            </a:extLst>
          </p:cNvPr>
          <p:cNvSpPr>
            <a:spLocks xmlns:a="http://schemas.openxmlformats.org/drawingml/2006/main" noGrp="1"/>
          </p:cNvSpPr>
          <p:nvPr/>
        </p:nvSpPr>
        <p:spPr>
          <a:xfrm xmlns:a="http://schemas.openxmlformats.org/drawingml/2006/main">
            <a:off x="7029450" y="2724150"/>
            <a:ext cx="40767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cross-entropy for every query</a:t>
            </a:r>
          </a:p>
          <a:p xmlns:a="http://schemas.openxmlformats.org/drawingml/2006/main">
            <a:pPr algn="ct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 L1/GIoU for matched queries</a:t>
            </a:r>
          </a:p>
          <a:p xmlns:a="http://schemas.openxmlformats.org/drawingml/2006/main">
            <a:pPr algn="ctr">
              <a:defRPr sz="1725" b="1">
                <a:solidFill>
                  <a:srgbClr val="111318"/>
                </a:solidFill>
                <a:latin typeface="Helvetica Neue"/>
                <a:ea typeface="Helvetica Neue"/>
                <a:cs typeface="Helvetica Neue"/>
              </a:defRPr>
            </a:pPr>
            <a:r>
              <a:rPr sz="1725" b="1">
                <a:solidFill>
                  <a:srgbClr val="111318"/>
                </a:solidFill>
                <a:latin typeface="Helvetica Neue"/>
                <a:ea typeface="Helvetica Neue"/>
                <a:cs typeface="Helvetica Neue"/>
              </a:rPr>
              <a:t>+ auxiliary decoder losses</a:t>
            </a:r>
          </a:p>
        </p:txBody>
      </p:sp>
      <p:sp>
        <p:nvSpPr>
          <p:cNvPr id="15" name="box">
            <a:extLst xmlns:a="http://schemas.openxmlformats.org/drawingml/2006/main">
              <a:ext uri="{FF2B5EF4-FFF2-40B4-BE49-F238E27FC236}">
                <a16:creationId xmlns:a16="http://schemas.microsoft.com/office/drawing/2014/main" id="{ABD7E3BB-E549-4F79-A178-F4FBF38C39D6}"/>
              </a:ext>
            </a:extLst>
          </p:cNvPr>
          <p:cNvSpPr>
            <a:spLocks xmlns:a="http://schemas.openxmlformats.org/drawingml/2006/main" noGrp="1"/>
          </p:cNvSpPr>
          <p:nvPr/>
        </p:nvSpPr>
        <p:spPr>
          <a:xfrm xmlns:a="http://schemas.openxmlformats.org/drawingml/2006/main">
            <a:off x="7239000" y="4171950"/>
            <a:ext cx="3657600"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25912053-40FD-4A0F-89D5-B926D78616D5}"/>
              </a:ext>
            </a:extLst>
          </p:cNvPr>
          <p:cNvSpPr>
            <a:spLocks xmlns:a="http://schemas.openxmlformats.org/drawingml/2006/main" noGrp="1"/>
          </p:cNvSpPr>
          <p:nvPr/>
        </p:nvSpPr>
        <p:spPr>
          <a:xfrm xmlns:a="http://schemas.openxmlformats.org/drawingml/2006/main">
            <a:off x="7315200" y="4191000"/>
            <a:ext cx="350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8E6CEF"/>
                </a:solidFill>
                <a:latin typeface="Helvetica Neue"/>
                <a:ea typeface="Helvetica Neue"/>
                <a:cs typeface="Helvetica Neue"/>
              </a:defRPr>
            </a:pPr>
            <a:r>
              <a:rPr sz="1125" b="1">
                <a:solidFill>
                  <a:srgbClr val="8E6CEF"/>
                </a:solidFill>
                <a:latin typeface="Helvetica Neue"/>
                <a:ea typeface="Helvetica Neue"/>
                <a:cs typeface="Helvetica Neue"/>
              </a:rPr>
              <a:t>differentiable • backpropagates</a:t>
            </a:r>
          </a:p>
        </p:txBody>
      </p:sp>
      <p:sp>
        <p:nvSpPr>
          <p:cNvPr id="17" name="text">
            <a:extLst xmlns:a="http://schemas.openxmlformats.org/drawingml/2006/main">
              <a:ext uri="{FF2B5EF4-FFF2-40B4-BE49-F238E27FC236}">
                <a16:creationId xmlns:a16="http://schemas.microsoft.com/office/drawing/2014/main" id="{115F64CC-95B4-4658-A793-E7BB5F2E1A8F}"/>
              </a:ext>
            </a:extLst>
          </p:cNvPr>
          <p:cNvSpPr>
            <a:spLocks xmlns:a="http://schemas.openxmlformats.org/drawingml/2006/main" noGrp="1"/>
          </p:cNvSpPr>
          <p:nvPr/>
        </p:nvSpPr>
        <p:spPr>
          <a:xfrm xmlns:a="http://schemas.openxmlformats.org/drawingml/2006/main">
            <a:off x="1695450" y="5372100"/>
            <a:ext cx="8801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3D8DFF"/>
                </a:solidFill>
                <a:latin typeface="Helvetica Neue"/>
                <a:ea typeface="Helvetica Neue"/>
                <a:cs typeface="Helvetica Neue"/>
              </a:defRPr>
            </a:pPr>
            <a:r>
              <a:rPr sz="1725" b="1">
                <a:solidFill>
                  <a:srgbClr val="3D8DFF"/>
                </a:solidFill>
                <a:latin typeface="Helvetica Neue"/>
                <a:ea typeface="Helvetica Neue"/>
                <a:cs typeface="Helvetica Neue"/>
              </a:rPr>
              <a:t>Related ingredients, different mathematical jobs.</a:t>
            </a:r>
          </a:p>
        </p:txBody>
      </p:sp>
    </p:spTree>
    <p:extLst>
      <p:ext uri="{BB962C8B-B14F-4D97-AF65-F5344CB8AC3E}">
        <p14:creationId xmlns:p14="http://schemas.microsoft.com/office/powerpoint/2010/main" val="21183202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text">
            <a:extLst xmlns:a="http://schemas.openxmlformats.org/drawingml/2006/main">
              <a:ext uri="{FF2B5EF4-FFF2-40B4-BE49-F238E27FC236}">
                <a16:creationId xmlns:a16="http://schemas.microsoft.com/office/drawing/2014/main" id="{E6A220EF-8C02-43BC-B558-870F65024BF8}"/>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C1718FE0-5507-44A0-A711-0DC410EE9A1A}"/>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Why supervise every decoder layer?</a:t>
            </a:r>
          </a:p>
        </p:txBody>
      </p:sp>
      <p:sp>
        <p:nvSpPr>
          <p:cNvPr id="3" name="text">
            <a:extLst xmlns:a="http://schemas.openxmlformats.org/drawingml/2006/main">
              <a:ext uri="{FF2B5EF4-FFF2-40B4-BE49-F238E27FC236}">
                <a16:creationId xmlns:a16="http://schemas.microsoft.com/office/drawing/2014/main" id="{D84A48C6-BF94-49B9-9490-869B2E9DD056}"/>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6 • AUXILIARY LOSSES</a:t>
            </a:r>
          </a:p>
        </p:txBody>
      </p:sp>
      <p:sp>
        <p:nvSpPr>
          <p:cNvPr id="4" name="text">
            <a:extLst xmlns:a="http://schemas.openxmlformats.org/drawingml/2006/main">
              <a:ext uri="{FF2B5EF4-FFF2-40B4-BE49-F238E27FC236}">
                <a16:creationId xmlns:a16="http://schemas.microsoft.com/office/drawing/2014/main" id="{01A13196-F1AD-4F7E-AE6D-46AECE2257FC}"/>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32</a:t>
            </a:r>
          </a:p>
        </p:txBody>
      </p:sp>
      <p:sp>
        <p:nvSpPr>
          <p:cNvPr id="5" name="node">
            <a:extLst xmlns:a="http://schemas.openxmlformats.org/drawingml/2006/main">
              <a:ext uri="{FF2B5EF4-FFF2-40B4-BE49-F238E27FC236}">
                <a16:creationId xmlns:a16="http://schemas.microsoft.com/office/drawing/2014/main" id="{A3CDCB44-48BC-4F6E-BE07-3961BF1F264A}"/>
              </a:ext>
            </a:extLst>
          </p:cNvPr>
          <p:cNvSpPr>
            <a:spLocks xmlns:a="http://schemas.openxmlformats.org/drawingml/2006/main" noGrp="1"/>
          </p:cNvSpPr>
          <p:nvPr/>
        </p:nvSpPr>
        <p:spPr>
          <a:xfrm xmlns:a="http://schemas.openxmlformats.org/drawingml/2006/main">
            <a:off x="609600" y="1657350"/>
            <a:ext cx="1409700" cy="704850"/>
          </a:xfrm>
          <a:prstGeom xmlns:a="http://schemas.openxmlformats.org/drawingml/2006/main" prst="roundRect">
            <a:avLst>
              <a:gd name="adj" fmla="val 10811"/>
            </a:avLst>
          </a:prstGeom>
          <a:solidFill xmlns:a="http://schemas.openxmlformats.org/drawingml/2006/main">
            <a:srgbClr val="EEF1F4"/>
          </a:solidFill>
          <a:ln xmlns:a="http://schemas.openxmlformats.org/drawingml/2006/main" w="19050">
            <a:solidFill>
              <a:srgbClr val="BCC3CC"/>
            </a:solidFill>
            <a:prstDash val="solid"/>
          </a:ln>
        </p:spPr>
      </p:sp>
      <p:sp>
        <p:nvSpPr>
          <p:cNvPr id="6" name="node-label">
            <a:extLst xmlns:a="http://schemas.openxmlformats.org/drawingml/2006/main">
              <a:ext uri="{FF2B5EF4-FFF2-40B4-BE49-F238E27FC236}">
                <a16:creationId xmlns:a16="http://schemas.microsoft.com/office/drawing/2014/main" id="{FCB94BF0-F32D-4329-A94D-4337970F74D3}"/>
              </a:ext>
            </a:extLst>
          </p:cNvPr>
          <p:cNvSpPr>
            <a:spLocks xmlns:a="http://schemas.openxmlformats.org/drawingml/2006/main" noGrp="1"/>
          </p:cNvSpPr>
          <p:nvPr/>
        </p:nvSpPr>
        <p:spPr>
          <a:xfrm xmlns:a="http://schemas.openxmlformats.org/drawingml/2006/main">
            <a:off x="685800" y="1695450"/>
            <a:ext cx="1257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decoder</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layer 1</a:t>
            </a:r>
          </a:p>
        </p:txBody>
      </p:sp>
      <p:sp>
        <p:nvSpPr>
          <p:cNvPr id="7" name="arrow">
            <a:extLst xmlns:a="http://schemas.openxmlformats.org/drawingml/2006/main">
              <a:ext uri="{FF2B5EF4-FFF2-40B4-BE49-F238E27FC236}">
                <a16:creationId xmlns:a16="http://schemas.microsoft.com/office/drawing/2014/main" id="{88B3F88F-8A3D-4D00-A91A-8DFB36333372}"/>
              </a:ext>
            </a:extLst>
          </p:cNvPr>
          <p:cNvSpPr>
            <a:spLocks xmlns:a="http://schemas.openxmlformats.org/drawingml/2006/main" noGrp="1"/>
          </p:cNvSpPr>
          <p:nvPr/>
        </p:nvSpPr>
        <p:spPr>
          <a:xfrm xmlns:a="http://schemas.openxmlformats.org/drawingml/2006/main">
            <a:off x="2019300" y="18478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8" name="node">
            <a:extLst xmlns:a="http://schemas.openxmlformats.org/drawingml/2006/main">
              <a:ext uri="{FF2B5EF4-FFF2-40B4-BE49-F238E27FC236}">
                <a16:creationId xmlns:a16="http://schemas.microsoft.com/office/drawing/2014/main" id="{0032ECC8-78DA-446A-A016-2E531FB13B45}"/>
              </a:ext>
            </a:extLst>
          </p:cNvPr>
          <p:cNvSpPr>
            <a:spLocks xmlns:a="http://schemas.openxmlformats.org/drawingml/2006/main" noGrp="1"/>
          </p:cNvSpPr>
          <p:nvPr/>
        </p:nvSpPr>
        <p:spPr>
          <a:xfrm xmlns:a="http://schemas.openxmlformats.org/drawingml/2006/main">
            <a:off x="2343150" y="1657350"/>
            <a:ext cx="1409700" cy="704850"/>
          </a:xfrm>
          <a:prstGeom xmlns:a="http://schemas.openxmlformats.org/drawingml/2006/main" prst="roundRect">
            <a:avLst>
              <a:gd name="adj" fmla="val 10811"/>
            </a:avLst>
          </a:prstGeom>
          <a:solidFill xmlns:a="http://schemas.openxmlformats.org/drawingml/2006/main">
            <a:srgbClr val="EEF1F4"/>
          </a:solidFill>
          <a:ln xmlns:a="http://schemas.openxmlformats.org/drawingml/2006/main" w="19050">
            <a:solidFill>
              <a:srgbClr val="BCC3CC"/>
            </a:solidFill>
            <a:prstDash val="solid"/>
          </a:ln>
        </p:spPr>
      </p:sp>
      <p:sp>
        <p:nvSpPr>
          <p:cNvPr id="9" name="node-label">
            <a:extLst xmlns:a="http://schemas.openxmlformats.org/drawingml/2006/main">
              <a:ext uri="{FF2B5EF4-FFF2-40B4-BE49-F238E27FC236}">
                <a16:creationId xmlns:a16="http://schemas.microsoft.com/office/drawing/2014/main" id="{E95EE146-17E7-4F5E-B600-DFA907EEF1C3}"/>
              </a:ext>
            </a:extLst>
          </p:cNvPr>
          <p:cNvSpPr>
            <a:spLocks xmlns:a="http://schemas.openxmlformats.org/drawingml/2006/main" noGrp="1"/>
          </p:cNvSpPr>
          <p:nvPr/>
        </p:nvSpPr>
        <p:spPr>
          <a:xfrm xmlns:a="http://schemas.openxmlformats.org/drawingml/2006/main">
            <a:off x="2419350" y="1695450"/>
            <a:ext cx="1257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decoder</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layer 2</a:t>
            </a:r>
          </a:p>
        </p:txBody>
      </p:sp>
      <p:sp>
        <p:nvSpPr>
          <p:cNvPr id="10" name="arrow">
            <a:extLst xmlns:a="http://schemas.openxmlformats.org/drawingml/2006/main">
              <a:ext uri="{FF2B5EF4-FFF2-40B4-BE49-F238E27FC236}">
                <a16:creationId xmlns:a16="http://schemas.microsoft.com/office/drawing/2014/main" id="{46715E13-8B18-40AB-8B2B-B8ABA4FBCF85}"/>
              </a:ext>
            </a:extLst>
          </p:cNvPr>
          <p:cNvSpPr>
            <a:spLocks xmlns:a="http://schemas.openxmlformats.org/drawingml/2006/main" noGrp="1"/>
          </p:cNvSpPr>
          <p:nvPr/>
        </p:nvSpPr>
        <p:spPr>
          <a:xfrm xmlns:a="http://schemas.openxmlformats.org/drawingml/2006/main">
            <a:off x="3752850" y="18478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11" name="node">
            <a:extLst xmlns:a="http://schemas.openxmlformats.org/drawingml/2006/main">
              <a:ext uri="{FF2B5EF4-FFF2-40B4-BE49-F238E27FC236}">
                <a16:creationId xmlns:a16="http://schemas.microsoft.com/office/drawing/2014/main" id="{2FF9D84F-782D-4C93-9D7E-AFE3079D3C87}"/>
              </a:ext>
            </a:extLst>
          </p:cNvPr>
          <p:cNvSpPr>
            <a:spLocks xmlns:a="http://schemas.openxmlformats.org/drawingml/2006/main" noGrp="1"/>
          </p:cNvSpPr>
          <p:nvPr/>
        </p:nvSpPr>
        <p:spPr>
          <a:xfrm xmlns:a="http://schemas.openxmlformats.org/drawingml/2006/main">
            <a:off x="4076700" y="1657350"/>
            <a:ext cx="1409700" cy="704850"/>
          </a:xfrm>
          <a:prstGeom xmlns:a="http://schemas.openxmlformats.org/drawingml/2006/main" prst="roundRect">
            <a:avLst>
              <a:gd name="adj" fmla="val 10811"/>
            </a:avLst>
          </a:prstGeom>
          <a:solidFill xmlns:a="http://schemas.openxmlformats.org/drawingml/2006/main">
            <a:srgbClr val="EEF1F4"/>
          </a:solidFill>
          <a:ln xmlns:a="http://schemas.openxmlformats.org/drawingml/2006/main" w="19050">
            <a:solidFill>
              <a:srgbClr val="BCC3CC"/>
            </a:solidFill>
            <a:prstDash val="solid"/>
          </a:ln>
        </p:spPr>
      </p:sp>
      <p:sp>
        <p:nvSpPr>
          <p:cNvPr id="12" name="node-label">
            <a:extLst xmlns:a="http://schemas.openxmlformats.org/drawingml/2006/main">
              <a:ext uri="{FF2B5EF4-FFF2-40B4-BE49-F238E27FC236}">
                <a16:creationId xmlns:a16="http://schemas.microsoft.com/office/drawing/2014/main" id="{7AC7E1C1-A1E1-4A71-B7D1-6941C82EE7CD}"/>
              </a:ext>
            </a:extLst>
          </p:cNvPr>
          <p:cNvSpPr>
            <a:spLocks xmlns:a="http://schemas.openxmlformats.org/drawingml/2006/main" noGrp="1"/>
          </p:cNvSpPr>
          <p:nvPr/>
        </p:nvSpPr>
        <p:spPr>
          <a:xfrm xmlns:a="http://schemas.openxmlformats.org/drawingml/2006/main">
            <a:off x="4152900" y="1695450"/>
            <a:ext cx="1257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decoder</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layer 3</a:t>
            </a:r>
          </a:p>
        </p:txBody>
      </p:sp>
      <p:sp>
        <p:nvSpPr>
          <p:cNvPr id="13" name="arrow">
            <a:extLst xmlns:a="http://schemas.openxmlformats.org/drawingml/2006/main">
              <a:ext uri="{FF2B5EF4-FFF2-40B4-BE49-F238E27FC236}">
                <a16:creationId xmlns:a16="http://schemas.microsoft.com/office/drawing/2014/main" id="{FDE241F0-F00A-4702-9572-E85DB1BC91CD}"/>
              </a:ext>
            </a:extLst>
          </p:cNvPr>
          <p:cNvSpPr>
            <a:spLocks xmlns:a="http://schemas.openxmlformats.org/drawingml/2006/main" noGrp="1"/>
          </p:cNvSpPr>
          <p:nvPr/>
        </p:nvSpPr>
        <p:spPr>
          <a:xfrm xmlns:a="http://schemas.openxmlformats.org/drawingml/2006/main">
            <a:off x="5486400" y="18478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14" name="node">
            <a:extLst xmlns:a="http://schemas.openxmlformats.org/drawingml/2006/main">
              <a:ext uri="{FF2B5EF4-FFF2-40B4-BE49-F238E27FC236}">
                <a16:creationId xmlns:a16="http://schemas.microsoft.com/office/drawing/2014/main" id="{C2B65B35-E1EA-4708-8159-5478827EB3EB}"/>
              </a:ext>
            </a:extLst>
          </p:cNvPr>
          <p:cNvSpPr>
            <a:spLocks xmlns:a="http://schemas.openxmlformats.org/drawingml/2006/main" noGrp="1"/>
          </p:cNvSpPr>
          <p:nvPr/>
        </p:nvSpPr>
        <p:spPr>
          <a:xfrm xmlns:a="http://schemas.openxmlformats.org/drawingml/2006/main">
            <a:off x="5810250" y="1657350"/>
            <a:ext cx="1409700" cy="704850"/>
          </a:xfrm>
          <a:prstGeom xmlns:a="http://schemas.openxmlformats.org/drawingml/2006/main" prst="roundRect">
            <a:avLst>
              <a:gd name="adj" fmla="val 10811"/>
            </a:avLst>
          </a:prstGeom>
          <a:solidFill xmlns:a="http://schemas.openxmlformats.org/drawingml/2006/main">
            <a:srgbClr val="EEF1F4"/>
          </a:solidFill>
          <a:ln xmlns:a="http://schemas.openxmlformats.org/drawingml/2006/main" w="19050">
            <a:solidFill>
              <a:srgbClr val="BCC3CC"/>
            </a:solidFill>
            <a:prstDash val="solid"/>
          </a:ln>
        </p:spPr>
      </p:sp>
      <p:sp>
        <p:nvSpPr>
          <p:cNvPr id="15" name="node-label">
            <a:extLst xmlns:a="http://schemas.openxmlformats.org/drawingml/2006/main">
              <a:ext uri="{FF2B5EF4-FFF2-40B4-BE49-F238E27FC236}">
                <a16:creationId xmlns:a16="http://schemas.microsoft.com/office/drawing/2014/main" id="{721AAF50-2023-4203-AE20-FE6BC3425269}"/>
              </a:ext>
            </a:extLst>
          </p:cNvPr>
          <p:cNvSpPr>
            <a:spLocks xmlns:a="http://schemas.openxmlformats.org/drawingml/2006/main" noGrp="1"/>
          </p:cNvSpPr>
          <p:nvPr/>
        </p:nvSpPr>
        <p:spPr>
          <a:xfrm xmlns:a="http://schemas.openxmlformats.org/drawingml/2006/main">
            <a:off x="5886450" y="1695450"/>
            <a:ext cx="1257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decoder</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layer 4</a:t>
            </a:r>
          </a:p>
        </p:txBody>
      </p:sp>
      <p:sp>
        <p:nvSpPr>
          <p:cNvPr id="16" name="arrow">
            <a:extLst xmlns:a="http://schemas.openxmlformats.org/drawingml/2006/main">
              <a:ext uri="{FF2B5EF4-FFF2-40B4-BE49-F238E27FC236}">
                <a16:creationId xmlns:a16="http://schemas.microsoft.com/office/drawing/2014/main" id="{1A6D6D28-FA62-4CBA-BDF2-C6B04C0DF543}"/>
              </a:ext>
            </a:extLst>
          </p:cNvPr>
          <p:cNvSpPr>
            <a:spLocks xmlns:a="http://schemas.openxmlformats.org/drawingml/2006/main" noGrp="1"/>
          </p:cNvSpPr>
          <p:nvPr/>
        </p:nvSpPr>
        <p:spPr>
          <a:xfrm xmlns:a="http://schemas.openxmlformats.org/drawingml/2006/main">
            <a:off x="7219950" y="18478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17" name="node">
            <a:extLst xmlns:a="http://schemas.openxmlformats.org/drawingml/2006/main">
              <a:ext uri="{FF2B5EF4-FFF2-40B4-BE49-F238E27FC236}">
                <a16:creationId xmlns:a16="http://schemas.microsoft.com/office/drawing/2014/main" id="{4CD50854-33DE-4A0E-B4BE-AF2428F571B9}"/>
              </a:ext>
            </a:extLst>
          </p:cNvPr>
          <p:cNvSpPr>
            <a:spLocks xmlns:a="http://schemas.openxmlformats.org/drawingml/2006/main" noGrp="1"/>
          </p:cNvSpPr>
          <p:nvPr/>
        </p:nvSpPr>
        <p:spPr>
          <a:xfrm xmlns:a="http://schemas.openxmlformats.org/drawingml/2006/main">
            <a:off x="7543800" y="1657350"/>
            <a:ext cx="1409700" cy="704850"/>
          </a:xfrm>
          <a:prstGeom xmlns:a="http://schemas.openxmlformats.org/drawingml/2006/main" prst="roundRect">
            <a:avLst>
              <a:gd name="adj" fmla="val 10811"/>
            </a:avLst>
          </a:prstGeom>
          <a:solidFill xmlns:a="http://schemas.openxmlformats.org/drawingml/2006/main">
            <a:srgbClr val="EEF1F4"/>
          </a:solidFill>
          <a:ln xmlns:a="http://schemas.openxmlformats.org/drawingml/2006/main" w="19050">
            <a:solidFill>
              <a:srgbClr val="BCC3CC"/>
            </a:solidFill>
            <a:prstDash val="solid"/>
          </a:ln>
        </p:spPr>
      </p:sp>
      <p:sp>
        <p:nvSpPr>
          <p:cNvPr id="18" name="node-label">
            <a:extLst xmlns:a="http://schemas.openxmlformats.org/drawingml/2006/main">
              <a:ext uri="{FF2B5EF4-FFF2-40B4-BE49-F238E27FC236}">
                <a16:creationId xmlns:a16="http://schemas.microsoft.com/office/drawing/2014/main" id="{656029C9-B355-4C5C-B8AA-19A4C53D2706}"/>
              </a:ext>
            </a:extLst>
          </p:cNvPr>
          <p:cNvSpPr>
            <a:spLocks xmlns:a="http://schemas.openxmlformats.org/drawingml/2006/main" noGrp="1"/>
          </p:cNvSpPr>
          <p:nvPr/>
        </p:nvSpPr>
        <p:spPr>
          <a:xfrm xmlns:a="http://schemas.openxmlformats.org/drawingml/2006/main">
            <a:off x="7620000" y="1695450"/>
            <a:ext cx="1257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decoder</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layer 5</a:t>
            </a:r>
          </a:p>
        </p:txBody>
      </p:sp>
      <p:sp>
        <p:nvSpPr>
          <p:cNvPr id="19" name="arrow">
            <a:extLst xmlns:a="http://schemas.openxmlformats.org/drawingml/2006/main">
              <a:ext uri="{FF2B5EF4-FFF2-40B4-BE49-F238E27FC236}">
                <a16:creationId xmlns:a16="http://schemas.microsoft.com/office/drawing/2014/main" id="{4ADF173C-1DA2-4E94-A15D-B09DD69C4F05}"/>
              </a:ext>
            </a:extLst>
          </p:cNvPr>
          <p:cNvSpPr>
            <a:spLocks xmlns:a="http://schemas.openxmlformats.org/drawingml/2006/main" noGrp="1"/>
          </p:cNvSpPr>
          <p:nvPr/>
        </p:nvSpPr>
        <p:spPr>
          <a:xfrm xmlns:a="http://schemas.openxmlformats.org/drawingml/2006/main">
            <a:off x="8953500" y="184785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20" name="node">
            <a:extLst xmlns:a="http://schemas.openxmlformats.org/drawingml/2006/main">
              <a:ext uri="{FF2B5EF4-FFF2-40B4-BE49-F238E27FC236}">
                <a16:creationId xmlns:a16="http://schemas.microsoft.com/office/drawing/2014/main" id="{F32EF23A-8604-4819-8C6A-126BB2C3C0EA}"/>
              </a:ext>
            </a:extLst>
          </p:cNvPr>
          <p:cNvSpPr>
            <a:spLocks xmlns:a="http://schemas.openxmlformats.org/drawingml/2006/main" noGrp="1"/>
          </p:cNvSpPr>
          <p:nvPr/>
        </p:nvSpPr>
        <p:spPr>
          <a:xfrm xmlns:a="http://schemas.openxmlformats.org/drawingml/2006/main">
            <a:off x="9277350" y="1657350"/>
            <a:ext cx="1409700" cy="704850"/>
          </a:xfrm>
          <a:prstGeom xmlns:a="http://schemas.openxmlformats.org/drawingml/2006/main" prst="roundRect">
            <a:avLst>
              <a:gd name="adj" fmla="val 10811"/>
            </a:avLst>
          </a:prstGeom>
          <a:solidFill xmlns:a="http://schemas.openxmlformats.org/drawingml/2006/main">
            <a:srgbClr val="EEE8FF"/>
          </a:solidFill>
          <a:ln xmlns:a="http://schemas.openxmlformats.org/drawingml/2006/main" w="19050">
            <a:solidFill>
              <a:srgbClr val="8E6CEF"/>
            </a:solidFill>
            <a:prstDash val="solid"/>
          </a:ln>
        </p:spPr>
      </p:sp>
      <p:sp>
        <p:nvSpPr>
          <p:cNvPr id="21" name="node-label">
            <a:extLst xmlns:a="http://schemas.openxmlformats.org/drawingml/2006/main">
              <a:ext uri="{FF2B5EF4-FFF2-40B4-BE49-F238E27FC236}">
                <a16:creationId xmlns:a16="http://schemas.microsoft.com/office/drawing/2014/main" id="{78E8ABD2-9324-46D4-8322-62EAA7931C2C}"/>
              </a:ext>
            </a:extLst>
          </p:cNvPr>
          <p:cNvSpPr>
            <a:spLocks xmlns:a="http://schemas.openxmlformats.org/drawingml/2006/main" noGrp="1"/>
          </p:cNvSpPr>
          <p:nvPr/>
        </p:nvSpPr>
        <p:spPr>
          <a:xfrm xmlns:a="http://schemas.openxmlformats.org/drawingml/2006/main">
            <a:off x="9353550" y="1695450"/>
            <a:ext cx="1257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decoder</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layer 6</a:t>
            </a:r>
          </a:p>
        </p:txBody>
      </p:sp>
      <p:sp>
        <p:nvSpPr>
          <p:cNvPr id="22" name="arrow">
            <a:extLst xmlns:a="http://schemas.openxmlformats.org/drawingml/2006/main">
              <a:ext uri="{FF2B5EF4-FFF2-40B4-BE49-F238E27FC236}">
                <a16:creationId xmlns:a16="http://schemas.microsoft.com/office/drawing/2014/main" id="{C105DCBD-DBF2-425B-91AD-81EC3C01A0E6}"/>
              </a:ext>
            </a:extLst>
          </p:cNvPr>
          <p:cNvSpPr>
            <a:spLocks xmlns:a="http://schemas.openxmlformats.org/drawingml/2006/main" noGrp="1"/>
          </p:cNvSpPr>
          <p:nvPr/>
        </p:nvSpPr>
        <p:spPr>
          <a:xfrm xmlns:a="http://schemas.openxmlformats.org/drawingml/2006/main">
            <a:off x="1085850" y="24574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23" name="box">
            <a:extLst xmlns:a="http://schemas.openxmlformats.org/drawingml/2006/main">
              <a:ext uri="{FF2B5EF4-FFF2-40B4-BE49-F238E27FC236}">
                <a16:creationId xmlns:a16="http://schemas.microsoft.com/office/drawing/2014/main" id="{2ADDD916-3466-4AB1-8BB6-95B56F25ECC7}"/>
              </a:ext>
            </a:extLst>
          </p:cNvPr>
          <p:cNvSpPr>
            <a:spLocks xmlns:a="http://schemas.openxmlformats.org/drawingml/2006/main" noGrp="1"/>
          </p:cNvSpPr>
          <p:nvPr/>
        </p:nvSpPr>
        <p:spPr>
          <a:xfrm xmlns:a="http://schemas.openxmlformats.org/drawingml/2006/main">
            <a:off x="609600" y="2990850"/>
            <a:ext cx="1409700" cy="400050"/>
          </a:xfrm>
          <a:prstGeom xmlns:a="http://schemas.openxmlformats.org/drawingml/2006/main" prst="roundRect">
            <a:avLst>
              <a:gd name="adj" fmla="val 19048"/>
            </a:avLst>
          </a:prstGeom>
          <a:solidFill xmlns:a="http://schemas.openxmlformats.org/drawingml/2006/main">
            <a:srgbClr val="D9F1FC"/>
          </a:solidFill>
          <a:ln xmlns:a="http://schemas.openxmlformats.org/drawingml/2006/main" w="0">
            <a:noFill/>
            <a:prstDash val="solid"/>
          </a:ln>
        </p:spPr>
      </p:sp>
      <p:sp>
        <p:nvSpPr>
          <p:cNvPr id="24" name="text">
            <a:extLst xmlns:a="http://schemas.openxmlformats.org/drawingml/2006/main">
              <a:ext uri="{FF2B5EF4-FFF2-40B4-BE49-F238E27FC236}">
                <a16:creationId xmlns:a16="http://schemas.microsoft.com/office/drawing/2014/main" id="{D85B0389-516F-4506-AF94-27B933EE0AFB}"/>
              </a:ext>
            </a:extLst>
          </p:cNvPr>
          <p:cNvSpPr>
            <a:spLocks xmlns:a="http://schemas.openxmlformats.org/drawingml/2006/main" noGrp="1"/>
          </p:cNvSpPr>
          <p:nvPr/>
        </p:nvSpPr>
        <p:spPr>
          <a:xfrm xmlns:a="http://schemas.openxmlformats.org/drawingml/2006/main">
            <a:off x="685800" y="302895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aux loss</a:t>
            </a:r>
          </a:p>
        </p:txBody>
      </p:sp>
      <p:sp>
        <p:nvSpPr>
          <p:cNvPr id="25" name="arrow">
            <a:extLst xmlns:a="http://schemas.openxmlformats.org/drawingml/2006/main">
              <a:ext uri="{FF2B5EF4-FFF2-40B4-BE49-F238E27FC236}">
                <a16:creationId xmlns:a16="http://schemas.microsoft.com/office/drawing/2014/main" id="{D2DEF28F-644D-47D1-8A43-DC6F2B0BF353}"/>
              </a:ext>
            </a:extLst>
          </p:cNvPr>
          <p:cNvSpPr>
            <a:spLocks xmlns:a="http://schemas.openxmlformats.org/drawingml/2006/main" noGrp="1"/>
          </p:cNvSpPr>
          <p:nvPr/>
        </p:nvSpPr>
        <p:spPr>
          <a:xfrm xmlns:a="http://schemas.openxmlformats.org/drawingml/2006/main">
            <a:off x="2819400" y="24574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26" name="box">
            <a:extLst xmlns:a="http://schemas.openxmlformats.org/drawingml/2006/main">
              <a:ext uri="{FF2B5EF4-FFF2-40B4-BE49-F238E27FC236}">
                <a16:creationId xmlns:a16="http://schemas.microsoft.com/office/drawing/2014/main" id="{E02F99BB-DD89-45E1-A79A-5E3C2D17D318}"/>
              </a:ext>
            </a:extLst>
          </p:cNvPr>
          <p:cNvSpPr>
            <a:spLocks xmlns:a="http://schemas.openxmlformats.org/drawingml/2006/main" noGrp="1"/>
          </p:cNvSpPr>
          <p:nvPr/>
        </p:nvSpPr>
        <p:spPr>
          <a:xfrm xmlns:a="http://schemas.openxmlformats.org/drawingml/2006/main">
            <a:off x="2343150" y="2990850"/>
            <a:ext cx="1409700" cy="400050"/>
          </a:xfrm>
          <a:prstGeom xmlns:a="http://schemas.openxmlformats.org/drawingml/2006/main" prst="roundRect">
            <a:avLst>
              <a:gd name="adj" fmla="val 19048"/>
            </a:avLst>
          </a:prstGeom>
          <a:solidFill xmlns:a="http://schemas.openxmlformats.org/drawingml/2006/main">
            <a:srgbClr val="D9F1FC"/>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77595CE3-999A-4FFD-AF72-95B46FD337C7}"/>
              </a:ext>
            </a:extLst>
          </p:cNvPr>
          <p:cNvSpPr>
            <a:spLocks xmlns:a="http://schemas.openxmlformats.org/drawingml/2006/main" noGrp="1"/>
          </p:cNvSpPr>
          <p:nvPr/>
        </p:nvSpPr>
        <p:spPr>
          <a:xfrm xmlns:a="http://schemas.openxmlformats.org/drawingml/2006/main">
            <a:off x="2419350" y="302895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aux loss</a:t>
            </a:r>
          </a:p>
        </p:txBody>
      </p:sp>
      <p:sp>
        <p:nvSpPr>
          <p:cNvPr id="28" name="arrow">
            <a:extLst xmlns:a="http://schemas.openxmlformats.org/drawingml/2006/main">
              <a:ext uri="{FF2B5EF4-FFF2-40B4-BE49-F238E27FC236}">
                <a16:creationId xmlns:a16="http://schemas.microsoft.com/office/drawing/2014/main" id="{95DD9C98-E94A-4C1A-8A26-C18E822BD951}"/>
              </a:ext>
            </a:extLst>
          </p:cNvPr>
          <p:cNvSpPr>
            <a:spLocks xmlns:a="http://schemas.openxmlformats.org/drawingml/2006/main" noGrp="1"/>
          </p:cNvSpPr>
          <p:nvPr/>
        </p:nvSpPr>
        <p:spPr>
          <a:xfrm xmlns:a="http://schemas.openxmlformats.org/drawingml/2006/main">
            <a:off x="4552950" y="24574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29" name="box">
            <a:extLst xmlns:a="http://schemas.openxmlformats.org/drawingml/2006/main">
              <a:ext uri="{FF2B5EF4-FFF2-40B4-BE49-F238E27FC236}">
                <a16:creationId xmlns:a16="http://schemas.microsoft.com/office/drawing/2014/main" id="{908D10A5-6323-4EEF-873B-DFCF5CC3187E}"/>
              </a:ext>
            </a:extLst>
          </p:cNvPr>
          <p:cNvSpPr>
            <a:spLocks xmlns:a="http://schemas.openxmlformats.org/drawingml/2006/main" noGrp="1"/>
          </p:cNvSpPr>
          <p:nvPr/>
        </p:nvSpPr>
        <p:spPr>
          <a:xfrm xmlns:a="http://schemas.openxmlformats.org/drawingml/2006/main">
            <a:off x="4076700" y="2990850"/>
            <a:ext cx="1409700" cy="400050"/>
          </a:xfrm>
          <a:prstGeom xmlns:a="http://schemas.openxmlformats.org/drawingml/2006/main" prst="roundRect">
            <a:avLst>
              <a:gd name="adj" fmla="val 19048"/>
            </a:avLst>
          </a:prstGeom>
          <a:solidFill xmlns:a="http://schemas.openxmlformats.org/drawingml/2006/main">
            <a:srgbClr val="D9F1FC"/>
          </a:solidFill>
          <a:ln xmlns:a="http://schemas.openxmlformats.org/drawingml/2006/main" w="0">
            <a:noFill/>
            <a:prstDash val="solid"/>
          </a:ln>
        </p:spPr>
      </p:sp>
      <p:sp>
        <p:nvSpPr>
          <p:cNvPr id="30" name="text">
            <a:extLst xmlns:a="http://schemas.openxmlformats.org/drawingml/2006/main">
              <a:ext uri="{FF2B5EF4-FFF2-40B4-BE49-F238E27FC236}">
                <a16:creationId xmlns:a16="http://schemas.microsoft.com/office/drawing/2014/main" id="{DFBD45E0-819E-40ED-B3BA-6020DAC33838}"/>
              </a:ext>
            </a:extLst>
          </p:cNvPr>
          <p:cNvSpPr>
            <a:spLocks xmlns:a="http://schemas.openxmlformats.org/drawingml/2006/main" noGrp="1"/>
          </p:cNvSpPr>
          <p:nvPr/>
        </p:nvSpPr>
        <p:spPr>
          <a:xfrm xmlns:a="http://schemas.openxmlformats.org/drawingml/2006/main">
            <a:off x="4152900" y="302895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aux loss</a:t>
            </a:r>
          </a:p>
        </p:txBody>
      </p:sp>
      <p:sp>
        <p:nvSpPr>
          <p:cNvPr id="31" name="arrow">
            <a:extLst xmlns:a="http://schemas.openxmlformats.org/drawingml/2006/main">
              <a:ext uri="{FF2B5EF4-FFF2-40B4-BE49-F238E27FC236}">
                <a16:creationId xmlns:a16="http://schemas.microsoft.com/office/drawing/2014/main" id="{50FF2542-34F7-47D3-8728-A3D674B9755C}"/>
              </a:ext>
            </a:extLst>
          </p:cNvPr>
          <p:cNvSpPr>
            <a:spLocks xmlns:a="http://schemas.openxmlformats.org/drawingml/2006/main" noGrp="1"/>
          </p:cNvSpPr>
          <p:nvPr/>
        </p:nvSpPr>
        <p:spPr>
          <a:xfrm xmlns:a="http://schemas.openxmlformats.org/drawingml/2006/main">
            <a:off x="6286500" y="24574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32" name="box">
            <a:extLst xmlns:a="http://schemas.openxmlformats.org/drawingml/2006/main">
              <a:ext uri="{FF2B5EF4-FFF2-40B4-BE49-F238E27FC236}">
                <a16:creationId xmlns:a16="http://schemas.microsoft.com/office/drawing/2014/main" id="{93710360-BA9D-498B-A99A-0208AAE24F3F}"/>
              </a:ext>
            </a:extLst>
          </p:cNvPr>
          <p:cNvSpPr>
            <a:spLocks xmlns:a="http://schemas.openxmlformats.org/drawingml/2006/main" noGrp="1"/>
          </p:cNvSpPr>
          <p:nvPr/>
        </p:nvSpPr>
        <p:spPr>
          <a:xfrm xmlns:a="http://schemas.openxmlformats.org/drawingml/2006/main">
            <a:off x="5810250" y="2990850"/>
            <a:ext cx="1409700" cy="400050"/>
          </a:xfrm>
          <a:prstGeom xmlns:a="http://schemas.openxmlformats.org/drawingml/2006/main" prst="roundRect">
            <a:avLst>
              <a:gd name="adj" fmla="val 19048"/>
            </a:avLst>
          </a:prstGeom>
          <a:solidFill xmlns:a="http://schemas.openxmlformats.org/drawingml/2006/main">
            <a:srgbClr val="D9F1FC"/>
          </a:solidFill>
          <a:ln xmlns:a="http://schemas.openxmlformats.org/drawingml/2006/main" w="0">
            <a:noFill/>
            <a:prstDash val="solid"/>
          </a:ln>
        </p:spPr>
      </p:sp>
      <p:sp>
        <p:nvSpPr>
          <p:cNvPr id="33" name="text">
            <a:extLst xmlns:a="http://schemas.openxmlformats.org/drawingml/2006/main">
              <a:ext uri="{FF2B5EF4-FFF2-40B4-BE49-F238E27FC236}">
                <a16:creationId xmlns:a16="http://schemas.microsoft.com/office/drawing/2014/main" id="{C5E77045-7961-4FBD-8072-D4AA49DA20AE}"/>
              </a:ext>
            </a:extLst>
          </p:cNvPr>
          <p:cNvSpPr>
            <a:spLocks xmlns:a="http://schemas.openxmlformats.org/drawingml/2006/main" noGrp="1"/>
          </p:cNvSpPr>
          <p:nvPr/>
        </p:nvSpPr>
        <p:spPr>
          <a:xfrm xmlns:a="http://schemas.openxmlformats.org/drawingml/2006/main">
            <a:off x="5886450" y="302895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aux loss</a:t>
            </a:r>
          </a:p>
        </p:txBody>
      </p:sp>
      <p:sp>
        <p:nvSpPr>
          <p:cNvPr id="34" name="arrow">
            <a:extLst xmlns:a="http://schemas.openxmlformats.org/drawingml/2006/main">
              <a:ext uri="{FF2B5EF4-FFF2-40B4-BE49-F238E27FC236}">
                <a16:creationId xmlns:a16="http://schemas.microsoft.com/office/drawing/2014/main" id="{869F9CE3-E549-4B0C-B5CD-0C9AEEE7EAFC}"/>
              </a:ext>
            </a:extLst>
          </p:cNvPr>
          <p:cNvSpPr>
            <a:spLocks xmlns:a="http://schemas.openxmlformats.org/drawingml/2006/main" noGrp="1"/>
          </p:cNvSpPr>
          <p:nvPr/>
        </p:nvSpPr>
        <p:spPr>
          <a:xfrm xmlns:a="http://schemas.openxmlformats.org/drawingml/2006/main">
            <a:off x="8020050" y="24574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35" name="box">
            <a:extLst xmlns:a="http://schemas.openxmlformats.org/drawingml/2006/main">
              <a:ext uri="{FF2B5EF4-FFF2-40B4-BE49-F238E27FC236}">
                <a16:creationId xmlns:a16="http://schemas.microsoft.com/office/drawing/2014/main" id="{B89B6B5D-3A15-48B2-B0E7-CDA6C4B80B60}"/>
              </a:ext>
            </a:extLst>
          </p:cNvPr>
          <p:cNvSpPr>
            <a:spLocks xmlns:a="http://schemas.openxmlformats.org/drawingml/2006/main" noGrp="1"/>
          </p:cNvSpPr>
          <p:nvPr/>
        </p:nvSpPr>
        <p:spPr>
          <a:xfrm xmlns:a="http://schemas.openxmlformats.org/drawingml/2006/main">
            <a:off x="7543800" y="2990850"/>
            <a:ext cx="1409700" cy="400050"/>
          </a:xfrm>
          <a:prstGeom xmlns:a="http://schemas.openxmlformats.org/drawingml/2006/main" prst="roundRect">
            <a:avLst>
              <a:gd name="adj" fmla="val 19048"/>
            </a:avLst>
          </a:prstGeom>
          <a:solidFill xmlns:a="http://schemas.openxmlformats.org/drawingml/2006/main">
            <a:srgbClr val="D9F1FC"/>
          </a:solidFill>
          <a:ln xmlns:a="http://schemas.openxmlformats.org/drawingml/2006/main" w="0">
            <a:noFill/>
            <a:prstDash val="solid"/>
          </a:ln>
        </p:spPr>
      </p:sp>
      <p:sp>
        <p:nvSpPr>
          <p:cNvPr id="36" name="text">
            <a:extLst xmlns:a="http://schemas.openxmlformats.org/drawingml/2006/main">
              <a:ext uri="{FF2B5EF4-FFF2-40B4-BE49-F238E27FC236}">
                <a16:creationId xmlns:a16="http://schemas.microsoft.com/office/drawing/2014/main" id="{35E0367F-0C6F-443A-AF25-7AAA293F04BC}"/>
              </a:ext>
            </a:extLst>
          </p:cNvPr>
          <p:cNvSpPr>
            <a:spLocks xmlns:a="http://schemas.openxmlformats.org/drawingml/2006/main" noGrp="1"/>
          </p:cNvSpPr>
          <p:nvPr/>
        </p:nvSpPr>
        <p:spPr>
          <a:xfrm xmlns:a="http://schemas.openxmlformats.org/drawingml/2006/main">
            <a:off x="7620000" y="302895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aux loss</a:t>
            </a:r>
          </a:p>
        </p:txBody>
      </p:sp>
      <p:sp>
        <p:nvSpPr>
          <p:cNvPr id="37" name="arrow">
            <a:extLst xmlns:a="http://schemas.openxmlformats.org/drawingml/2006/main">
              <a:ext uri="{FF2B5EF4-FFF2-40B4-BE49-F238E27FC236}">
                <a16:creationId xmlns:a16="http://schemas.microsoft.com/office/drawing/2014/main" id="{2EEA24FF-0B33-4CE9-A45B-9815212CA098}"/>
              </a:ext>
            </a:extLst>
          </p:cNvPr>
          <p:cNvSpPr>
            <a:spLocks xmlns:a="http://schemas.openxmlformats.org/drawingml/2006/main" noGrp="1"/>
          </p:cNvSpPr>
          <p:nvPr/>
        </p:nvSpPr>
        <p:spPr>
          <a:xfrm xmlns:a="http://schemas.openxmlformats.org/drawingml/2006/main">
            <a:off x="9753600" y="24574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38" name="box">
            <a:extLst xmlns:a="http://schemas.openxmlformats.org/drawingml/2006/main">
              <a:ext uri="{FF2B5EF4-FFF2-40B4-BE49-F238E27FC236}">
                <a16:creationId xmlns:a16="http://schemas.microsoft.com/office/drawing/2014/main" id="{D2877FE2-D11F-4FE5-ADF5-BA8295CD1838}"/>
              </a:ext>
            </a:extLst>
          </p:cNvPr>
          <p:cNvSpPr>
            <a:spLocks xmlns:a="http://schemas.openxmlformats.org/drawingml/2006/main" noGrp="1"/>
          </p:cNvSpPr>
          <p:nvPr/>
        </p:nvSpPr>
        <p:spPr>
          <a:xfrm xmlns:a="http://schemas.openxmlformats.org/drawingml/2006/main">
            <a:off x="9277350" y="2990850"/>
            <a:ext cx="1409700" cy="400050"/>
          </a:xfrm>
          <a:prstGeom xmlns:a="http://schemas.openxmlformats.org/drawingml/2006/main" prst="roundRect">
            <a:avLst>
              <a:gd name="adj" fmla="val 19048"/>
            </a:avLst>
          </a:prstGeom>
          <a:solidFill xmlns:a="http://schemas.openxmlformats.org/drawingml/2006/main">
            <a:srgbClr val="EEE8FF"/>
          </a:solidFill>
          <a:ln xmlns:a="http://schemas.openxmlformats.org/drawingml/2006/main" w="0">
            <a:noFill/>
            <a:prstDash val="solid"/>
          </a:ln>
        </p:spPr>
      </p:sp>
      <p:sp>
        <p:nvSpPr>
          <p:cNvPr id="39" name="text">
            <a:extLst xmlns:a="http://schemas.openxmlformats.org/drawingml/2006/main">
              <a:ext uri="{FF2B5EF4-FFF2-40B4-BE49-F238E27FC236}">
                <a16:creationId xmlns:a16="http://schemas.microsoft.com/office/drawing/2014/main" id="{6BD6F2B5-9FD7-4A7E-91C1-B4F7FDBB319B}"/>
              </a:ext>
            </a:extLst>
          </p:cNvPr>
          <p:cNvSpPr>
            <a:spLocks xmlns:a="http://schemas.openxmlformats.org/drawingml/2006/main" noGrp="1"/>
          </p:cNvSpPr>
          <p:nvPr/>
        </p:nvSpPr>
        <p:spPr>
          <a:xfrm xmlns:a="http://schemas.openxmlformats.org/drawingml/2006/main">
            <a:off x="9353550" y="3028950"/>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8E6CEF"/>
                </a:solidFill>
                <a:latin typeface="Helvetica Neue"/>
                <a:ea typeface="Helvetica Neue"/>
                <a:cs typeface="Helvetica Neue"/>
              </a:defRPr>
            </a:pPr>
            <a:r>
              <a:rPr sz="1200" b="1">
                <a:solidFill>
                  <a:srgbClr val="8E6CEF"/>
                </a:solidFill>
                <a:latin typeface="Helvetica Neue"/>
                <a:ea typeface="Helvetica Neue"/>
                <a:cs typeface="Helvetica Neue"/>
              </a:rPr>
              <a:t>final loss</a:t>
            </a:r>
          </a:p>
        </p:txBody>
      </p:sp>
      <p:sp>
        <p:nvSpPr>
          <p:cNvPr id="40" name="arrow">
            <a:extLst xmlns:a="http://schemas.openxmlformats.org/drawingml/2006/main">
              <a:ext uri="{FF2B5EF4-FFF2-40B4-BE49-F238E27FC236}">
                <a16:creationId xmlns:a16="http://schemas.microsoft.com/office/drawing/2014/main" id="{E8FBA86F-7B60-412F-AC90-0DBFC86AD2F9}"/>
              </a:ext>
            </a:extLst>
          </p:cNvPr>
          <p:cNvSpPr>
            <a:spLocks xmlns:a="http://schemas.openxmlformats.org/drawingml/2006/main" noGrp="1"/>
          </p:cNvSpPr>
          <p:nvPr/>
        </p:nvSpPr>
        <p:spPr>
          <a:xfrm xmlns:a="http://schemas.openxmlformats.org/drawingml/2006/main">
            <a:off x="5162550" y="37147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41" name="box">
            <a:extLst xmlns:a="http://schemas.openxmlformats.org/drawingml/2006/main">
              <a:ext uri="{FF2B5EF4-FFF2-40B4-BE49-F238E27FC236}">
                <a16:creationId xmlns:a16="http://schemas.microsoft.com/office/drawing/2014/main" id="{02D34AC1-CFAD-4154-AAA2-022980FFA1D0}"/>
              </a:ext>
            </a:extLst>
          </p:cNvPr>
          <p:cNvSpPr>
            <a:spLocks xmlns:a="http://schemas.openxmlformats.org/drawingml/2006/main" noGrp="1"/>
          </p:cNvSpPr>
          <p:nvPr/>
        </p:nvSpPr>
        <p:spPr>
          <a:xfrm xmlns:a="http://schemas.openxmlformats.org/drawingml/2006/main">
            <a:off x="2247900" y="4362450"/>
            <a:ext cx="7696200" cy="723900"/>
          </a:xfrm>
          <a:prstGeom xmlns:a="http://schemas.openxmlformats.org/drawingml/2006/main" prst="roundRect">
            <a:avLst>
              <a:gd name="adj" fmla="val 10526"/>
            </a:avLst>
          </a:prstGeom>
          <a:solidFill xmlns:a="http://schemas.openxmlformats.org/drawingml/2006/main">
            <a:srgbClr val="EEE8FF"/>
          </a:solidFill>
          <a:ln xmlns:a="http://schemas.openxmlformats.org/drawingml/2006/main" w="0">
            <a:noFill/>
            <a:prstDash val="solid"/>
          </a:ln>
        </p:spPr>
      </p:sp>
      <p:sp>
        <p:nvSpPr>
          <p:cNvPr id="42" name="text">
            <a:extLst xmlns:a="http://schemas.openxmlformats.org/drawingml/2006/main">
              <a:ext uri="{FF2B5EF4-FFF2-40B4-BE49-F238E27FC236}">
                <a16:creationId xmlns:a16="http://schemas.microsoft.com/office/drawing/2014/main" id="{40FC556F-DA69-43F7-B162-8F01DFC5D68F}"/>
              </a:ext>
            </a:extLst>
          </p:cNvPr>
          <p:cNvSpPr>
            <a:spLocks xmlns:a="http://schemas.openxmlformats.org/drawingml/2006/main" noGrp="1"/>
          </p:cNvSpPr>
          <p:nvPr/>
        </p:nvSpPr>
        <p:spPr>
          <a:xfrm xmlns:a="http://schemas.openxmlformats.org/drawingml/2006/main">
            <a:off x="2419350" y="4438650"/>
            <a:ext cx="7353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8E6CEF"/>
                </a:solidFill>
                <a:latin typeface="Helvetica Neue"/>
                <a:ea typeface="Helvetica Neue"/>
                <a:cs typeface="Helvetica Neue"/>
              </a:defRPr>
            </a:pPr>
            <a:r>
              <a:rPr sz="1500" b="1">
                <a:solidFill>
                  <a:srgbClr val="8E6CEF"/>
                </a:solidFill>
                <a:latin typeface="Helvetica Neue"/>
                <a:ea typeface="Helvetica Neue"/>
                <a:cs typeface="Helvetica Neue"/>
              </a:rPr>
              <a:t>sum weighted losses → stronger learning signal for early layers</a:t>
            </a:r>
          </a:p>
        </p:txBody>
      </p:sp>
      <p:sp>
        <p:nvSpPr>
          <p:cNvPr id="43" name="text">
            <a:extLst xmlns:a="http://schemas.openxmlformats.org/drawingml/2006/main">
              <a:ext uri="{FF2B5EF4-FFF2-40B4-BE49-F238E27FC236}">
                <a16:creationId xmlns:a16="http://schemas.microsoft.com/office/drawing/2014/main" id="{DA3A9890-CB89-4E9C-AD2A-722A1F447C50}"/>
              </a:ext>
            </a:extLst>
          </p:cNvPr>
          <p:cNvSpPr>
            <a:spLocks xmlns:a="http://schemas.openxmlformats.org/drawingml/2006/main" noGrp="1"/>
          </p:cNvSpPr>
          <p:nvPr/>
        </p:nvSpPr>
        <p:spPr>
          <a:xfrm xmlns:a="http://schemas.openxmlformats.org/drawingml/2006/main">
            <a:off x="1847850" y="5391150"/>
            <a:ext cx="849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5D6673"/>
                </a:solidFill>
                <a:latin typeface="Helvetica Neue"/>
                <a:ea typeface="Helvetica Neue"/>
                <a:cs typeface="Helvetica Neue"/>
              </a:defRPr>
            </a:pPr>
            <a:r>
              <a:rPr sz="1425" b="1">
                <a:solidFill>
                  <a:srgbClr val="5D6673"/>
                </a:solidFill>
                <a:latin typeface="Helvetica Neue"/>
                <a:ea typeface="Helvetica Neue"/>
                <a:cs typeface="Helvetica Neue"/>
              </a:rPr>
              <a:t>Official criterion recomputes matching for each auxiliary decoder output.</a:t>
            </a:r>
          </a:p>
        </p:txBody>
      </p:sp>
    </p:spTree>
    <p:extLst>
      <p:ext uri="{BB962C8B-B14F-4D97-AF65-F5344CB8AC3E}">
        <p14:creationId xmlns:p14="http://schemas.microsoft.com/office/powerpoint/2010/main" val="52110316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text">
            <a:extLst xmlns:a="http://schemas.openxmlformats.org/drawingml/2006/main">
              <a:ext uri="{FF2B5EF4-FFF2-40B4-BE49-F238E27FC236}">
                <a16:creationId xmlns:a16="http://schemas.microsoft.com/office/drawing/2014/main" id="{B165CA51-063D-47FE-A34E-E7D933101C70}"/>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A8A896B3-4D18-421D-A759-9D274E0FD038}"/>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Where do the gradients go?</a:t>
            </a:r>
          </a:p>
        </p:txBody>
      </p:sp>
      <p:sp>
        <p:nvSpPr>
          <p:cNvPr id="3" name="text">
            <a:extLst xmlns:a="http://schemas.openxmlformats.org/drawingml/2006/main">
              <a:ext uri="{FF2B5EF4-FFF2-40B4-BE49-F238E27FC236}">
                <a16:creationId xmlns:a16="http://schemas.microsoft.com/office/drawing/2014/main" id="{721A58D8-48D7-4294-A67E-08CA13BB50A1}"/>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7 • BACKPROPAGATE</a:t>
            </a:r>
          </a:p>
        </p:txBody>
      </p:sp>
      <p:sp>
        <p:nvSpPr>
          <p:cNvPr id="4" name="text">
            <a:extLst xmlns:a="http://schemas.openxmlformats.org/drawingml/2006/main">
              <a:ext uri="{FF2B5EF4-FFF2-40B4-BE49-F238E27FC236}">
                <a16:creationId xmlns:a16="http://schemas.microsoft.com/office/drawing/2014/main" id="{7C5DFE2D-70FA-490B-AA08-827265A2679E}"/>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33</a:t>
            </a:r>
          </a:p>
        </p:txBody>
      </p:sp>
      <p:sp>
        <p:nvSpPr>
          <p:cNvPr id="5" name="node">
            <a:extLst xmlns:a="http://schemas.openxmlformats.org/drawingml/2006/main">
              <a:ext uri="{FF2B5EF4-FFF2-40B4-BE49-F238E27FC236}">
                <a16:creationId xmlns:a16="http://schemas.microsoft.com/office/drawing/2014/main" id="{D12F8507-DD7F-4D2C-91B7-C55D9EFC1363}"/>
              </a:ext>
            </a:extLst>
          </p:cNvPr>
          <p:cNvSpPr>
            <a:spLocks xmlns:a="http://schemas.openxmlformats.org/drawingml/2006/main" noGrp="1"/>
          </p:cNvSpPr>
          <p:nvPr/>
        </p:nvSpPr>
        <p:spPr>
          <a:xfrm xmlns:a="http://schemas.openxmlformats.org/drawingml/2006/main">
            <a:off x="571500" y="1943100"/>
            <a:ext cx="1619250" cy="666750"/>
          </a:xfrm>
          <a:prstGeom xmlns:a="http://schemas.openxmlformats.org/drawingml/2006/main" prst="roundRect">
            <a:avLst>
              <a:gd name="adj" fmla="val 11429"/>
            </a:avLst>
          </a:prstGeom>
          <a:solidFill xmlns:a="http://schemas.openxmlformats.org/drawingml/2006/main">
            <a:srgbClr val="EEE8FF"/>
          </a:solidFill>
          <a:ln xmlns:a="http://schemas.openxmlformats.org/drawingml/2006/main" w="19050">
            <a:solidFill>
              <a:srgbClr val="8E6CEF"/>
            </a:solidFill>
            <a:prstDash val="solid"/>
          </a:ln>
        </p:spPr>
      </p:sp>
      <p:sp>
        <p:nvSpPr>
          <p:cNvPr id="6" name="node-label">
            <a:extLst xmlns:a="http://schemas.openxmlformats.org/drawingml/2006/main">
              <a:ext uri="{FF2B5EF4-FFF2-40B4-BE49-F238E27FC236}">
                <a16:creationId xmlns:a16="http://schemas.microsoft.com/office/drawing/2014/main" id="{8CD00922-73C3-48E0-8C80-92B816FF9272}"/>
              </a:ext>
            </a:extLst>
          </p:cNvPr>
          <p:cNvSpPr>
            <a:spLocks xmlns:a="http://schemas.openxmlformats.org/drawingml/2006/main" noGrp="1"/>
          </p:cNvSpPr>
          <p:nvPr/>
        </p:nvSpPr>
        <p:spPr>
          <a:xfrm xmlns:a="http://schemas.openxmlformats.org/drawingml/2006/main">
            <a:off x="647700" y="1981200"/>
            <a:ext cx="146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losses</a:t>
            </a:r>
          </a:p>
        </p:txBody>
      </p:sp>
      <p:sp>
        <p:nvSpPr>
          <p:cNvPr id="7" name="arrow">
            <a:extLst xmlns:a="http://schemas.openxmlformats.org/drawingml/2006/main">
              <a:ext uri="{FF2B5EF4-FFF2-40B4-BE49-F238E27FC236}">
                <a16:creationId xmlns:a16="http://schemas.microsoft.com/office/drawing/2014/main" id="{7BBA0432-32E3-4C49-9032-442F4BF7F091}"/>
              </a:ext>
            </a:extLst>
          </p:cNvPr>
          <p:cNvSpPr>
            <a:spLocks xmlns:a="http://schemas.openxmlformats.org/drawingml/2006/main" noGrp="1"/>
          </p:cNvSpPr>
          <p:nvPr/>
        </p:nvSpPr>
        <p:spPr>
          <a:xfrm xmlns:a="http://schemas.openxmlformats.org/drawingml/2006/main">
            <a:off x="2190750" y="21145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8" name="node">
            <a:extLst xmlns:a="http://schemas.openxmlformats.org/drawingml/2006/main">
              <a:ext uri="{FF2B5EF4-FFF2-40B4-BE49-F238E27FC236}">
                <a16:creationId xmlns:a16="http://schemas.microsoft.com/office/drawing/2014/main" id="{F2F5E15B-8FC5-45F1-903E-4FED2E4B24F4}"/>
              </a:ext>
            </a:extLst>
          </p:cNvPr>
          <p:cNvSpPr>
            <a:spLocks xmlns:a="http://schemas.openxmlformats.org/drawingml/2006/main" noGrp="1"/>
          </p:cNvSpPr>
          <p:nvPr/>
        </p:nvSpPr>
        <p:spPr>
          <a:xfrm xmlns:a="http://schemas.openxmlformats.org/drawingml/2006/main">
            <a:off x="2476500" y="1943100"/>
            <a:ext cx="1619250" cy="666750"/>
          </a:xfrm>
          <a:prstGeom xmlns:a="http://schemas.openxmlformats.org/drawingml/2006/main" prst="roundRect">
            <a:avLst>
              <a:gd name="adj" fmla="val 11429"/>
            </a:avLst>
          </a:prstGeom>
          <a:solidFill xmlns:a="http://schemas.openxmlformats.org/drawingml/2006/main">
            <a:srgbClr val="FFF1CC"/>
          </a:solidFill>
          <a:ln xmlns:a="http://schemas.openxmlformats.org/drawingml/2006/main" w="19050">
            <a:solidFill>
              <a:srgbClr val="F2B84B"/>
            </a:solidFill>
            <a:prstDash val="solid"/>
          </a:ln>
        </p:spPr>
      </p:sp>
      <p:sp>
        <p:nvSpPr>
          <p:cNvPr id="9" name="node-label">
            <a:extLst xmlns:a="http://schemas.openxmlformats.org/drawingml/2006/main">
              <a:ext uri="{FF2B5EF4-FFF2-40B4-BE49-F238E27FC236}">
                <a16:creationId xmlns:a16="http://schemas.microsoft.com/office/drawing/2014/main" id="{15A60E7B-14E6-495F-903D-F49232B21DFB}"/>
              </a:ext>
            </a:extLst>
          </p:cNvPr>
          <p:cNvSpPr>
            <a:spLocks xmlns:a="http://schemas.openxmlformats.org/drawingml/2006/main" noGrp="1"/>
          </p:cNvSpPr>
          <p:nvPr/>
        </p:nvSpPr>
        <p:spPr>
          <a:xfrm xmlns:a="http://schemas.openxmlformats.org/drawingml/2006/main">
            <a:off x="2552700" y="1981200"/>
            <a:ext cx="146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class + box heads</a:t>
            </a:r>
          </a:p>
        </p:txBody>
      </p:sp>
      <p:sp>
        <p:nvSpPr>
          <p:cNvPr id="10" name="arrow">
            <a:extLst xmlns:a="http://schemas.openxmlformats.org/drawingml/2006/main">
              <a:ext uri="{FF2B5EF4-FFF2-40B4-BE49-F238E27FC236}">
                <a16:creationId xmlns:a16="http://schemas.microsoft.com/office/drawing/2014/main" id="{094675C9-76AF-43FD-9835-C90D1C726BDF}"/>
              </a:ext>
            </a:extLst>
          </p:cNvPr>
          <p:cNvSpPr>
            <a:spLocks xmlns:a="http://schemas.openxmlformats.org/drawingml/2006/main" noGrp="1"/>
          </p:cNvSpPr>
          <p:nvPr/>
        </p:nvSpPr>
        <p:spPr>
          <a:xfrm xmlns:a="http://schemas.openxmlformats.org/drawingml/2006/main">
            <a:off x="4095750" y="21145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11" name="node">
            <a:extLst xmlns:a="http://schemas.openxmlformats.org/drawingml/2006/main">
              <a:ext uri="{FF2B5EF4-FFF2-40B4-BE49-F238E27FC236}">
                <a16:creationId xmlns:a16="http://schemas.microsoft.com/office/drawing/2014/main" id="{487C8E74-5905-4730-81EB-2A81F270F24B}"/>
              </a:ext>
            </a:extLst>
          </p:cNvPr>
          <p:cNvSpPr>
            <a:spLocks xmlns:a="http://schemas.openxmlformats.org/drawingml/2006/main" noGrp="1"/>
          </p:cNvSpPr>
          <p:nvPr/>
        </p:nvSpPr>
        <p:spPr>
          <a:xfrm xmlns:a="http://schemas.openxmlformats.org/drawingml/2006/main">
            <a:off x="4381500" y="1943100"/>
            <a:ext cx="1619250" cy="666750"/>
          </a:xfrm>
          <a:prstGeom xmlns:a="http://schemas.openxmlformats.org/drawingml/2006/main" prst="roundRect">
            <a:avLst>
              <a:gd name="adj" fmla="val 11429"/>
            </a:avLst>
          </a:prstGeom>
          <a:solidFill xmlns:a="http://schemas.openxmlformats.org/drawingml/2006/main">
            <a:srgbClr val="EEE8FF"/>
          </a:solidFill>
          <a:ln xmlns:a="http://schemas.openxmlformats.org/drawingml/2006/main" w="19050">
            <a:solidFill>
              <a:srgbClr val="8E6CEF"/>
            </a:solidFill>
            <a:prstDash val="solid"/>
          </a:ln>
        </p:spPr>
      </p:sp>
      <p:sp>
        <p:nvSpPr>
          <p:cNvPr id="12" name="node-label">
            <a:extLst xmlns:a="http://schemas.openxmlformats.org/drawingml/2006/main">
              <a:ext uri="{FF2B5EF4-FFF2-40B4-BE49-F238E27FC236}">
                <a16:creationId xmlns:a16="http://schemas.microsoft.com/office/drawing/2014/main" id="{E9C1727F-A7EF-47B1-9BF6-2680E5BE0150}"/>
              </a:ext>
            </a:extLst>
          </p:cNvPr>
          <p:cNvSpPr>
            <a:spLocks xmlns:a="http://schemas.openxmlformats.org/drawingml/2006/main" noGrp="1"/>
          </p:cNvSpPr>
          <p:nvPr/>
        </p:nvSpPr>
        <p:spPr>
          <a:xfrm xmlns:a="http://schemas.openxmlformats.org/drawingml/2006/main">
            <a:off x="4457700" y="1981200"/>
            <a:ext cx="146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decoder + queries</a:t>
            </a:r>
          </a:p>
        </p:txBody>
      </p:sp>
      <p:sp>
        <p:nvSpPr>
          <p:cNvPr id="13" name="arrow">
            <a:extLst xmlns:a="http://schemas.openxmlformats.org/drawingml/2006/main">
              <a:ext uri="{FF2B5EF4-FFF2-40B4-BE49-F238E27FC236}">
                <a16:creationId xmlns:a16="http://schemas.microsoft.com/office/drawing/2014/main" id="{F2AEC11A-178C-4E71-BF02-F41116BA35FA}"/>
              </a:ext>
            </a:extLst>
          </p:cNvPr>
          <p:cNvSpPr>
            <a:spLocks xmlns:a="http://schemas.openxmlformats.org/drawingml/2006/main" noGrp="1"/>
          </p:cNvSpPr>
          <p:nvPr/>
        </p:nvSpPr>
        <p:spPr>
          <a:xfrm xmlns:a="http://schemas.openxmlformats.org/drawingml/2006/main">
            <a:off x="6000750" y="21145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14" name="node">
            <a:extLst xmlns:a="http://schemas.openxmlformats.org/drawingml/2006/main">
              <a:ext uri="{FF2B5EF4-FFF2-40B4-BE49-F238E27FC236}">
                <a16:creationId xmlns:a16="http://schemas.microsoft.com/office/drawing/2014/main" id="{1FFE66AC-9475-4CAE-BFA9-20605B1DC187}"/>
              </a:ext>
            </a:extLst>
          </p:cNvPr>
          <p:cNvSpPr>
            <a:spLocks xmlns:a="http://schemas.openxmlformats.org/drawingml/2006/main" noGrp="1"/>
          </p:cNvSpPr>
          <p:nvPr/>
        </p:nvSpPr>
        <p:spPr>
          <a:xfrm xmlns:a="http://schemas.openxmlformats.org/drawingml/2006/main">
            <a:off x="6286500" y="1943100"/>
            <a:ext cx="1619250" cy="666750"/>
          </a:xfrm>
          <a:prstGeom xmlns:a="http://schemas.openxmlformats.org/drawingml/2006/main" prst="roundRect">
            <a:avLst>
              <a:gd name="adj" fmla="val 11429"/>
            </a:avLst>
          </a:prstGeom>
          <a:solidFill xmlns:a="http://schemas.openxmlformats.org/drawingml/2006/main">
            <a:srgbClr val="D9F1FC"/>
          </a:solidFill>
          <a:ln xmlns:a="http://schemas.openxmlformats.org/drawingml/2006/main" w="19050">
            <a:solidFill>
              <a:srgbClr val="3D8DFF"/>
            </a:solidFill>
            <a:prstDash val="solid"/>
          </a:ln>
        </p:spPr>
      </p:sp>
      <p:sp>
        <p:nvSpPr>
          <p:cNvPr id="15" name="node-label">
            <a:extLst xmlns:a="http://schemas.openxmlformats.org/drawingml/2006/main">
              <a:ext uri="{FF2B5EF4-FFF2-40B4-BE49-F238E27FC236}">
                <a16:creationId xmlns:a16="http://schemas.microsoft.com/office/drawing/2014/main" id="{3CE3E2C5-748C-4AA0-AF52-3E00227E62A1}"/>
              </a:ext>
            </a:extLst>
          </p:cNvPr>
          <p:cNvSpPr>
            <a:spLocks xmlns:a="http://schemas.openxmlformats.org/drawingml/2006/main" noGrp="1"/>
          </p:cNvSpPr>
          <p:nvPr/>
        </p:nvSpPr>
        <p:spPr>
          <a:xfrm xmlns:a="http://schemas.openxmlformats.org/drawingml/2006/main">
            <a:off x="6362700" y="1981200"/>
            <a:ext cx="146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encoder</a:t>
            </a:r>
          </a:p>
        </p:txBody>
      </p:sp>
      <p:sp>
        <p:nvSpPr>
          <p:cNvPr id="16" name="arrow">
            <a:extLst xmlns:a="http://schemas.openxmlformats.org/drawingml/2006/main">
              <a:ext uri="{FF2B5EF4-FFF2-40B4-BE49-F238E27FC236}">
                <a16:creationId xmlns:a16="http://schemas.microsoft.com/office/drawing/2014/main" id="{ABD961B0-E5B0-47EB-8B28-DF5EA65D98D9}"/>
              </a:ext>
            </a:extLst>
          </p:cNvPr>
          <p:cNvSpPr>
            <a:spLocks xmlns:a="http://schemas.openxmlformats.org/drawingml/2006/main" noGrp="1"/>
          </p:cNvSpPr>
          <p:nvPr/>
        </p:nvSpPr>
        <p:spPr>
          <a:xfrm xmlns:a="http://schemas.openxmlformats.org/drawingml/2006/main">
            <a:off x="7905750" y="21145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17" name="node">
            <a:extLst xmlns:a="http://schemas.openxmlformats.org/drawingml/2006/main">
              <a:ext uri="{FF2B5EF4-FFF2-40B4-BE49-F238E27FC236}">
                <a16:creationId xmlns:a16="http://schemas.microsoft.com/office/drawing/2014/main" id="{BA73540F-4873-40C3-912D-5E146D61B24A}"/>
              </a:ext>
            </a:extLst>
          </p:cNvPr>
          <p:cNvSpPr>
            <a:spLocks xmlns:a="http://schemas.openxmlformats.org/drawingml/2006/main" noGrp="1"/>
          </p:cNvSpPr>
          <p:nvPr/>
        </p:nvSpPr>
        <p:spPr>
          <a:xfrm xmlns:a="http://schemas.openxmlformats.org/drawingml/2006/main">
            <a:off x="8191500" y="1943100"/>
            <a:ext cx="1619250" cy="666750"/>
          </a:xfrm>
          <a:prstGeom xmlns:a="http://schemas.openxmlformats.org/drawingml/2006/main" prst="roundRect">
            <a:avLst>
              <a:gd name="adj" fmla="val 11429"/>
            </a:avLst>
          </a:prstGeom>
          <a:solidFill xmlns:a="http://schemas.openxmlformats.org/drawingml/2006/main">
            <a:srgbClr val="D9F1FC"/>
          </a:solidFill>
          <a:ln xmlns:a="http://schemas.openxmlformats.org/drawingml/2006/main" w="19050">
            <a:solidFill>
              <a:srgbClr val="3D8DFF"/>
            </a:solidFill>
            <a:prstDash val="solid"/>
          </a:ln>
        </p:spPr>
      </p:sp>
      <p:sp>
        <p:nvSpPr>
          <p:cNvPr id="18" name="node-label">
            <a:extLst xmlns:a="http://schemas.openxmlformats.org/drawingml/2006/main">
              <a:ext uri="{FF2B5EF4-FFF2-40B4-BE49-F238E27FC236}">
                <a16:creationId xmlns:a16="http://schemas.microsoft.com/office/drawing/2014/main" id="{094EDB82-A75F-41ED-ADFE-33130F8DFEC8}"/>
              </a:ext>
            </a:extLst>
          </p:cNvPr>
          <p:cNvSpPr>
            <a:spLocks xmlns:a="http://schemas.openxmlformats.org/drawingml/2006/main" noGrp="1"/>
          </p:cNvSpPr>
          <p:nvPr/>
        </p:nvSpPr>
        <p:spPr>
          <a:xfrm xmlns:a="http://schemas.openxmlformats.org/drawingml/2006/main">
            <a:off x="8267700" y="1981200"/>
            <a:ext cx="146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1×1 projection</a:t>
            </a:r>
          </a:p>
        </p:txBody>
      </p:sp>
      <p:sp>
        <p:nvSpPr>
          <p:cNvPr id="19" name="arrow">
            <a:extLst xmlns:a="http://schemas.openxmlformats.org/drawingml/2006/main">
              <a:ext uri="{FF2B5EF4-FFF2-40B4-BE49-F238E27FC236}">
                <a16:creationId xmlns:a16="http://schemas.microsoft.com/office/drawing/2014/main" id="{7240EA8D-F6FF-4065-B114-7D41A0AEAA40}"/>
              </a:ext>
            </a:extLst>
          </p:cNvPr>
          <p:cNvSpPr>
            <a:spLocks xmlns:a="http://schemas.openxmlformats.org/drawingml/2006/main" noGrp="1"/>
          </p:cNvSpPr>
          <p:nvPr/>
        </p:nvSpPr>
        <p:spPr>
          <a:xfrm xmlns:a="http://schemas.openxmlformats.org/drawingml/2006/main">
            <a:off x="9810750" y="2114550"/>
            <a:ext cx="28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20" name="node">
            <a:extLst xmlns:a="http://schemas.openxmlformats.org/drawingml/2006/main">
              <a:ext uri="{FF2B5EF4-FFF2-40B4-BE49-F238E27FC236}">
                <a16:creationId xmlns:a16="http://schemas.microsoft.com/office/drawing/2014/main" id="{2AEC66B7-FA10-45BE-B9E6-A896BD6BE630}"/>
              </a:ext>
            </a:extLst>
          </p:cNvPr>
          <p:cNvSpPr>
            <a:spLocks xmlns:a="http://schemas.openxmlformats.org/drawingml/2006/main" noGrp="1"/>
          </p:cNvSpPr>
          <p:nvPr/>
        </p:nvSpPr>
        <p:spPr>
          <a:xfrm xmlns:a="http://schemas.openxmlformats.org/drawingml/2006/main">
            <a:off x="10096500" y="1943100"/>
            <a:ext cx="1619250" cy="666750"/>
          </a:xfrm>
          <a:prstGeom xmlns:a="http://schemas.openxmlformats.org/drawingml/2006/main" prst="roundRect">
            <a:avLst>
              <a:gd name="adj" fmla="val 11429"/>
            </a:avLst>
          </a:prstGeom>
          <a:solidFill xmlns:a="http://schemas.openxmlformats.org/drawingml/2006/main">
            <a:srgbClr val="DDF4E8"/>
          </a:solidFill>
          <a:ln xmlns:a="http://schemas.openxmlformats.org/drawingml/2006/main" w="19050">
            <a:solidFill>
              <a:srgbClr val="45B97C"/>
            </a:solidFill>
            <a:prstDash val="solid"/>
          </a:ln>
        </p:spPr>
      </p:sp>
      <p:sp>
        <p:nvSpPr>
          <p:cNvPr id="21" name="node-label">
            <a:extLst xmlns:a="http://schemas.openxmlformats.org/drawingml/2006/main">
              <a:ext uri="{FF2B5EF4-FFF2-40B4-BE49-F238E27FC236}">
                <a16:creationId xmlns:a16="http://schemas.microsoft.com/office/drawing/2014/main" id="{E29E26A7-6A65-45DD-A08D-314925F75E56}"/>
              </a:ext>
            </a:extLst>
          </p:cNvPr>
          <p:cNvSpPr>
            <a:spLocks xmlns:a="http://schemas.openxmlformats.org/drawingml/2006/main" noGrp="1"/>
          </p:cNvSpPr>
          <p:nvPr/>
        </p:nvSpPr>
        <p:spPr>
          <a:xfrm xmlns:a="http://schemas.openxmlformats.org/drawingml/2006/main">
            <a:off x="10172700" y="1981200"/>
            <a:ext cx="1466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CNN backbone</a:t>
            </a:r>
          </a:p>
        </p:txBody>
      </p:sp>
      <p:sp>
        <p:nvSpPr>
          <p:cNvPr id="22" name="text">
            <a:extLst xmlns:a="http://schemas.openxmlformats.org/drawingml/2006/main">
              <a:ext uri="{FF2B5EF4-FFF2-40B4-BE49-F238E27FC236}">
                <a16:creationId xmlns:a16="http://schemas.microsoft.com/office/drawing/2014/main" id="{5FF71858-471A-4669-B3B3-998E454C50BC}"/>
              </a:ext>
            </a:extLst>
          </p:cNvPr>
          <p:cNvSpPr>
            <a:spLocks xmlns:a="http://schemas.openxmlformats.org/drawingml/2006/main" noGrp="1"/>
          </p:cNvSpPr>
          <p:nvPr/>
        </p:nvSpPr>
        <p:spPr>
          <a:xfrm xmlns:a="http://schemas.openxmlformats.org/drawingml/2006/main">
            <a:off x="609600" y="1543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8E6CEF"/>
                </a:solidFill>
                <a:latin typeface="Helvetica Neue"/>
                <a:ea typeface="Helvetica Neue"/>
                <a:cs typeface="Helvetica Neue"/>
              </a:defRPr>
            </a:pPr>
            <a:r>
              <a:rPr sz="1275" b="1">
                <a:solidFill>
                  <a:srgbClr val="8E6CEF"/>
                </a:solidFill>
                <a:latin typeface="Helvetica Neue"/>
                <a:ea typeface="Helvetica Neue"/>
                <a:cs typeface="Helvetica Neue"/>
              </a:rPr>
              <a:t>gradient direction</a:t>
            </a:r>
          </a:p>
        </p:txBody>
      </p:sp>
      <p:sp>
        <p:nvSpPr>
          <p:cNvPr id="23" name="text">
            <a:extLst xmlns:a="http://schemas.openxmlformats.org/drawingml/2006/main">
              <a:ext uri="{FF2B5EF4-FFF2-40B4-BE49-F238E27FC236}">
                <a16:creationId xmlns:a16="http://schemas.microsoft.com/office/drawing/2014/main" id="{1624C71A-D6A7-4979-81B0-24470EF5E478}"/>
              </a:ext>
            </a:extLst>
          </p:cNvPr>
          <p:cNvSpPr>
            <a:spLocks xmlns:a="http://schemas.openxmlformats.org/drawingml/2006/main" noGrp="1"/>
          </p:cNvSpPr>
          <p:nvPr/>
        </p:nvSpPr>
        <p:spPr>
          <a:xfrm xmlns:a="http://schemas.openxmlformats.org/drawingml/2006/main">
            <a:off x="8858250" y="1543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8E6CEF"/>
                </a:solidFill>
                <a:latin typeface="Helvetica Neue"/>
                <a:ea typeface="Helvetica Neue"/>
                <a:cs typeface="Helvetica Neue"/>
              </a:defRPr>
            </a:pPr>
            <a:r>
              <a:rPr sz="1350" b="1">
                <a:solidFill>
                  <a:srgbClr val="8E6CEF"/>
                </a:solidFill>
                <a:latin typeface="Helvetica Neue"/>
                <a:ea typeface="Helvetica Neue"/>
                <a:cs typeface="Helvetica Neue"/>
              </a:rPr>
              <a:t>∂L / ∂θ  →</a:t>
            </a:r>
          </a:p>
        </p:txBody>
      </p:sp>
      <p:sp>
        <p:nvSpPr>
          <p:cNvPr id="24" name="box">
            <a:extLst xmlns:a="http://schemas.openxmlformats.org/drawingml/2006/main">
              <a:ext uri="{FF2B5EF4-FFF2-40B4-BE49-F238E27FC236}">
                <a16:creationId xmlns:a16="http://schemas.microsoft.com/office/drawing/2014/main" id="{D8B72DA5-2F38-4140-B7FA-3FF9C5F0D2F6}"/>
              </a:ext>
            </a:extLst>
          </p:cNvPr>
          <p:cNvSpPr>
            <a:spLocks xmlns:a="http://schemas.openxmlformats.org/drawingml/2006/main" noGrp="1"/>
          </p:cNvSpPr>
          <p:nvPr/>
        </p:nvSpPr>
        <p:spPr>
          <a:xfrm xmlns:a="http://schemas.openxmlformats.org/drawingml/2006/main">
            <a:off x="914400" y="3333750"/>
            <a:ext cx="2381250" cy="323850"/>
          </a:xfrm>
          <a:prstGeom xmlns:a="http://schemas.openxmlformats.org/drawingml/2006/main" prst="roundRect">
            <a:avLst>
              <a:gd name="adj" fmla="val 23529"/>
            </a:avLst>
          </a:prstGeom>
          <a:solidFill xmlns:a="http://schemas.openxmlformats.org/drawingml/2006/main">
            <a:srgbClr val="EEE8FF"/>
          </a:solidFill>
          <a:ln xmlns:a="http://schemas.openxmlformats.org/drawingml/2006/main" w="0">
            <a:noFill/>
            <a:prstDash val="solid"/>
          </a:ln>
        </p:spPr>
      </p:sp>
      <p:sp>
        <p:nvSpPr>
          <p:cNvPr id="25" name="text">
            <a:extLst xmlns:a="http://schemas.openxmlformats.org/drawingml/2006/main">
              <a:ext uri="{FF2B5EF4-FFF2-40B4-BE49-F238E27FC236}">
                <a16:creationId xmlns:a16="http://schemas.microsoft.com/office/drawing/2014/main" id="{E6859790-EC13-4E73-B47E-F8402E404A6E}"/>
              </a:ext>
            </a:extLst>
          </p:cNvPr>
          <p:cNvSpPr>
            <a:spLocks xmlns:a="http://schemas.openxmlformats.org/drawingml/2006/main" noGrp="1"/>
          </p:cNvSpPr>
          <p:nvPr/>
        </p:nvSpPr>
        <p:spPr>
          <a:xfrm xmlns:a="http://schemas.openxmlformats.org/drawingml/2006/main">
            <a:off x="990600" y="3352800"/>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8E6CEF"/>
                </a:solidFill>
                <a:latin typeface="Helvetica Neue"/>
                <a:ea typeface="Helvetica Neue"/>
                <a:cs typeface="Helvetica Neue"/>
              </a:defRPr>
            </a:pPr>
            <a:r>
              <a:rPr sz="1125" b="1">
                <a:solidFill>
                  <a:srgbClr val="8E6CEF"/>
                </a:solidFill>
                <a:latin typeface="Helvetica Neue"/>
                <a:ea typeface="Helvetica Neue"/>
                <a:cs typeface="Helvetica Neue"/>
              </a:rPr>
              <a:t>query embeddings</a:t>
            </a:r>
          </a:p>
        </p:txBody>
      </p:sp>
      <p:sp>
        <p:nvSpPr>
          <p:cNvPr id="26" name="box">
            <a:extLst xmlns:a="http://schemas.openxmlformats.org/drawingml/2006/main">
              <a:ext uri="{FF2B5EF4-FFF2-40B4-BE49-F238E27FC236}">
                <a16:creationId xmlns:a16="http://schemas.microsoft.com/office/drawing/2014/main" id="{4C969D27-0A5A-45F2-9F11-8C7DA424DFAC}"/>
              </a:ext>
            </a:extLst>
          </p:cNvPr>
          <p:cNvSpPr>
            <a:spLocks xmlns:a="http://schemas.openxmlformats.org/drawingml/2006/main" noGrp="1"/>
          </p:cNvSpPr>
          <p:nvPr/>
        </p:nvSpPr>
        <p:spPr>
          <a:xfrm xmlns:a="http://schemas.openxmlformats.org/drawingml/2006/main">
            <a:off x="3638550" y="3333750"/>
            <a:ext cx="2381250" cy="323850"/>
          </a:xfrm>
          <a:prstGeom xmlns:a="http://schemas.openxmlformats.org/drawingml/2006/main" prst="roundRect">
            <a:avLst>
              <a:gd name="adj" fmla="val 23529"/>
            </a:avLst>
          </a:prstGeom>
          <a:solidFill xmlns:a="http://schemas.openxmlformats.org/drawingml/2006/main">
            <a:srgbClr val="D9F1FC"/>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C2795813-E6FE-4AB6-BD99-619C7592D3B9}"/>
              </a:ext>
            </a:extLst>
          </p:cNvPr>
          <p:cNvSpPr>
            <a:spLocks xmlns:a="http://schemas.openxmlformats.org/drawingml/2006/main" noGrp="1"/>
          </p:cNvSpPr>
          <p:nvPr/>
        </p:nvSpPr>
        <p:spPr>
          <a:xfrm xmlns:a="http://schemas.openxmlformats.org/drawingml/2006/main">
            <a:off x="3714750" y="3352800"/>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attention projections</a:t>
            </a:r>
          </a:p>
        </p:txBody>
      </p:sp>
      <p:sp>
        <p:nvSpPr>
          <p:cNvPr id="28" name="box">
            <a:extLst xmlns:a="http://schemas.openxmlformats.org/drawingml/2006/main">
              <a:ext uri="{FF2B5EF4-FFF2-40B4-BE49-F238E27FC236}">
                <a16:creationId xmlns:a16="http://schemas.microsoft.com/office/drawing/2014/main" id="{9AC6EE56-356C-4320-8DB5-626A5591806B}"/>
              </a:ext>
            </a:extLst>
          </p:cNvPr>
          <p:cNvSpPr>
            <a:spLocks xmlns:a="http://schemas.openxmlformats.org/drawingml/2006/main" noGrp="1"/>
          </p:cNvSpPr>
          <p:nvPr/>
        </p:nvSpPr>
        <p:spPr>
          <a:xfrm xmlns:a="http://schemas.openxmlformats.org/drawingml/2006/main">
            <a:off x="6362700" y="3333750"/>
            <a:ext cx="2381250" cy="323850"/>
          </a:xfrm>
          <a:prstGeom xmlns:a="http://schemas.openxmlformats.org/drawingml/2006/main" prst="roundRect">
            <a:avLst>
              <a:gd name="adj" fmla="val 23529"/>
            </a:avLst>
          </a:prstGeom>
          <a:solidFill xmlns:a="http://schemas.openxmlformats.org/drawingml/2006/main">
            <a:srgbClr val="FFF1CC"/>
          </a:solidFill>
          <a:ln xmlns:a="http://schemas.openxmlformats.org/drawingml/2006/main" w="0">
            <a:noFill/>
            <a:prstDash val="solid"/>
          </a:ln>
        </p:spPr>
      </p:sp>
      <p:sp>
        <p:nvSpPr>
          <p:cNvPr id="29" name="text">
            <a:extLst xmlns:a="http://schemas.openxmlformats.org/drawingml/2006/main">
              <a:ext uri="{FF2B5EF4-FFF2-40B4-BE49-F238E27FC236}">
                <a16:creationId xmlns:a16="http://schemas.microsoft.com/office/drawing/2014/main" id="{C856978C-030B-4C67-8796-5F72069A9BD1}"/>
              </a:ext>
            </a:extLst>
          </p:cNvPr>
          <p:cNvSpPr>
            <a:spLocks xmlns:a="http://schemas.openxmlformats.org/drawingml/2006/main" noGrp="1"/>
          </p:cNvSpPr>
          <p:nvPr/>
        </p:nvSpPr>
        <p:spPr>
          <a:xfrm xmlns:a="http://schemas.openxmlformats.org/drawingml/2006/main">
            <a:off x="6438900" y="3352800"/>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2B84B"/>
                </a:solidFill>
                <a:latin typeface="Helvetica Neue"/>
                <a:ea typeface="Helvetica Neue"/>
                <a:cs typeface="Helvetica Neue"/>
              </a:defRPr>
            </a:pPr>
            <a:r>
              <a:rPr sz="1125" b="1">
                <a:solidFill>
                  <a:srgbClr val="F2B84B"/>
                </a:solidFill>
                <a:latin typeface="Helvetica Neue"/>
                <a:ea typeface="Helvetica Neue"/>
                <a:cs typeface="Helvetica Neue"/>
              </a:rPr>
              <a:t>prediction heads</a:t>
            </a:r>
          </a:p>
        </p:txBody>
      </p:sp>
      <p:sp>
        <p:nvSpPr>
          <p:cNvPr id="30" name="box">
            <a:extLst xmlns:a="http://schemas.openxmlformats.org/drawingml/2006/main">
              <a:ext uri="{FF2B5EF4-FFF2-40B4-BE49-F238E27FC236}">
                <a16:creationId xmlns:a16="http://schemas.microsoft.com/office/drawing/2014/main" id="{FA26C3E0-42E9-4BB8-BD37-E60FBE1EDA5C}"/>
              </a:ext>
            </a:extLst>
          </p:cNvPr>
          <p:cNvSpPr>
            <a:spLocks xmlns:a="http://schemas.openxmlformats.org/drawingml/2006/main" noGrp="1"/>
          </p:cNvSpPr>
          <p:nvPr/>
        </p:nvSpPr>
        <p:spPr>
          <a:xfrm xmlns:a="http://schemas.openxmlformats.org/drawingml/2006/main">
            <a:off x="9086850" y="3333750"/>
            <a:ext cx="2381250" cy="323850"/>
          </a:xfrm>
          <a:prstGeom xmlns:a="http://schemas.openxmlformats.org/drawingml/2006/main" prst="roundRect">
            <a:avLst>
              <a:gd name="adj" fmla="val 23529"/>
            </a:avLst>
          </a:prstGeom>
          <a:solidFill xmlns:a="http://schemas.openxmlformats.org/drawingml/2006/main">
            <a:srgbClr val="DDF4E8"/>
          </a:solidFill>
          <a:ln xmlns:a="http://schemas.openxmlformats.org/drawingml/2006/main" w="0">
            <a:noFill/>
            <a:prstDash val="solid"/>
          </a:ln>
        </p:spPr>
      </p:sp>
      <p:sp>
        <p:nvSpPr>
          <p:cNvPr id="31" name="text">
            <a:extLst xmlns:a="http://schemas.openxmlformats.org/drawingml/2006/main">
              <a:ext uri="{FF2B5EF4-FFF2-40B4-BE49-F238E27FC236}">
                <a16:creationId xmlns:a16="http://schemas.microsoft.com/office/drawing/2014/main" id="{F51AF84A-A67D-4C15-A951-A7A2385C8BA2}"/>
              </a:ext>
            </a:extLst>
          </p:cNvPr>
          <p:cNvSpPr>
            <a:spLocks xmlns:a="http://schemas.openxmlformats.org/drawingml/2006/main" noGrp="1"/>
          </p:cNvSpPr>
          <p:nvPr/>
        </p:nvSpPr>
        <p:spPr>
          <a:xfrm xmlns:a="http://schemas.openxmlformats.org/drawingml/2006/main">
            <a:off x="9163050" y="3352800"/>
            <a:ext cx="2228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45B97C"/>
                </a:solidFill>
                <a:latin typeface="Helvetica Neue"/>
                <a:ea typeface="Helvetica Neue"/>
                <a:cs typeface="Helvetica Neue"/>
              </a:defRPr>
            </a:pPr>
            <a:r>
              <a:rPr sz="1125" b="1">
                <a:solidFill>
                  <a:srgbClr val="45B97C"/>
                </a:solidFill>
                <a:latin typeface="Helvetica Neue"/>
                <a:ea typeface="Helvetica Neue"/>
                <a:cs typeface="Helvetica Neue"/>
              </a:rPr>
              <a:t>visual features</a:t>
            </a:r>
          </a:p>
        </p:txBody>
      </p:sp>
      <p:sp>
        <p:nvSpPr>
          <p:cNvPr id="32" name="box">
            <a:extLst xmlns:a="http://schemas.openxmlformats.org/drawingml/2006/main">
              <a:ext uri="{FF2B5EF4-FFF2-40B4-BE49-F238E27FC236}">
                <a16:creationId xmlns:a16="http://schemas.microsoft.com/office/drawing/2014/main" id="{535DA5AD-A938-4968-8E66-C350BE16D4A2}"/>
              </a:ext>
            </a:extLst>
          </p:cNvPr>
          <p:cNvSpPr>
            <a:spLocks xmlns:a="http://schemas.openxmlformats.org/drawingml/2006/main" noGrp="1"/>
          </p:cNvSpPr>
          <p:nvPr/>
        </p:nvSpPr>
        <p:spPr>
          <a:xfrm xmlns:a="http://schemas.openxmlformats.org/drawingml/2006/main">
            <a:off x="990600" y="4286250"/>
            <a:ext cx="10210800" cy="742950"/>
          </a:xfrm>
          <a:prstGeom xmlns:a="http://schemas.openxmlformats.org/drawingml/2006/main" prst="roundRect">
            <a:avLst>
              <a:gd name="adj" fmla="val 10256"/>
            </a:avLst>
          </a:prstGeom>
          <a:solidFill xmlns:a="http://schemas.openxmlformats.org/drawingml/2006/main">
            <a:srgbClr val="EEF1F4"/>
          </a:solidFill>
          <a:ln xmlns:a="http://schemas.openxmlformats.org/drawingml/2006/main" w="0">
            <a:noFill/>
            <a:prstDash val="solid"/>
          </a:ln>
        </p:spPr>
      </p:sp>
      <p:sp>
        <p:nvSpPr>
          <p:cNvPr id="33" name="text">
            <a:extLst xmlns:a="http://schemas.openxmlformats.org/drawingml/2006/main">
              <a:ext uri="{FF2B5EF4-FFF2-40B4-BE49-F238E27FC236}">
                <a16:creationId xmlns:a16="http://schemas.microsoft.com/office/drawing/2014/main" id="{BC874375-9737-4B3B-B2DE-B90CA14F5A19}"/>
              </a:ext>
            </a:extLst>
          </p:cNvPr>
          <p:cNvSpPr>
            <a:spLocks xmlns:a="http://schemas.openxmlformats.org/drawingml/2006/main" noGrp="1"/>
          </p:cNvSpPr>
          <p:nvPr/>
        </p:nvSpPr>
        <p:spPr>
          <a:xfrm xmlns:a="http://schemas.openxmlformats.org/drawingml/2006/main">
            <a:off x="1162050" y="4362450"/>
            <a:ext cx="9867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AdamW updates parameters • next forward pass produces new costs • matching is solved again</a:t>
            </a:r>
          </a:p>
        </p:txBody>
      </p:sp>
      <p:sp>
        <p:nvSpPr>
          <p:cNvPr id="34" name="text">
            <a:extLst xmlns:a="http://schemas.openxmlformats.org/drawingml/2006/main">
              <a:ext uri="{FF2B5EF4-FFF2-40B4-BE49-F238E27FC236}">
                <a16:creationId xmlns:a16="http://schemas.microsoft.com/office/drawing/2014/main" id="{B314CDB0-D928-483D-A806-16D82A5D2146}"/>
              </a:ext>
            </a:extLst>
          </p:cNvPr>
          <p:cNvSpPr>
            <a:spLocks xmlns:a="http://schemas.openxmlformats.org/drawingml/2006/main" noGrp="1"/>
          </p:cNvSpPr>
          <p:nvPr/>
        </p:nvSpPr>
        <p:spPr>
          <a:xfrm xmlns:a="http://schemas.openxmlformats.org/drawingml/2006/main">
            <a:off x="1409700" y="5334000"/>
            <a:ext cx="937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5D6673"/>
                </a:solidFill>
                <a:latin typeface="Helvetica Neue"/>
                <a:ea typeface="Helvetica Neue"/>
                <a:cs typeface="Helvetica Neue"/>
              </a:defRPr>
            </a:pPr>
            <a:r>
              <a:rPr sz="1500" b="1">
                <a:solidFill>
                  <a:srgbClr val="5D6673"/>
                </a:solidFill>
                <a:latin typeface="Helvetica Neue"/>
                <a:ea typeface="Helvetica Neue"/>
                <a:cs typeface="Helvetica Neue"/>
              </a:rPr>
              <a:t>Original recipe uses a smaller learning rate for the pretrained backbone.</a:t>
            </a:r>
          </a:p>
        </p:txBody>
      </p:sp>
    </p:spTree>
    <p:extLst>
      <p:ext uri="{BB962C8B-B14F-4D97-AF65-F5344CB8AC3E}">
        <p14:creationId xmlns:p14="http://schemas.microsoft.com/office/powerpoint/2010/main" val="22448543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
            <a:extLst xmlns:a="http://schemas.openxmlformats.org/drawingml/2006/main">
              <a:ext uri="{FF2B5EF4-FFF2-40B4-BE49-F238E27FC236}">
                <a16:creationId xmlns:a16="http://schemas.microsoft.com/office/drawing/2014/main" id="{E380B391-EFC9-450C-BF52-CDFD6733EAB0}"/>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B02E29A1-2DF0-4668-9E59-CA0799113FDC}"/>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How do random queries become useful?</a:t>
            </a:r>
          </a:p>
        </p:txBody>
      </p:sp>
      <p:sp>
        <p:nvSpPr>
          <p:cNvPr id="3" name="text">
            <a:extLst xmlns:a="http://schemas.openxmlformats.org/drawingml/2006/main">
              <a:ext uri="{FF2B5EF4-FFF2-40B4-BE49-F238E27FC236}">
                <a16:creationId xmlns:a16="http://schemas.microsoft.com/office/drawing/2014/main" id="{98A1B59D-49FA-4289-B4FB-B8CDB8E607E3}"/>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8 • SPECIALIZATION EMERGES</a:t>
            </a:r>
          </a:p>
        </p:txBody>
      </p:sp>
      <p:sp>
        <p:nvSpPr>
          <p:cNvPr id="4" name="text">
            <a:extLst xmlns:a="http://schemas.openxmlformats.org/drawingml/2006/main">
              <a:ext uri="{FF2B5EF4-FFF2-40B4-BE49-F238E27FC236}">
                <a16:creationId xmlns:a16="http://schemas.microsoft.com/office/drawing/2014/main" id="{BB56C404-C67B-4C4D-BD0F-C903CEEE6BBC}"/>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34</a:t>
            </a:r>
          </a:p>
        </p:txBody>
      </p:sp>
      <p:sp>
        <p:nvSpPr>
          <p:cNvPr id="5" name="node">
            <a:extLst xmlns:a="http://schemas.openxmlformats.org/drawingml/2006/main">
              <a:ext uri="{FF2B5EF4-FFF2-40B4-BE49-F238E27FC236}">
                <a16:creationId xmlns:a16="http://schemas.microsoft.com/office/drawing/2014/main" id="{78F8766B-6332-44B1-BBCB-ACB607B9EAC1}"/>
              </a:ext>
            </a:extLst>
          </p:cNvPr>
          <p:cNvSpPr>
            <a:spLocks xmlns:a="http://schemas.openxmlformats.org/drawingml/2006/main" noGrp="1"/>
          </p:cNvSpPr>
          <p:nvPr/>
        </p:nvSpPr>
        <p:spPr>
          <a:xfrm xmlns:a="http://schemas.openxmlformats.org/drawingml/2006/main">
            <a:off x="400050" y="1676400"/>
            <a:ext cx="2076450" cy="1066800"/>
          </a:xfrm>
          <a:prstGeom xmlns:a="http://schemas.openxmlformats.org/drawingml/2006/main" prst="roundRect">
            <a:avLst>
              <a:gd name="adj" fmla="val 7143"/>
            </a:avLst>
          </a:prstGeom>
          <a:solidFill xmlns:a="http://schemas.openxmlformats.org/drawingml/2006/main">
            <a:srgbClr val="EEF1F4"/>
          </a:solidFill>
          <a:ln xmlns:a="http://schemas.openxmlformats.org/drawingml/2006/main" w="19050">
            <a:solidFill>
              <a:srgbClr val="A7AFBA"/>
            </a:solidFill>
            <a:prstDash val="solid"/>
          </a:ln>
        </p:spPr>
      </p:sp>
      <p:sp>
        <p:nvSpPr>
          <p:cNvPr id="6" name="node-label">
            <a:extLst xmlns:a="http://schemas.openxmlformats.org/drawingml/2006/main">
              <a:ext uri="{FF2B5EF4-FFF2-40B4-BE49-F238E27FC236}">
                <a16:creationId xmlns:a16="http://schemas.microsoft.com/office/drawing/2014/main" id="{1CBE535F-3D97-4A6B-97AD-0D0A77C95CD3}"/>
              </a:ext>
            </a:extLst>
          </p:cNvPr>
          <p:cNvSpPr>
            <a:spLocks xmlns:a="http://schemas.openxmlformats.org/drawingml/2006/main" noGrp="1"/>
          </p:cNvSpPr>
          <p:nvPr/>
        </p:nvSpPr>
        <p:spPr>
          <a:xfrm xmlns:a="http://schemas.openxmlformats.org/drawingml/2006/main">
            <a:off x="476250" y="1714500"/>
            <a:ext cx="1924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1  random</a:t>
            </a:r>
          </a:p>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unstable scores</a:t>
            </a:r>
          </a:p>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and boxes</a:t>
            </a:r>
          </a:p>
        </p:txBody>
      </p:sp>
      <p:sp>
        <p:nvSpPr>
          <p:cNvPr id="7" name="arrow">
            <a:extLst xmlns:a="http://schemas.openxmlformats.org/drawingml/2006/main">
              <a:ext uri="{FF2B5EF4-FFF2-40B4-BE49-F238E27FC236}">
                <a16:creationId xmlns:a16="http://schemas.microsoft.com/office/drawing/2014/main" id="{81B7E48F-FE81-4B7B-B6EC-7C2A0DA797F0}"/>
              </a:ext>
            </a:extLst>
          </p:cNvPr>
          <p:cNvSpPr>
            <a:spLocks xmlns:a="http://schemas.openxmlformats.org/drawingml/2006/main" noGrp="1"/>
          </p:cNvSpPr>
          <p:nvPr/>
        </p:nvSpPr>
        <p:spPr>
          <a:xfrm xmlns:a="http://schemas.openxmlformats.org/drawingml/2006/main">
            <a:off x="2476500" y="2038350"/>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A7AFBA"/>
                </a:solidFill>
                <a:latin typeface="Helvetica Neue"/>
                <a:ea typeface="Helvetica Neue"/>
                <a:cs typeface="Helvetica Neue"/>
              </a:defRPr>
            </a:pPr>
            <a:r>
              <a:rPr sz="2100" b="1">
                <a:solidFill>
                  <a:srgbClr val="A7AFBA"/>
                </a:solidFill>
                <a:latin typeface="Helvetica Neue"/>
                <a:ea typeface="Helvetica Neue"/>
                <a:cs typeface="Helvetica Neue"/>
              </a:rPr>
              <a:t>→</a:t>
            </a:r>
          </a:p>
        </p:txBody>
      </p:sp>
      <p:sp>
        <p:nvSpPr>
          <p:cNvPr id="8" name="node">
            <a:extLst xmlns:a="http://schemas.openxmlformats.org/drawingml/2006/main">
              <a:ext uri="{FF2B5EF4-FFF2-40B4-BE49-F238E27FC236}">
                <a16:creationId xmlns:a16="http://schemas.microsoft.com/office/drawing/2014/main" id="{F67C621D-74A6-4473-86B7-A6206D4B4A43}"/>
              </a:ext>
            </a:extLst>
          </p:cNvPr>
          <p:cNvSpPr>
            <a:spLocks xmlns:a="http://schemas.openxmlformats.org/drawingml/2006/main" noGrp="1"/>
          </p:cNvSpPr>
          <p:nvPr/>
        </p:nvSpPr>
        <p:spPr>
          <a:xfrm xmlns:a="http://schemas.openxmlformats.org/drawingml/2006/main">
            <a:off x="2724150" y="1676400"/>
            <a:ext cx="2076450" cy="1066800"/>
          </a:xfrm>
          <a:prstGeom xmlns:a="http://schemas.openxmlformats.org/drawingml/2006/main" prst="roundRect">
            <a:avLst>
              <a:gd name="adj" fmla="val 7143"/>
            </a:avLst>
          </a:prstGeom>
          <a:solidFill xmlns:a="http://schemas.openxmlformats.org/drawingml/2006/main">
            <a:srgbClr val="FDE7E5"/>
          </a:solidFill>
          <a:ln xmlns:a="http://schemas.openxmlformats.org/drawingml/2006/main" w="19050">
            <a:solidFill>
              <a:srgbClr val="EF6A66"/>
            </a:solidFill>
            <a:prstDash val="solid"/>
          </a:ln>
        </p:spPr>
      </p:sp>
      <p:sp>
        <p:nvSpPr>
          <p:cNvPr id="9" name="node-label">
            <a:extLst xmlns:a="http://schemas.openxmlformats.org/drawingml/2006/main">
              <a:ext uri="{FF2B5EF4-FFF2-40B4-BE49-F238E27FC236}">
                <a16:creationId xmlns:a16="http://schemas.microsoft.com/office/drawing/2014/main" id="{102B9E47-69F5-4BCC-91EB-9CEB58195E9C}"/>
              </a:ext>
            </a:extLst>
          </p:cNvPr>
          <p:cNvSpPr>
            <a:spLocks xmlns:a="http://schemas.openxmlformats.org/drawingml/2006/main" noGrp="1"/>
          </p:cNvSpPr>
          <p:nvPr/>
        </p:nvSpPr>
        <p:spPr>
          <a:xfrm xmlns:a="http://schemas.openxmlformats.org/drawingml/2006/main">
            <a:off x="2800350" y="1714500"/>
            <a:ext cx="1924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2  cheapest pair</a:t>
            </a:r>
          </a:p>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matcher assigns</a:t>
            </a:r>
          </a:p>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a target</a:t>
            </a:r>
          </a:p>
        </p:txBody>
      </p:sp>
      <p:sp>
        <p:nvSpPr>
          <p:cNvPr id="10" name="arrow">
            <a:extLst xmlns:a="http://schemas.openxmlformats.org/drawingml/2006/main">
              <a:ext uri="{FF2B5EF4-FFF2-40B4-BE49-F238E27FC236}">
                <a16:creationId xmlns:a16="http://schemas.microsoft.com/office/drawing/2014/main" id="{5E04EC36-0792-4736-8659-A4CFCAAE492B}"/>
              </a:ext>
            </a:extLst>
          </p:cNvPr>
          <p:cNvSpPr>
            <a:spLocks xmlns:a="http://schemas.openxmlformats.org/drawingml/2006/main" noGrp="1"/>
          </p:cNvSpPr>
          <p:nvPr/>
        </p:nvSpPr>
        <p:spPr>
          <a:xfrm xmlns:a="http://schemas.openxmlformats.org/drawingml/2006/main">
            <a:off x="4800600" y="2038350"/>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11" name="node">
            <a:extLst xmlns:a="http://schemas.openxmlformats.org/drawingml/2006/main">
              <a:ext uri="{FF2B5EF4-FFF2-40B4-BE49-F238E27FC236}">
                <a16:creationId xmlns:a16="http://schemas.microsoft.com/office/drawing/2014/main" id="{DC2FB148-3B6E-449E-A23F-0294C1E03AA8}"/>
              </a:ext>
            </a:extLst>
          </p:cNvPr>
          <p:cNvSpPr>
            <a:spLocks xmlns:a="http://schemas.openxmlformats.org/drawingml/2006/main" noGrp="1"/>
          </p:cNvSpPr>
          <p:nvPr/>
        </p:nvSpPr>
        <p:spPr>
          <a:xfrm xmlns:a="http://schemas.openxmlformats.org/drawingml/2006/main">
            <a:off x="5048250" y="1676400"/>
            <a:ext cx="2076450" cy="1066800"/>
          </a:xfrm>
          <a:prstGeom xmlns:a="http://schemas.openxmlformats.org/drawingml/2006/main" prst="roundRect">
            <a:avLst>
              <a:gd name="adj" fmla="val 7143"/>
            </a:avLst>
          </a:prstGeom>
          <a:solidFill xmlns:a="http://schemas.openxmlformats.org/drawingml/2006/main">
            <a:srgbClr val="EEE8FF"/>
          </a:solidFill>
          <a:ln xmlns:a="http://schemas.openxmlformats.org/drawingml/2006/main" w="19050">
            <a:solidFill>
              <a:srgbClr val="8E6CEF"/>
            </a:solidFill>
            <a:prstDash val="solid"/>
          </a:ln>
        </p:spPr>
      </p:sp>
      <p:sp>
        <p:nvSpPr>
          <p:cNvPr id="12" name="node-label">
            <a:extLst xmlns:a="http://schemas.openxmlformats.org/drawingml/2006/main">
              <a:ext uri="{FF2B5EF4-FFF2-40B4-BE49-F238E27FC236}">
                <a16:creationId xmlns:a16="http://schemas.microsoft.com/office/drawing/2014/main" id="{52F1F215-EACF-4B54-8B0F-78A8FD326E4A}"/>
              </a:ext>
            </a:extLst>
          </p:cNvPr>
          <p:cNvSpPr>
            <a:spLocks xmlns:a="http://schemas.openxmlformats.org/drawingml/2006/main" noGrp="1"/>
          </p:cNvSpPr>
          <p:nvPr/>
        </p:nvSpPr>
        <p:spPr>
          <a:xfrm xmlns:a="http://schemas.openxmlformats.org/drawingml/2006/main">
            <a:off x="5124450" y="1714500"/>
            <a:ext cx="1924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3  gradient</a:t>
            </a:r>
          </a:p>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matched slot moves</a:t>
            </a:r>
          </a:p>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toward target</a:t>
            </a:r>
          </a:p>
        </p:txBody>
      </p:sp>
      <p:sp>
        <p:nvSpPr>
          <p:cNvPr id="13" name="arrow">
            <a:extLst xmlns:a="http://schemas.openxmlformats.org/drawingml/2006/main">
              <a:ext uri="{FF2B5EF4-FFF2-40B4-BE49-F238E27FC236}">
                <a16:creationId xmlns:a16="http://schemas.microsoft.com/office/drawing/2014/main" id="{FE8C411D-4372-4472-9942-DF2832B48638}"/>
              </a:ext>
            </a:extLst>
          </p:cNvPr>
          <p:cNvSpPr>
            <a:spLocks xmlns:a="http://schemas.openxmlformats.org/drawingml/2006/main" noGrp="1"/>
          </p:cNvSpPr>
          <p:nvPr/>
        </p:nvSpPr>
        <p:spPr>
          <a:xfrm xmlns:a="http://schemas.openxmlformats.org/drawingml/2006/main">
            <a:off x="7124700" y="2038350"/>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8E6CEF"/>
                </a:solidFill>
                <a:latin typeface="Helvetica Neue"/>
                <a:ea typeface="Helvetica Neue"/>
                <a:cs typeface="Helvetica Neue"/>
              </a:defRPr>
            </a:pPr>
            <a:r>
              <a:rPr sz="2100" b="1">
                <a:solidFill>
                  <a:srgbClr val="8E6CEF"/>
                </a:solidFill>
                <a:latin typeface="Helvetica Neue"/>
                <a:ea typeface="Helvetica Neue"/>
                <a:cs typeface="Helvetica Neue"/>
              </a:rPr>
              <a:t>→</a:t>
            </a:r>
          </a:p>
        </p:txBody>
      </p:sp>
      <p:sp>
        <p:nvSpPr>
          <p:cNvPr id="14" name="node">
            <a:extLst xmlns:a="http://schemas.openxmlformats.org/drawingml/2006/main">
              <a:ext uri="{FF2B5EF4-FFF2-40B4-BE49-F238E27FC236}">
                <a16:creationId xmlns:a16="http://schemas.microsoft.com/office/drawing/2014/main" id="{75618C17-EDA0-4626-B741-B379F282755F}"/>
              </a:ext>
            </a:extLst>
          </p:cNvPr>
          <p:cNvSpPr>
            <a:spLocks xmlns:a="http://schemas.openxmlformats.org/drawingml/2006/main" noGrp="1"/>
          </p:cNvSpPr>
          <p:nvPr/>
        </p:nvSpPr>
        <p:spPr>
          <a:xfrm xmlns:a="http://schemas.openxmlformats.org/drawingml/2006/main">
            <a:off x="7372350" y="1676400"/>
            <a:ext cx="2076450" cy="1066800"/>
          </a:xfrm>
          <a:prstGeom xmlns:a="http://schemas.openxmlformats.org/drawingml/2006/main" prst="roundRect">
            <a:avLst>
              <a:gd name="adj" fmla="val 7143"/>
            </a:avLst>
          </a:prstGeom>
          <a:solidFill xmlns:a="http://schemas.openxmlformats.org/drawingml/2006/main">
            <a:srgbClr val="D9F1FC"/>
          </a:solidFill>
          <a:ln xmlns:a="http://schemas.openxmlformats.org/drawingml/2006/main" w="19050">
            <a:solidFill>
              <a:srgbClr val="3D8DFF"/>
            </a:solidFill>
            <a:prstDash val="solid"/>
          </a:ln>
        </p:spPr>
      </p:sp>
      <p:sp>
        <p:nvSpPr>
          <p:cNvPr id="15" name="node-label">
            <a:extLst xmlns:a="http://schemas.openxmlformats.org/drawingml/2006/main">
              <a:ext uri="{FF2B5EF4-FFF2-40B4-BE49-F238E27FC236}">
                <a16:creationId xmlns:a16="http://schemas.microsoft.com/office/drawing/2014/main" id="{9DFB4BBE-F011-472E-B885-CFC4B100CF5B}"/>
              </a:ext>
            </a:extLst>
          </p:cNvPr>
          <p:cNvSpPr>
            <a:spLocks xmlns:a="http://schemas.openxmlformats.org/drawingml/2006/main" noGrp="1"/>
          </p:cNvSpPr>
          <p:nvPr/>
        </p:nvSpPr>
        <p:spPr>
          <a:xfrm xmlns:a="http://schemas.openxmlformats.org/drawingml/2006/main">
            <a:off x="7448550" y="1714500"/>
            <a:ext cx="1924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4  repetition</a:t>
            </a:r>
          </a:p>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attention and box</a:t>
            </a:r>
          </a:p>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behavior stabilize</a:t>
            </a:r>
          </a:p>
        </p:txBody>
      </p:sp>
      <p:sp>
        <p:nvSpPr>
          <p:cNvPr id="16" name="arrow">
            <a:extLst xmlns:a="http://schemas.openxmlformats.org/drawingml/2006/main">
              <a:ext uri="{FF2B5EF4-FFF2-40B4-BE49-F238E27FC236}">
                <a16:creationId xmlns:a16="http://schemas.microsoft.com/office/drawing/2014/main" id="{378E3B69-5787-44D0-ABF3-28B1F2CD6952}"/>
              </a:ext>
            </a:extLst>
          </p:cNvPr>
          <p:cNvSpPr>
            <a:spLocks xmlns:a="http://schemas.openxmlformats.org/drawingml/2006/main" noGrp="1"/>
          </p:cNvSpPr>
          <p:nvPr/>
        </p:nvSpPr>
        <p:spPr>
          <a:xfrm xmlns:a="http://schemas.openxmlformats.org/drawingml/2006/main">
            <a:off x="9448800" y="2038350"/>
            <a:ext cx="247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7" name="node">
            <a:extLst xmlns:a="http://schemas.openxmlformats.org/drawingml/2006/main">
              <a:ext uri="{FF2B5EF4-FFF2-40B4-BE49-F238E27FC236}">
                <a16:creationId xmlns:a16="http://schemas.microsoft.com/office/drawing/2014/main" id="{FFD47AA9-C6B3-4FBB-A6EA-A3F16616E0A6}"/>
              </a:ext>
            </a:extLst>
          </p:cNvPr>
          <p:cNvSpPr>
            <a:spLocks xmlns:a="http://schemas.openxmlformats.org/drawingml/2006/main" noGrp="1"/>
          </p:cNvSpPr>
          <p:nvPr/>
        </p:nvSpPr>
        <p:spPr>
          <a:xfrm xmlns:a="http://schemas.openxmlformats.org/drawingml/2006/main">
            <a:off x="9696450" y="1676400"/>
            <a:ext cx="2076450" cy="1066800"/>
          </a:xfrm>
          <a:prstGeom xmlns:a="http://schemas.openxmlformats.org/drawingml/2006/main" prst="roundRect">
            <a:avLst>
              <a:gd name="adj" fmla="val 7143"/>
            </a:avLst>
          </a:prstGeom>
          <a:solidFill xmlns:a="http://schemas.openxmlformats.org/drawingml/2006/main">
            <a:srgbClr val="DDF4E8"/>
          </a:solidFill>
          <a:ln xmlns:a="http://schemas.openxmlformats.org/drawingml/2006/main" w="19050">
            <a:solidFill>
              <a:srgbClr val="45B97C"/>
            </a:solidFill>
            <a:prstDash val="solid"/>
          </a:ln>
        </p:spPr>
      </p:sp>
      <p:sp>
        <p:nvSpPr>
          <p:cNvPr id="18" name="node-label">
            <a:extLst xmlns:a="http://schemas.openxmlformats.org/drawingml/2006/main">
              <a:ext uri="{FF2B5EF4-FFF2-40B4-BE49-F238E27FC236}">
                <a16:creationId xmlns:a16="http://schemas.microsoft.com/office/drawing/2014/main" id="{9316C48A-5187-493E-8B43-82AE44962A10}"/>
              </a:ext>
            </a:extLst>
          </p:cNvPr>
          <p:cNvSpPr>
            <a:spLocks xmlns:a="http://schemas.openxmlformats.org/drawingml/2006/main" noGrp="1"/>
          </p:cNvSpPr>
          <p:nvPr/>
        </p:nvSpPr>
        <p:spPr>
          <a:xfrm xmlns:a="http://schemas.openxmlformats.org/drawingml/2006/main">
            <a:off x="9772650" y="1714500"/>
            <a:ext cx="19240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5  specialization</a:t>
            </a:r>
          </a:p>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queries develop</a:t>
            </a:r>
          </a:p>
          <a:p xmlns:a="http://schemas.openxmlformats.org/drawingml/2006/main">
            <a:pPr algn="ctr">
              <a:defRPr sz="1350" b="1">
                <a:solidFill>
                  <a:srgbClr val="111318"/>
                </a:solidFill>
                <a:latin typeface="Helvetica Neue"/>
                <a:ea typeface="Helvetica Neue"/>
                <a:cs typeface="Helvetica Neue"/>
              </a:defRPr>
            </a:pPr>
            <a:r>
              <a:rPr sz="1350" b="1">
                <a:solidFill>
                  <a:srgbClr val="111318"/>
                </a:solidFill>
                <a:latin typeface="Helvetica Neue"/>
                <a:ea typeface="Helvetica Neue"/>
                <a:cs typeface="Helvetica Neue"/>
              </a:rPr>
              <a:t>spatial/scale habits</a:t>
            </a:r>
          </a:p>
        </p:txBody>
      </p:sp>
      <p:sp>
        <p:nvSpPr>
          <p:cNvPr id="19" name="box">
            <a:extLst xmlns:a="http://schemas.openxmlformats.org/drawingml/2006/main">
              <a:ext uri="{FF2B5EF4-FFF2-40B4-BE49-F238E27FC236}">
                <a16:creationId xmlns:a16="http://schemas.microsoft.com/office/drawing/2014/main" id="{58C9ABDD-E61E-437F-A2BA-58F9E91BF015}"/>
              </a:ext>
            </a:extLst>
          </p:cNvPr>
          <p:cNvSpPr>
            <a:spLocks xmlns:a="http://schemas.openxmlformats.org/drawingml/2006/main" noGrp="1"/>
          </p:cNvSpPr>
          <p:nvPr/>
        </p:nvSpPr>
        <p:spPr>
          <a:xfrm xmlns:a="http://schemas.openxmlformats.org/drawingml/2006/main">
            <a:off x="895350" y="3524250"/>
            <a:ext cx="10401300" cy="1428750"/>
          </a:xfrm>
          <a:prstGeom xmlns:a="http://schemas.openxmlformats.org/drawingml/2006/main" prst="roundRect">
            <a:avLst>
              <a:gd name="adj" fmla="val 5333"/>
            </a:avLst>
          </a:prstGeom>
          <a:solidFill xmlns:a="http://schemas.openxmlformats.org/drawingml/2006/main">
            <a:srgbClr val="EEF1F4"/>
          </a:solidFill>
          <a:ln xmlns:a="http://schemas.openxmlformats.org/drawingml/2006/main" w="0">
            <a:noFill/>
            <a:prstDash val="solid"/>
          </a:ln>
        </p:spPr>
      </p:sp>
      <p:sp>
        <p:nvSpPr>
          <p:cNvPr id="20" name="text">
            <a:extLst xmlns:a="http://schemas.openxmlformats.org/drawingml/2006/main">
              <a:ext uri="{FF2B5EF4-FFF2-40B4-BE49-F238E27FC236}">
                <a16:creationId xmlns:a16="http://schemas.microsoft.com/office/drawing/2014/main" id="{CCF8E61C-E623-4790-A49C-B866FAA9A78D}"/>
              </a:ext>
            </a:extLst>
          </p:cNvPr>
          <p:cNvSpPr>
            <a:spLocks xmlns:a="http://schemas.openxmlformats.org/drawingml/2006/main" noGrp="1"/>
          </p:cNvSpPr>
          <p:nvPr/>
        </p:nvSpPr>
        <p:spPr>
          <a:xfrm xmlns:a="http://schemas.openxmlformats.org/drawingml/2006/main">
            <a:off x="1181100" y="3714750"/>
            <a:ext cx="9829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A useful feedback loop</a:t>
            </a:r>
          </a:p>
        </p:txBody>
      </p:sp>
      <p:sp>
        <p:nvSpPr>
          <p:cNvPr id="21" name="text">
            <a:extLst xmlns:a="http://schemas.openxmlformats.org/drawingml/2006/main">
              <a:ext uri="{FF2B5EF4-FFF2-40B4-BE49-F238E27FC236}">
                <a16:creationId xmlns:a16="http://schemas.microsoft.com/office/drawing/2014/main" id="{515ADD1B-593C-4776-B29E-A312B03A3E0E}"/>
              </a:ext>
            </a:extLst>
          </p:cNvPr>
          <p:cNvSpPr>
            <a:spLocks xmlns:a="http://schemas.openxmlformats.org/drawingml/2006/main" noGrp="1"/>
          </p:cNvSpPr>
          <p:nvPr/>
        </p:nvSpPr>
        <p:spPr>
          <a:xfrm xmlns:a="http://schemas.openxmlformats.org/drawingml/2006/main">
            <a:off x="1276350" y="4095750"/>
            <a:ext cx="9639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0">
                <a:solidFill>
                  <a:srgbClr val="111318"/>
                </a:solidFill>
                <a:latin typeface="Helvetica Neue"/>
                <a:ea typeface="Helvetica Neue"/>
                <a:cs typeface="Helvetica Neue"/>
              </a:defRPr>
            </a:pPr>
            <a:r>
              <a:rPr sz="1575" b="0">
                <a:solidFill>
                  <a:srgbClr val="111318"/>
                </a:solidFill>
                <a:latin typeface="Helvetica Neue"/>
                <a:ea typeface="Helvetica Neue"/>
                <a:cs typeface="Helvetica Neue"/>
              </a:rPr>
              <a:t>slightly better match → receives that target’s gradient → attends/predicts a little better →</a:t>
            </a:r>
          </a:p>
          <a:p xmlns:a="http://schemas.openxmlformats.org/drawingml/2006/main">
            <a:pPr algn="ctr">
              <a:defRPr sz="1575" b="0">
                <a:solidFill>
                  <a:srgbClr val="111318"/>
                </a:solidFill>
                <a:latin typeface="Helvetica Neue"/>
                <a:ea typeface="Helvetica Neue"/>
                <a:cs typeface="Helvetica Neue"/>
              </a:defRPr>
            </a:pPr>
            <a:r>
              <a:rPr sz="1575" b="0">
                <a:solidFill>
                  <a:srgbClr val="111318"/>
                </a:solidFill>
                <a:latin typeface="Helvetica Neue"/>
                <a:ea typeface="Helvetica Neue"/>
                <a:cs typeface="Helvetica Neue"/>
              </a:rPr>
              <a:t>becomes cheaper for similar responsibilities on future images</a:t>
            </a:r>
          </a:p>
        </p:txBody>
      </p:sp>
      <p:sp>
        <p:nvSpPr>
          <p:cNvPr id="22" name="box">
            <a:extLst xmlns:a="http://schemas.openxmlformats.org/drawingml/2006/main">
              <a:ext uri="{FF2B5EF4-FFF2-40B4-BE49-F238E27FC236}">
                <a16:creationId xmlns:a16="http://schemas.microsoft.com/office/drawing/2014/main" id="{796D7073-265B-4042-9B99-CBBD56358CC6}"/>
              </a:ext>
            </a:extLst>
          </p:cNvPr>
          <p:cNvSpPr>
            <a:spLocks xmlns:a="http://schemas.openxmlformats.org/drawingml/2006/main" noGrp="1"/>
          </p:cNvSpPr>
          <p:nvPr/>
        </p:nvSpPr>
        <p:spPr>
          <a:xfrm xmlns:a="http://schemas.openxmlformats.org/drawingml/2006/main">
            <a:off x="2171700" y="5276850"/>
            <a:ext cx="7848600" cy="533400"/>
          </a:xfrm>
          <a:prstGeom xmlns:a="http://schemas.openxmlformats.org/drawingml/2006/main" prst="roundRect">
            <a:avLst>
              <a:gd name="adj" fmla="val 14286"/>
            </a:avLst>
          </a:prstGeom>
          <a:solidFill xmlns:a="http://schemas.openxmlformats.org/drawingml/2006/main">
            <a:srgbClr val="FDE7E5"/>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8DB981D4-4BA7-4BA1-9FD8-17127B812007}"/>
              </a:ext>
            </a:extLst>
          </p:cNvPr>
          <p:cNvSpPr>
            <a:spLocks xmlns:a="http://schemas.openxmlformats.org/drawingml/2006/main" noGrp="1"/>
          </p:cNvSpPr>
          <p:nvPr/>
        </p:nvSpPr>
        <p:spPr>
          <a:xfrm xmlns:a="http://schemas.openxmlformats.org/drawingml/2006/main">
            <a:off x="2343150" y="5353050"/>
            <a:ext cx="750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EF6A66"/>
                </a:solidFill>
                <a:latin typeface="Helvetica Neue"/>
                <a:ea typeface="Helvetica Neue"/>
                <a:cs typeface="Helvetica Neue"/>
              </a:defRPr>
            </a:pPr>
            <a:r>
              <a:rPr sz="1500" b="1">
                <a:solidFill>
                  <a:srgbClr val="EF6A66"/>
                </a:solidFill>
                <a:latin typeface="Helvetica Neue"/>
                <a:ea typeface="Helvetica Neue"/>
                <a:cs typeface="Helvetica Neue"/>
              </a:rPr>
              <a:t>Specialization is a tendency—not a permanent semantic label.</a:t>
            </a:r>
          </a:p>
        </p:txBody>
      </p:sp>
    </p:spTree>
    <p:extLst>
      <p:ext uri="{BB962C8B-B14F-4D97-AF65-F5344CB8AC3E}">
        <p14:creationId xmlns:p14="http://schemas.microsoft.com/office/powerpoint/2010/main" val="197986375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ext">
            <a:extLst xmlns:a="http://schemas.openxmlformats.org/drawingml/2006/main">
              <a:ext uri="{FF2B5EF4-FFF2-40B4-BE49-F238E27FC236}">
                <a16:creationId xmlns:a16="http://schemas.microsoft.com/office/drawing/2014/main" id="{94326EF1-CFDB-4457-8C0A-5F6E4A9C6314}"/>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B69835A7-88EE-4BFA-B7B5-DACC3C1AC717}"/>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Why do duplicate predictions decrease?</a:t>
            </a:r>
          </a:p>
        </p:txBody>
      </p:sp>
      <p:sp>
        <p:nvSpPr>
          <p:cNvPr id="3" name="text">
            <a:extLst xmlns:a="http://schemas.openxmlformats.org/drawingml/2006/main">
              <a:ext uri="{FF2B5EF4-FFF2-40B4-BE49-F238E27FC236}">
                <a16:creationId xmlns:a16="http://schemas.microsoft.com/office/drawing/2014/main" id="{D044B1EA-8DB2-41DD-8585-CB244B85206D}"/>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STEP 8 • UNIQUE SET</a:t>
            </a:r>
          </a:p>
        </p:txBody>
      </p:sp>
      <p:sp>
        <p:nvSpPr>
          <p:cNvPr id="4" name="text">
            <a:extLst xmlns:a="http://schemas.openxmlformats.org/drawingml/2006/main">
              <a:ext uri="{FF2B5EF4-FFF2-40B4-BE49-F238E27FC236}">
                <a16:creationId xmlns:a16="http://schemas.microsoft.com/office/drawing/2014/main" id="{D93AEE04-7AE8-4076-A756-3C6763FE3AA7}"/>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35</a:t>
            </a:r>
          </a:p>
        </p:txBody>
      </p:sp>
      <p:sp>
        <p:nvSpPr>
          <p:cNvPr id="5" name="node">
            <a:extLst xmlns:a="http://schemas.openxmlformats.org/drawingml/2006/main">
              <a:ext uri="{FF2B5EF4-FFF2-40B4-BE49-F238E27FC236}">
                <a16:creationId xmlns:a16="http://schemas.microsoft.com/office/drawing/2014/main" id="{CF30A47F-4176-4899-AB85-D7F9030DB2BD}"/>
              </a:ext>
            </a:extLst>
          </p:cNvPr>
          <p:cNvSpPr>
            <a:spLocks xmlns:a="http://schemas.openxmlformats.org/drawingml/2006/main" noGrp="1"/>
          </p:cNvSpPr>
          <p:nvPr/>
        </p:nvSpPr>
        <p:spPr>
          <a:xfrm xmlns:a="http://schemas.openxmlformats.org/drawingml/2006/main">
            <a:off x="552450" y="1657350"/>
            <a:ext cx="723900" cy="457200"/>
          </a:xfrm>
          <a:prstGeom xmlns:a="http://schemas.openxmlformats.org/drawingml/2006/main" prst="roundRect">
            <a:avLst>
              <a:gd name="adj" fmla="val 16667"/>
            </a:avLst>
          </a:prstGeom>
          <a:solidFill xmlns:a="http://schemas.openxmlformats.org/drawingml/2006/main">
            <a:srgbClr val="DDF4E8"/>
          </a:solidFill>
          <a:ln xmlns:a="http://schemas.openxmlformats.org/drawingml/2006/main" w="19050">
            <a:solidFill>
              <a:srgbClr val="45B97C"/>
            </a:solidFill>
            <a:prstDash val="solid"/>
          </a:ln>
        </p:spPr>
      </p:sp>
      <p:sp>
        <p:nvSpPr>
          <p:cNvPr id="6" name="node-label">
            <a:extLst xmlns:a="http://schemas.openxmlformats.org/drawingml/2006/main">
              <a:ext uri="{FF2B5EF4-FFF2-40B4-BE49-F238E27FC236}">
                <a16:creationId xmlns:a16="http://schemas.microsoft.com/office/drawing/2014/main" id="{CF1E4234-E18A-4361-AB5B-3F8DBE3F7DBF}"/>
              </a:ext>
            </a:extLst>
          </p:cNvPr>
          <p:cNvSpPr>
            <a:spLocks xmlns:a="http://schemas.openxmlformats.org/drawingml/2006/main" noGrp="1"/>
          </p:cNvSpPr>
          <p:nvPr/>
        </p:nvSpPr>
        <p:spPr>
          <a:xfrm xmlns:a="http://schemas.openxmlformats.org/drawingml/2006/main">
            <a:off x="628650" y="169545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45B97C"/>
                </a:solidFill>
                <a:latin typeface="Helvetica Neue"/>
                <a:ea typeface="Helvetica Neue"/>
                <a:cs typeface="Helvetica Neue"/>
              </a:defRPr>
            </a:pPr>
            <a:r>
              <a:rPr sz="1350" b="1">
                <a:solidFill>
                  <a:srgbClr val="45B97C"/>
                </a:solidFill>
                <a:latin typeface="Helvetica Neue"/>
                <a:ea typeface="Helvetica Neue"/>
                <a:cs typeface="Helvetica Neue"/>
              </a:rPr>
              <a:t>Q2</a:t>
            </a:r>
          </a:p>
        </p:txBody>
      </p:sp>
      <p:sp>
        <p:nvSpPr>
          <p:cNvPr id="7" name="text">
            <a:extLst xmlns:a="http://schemas.openxmlformats.org/drawingml/2006/main">
              <a:ext uri="{FF2B5EF4-FFF2-40B4-BE49-F238E27FC236}">
                <a16:creationId xmlns:a16="http://schemas.microsoft.com/office/drawing/2014/main" id="{E9365AB5-F622-44E8-9636-73E0F21504EB}"/>
              </a:ext>
            </a:extLst>
          </p:cNvPr>
          <p:cNvSpPr>
            <a:spLocks xmlns:a="http://schemas.openxmlformats.org/drawingml/2006/main" noGrp="1"/>
          </p:cNvSpPr>
          <p:nvPr/>
        </p:nvSpPr>
        <p:spPr>
          <a:xfrm xmlns:a="http://schemas.openxmlformats.org/drawingml/2006/main">
            <a:off x="1409700" y="165735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45B97C"/>
                </a:solidFill>
                <a:latin typeface="Helvetica Neue"/>
                <a:ea typeface="Helvetica Neue"/>
                <a:cs typeface="Helvetica Neue"/>
              </a:defRPr>
            </a:pPr>
            <a:r>
              <a:rPr sz="1425" b="1">
                <a:solidFill>
                  <a:srgbClr val="45B97C"/>
                </a:solidFill>
                <a:latin typeface="Helvetica Neue"/>
                <a:ea typeface="Helvetica Neue"/>
                <a:cs typeface="Helvetica Neue"/>
              </a:rPr>
              <a:t>dog 0.90 → matched dog</a:t>
            </a:r>
          </a:p>
        </p:txBody>
      </p:sp>
      <p:sp>
        <p:nvSpPr>
          <p:cNvPr id="8" name="node">
            <a:extLst xmlns:a="http://schemas.openxmlformats.org/drawingml/2006/main">
              <a:ext uri="{FF2B5EF4-FFF2-40B4-BE49-F238E27FC236}">
                <a16:creationId xmlns:a16="http://schemas.microsoft.com/office/drawing/2014/main" id="{B2FFDB2B-D69B-4440-9729-030E140CC678}"/>
              </a:ext>
            </a:extLst>
          </p:cNvPr>
          <p:cNvSpPr>
            <a:spLocks xmlns:a="http://schemas.openxmlformats.org/drawingml/2006/main" noGrp="1"/>
          </p:cNvSpPr>
          <p:nvPr/>
        </p:nvSpPr>
        <p:spPr>
          <a:xfrm xmlns:a="http://schemas.openxmlformats.org/drawingml/2006/main">
            <a:off x="552450" y="2457450"/>
            <a:ext cx="723900" cy="457200"/>
          </a:xfrm>
          <a:prstGeom xmlns:a="http://schemas.openxmlformats.org/drawingml/2006/main" prst="roundRect">
            <a:avLst>
              <a:gd name="adj" fmla="val 16667"/>
            </a:avLst>
          </a:prstGeom>
          <a:solidFill xmlns:a="http://schemas.openxmlformats.org/drawingml/2006/main">
            <a:srgbClr val="FDE7E5"/>
          </a:solidFill>
          <a:ln xmlns:a="http://schemas.openxmlformats.org/drawingml/2006/main" w="19050">
            <a:solidFill>
              <a:srgbClr val="EF6A66"/>
            </a:solidFill>
            <a:prstDash val="solid"/>
          </a:ln>
        </p:spPr>
      </p:sp>
      <p:sp>
        <p:nvSpPr>
          <p:cNvPr id="9" name="node-label">
            <a:extLst xmlns:a="http://schemas.openxmlformats.org/drawingml/2006/main">
              <a:ext uri="{FF2B5EF4-FFF2-40B4-BE49-F238E27FC236}">
                <a16:creationId xmlns:a16="http://schemas.microsoft.com/office/drawing/2014/main" id="{69279F00-0389-47E9-BA71-6792730F3CB6}"/>
              </a:ext>
            </a:extLst>
          </p:cNvPr>
          <p:cNvSpPr>
            <a:spLocks xmlns:a="http://schemas.openxmlformats.org/drawingml/2006/main" noGrp="1"/>
          </p:cNvSpPr>
          <p:nvPr/>
        </p:nvSpPr>
        <p:spPr>
          <a:xfrm xmlns:a="http://schemas.openxmlformats.org/drawingml/2006/main">
            <a:off x="628650" y="2495550"/>
            <a:ext cx="57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EF6A66"/>
                </a:solidFill>
                <a:latin typeface="Helvetica Neue"/>
                <a:ea typeface="Helvetica Neue"/>
                <a:cs typeface="Helvetica Neue"/>
              </a:defRPr>
            </a:pPr>
            <a:r>
              <a:rPr sz="1350" b="1">
                <a:solidFill>
                  <a:srgbClr val="EF6A66"/>
                </a:solidFill>
                <a:latin typeface="Helvetica Neue"/>
                <a:ea typeface="Helvetica Neue"/>
                <a:cs typeface="Helvetica Neue"/>
              </a:rPr>
              <a:t>Q4</a:t>
            </a:r>
          </a:p>
        </p:txBody>
      </p:sp>
      <p:sp>
        <p:nvSpPr>
          <p:cNvPr id="10" name="text">
            <a:extLst xmlns:a="http://schemas.openxmlformats.org/drawingml/2006/main">
              <a:ext uri="{FF2B5EF4-FFF2-40B4-BE49-F238E27FC236}">
                <a16:creationId xmlns:a16="http://schemas.microsoft.com/office/drawing/2014/main" id="{4A6131D9-4CA0-465F-8DCB-37430FFCB680}"/>
              </a:ext>
            </a:extLst>
          </p:cNvPr>
          <p:cNvSpPr>
            <a:spLocks xmlns:a="http://schemas.openxmlformats.org/drawingml/2006/main" noGrp="1"/>
          </p:cNvSpPr>
          <p:nvPr/>
        </p:nvSpPr>
        <p:spPr>
          <a:xfrm xmlns:a="http://schemas.openxmlformats.org/drawingml/2006/main">
            <a:off x="1409700" y="245745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EF6A66"/>
                </a:solidFill>
                <a:latin typeface="Helvetica Neue"/>
                <a:ea typeface="Helvetica Neue"/>
                <a:cs typeface="Helvetica Neue"/>
              </a:defRPr>
            </a:pPr>
            <a:r>
              <a:rPr sz="1425" b="1">
                <a:solidFill>
                  <a:srgbClr val="EF6A66"/>
                </a:solidFill>
                <a:latin typeface="Helvetica Neue"/>
                <a:ea typeface="Helvetica Neue"/>
                <a:cs typeface="Helvetica Neue"/>
              </a:rPr>
              <a:t>dog 0.62 → unmatched</a:t>
            </a:r>
          </a:p>
        </p:txBody>
      </p:sp>
      <p:sp>
        <p:nvSpPr>
          <p:cNvPr id="11" name="arrow">
            <a:extLst xmlns:a="http://schemas.openxmlformats.org/drawingml/2006/main">
              <a:ext uri="{FF2B5EF4-FFF2-40B4-BE49-F238E27FC236}">
                <a16:creationId xmlns:a16="http://schemas.microsoft.com/office/drawing/2014/main" id="{2B73854E-BA61-46C6-90F8-F1085D6E9F7A}"/>
              </a:ext>
            </a:extLst>
          </p:cNvPr>
          <p:cNvSpPr>
            <a:spLocks xmlns:a="http://schemas.openxmlformats.org/drawingml/2006/main" noGrp="1"/>
          </p:cNvSpPr>
          <p:nvPr/>
        </p:nvSpPr>
        <p:spPr>
          <a:xfrm xmlns:a="http://schemas.openxmlformats.org/drawingml/2006/main">
            <a:off x="5372100" y="17145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45B97C"/>
                </a:solidFill>
                <a:latin typeface="Helvetica Neue"/>
                <a:ea typeface="Helvetica Neue"/>
                <a:cs typeface="Helvetica Neue"/>
              </a:defRPr>
            </a:pPr>
            <a:r>
              <a:rPr sz="2100" b="1">
                <a:solidFill>
                  <a:srgbClr val="45B97C"/>
                </a:solidFill>
                <a:latin typeface="Helvetica Neue"/>
                <a:ea typeface="Helvetica Neue"/>
                <a:cs typeface="Helvetica Neue"/>
              </a:rPr>
              <a:t>→</a:t>
            </a:r>
          </a:p>
        </p:txBody>
      </p:sp>
      <p:sp>
        <p:nvSpPr>
          <p:cNvPr id="12" name="arrow">
            <a:extLst xmlns:a="http://schemas.openxmlformats.org/drawingml/2006/main">
              <a:ext uri="{FF2B5EF4-FFF2-40B4-BE49-F238E27FC236}">
                <a16:creationId xmlns:a16="http://schemas.microsoft.com/office/drawing/2014/main" id="{68862CC2-E9AF-484C-BE4E-98576F5F5E6A}"/>
              </a:ext>
            </a:extLst>
          </p:cNvPr>
          <p:cNvSpPr>
            <a:spLocks xmlns:a="http://schemas.openxmlformats.org/drawingml/2006/main" noGrp="1"/>
          </p:cNvSpPr>
          <p:nvPr/>
        </p:nvSpPr>
        <p:spPr>
          <a:xfrm xmlns:a="http://schemas.openxmlformats.org/drawingml/2006/main">
            <a:off x="5372100" y="251460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EF6A66"/>
                </a:solidFill>
                <a:latin typeface="Helvetica Neue"/>
                <a:ea typeface="Helvetica Neue"/>
                <a:cs typeface="Helvetica Neue"/>
              </a:defRPr>
            </a:pPr>
            <a:r>
              <a:rPr sz="2100" b="1">
                <a:solidFill>
                  <a:srgbClr val="EF6A66"/>
                </a:solidFill>
                <a:latin typeface="Helvetica Neue"/>
                <a:ea typeface="Helvetica Neue"/>
                <a:cs typeface="Helvetica Neue"/>
              </a:rPr>
              <a:t>→</a:t>
            </a:r>
          </a:p>
        </p:txBody>
      </p:sp>
      <p:sp>
        <p:nvSpPr>
          <p:cNvPr id="13" name="box">
            <a:extLst xmlns:a="http://schemas.openxmlformats.org/drawingml/2006/main">
              <a:ext uri="{FF2B5EF4-FFF2-40B4-BE49-F238E27FC236}">
                <a16:creationId xmlns:a16="http://schemas.microsoft.com/office/drawing/2014/main" id="{DDB67462-B756-4E79-BC87-C65DA3F2DC12}"/>
              </a:ext>
            </a:extLst>
          </p:cNvPr>
          <p:cNvSpPr>
            <a:spLocks xmlns:a="http://schemas.openxmlformats.org/drawingml/2006/main" noGrp="1"/>
          </p:cNvSpPr>
          <p:nvPr/>
        </p:nvSpPr>
        <p:spPr>
          <a:xfrm xmlns:a="http://schemas.openxmlformats.org/drawingml/2006/main">
            <a:off x="6572250" y="1695450"/>
            <a:ext cx="2095500" cy="400050"/>
          </a:xfrm>
          <a:prstGeom xmlns:a="http://schemas.openxmlformats.org/drawingml/2006/main" prst="roundRect">
            <a:avLst>
              <a:gd name="adj" fmla="val 19048"/>
            </a:avLst>
          </a:prstGeom>
          <a:solidFill xmlns:a="http://schemas.openxmlformats.org/drawingml/2006/main">
            <a:srgbClr val="DDF4E8"/>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B20429AD-0636-47FC-B7B1-A612185504B9}"/>
              </a:ext>
            </a:extLst>
          </p:cNvPr>
          <p:cNvSpPr>
            <a:spLocks xmlns:a="http://schemas.openxmlformats.org/drawingml/2006/main" noGrp="1"/>
          </p:cNvSpPr>
          <p:nvPr/>
        </p:nvSpPr>
        <p:spPr>
          <a:xfrm xmlns:a="http://schemas.openxmlformats.org/drawingml/2006/main">
            <a:off x="6648450" y="17335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45B97C"/>
                </a:solidFill>
                <a:latin typeface="Helvetica Neue"/>
                <a:ea typeface="Helvetica Neue"/>
                <a:cs typeface="Helvetica Neue"/>
              </a:defRPr>
            </a:pPr>
            <a:r>
              <a:rPr sz="1200" b="1">
                <a:solidFill>
                  <a:srgbClr val="45B97C"/>
                </a:solidFill>
                <a:latin typeface="Helvetica Neue"/>
                <a:ea typeface="Helvetica Neue"/>
                <a:cs typeface="Helvetica Neue"/>
              </a:rPr>
              <a:t>dog target</a:t>
            </a:r>
          </a:p>
        </p:txBody>
      </p:sp>
      <p:sp>
        <p:nvSpPr>
          <p:cNvPr id="15" name="box">
            <a:extLst xmlns:a="http://schemas.openxmlformats.org/drawingml/2006/main">
              <a:ext uri="{FF2B5EF4-FFF2-40B4-BE49-F238E27FC236}">
                <a16:creationId xmlns:a16="http://schemas.microsoft.com/office/drawing/2014/main" id="{5A54427D-932C-4AA9-AAF8-AB94E3973A5B}"/>
              </a:ext>
            </a:extLst>
          </p:cNvPr>
          <p:cNvSpPr>
            <a:spLocks xmlns:a="http://schemas.openxmlformats.org/drawingml/2006/main" noGrp="1"/>
          </p:cNvSpPr>
          <p:nvPr/>
        </p:nvSpPr>
        <p:spPr>
          <a:xfrm xmlns:a="http://schemas.openxmlformats.org/drawingml/2006/main">
            <a:off x="6572250" y="2495550"/>
            <a:ext cx="2095500" cy="400050"/>
          </a:xfrm>
          <a:prstGeom xmlns:a="http://schemas.openxmlformats.org/drawingml/2006/main" prst="roundRect">
            <a:avLst>
              <a:gd name="adj" fmla="val 19048"/>
            </a:avLst>
          </a:prstGeom>
          <a:solidFill xmlns:a="http://schemas.openxmlformats.org/drawingml/2006/main">
            <a:srgbClr val="EEF1F4"/>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67B4BD5C-CFD6-44BA-B453-D2C95B0D82D1}"/>
              </a:ext>
            </a:extLst>
          </p:cNvPr>
          <p:cNvSpPr>
            <a:spLocks xmlns:a="http://schemas.openxmlformats.org/drawingml/2006/main" noGrp="1"/>
          </p:cNvSpPr>
          <p:nvPr/>
        </p:nvSpPr>
        <p:spPr>
          <a:xfrm xmlns:a="http://schemas.openxmlformats.org/drawingml/2006/main">
            <a:off x="6648450" y="2533650"/>
            <a:ext cx="194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A7AFBA"/>
                </a:solidFill>
                <a:latin typeface="Helvetica Neue"/>
                <a:ea typeface="Helvetica Neue"/>
                <a:cs typeface="Helvetica Neue"/>
              </a:defRPr>
            </a:pPr>
            <a:r>
              <a:rPr sz="1200" b="1">
                <a:solidFill>
                  <a:srgbClr val="A7AFBA"/>
                </a:solidFill>
                <a:latin typeface="Helvetica Neue"/>
                <a:ea typeface="Helvetica Neue"/>
                <a:cs typeface="Helvetica Neue"/>
              </a:rPr>
              <a:t>∅ target</a:t>
            </a:r>
          </a:p>
        </p:txBody>
      </p:sp>
      <p:sp>
        <p:nvSpPr>
          <p:cNvPr id="17" name="box">
            <a:extLst xmlns:a="http://schemas.openxmlformats.org/drawingml/2006/main">
              <a:ext uri="{FF2B5EF4-FFF2-40B4-BE49-F238E27FC236}">
                <a16:creationId xmlns:a16="http://schemas.microsoft.com/office/drawing/2014/main" id="{B36D4088-ECDA-49A1-B35F-DE4C3F07543C}"/>
              </a:ext>
            </a:extLst>
          </p:cNvPr>
          <p:cNvSpPr>
            <a:spLocks xmlns:a="http://schemas.openxmlformats.org/drawingml/2006/main" noGrp="1"/>
          </p:cNvSpPr>
          <p:nvPr/>
        </p:nvSpPr>
        <p:spPr>
          <a:xfrm xmlns:a="http://schemas.openxmlformats.org/drawingml/2006/main">
            <a:off x="9124950" y="1600200"/>
            <a:ext cx="2400300" cy="1504950"/>
          </a:xfrm>
          <a:prstGeom xmlns:a="http://schemas.openxmlformats.org/drawingml/2006/main" prst="roundRect">
            <a:avLst>
              <a:gd name="adj" fmla="val 5063"/>
            </a:avLst>
          </a:prstGeom>
          <a:solidFill xmlns:a="http://schemas.openxmlformats.org/drawingml/2006/main">
            <a:srgbClr val="EEF1F4"/>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49DB351E-449F-426C-9B23-9243B0C1DAF7}"/>
              </a:ext>
            </a:extLst>
          </p:cNvPr>
          <p:cNvSpPr>
            <a:spLocks xmlns:a="http://schemas.openxmlformats.org/drawingml/2006/main" noGrp="1"/>
          </p:cNvSpPr>
          <p:nvPr/>
        </p:nvSpPr>
        <p:spPr>
          <a:xfrm xmlns:a="http://schemas.openxmlformats.org/drawingml/2006/main">
            <a:off x="9334500" y="1790700"/>
            <a:ext cx="1981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Opposite gradients</a:t>
            </a:r>
          </a:p>
        </p:txBody>
      </p:sp>
      <p:sp>
        <p:nvSpPr>
          <p:cNvPr id="19" name="text">
            <a:extLst xmlns:a="http://schemas.openxmlformats.org/drawingml/2006/main">
              <a:ext uri="{FF2B5EF4-FFF2-40B4-BE49-F238E27FC236}">
                <a16:creationId xmlns:a16="http://schemas.microsoft.com/office/drawing/2014/main" id="{11D3A444-F2EF-4033-8DAD-1AA499A14B47}"/>
              </a:ext>
            </a:extLst>
          </p:cNvPr>
          <p:cNvSpPr>
            <a:spLocks xmlns:a="http://schemas.openxmlformats.org/drawingml/2006/main" noGrp="1"/>
          </p:cNvSpPr>
          <p:nvPr/>
        </p:nvSpPr>
        <p:spPr>
          <a:xfrm xmlns:a="http://schemas.openxmlformats.org/drawingml/2006/main">
            <a:off x="9334500" y="2209800"/>
            <a:ext cx="1981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Q2: increase dog</a:t>
            </a:r>
          </a:p>
          <a:p xmlns:a="http://schemas.openxmlformats.org/drawingml/2006/main">
            <a:pPr algn="ctr">
              <a:defRPr sz="1425" b="1">
                <a:solidFill>
                  <a:srgbClr val="111318"/>
                </a:solidFill>
                <a:latin typeface="Helvetica Neue"/>
                <a:ea typeface="Helvetica Neue"/>
                <a:cs typeface="Helvetica Neue"/>
              </a:defRPr>
            </a:pPr>
            <a:r>
              <a:rPr sz="1425" b="1">
                <a:solidFill>
                  <a:srgbClr val="111318"/>
                </a:solidFill>
                <a:latin typeface="Helvetica Neue"/>
                <a:ea typeface="Helvetica Neue"/>
                <a:cs typeface="Helvetica Neue"/>
              </a:rPr>
              <a:t>Q4: decrease dog</a:t>
            </a:r>
          </a:p>
        </p:txBody>
      </p:sp>
      <p:sp>
        <p:nvSpPr>
          <p:cNvPr id="20" name="box">
            <a:extLst xmlns:a="http://schemas.openxmlformats.org/drawingml/2006/main">
              <a:ext uri="{FF2B5EF4-FFF2-40B4-BE49-F238E27FC236}">
                <a16:creationId xmlns:a16="http://schemas.microsoft.com/office/drawing/2014/main" id="{8BEB4519-417F-4623-8C4F-4B622F3B1AAA}"/>
              </a:ext>
            </a:extLst>
          </p:cNvPr>
          <p:cNvSpPr>
            <a:spLocks xmlns:a="http://schemas.openxmlformats.org/drawingml/2006/main" noGrp="1"/>
          </p:cNvSpPr>
          <p:nvPr/>
        </p:nvSpPr>
        <p:spPr>
          <a:xfrm xmlns:a="http://schemas.openxmlformats.org/drawingml/2006/main">
            <a:off x="990600" y="3657600"/>
            <a:ext cx="10191750" cy="685800"/>
          </a:xfrm>
          <a:prstGeom xmlns:a="http://schemas.openxmlformats.org/drawingml/2006/main" prst="roundRect">
            <a:avLst>
              <a:gd name="adj" fmla="val 11111"/>
            </a:avLst>
          </a:prstGeom>
          <a:solidFill xmlns:a="http://schemas.openxmlformats.org/drawingml/2006/main">
            <a:srgbClr val="FDE7E5"/>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6A2A62C2-8A0A-42D5-A0DC-CA6E7CB22FCA}"/>
              </a:ext>
            </a:extLst>
          </p:cNvPr>
          <p:cNvSpPr>
            <a:spLocks xmlns:a="http://schemas.openxmlformats.org/drawingml/2006/main" noGrp="1"/>
          </p:cNvSpPr>
          <p:nvPr/>
        </p:nvSpPr>
        <p:spPr>
          <a:xfrm xmlns:a="http://schemas.openxmlformats.org/drawingml/2006/main">
            <a:off x="1162050" y="3733800"/>
            <a:ext cx="9848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EF6A66"/>
                </a:solidFill>
                <a:latin typeface="Helvetica Neue"/>
                <a:ea typeface="Helvetica Neue"/>
                <a:cs typeface="Helvetica Neue"/>
              </a:defRPr>
            </a:pPr>
            <a:r>
              <a:rPr sz="1500" b="1">
                <a:solidFill>
                  <a:srgbClr val="EF6A66"/>
                </a:solidFill>
                <a:latin typeface="Helvetica Neue"/>
                <a:ea typeface="Helvetica Neue"/>
                <a:cs typeface="Helvetica Neue"/>
              </a:rPr>
              <a:t>One-to-one matching + no-object classification makes a confident duplicate costly.</a:t>
            </a:r>
          </a:p>
        </p:txBody>
      </p:sp>
      <p:sp>
        <p:nvSpPr>
          <p:cNvPr id="22" name="text">
            <a:extLst xmlns:a="http://schemas.openxmlformats.org/drawingml/2006/main">
              <a:ext uri="{FF2B5EF4-FFF2-40B4-BE49-F238E27FC236}">
                <a16:creationId xmlns:a16="http://schemas.microsoft.com/office/drawing/2014/main" id="{74482FE8-07A1-4E20-853F-B42C3D8DCF1E}"/>
              </a:ext>
            </a:extLst>
          </p:cNvPr>
          <p:cNvSpPr>
            <a:spLocks xmlns:a="http://schemas.openxmlformats.org/drawingml/2006/main" noGrp="1"/>
          </p:cNvSpPr>
          <p:nvPr/>
        </p:nvSpPr>
        <p:spPr>
          <a:xfrm xmlns:a="http://schemas.openxmlformats.org/drawingml/2006/main">
            <a:off x="1219200" y="46672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a:t>
            </a:r>
          </a:p>
        </p:txBody>
      </p:sp>
      <p:sp>
        <p:nvSpPr>
          <p:cNvPr id="23" name="text">
            <a:extLst xmlns:a="http://schemas.openxmlformats.org/drawingml/2006/main">
              <a:ext uri="{FF2B5EF4-FFF2-40B4-BE49-F238E27FC236}">
                <a16:creationId xmlns:a16="http://schemas.microsoft.com/office/drawing/2014/main" id="{24300D63-301A-4988-B475-449BC4B82377}"/>
              </a:ext>
            </a:extLst>
          </p:cNvPr>
          <p:cNvSpPr>
            <a:spLocks xmlns:a="http://schemas.openxmlformats.org/drawingml/2006/main" noGrp="1"/>
          </p:cNvSpPr>
          <p:nvPr/>
        </p:nvSpPr>
        <p:spPr>
          <a:xfrm xmlns:a="http://schemas.openxmlformats.org/drawingml/2006/main">
            <a:off x="1466850" y="4667250"/>
            <a:ext cx="946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Decoder self-attention can help queries coordinate.</a:t>
            </a:r>
          </a:p>
        </p:txBody>
      </p:sp>
      <p:sp>
        <p:nvSpPr>
          <p:cNvPr id="24" name="text">
            <a:extLst xmlns:a="http://schemas.openxmlformats.org/drawingml/2006/main">
              <a:ext uri="{FF2B5EF4-FFF2-40B4-BE49-F238E27FC236}">
                <a16:creationId xmlns:a16="http://schemas.microsoft.com/office/drawing/2014/main" id="{793B6F91-BA9F-4A39-83CA-AA57B1E4D6CF}"/>
              </a:ext>
            </a:extLst>
          </p:cNvPr>
          <p:cNvSpPr>
            <a:spLocks xmlns:a="http://schemas.openxmlformats.org/drawingml/2006/main" noGrp="1"/>
          </p:cNvSpPr>
          <p:nvPr/>
        </p:nvSpPr>
        <p:spPr>
          <a:xfrm xmlns:a="http://schemas.openxmlformats.org/drawingml/2006/main">
            <a:off x="1219200" y="506730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a:t>
            </a:r>
          </a:p>
        </p:txBody>
      </p:sp>
      <p:sp>
        <p:nvSpPr>
          <p:cNvPr id="25" name="text">
            <a:extLst xmlns:a="http://schemas.openxmlformats.org/drawingml/2006/main">
              <a:ext uri="{FF2B5EF4-FFF2-40B4-BE49-F238E27FC236}">
                <a16:creationId xmlns:a16="http://schemas.microsoft.com/office/drawing/2014/main" id="{9F9A578B-834C-48DD-B201-3712824121AD}"/>
              </a:ext>
            </a:extLst>
          </p:cNvPr>
          <p:cNvSpPr>
            <a:spLocks xmlns:a="http://schemas.openxmlformats.org/drawingml/2006/main" noGrp="1"/>
          </p:cNvSpPr>
          <p:nvPr/>
        </p:nvSpPr>
        <p:spPr>
          <a:xfrm xmlns:a="http://schemas.openxmlformats.org/drawingml/2006/main">
            <a:off x="1466850" y="5067300"/>
            <a:ext cx="946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It is not sufficient by itself; the unique-set supervision supplies the pressure.</a:t>
            </a:r>
          </a:p>
        </p:txBody>
      </p:sp>
      <p:sp>
        <p:nvSpPr>
          <p:cNvPr id="26" name="text">
            <a:extLst xmlns:a="http://schemas.openxmlformats.org/drawingml/2006/main">
              <a:ext uri="{FF2B5EF4-FFF2-40B4-BE49-F238E27FC236}">
                <a16:creationId xmlns:a16="http://schemas.microsoft.com/office/drawing/2014/main" id="{E762D518-0A92-43FF-B644-8F4281B62B50}"/>
              </a:ext>
            </a:extLst>
          </p:cNvPr>
          <p:cNvSpPr>
            <a:spLocks xmlns:a="http://schemas.openxmlformats.org/drawingml/2006/main" noGrp="1"/>
          </p:cNvSpPr>
          <p:nvPr/>
        </p:nvSpPr>
        <p:spPr>
          <a:xfrm xmlns:a="http://schemas.openxmlformats.org/drawingml/2006/main">
            <a:off x="1219200" y="5467350"/>
            <a:ext cx="19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3D8DFF"/>
                </a:solidFill>
                <a:latin typeface="Helvetica Neue"/>
                <a:ea typeface="Helvetica Neue"/>
                <a:cs typeface="Helvetica Neue"/>
              </a:defRPr>
            </a:pPr>
            <a:r>
              <a:rPr sz="1425" b="1">
                <a:solidFill>
                  <a:srgbClr val="3D8DFF"/>
                </a:solidFill>
                <a:latin typeface="Helvetica Neue"/>
                <a:ea typeface="Helvetica Neue"/>
                <a:cs typeface="Helvetica Neue"/>
              </a:rPr>
              <a:t>•</a:t>
            </a:r>
          </a:p>
        </p:txBody>
      </p:sp>
      <p:sp>
        <p:nvSpPr>
          <p:cNvPr id="27" name="text">
            <a:extLst xmlns:a="http://schemas.openxmlformats.org/drawingml/2006/main">
              <a:ext uri="{FF2B5EF4-FFF2-40B4-BE49-F238E27FC236}">
                <a16:creationId xmlns:a16="http://schemas.microsoft.com/office/drawing/2014/main" id="{0882B52D-A55F-48AF-968F-ABEF8BE4BC91}"/>
              </a:ext>
            </a:extLst>
          </p:cNvPr>
          <p:cNvSpPr>
            <a:spLocks xmlns:a="http://schemas.openxmlformats.org/drawingml/2006/main" noGrp="1"/>
          </p:cNvSpPr>
          <p:nvPr/>
        </p:nvSpPr>
        <p:spPr>
          <a:xfrm xmlns:a="http://schemas.openxmlformats.org/drawingml/2006/main">
            <a:off x="1466850" y="5467350"/>
            <a:ext cx="946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111318"/>
                </a:solidFill>
                <a:latin typeface="Helvetica Neue"/>
                <a:ea typeface="Helvetica Neue"/>
                <a:cs typeface="Helvetica Neue"/>
              </a:defRPr>
            </a:pPr>
            <a:r>
              <a:rPr sz="1425" b="0">
                <a:solidFill>
                  <a:srgbClr val="111318"/>
                </a:solidFill>
                <a:latin typeface="Helvetica Neue"/>
                <a:ea typeface="Helvetica Neue"/>
                <a:cs typeface="Helvetica Neue"/>
              </a:rPr>
              <a:t>Inference: one forward pass → filter ∅/low confidence → rescale boxes; no Hungarian matching or NMS.</a:t>
            </a:r>
          </a:p>
        </p:txBody>
      </p:sp>
    </p:spTree>
    <p:extLst>
      <p:ext uri="{BB962C8B-B14F-4D97-AF65-F5344CB8AC3E}">
        <p14:creationId xmlns:p14="http://schemas.microsoft.com/office/powerpoint/2010/main" val="80140228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2EC92B6C-0683-4E1D-8EC8-4167F1A85EB9}"/>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00581FF6-A1DD-4DA9-AE3C-408F47DA1B22}"/>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Why is original DETR slow to train?</a:t>
            </a:r>
          </a:p>
        </p:txBody>
      </p:sp>
      <p:sp>
        <p:nvSpPr>
          <p:cNvPr id="3" name="text">
            <a:extLst xmlns:a="http://schemas.openxmlformats.org/drawingml/2006/main">
              <a:ext uri="{FF2B5EF4-FFF2-40B4-BE49-F238E27FC236}">
                <a16:creationId xmlns:a16="http://schemas.microsoft.com/office/drawing/2014/main" id="{0C2D97A0-8C8D-4A3C-8133-F42D4F2C050D}"/>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LIMITATIONS AND VARIANTS</a:t>
            </a:r>
          </a:p>
        </p:txBody>
      </p:sp>
      <p:sp>
        <p:nvSpPr>
          <p:cNvPr id="4" name="text">
            <a:extLst xmlns:a="http://schemas.openxmlformats.org/drawingml/2006/main">
              <a:ext uri="{FF2B5EF4-FFF2-40B4-BE49-F238E27FC236}">
                <a16:creationId xmlns:a16="http://schemas.microsoft.com/office/drawing/2014/main" id="{49C58C54-47B7-4C98-A9EB-3DAD632EAD72}"/>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36</a:t>
            </a:r>
          </a:p>
        </p:txBody>
      </p:sp>
      <p:sp>
        <p:nvSpPr>
          <p:cNvPr id="5" name="limit">
            <a:extLst xmlns:a="http://schemas.openxmlformats.org/drawingml/2006/main">
              <a:ext uri="{FF2B5EF4-FFF2-40B4-BE49-F238E27FC236}">
                <a16:creationId xmlns:a16="http://schemas.microsoft.com/office/drawing/2014/main" id="{C9526377-96BC-4FEA-BE9B-7C813561115D}"/>
              </a:ext>
            </a:extLst>
          </p:cNvPr>
          <p:cNvSpPr>
            <a:spLocks xmlns:a="http://schemas.openxmlformats.org/drawingml/2006/main" noGrp="1"/>
          </p:cNvSpPr>
          <p:nvPr/>
        </p:nvSpPr>
        <p:spPr>
          <a:xfrm xmlns:a="http://schemas.openxmlformats.org/drawingml/2006/main">
            <a:off x="514350" y="1466850"/>
            <a:ext cx="5334000" cy="1200150"/>
          </a:xfrm>
          <a:prstGeom xmlns:a="http://schemas.openxmlformats.org/drawingml/2006/main" prst="roundRect">
            <a:avLst>
              <a:gd name="adj" fmla="val 6349"/>
            </a:avLst>
          </a:prstGeom>
          <a:solidFill xmlns:a="http://schemas.openxmlformats.org/drawingml/2006/main">
            <a:srgbClr val="FDE7E5"/>
          </a:solidFill>
          <a:ln xmlns:a="http://schemas.openxmlformats.org/drawingml/2006/main" w="19050">
            <a:solidFill>
              <a:srgbClr val="EF6A66"/>
            </a:solidFill>
            <a:prstDash val="solid"/>
          </a:ln>
        </p:spPr>
      </p:sp>
      <p:sp>
        <p:nvSpPr>
          <p:cNvPr id="6" name="text">
            <a:extLst xmlns:a="http://schemas.openxmlformats.org/drawingml/2006/main">
              <a:ext uri="{FF2B5EF4-FFF2-40B4-BE49-F238E27FC236}">
                <a16:creationId xmlns:a16="http://schemas.microsoft.com/office/drawing/2014/main" id="{1C697614-810B-4C5D-9E27-47C748D0A68E}"/>
              </a:ext>
            </a:extLst>
          </p:cNvPr>
          <p:cNvSpPr>
            <a:spLocks xmlns:a="http://schemas.openxmlformats.org/drawingml/2006/main" noGrp="1"/>
          </p:cNvSpPr>
          <p:nvPr/>
        </p:nvSpPr>
        <p:spPr>
          <a:xfrm xmlns:a="http://schemas.openxmlformats.org/drawingml/2006/main">
            <a:off x="723900" y="1619250"/>
            <a:ext cx="491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EF6A66"/>
                </a:solidFill>
                <a:latin typeface="Helvetica Neue"/>
                <a:ea typeface="Helvetica Neue"/>
                <a:cs typeface="Helvetica Neue"/>
              </a:defRPr>
            </a:pPr>
            <a:r>
              <a:rPr sz="1575" b="1">
                <a:solidFill>
                  <a:srgbClr val="EF6A66"/>
                </a:solidFill>
                <a:latin typeface="Helvetica Neue"/>
                <a:ea typeface="Helvetica Neue"/>
                <a:cs typeface="Helvetica Neue"/>
              </a:rPr>
              <a:t>Weak spatial priors</a:t>
            </a:r>
          </a:p>
        </p:txBody>
      </p:sp>
      <p:sp>
        <p:nvSpPr>
          <p:cNvPr id="7" name="text">
            <a:extLst xmlns:a="http://schemas.openxmlformats.org/drawingml/2006/main">
              <a:ext uri="{FF2B5EF4-FFF2-40B4-BE49-F238E27FC236}">
                <a16:creationId xmlns:a16="http://schemas.microsoft.com/office/drawing/2014/main" id="{EF87DD9F-5CAB-4D01-82E2-C426EE18FEC4}"/>
              </a:ext>
            </a:extLst>
          </p:cNvPr>
          <p:cNvSpPr>
            <a:spLocks xmlns:a="http://schemas.openxmlformats.org/drawingml/2006/main" noGrp="1"/>
          </p:cNvSpPr>
          <p:nvPr/>
        </p:nvSpPr>
        <p:spPr>
          <a:xfrm xmlns:a="http://schemas.openxmlformats.org/drawingml/2006/main">
            <a:off x="723900" y="1981200"/>
            <a:ext cx="491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Queries must learn localization without anchors.</a:t>
            </a:r>
          </a:p>
        </p:txBody>
      </p:sp>
      <p:sp>
        <p:nvSpPr>
          <p:cNvPr id="8" name="limit">
            <a:extLst xmlns:a="http://schemas.openxmlformats.org/drawingml/2006/main">
              <a:ext uri="{FF2B5EF4-FFF2-40B4-BE49-F238E27FC236}">
                <a16:creationId xmlns:a16="http://schemas.microsoft.com/office/drawing/2014/main" id="{F2F12DB8-DC0C-4806-9D22-1F95BC05FB6F}"/>
              </a:ext>
            </a:extLst>
          </p:cNvPr>
          <p:cNvSpPr>
            <a:spLocks xmlns:a="http://schemas.openxmlformats.org/drawingml/2006/main" noGrp="1"/>
          </p:cNvSpPr>
          <p:nvPr/>
        </p:nvSpPr>
        <p:spPr>
          <a:xfrm xmlns:a="http://schemas.openxmlformats.org/drawingml/2006/main">
            <a:off x="6134100" y="1466850"/>
            <a:ext cx="5334000" cy="1200150"/>
          </a:xfrm>
          <a:prstGeom xmlns:a="http://schemas.openxmlformats.org/drawingml/2006/main" prst="roundRect">
            <a:avLst>
              <a:gd name="adj" fmla="val 6349"/>
            </a:avLst>
          </a:prstGeom>
          <a:solidFill xmlns:a="http://schemas.openxmlformats.org/drawingml/2006/main">
            <a:srgbClr val="EEF1F4"/>
          </a:solidFill>
          <a:ln xmlns:a="http://schemas.openxmlformats.org/drawingml/2006/main" w="19050">
            <a:solidFill>
              <a:srgbClr val="A7AFBA"/>
            </a:solidFill>
            <a:prstDash val="solid"/>
          </a:ln>
        </p:spPr>
      </p:sp>
      <p:sp>
        <p:nvSpPr>
          <p:cNvPr id="9" name="text">
            <a:extLst xmlns:a="http://schemas.openxmlformats.org/drawingml/2006/main">
              <a:ext uri="{FF2B5EF4-FFF2-40B4-BE49-F238E27FC236}">
                <a16:creationId xmlns:a16="http://schemas.microsoft.com/office/drawing/2014/main" id="{E9248F73-D63F-4A0D-9831-4A9AA0381EB4}"/>
              </a:ext>
            </a:extLst>
          </p:cNvPr>
          <p:cNvSpPr>
            <a:spLocks xmlns:a="http://schemas.openxmlformats.org/drawingml/2006/main" noGrp="1"/>
          </p:cNvSpPr>
          <p:nvPr/>
        </p:nvSpPr>
        <p:spPr>
          <a:xfrm xmlns:a="http://schemas.openxmlformats.org/drawingml/2006/main">
            <a:off x="6343650" y="1619250"/>
            <a:ext cx="491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A7AFBA"/>
                </a:solidFill>
                <a:latin typeface="Helvetica Neue"/>
                <a:ea typeface="Helvetica Neue"/>
                <a:cs typeface="Helvetica Neue"/>
              </a:defRPr>
            </a:pPr>
            <a:r>
              <a:rPr sz="1575" b="1">
                <a:solidFill>
                  <a:srgbClr val="A7AFBA"/>
                </a:solidFill>
                <a:latin typeface="Helvetica Neue"/>
                <a:ea typeface="Helvetica Neue"/>
                <a:cs typeface="Helvetica Neue"/>
              </a:rPr>
              <a:t>Global attention</a:t>
            </a:r>
          </a:p>
        </p:txBody>
      </p:sp>
      <p:sp>
        <p:nvSpPr>
          <p:cNvPr id="10" name="text">
            <a:extLst xmlns:a="http://schemas.openxmlformats.org/drawingml/2006/main">
              <a:ext uri="{FF2B5EF4-FFF2-40B4-BE49-F238E27FC236}">
                <a16:creationId xmlns:a16="http://schemas.microsoft.com/office/drawing/2014/main" id="{536BFD27-8FB9-4EC9-BD99-F31E82FF0CCB}"/>
              </a:ext>
            </a:extLst>
          </p:cNvPr>
          <p:cNvSpPr>
            <a:spLocks xmlns:a="http://schemas.openxmlformats.org/drawingml/2006/main" noGrp="1"/>
          </p:cNvSpPr>
          <p:nvPr/>
        </p:nvSpPr>
        <p:spPr>
          <a:xfrm xmlns:a="http://schemas.openxmlformats.org/drawingml/2006/main">
            <a:off x="6343650" y="1981200"/>
            <a:ext cx="491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Encoder cost grows quadratically with token count.</a:t>
            </a:r>
          </a:p>
        </p:txBody>
      </p:sp>
      <p:sp>
        <p:nvSpPr>
          <p:cNvPr id="11" name="limit">
            <a:extLst xmlns:a="http://schemas.openxmlformats.org/drawingml/2006/main">
              <a:ext uri="{FF2B5EF4-FFF2-40B4-BE49-F238E27FC236}">
                <a16:creationId xmlns:a16="http://schemas.microsoft.com/office/drawing/2014/main" id="{D5070979-B7C9-4FA1-A2C1-9B4F42ADAFD2}"/>
              </a:ext>
            </a:extLst>
          </p:cNvPr>
          <p:cNvSpPr>
            <a:spLocks xmlns:a="http://schemas.openxmlformats.org/drawingml/2006/main" noGrp="1"/>
          </p:cNvSpPr>
          <p:nvPr/>
        </p:nvSpPr>
        <p:spPr>
          <a:xfrm xmlns:a="http://schemas.openxmlformats.org/drawingml/2006/main">
            <a:off x="514350" y="2971800"/>
            <a:ext cx="5334000" cy="1200150"/>
          </a:xfrm>
          <a:prstGeom xmlns:a="http://schemas.openxmlformats.org/drawingml/2006/main" prst="roundRect">
            <a:avLst>
              <a:gd name="adj" fmla="val 6349"/>
            </a:avLst>
          </a:prstGeom>
          <a:solidFill xmlns:a="http://schemas.openxmlformats.org/drawingml/2006/main">
            <a:srgbClr val="FFF1CC"/>
          </a:solidFill>
          <a:ln xmlns:a="http://schemas.openxmlformats.org/drawingml/2006/main" w="19050">
            <a:solidFill>
              <a:srgbClr val="F2B84B"/>
            </a:solidFill>
            <a:prstDash val="solid"/>
          </a:ln>
        </p:spPr>
      </p:sp>
      <p:sp>
        <p:nvSpPr>
          <p:cNvPr id="12" name="text">
            <a:extLst xmlns:a="http://schemas.openxmlformats.org/drawingml/2006/main">
              <a:ext uri="{FF2B5EF4-FFF2-40B4-BE49-F238E27FC236}">
                <a16:creationId xmlns:a16="http://schemas.microsoft.com/office/drawing/2014/main" id="{F53A4FCD-3B7E-4BC3-905B-693732FADE97}"/>
              </a:ext>
            </a:extLst>
          </p:cNvPr>
          <p:cNvSpPr>
            <a:spLocks xmlns:a="http://schemas.openxmlformats.org/drawingml/2006/main" noGrp="1"/>
          </p:cNvSpPr>
          <p:nvPr/>
        </p:nvSpPr>
        <p:spPr>
          <a:xfrm xmlns:a="http://schemas.openxmlformats.org/drawingml/2006/main">
            <a:off x="723900" y="3124200"/>
            <a:ext cx="491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F2B84B"/>
                </a:solidFill>
                <a:latin typeface="Helvetica Neue"/>
                <a:ea typeface="Helvetica Neue"/>
                <a:cs typeface="Helvetica Neue"/>
              </a:defRPr>
            </a:pPr>
            <a:r>
              <a:rPr sz="1575" b="1">
                <a:solidFill>
                  <a:srgbClr val="F2B84B"/>
                </a:solidFill>
                <a:latin typeface="Helvetica Neue"/>
                <a:ea typeface="Helvetica Neue"/>
                <a:cs typeface="Helvetica Neue"/>
              </a:rPr>
              <a:t>Single-scale features</a:t>
            </a:r>
          </a:p>
        </p:txBody>
      </p:sp>
      <p:sp>
        <p:nvSpPr>
          <p:cNvPr id="13" name="text">
            <a:extLst xmlns:a="http://schemas.openxmlformats.org/drawingml/2006/main">
              <a:ext uri="{FF2B5EF4-FFF2-40B4-BE49-F238E27FC236}">
                <a16:creationId xmlns:a16="http://schemas.microsoft.com/office/drawing/2014/main" id="{BF9B5622-9996-4111-9973-6B866A828BA0}"/>
              </a:ext>
            </a:extLst>
          </p:cNvPr>
          <p:cNvSpPr>
            <a:spLocks xmlns:a="http://schemas.openxmlformats.org/drawingml/2006/main" noGrp="1"/>
          </p:cNvSpPr>
          <p:nvPr/>
        </p:nvSpPr>
        <p:spPr>
          <a:xfrm xmlns:a="http://schemas.openxmlformats.org/drawingml/2006/main">
            <a:off x="723900" y="3486150"/>
            <a:ext cx="491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Original setup is weaker on small objects.</a:t>
            </a:r>
          </a:p>
        </p:txBody>
      </p:sp>
      <p:sp>
        <p:nvSpPr>
          <p:cNvPr id="14" name="limit">
            <a:extLst xmlns:a="http://schemas.openxmlformats.org/drawingml/2006/main">
              <a:ext uri="{FF2B5EF4-FFF2-40B4-BE49-F238E27FC236}">
                <a16:creationId xmlns:a16="http://schemas.microsoft.com/office/drawing/2014/main" id="{A076E66F-ACA7-41D5-96FC-45D5BE2E5101}"/>
              </a:ext>
            </a:extLst>
          </p:cNvPr>
          <p:cNvSpPr>
            <a:spLocks xmlns:a="http://schemas.openxmlformats.org/drawingml/2006/main" noGrp="1"/>
          </p:cNvSpPr>
          <p:nvPr/>
        </p:nvSpPr>
        <p:spPr>
          <a:xfrm xmlns:a="http://schemas.openxmlformats.org/drawingml/2006/main">
            <a:off x="6134100" y="2971800"/>
            <a:ext cx="5334000" cy="1200150"/>
          </a:xfrm>
          <a:prstGeom xmlns:a="http://schemas.openxmlformats.org/drawingml/2006/main" prst="roundRect">
            <a:avLst>
              <a:gd name="adj" fmla="val 6349"/>
            </a:avLst>
          </a:prstGeom>
          <a:solidFill xmlns:a="http://schemas.openxmlformats.org/drawingml/2006/main">
            <a:srgbClr val="EEE8FF"/>
          </a:solidFill>
          <a:ln xmlns:a="http://schemas.openxmlformats.org/drawingml/2006/main" w="19050">
            <a:solidFill>
              <a:srgbClr val="8E6CEF"/>
            </a:solidFill>
            <a:prstDash val="solid"/>
          </a:ln>
        </p:spPr>
      </p:sp>
      <p:sp>
        <p:nvSpPr>
          <p:cNvPr id="15" name="text">
            <a:extLst xmlns:a="http://schemas.openxmlformats.org/drawingml/2006/main">
              <a:ext uri="{FF2B5EF4-FFF2-40B4-BE49-F238E27FC236}">
                <a16:creationId xmlns:a16="http://schemas.microsoft.com/office/drawing/2014/main" id="{5BA6D558-A068-4D53-A397-DD7F39D1904F}"/>
              </a:ext>
            </a:extLst>
          </p:cNvPr>
          <p:cNvSpPr>
            <a:spLocks xmlns:a="http://schemas.openxmlformats.org/drawingml/2006/main" noGrp="1"/>
          </p:cNvSpPr>
          <p:nvPr/>
        </p:nvSpPr>
        <p:spPr>
          <a:xfrm xmlns:a="http://schemas.openxmlformats.org/drawingml/2006/main">
            <a:off x="6343650" y="3124200"/>
            <a:ext cx="4914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8E6CEF"/>
                </a:solidFill>
                <a:latin typeface="Helvetica Neue"/>
                <a:ea typeface="Helvetica Neue"/>
                <a:cs typeface="Helvetica Neue"/>
              </a:defRPr>
            </a:pPr>
            <a:r>
              <a:rPr sz="1575" b="1">
                <a:solidFill>
                  <a:srgbClr val="8E6CEF"/>
                </a:solidFill>
                <a:latin typeface="Helvetica Neue"/>
                <a:ea typeface="Helvetica Neue"/>
                <a:cs typeface="Helvetica Neue"/>
              </a:rPr>
              <a:t>Unstable early matching</a:t>
            </a:r>
          </a:p>
        </p:txBody>
      </p:sp>
      <p:sp>
        <p:nvSpPr>
          <p:cNvPr id="16" name="text">
            <a:extLst xmlns:a="http://schemas.openxmlformats.org/drawingml/2006/main">
              <a:ext uri="{FF2B5EF4-FFF2-40B4-BE49-F238E27FC236}">
                <a16:creationId xmlns:a16="http://schemas.microsoft.com/office/drawing/2014/main" id="{48E1D470-EE30-435F-AD56-F4E0A5EAE589}"/>
              </a:ext>
            </a:extLst>
          </p:cNvPr>
          <p:cNvSpPr>
            <a:spLocks xmlns:a="http://schemas.openxmlformats.org/drawingml/2006/main" noGrp="1"/>
          </p:cNvSpPr>
          <p:nvPr/>
        </p:nvSpPr>
        <p:spPr>
          <a:xfrm xmlns:a="http://schemas.openxmlformats.org/drawingml/2006/main">
            <a:off x="6343650" y="3486150"/>
            <a:ext cx="4914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11318"/>
                </a:solidFill>
                <a:latin typeface="Helvetica Neue"/>
                <a:ea typeface="Helvetica Neue"/>
                <a:cs typeface="Helvetica Neue"/>
              </a:defRPr>
            </a:pPr>
            <a:r>
              <a:rPr sz="1350" b="0">
                <a:solidFill>
                  <a:srgbClr val="111318"/>
                </a:solidFill>
                <a:latin typeface="Helvetica Neue"/>
                <a:ea typeface="Helvetica Neue"/>
                <a:cs typeface="Helvetica Neue"/>
              </a:rPr>
              <a:t>Assignments and boxes are noisy at the start.</a:t>
            </a:r>
          </a:p>
        </p:txBody>
      </p:sp>
      <p:sp>
        <p:nvSpPr>
          <p:cNvPr id="17" name="text">
            <a:extLst xmlns:a="http://schemas.openxmlformats.org/drawingml/2006/main">
              <a:ext uri="{FF2B5EF4-FFF2-40B4-BE49-F238E27FC236}">
                <a16:creationId xmlns:a16="http://schemas.microsoft.com/office/drawing/2014/main" id="{0951A774-DBDE-483A-93D0-533E46D70F01}"/>
              </a:ext>
            </a:extLst>
          </p:cNvPr>
          <p:cNvSpPr>
            <a:spLocks xmlns:a="http://schemas.openxmlformats.org/drawingml/2006/main" noGrp="1"/>
          </p:cNvSpPr>
          <p:nvPr/>
        </p:nvSpPr>
        <p:spPr>
          <a:xfrm xmlns:a="http://schemas.openxmlformats.org/drawingml/2006/main">
            <a:off x="666750" y="46863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Later directions</a:t>
            </a:r>
          </a:p>
        </p:txBody>
      </p:sp>
      <p:sp>
        <p:nvSpPr>
          <p:cNvPr id="18" name="box">
            <a:extLst xmlns:a="http://schemas.openxmlformats.org/drawingml/2006/main">
              <a:ext uri="{FF2B5EF4-FFF2-40B4-BE49-F238E27FC236}">
                <a16:creationId xmlns:a16="http://schemas.microsoft.com/office/drawing/2014/main" id="{DCC2E867-ED2C-4DDA-8E0C-DDD470917AFC}"/>
              </a:ext>
            </a:extLst>
          </p:cNvPr>
          <p:cNvSpPr>
            <a:spLocks xmlns:a="http://schemas.openxmlformats.org/drawingml/2006/main" noGrp="1"/>
          </p:cNvSpPr>
          <p:nvPr/>
        </p:nvSpPr>
        <p:spPr>
          <a:xfrm xmlns:a="http://schemas.openxmlformats.org/drawingml/2006/main">
            <a:off x="2800350" y="4667250"/>
            <a:ext cx="2133600" cy="323850"/>
          </a:xfrm>
          <a:prstGeom xmlns:a="http://schemas.openxmlformats.org/drawingml/2006/main" prst="roundRect">
            <a:avLst>
              <a:gd name="adj" fmla="val 23529"/>
            </a:avLst>
          </a:prstGeom>
          <a:solidFill xmlns:a="http://schemas.openxmlformats.org/drawingml/2006/main">
            <a:srgbClr val="D9F1FC"/>
          </a:solidFill>
          <a:ln xmlns:a="http://schemas.openxmlformats.org/drawingml/2006/main" w="0">
            <a:noFill/>
            <a:prstDash val="solid"/>
          </a:ln>
        </p:spPr>
      </p:sp>
      <p:sp>
        <p:nvSpPr>
          <p:cNvPr id="19" name="text">
            <a:extLst xmlns:a="http://schemas.openxmlformats.org/drawingml/2006/main">
              <a:ext uri="{FF2B5EF4-FFF2-40B4-BE49-F238E27FC236}">
                <a16:creationId xmlns:a16="http://schemas.microsoft.com/office/drawing/2014/main" id="{00A1F4AE-F009-408F-AD98-DC91947965BB}"/>
              </a:ext>
            </a:extLst>
          </p:cNvPr>
          <p:cNvSpPr>
            <a:spLocks xmlns:a="http://schemas.openxmlformats.org/drawingml/2006/main" noGrp="1"/>
          </p:cNvSpPr>
          <p:nvPr/>
        </p:nvSpPr>
        <p:spPr>
          <a:xfrm xmlns:a="http://schemas.openxmlformats.org/drawingml/2006/main">
            <a:off x="2876550" y="4686300"/>
            <a:ext cx="198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Deformable DETR</a:t>
            </a:r>
          </a:p>
        </p:txBody>
      </p:sp>
      <p:sp>
        <p:nvSpPr>
          <p:cNvPr id="20" name="box">
            <a:extLst xmlns:a="http://schemas.openxmlformats.org/drawingml/2006/main">
              <a:ext uri="{FF2B5EF4-FFF2-40B4-BE49-F238E27FC236}">
                <a16:creationId xmlns:a16="http://schemas.microsoft.com/office/drawing/2014/main" id="{26DF909F-B356-4EF7-9CC0-33977FFB8716}"/>
              </a:ext>
            </a:extLst>
          </p:cNvPr>
          <p:cNvSpPr>
            <a:spLocks xmlns:a="http://schemas.openxmlformats.org/drawingml/2006/main" noGrp="1"/>
          </p:cNvSpPr>
          <p:nvPr/>
        </p:nvSpPr>
        <p:spPr>
          <a:xfrm xmlns:a="http://schemas.openxmlformats.org/drawingml/2006/main">
            <a:off x="5067300" y="4667250"/>
            <a:ext cx="2228850" cy="323850"/>
          </a:xfrm>
          <a:prstGeom xmlns:a="http://schemas.openxmlformats.org/drawingml/2006/main" prst="roundRect">
            <a:avLst>
              <a:gd name="adj" fmla="val 23529"/>
            </a:avLst>
          </a:prstGeom>
          <a:solidFill xmlns:a="http://schemas.openxmlformats.org/drawingml/2006/main">
            <a:srgbClr val="DDF4E8"/>
          </a:solidFill>
          <a:ln xmlns:a="http://schemas.openxmlformats.org/drawingml/2006/main" w="0">
            <a:noFill/>
            <a:prstDash val="solid"/>
          </a:ln>
        </p:spPr>
      </p:sp>
      <p:sp>
        <p:nvSpPr>
          <p:cNvPr id="21" name="text">
            <a:extLst xmlns:a="http://schemas.openxmlformats.org/drawingml/2006/main">
              <a:ext uri="{FF2B5EF4-FFF2-40B4-BE49-F238E27FC236}">
                <a16:creationId xmlns:a16="http://schemas.microsoft.com/office/drawing/2014/main" id="{EEA51D4F-1B6A-4656-80D3-DBBB8BD8EEC9}"/>
              </a:ext>
            </a:extLst>
          </p:cNvPr>
          <p:cNvSpPr>
            <a:spLocks xmlns:a="http://schemas.openxmlformats.org/drawingml/2006/main" noGrp="1"/>
          </p:cNvSpPr>
          <p:nvPr/>
        </p:nvSpPr>
        <p:spPr>
          <a:xfrm xmlns:a="http://schemas.openxmlformats.org/drawingml/2006/main">
            <a:off x="5143500" y="468630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45B97C"/>
                </a:solidFill>
                <a:latin typeface="Helvetica Neue"/>
                <a:ea typeface="Helvetica Neue"/>
                <a:cs typeface="Helvetica Neue"/>
              </a:defRPr>
            </a:pPr>
            <a:r>
              <a:rPr sz="1125" b="1">
                <a:solidFill>
                  <a:srgbClr val="45B97C"/>
                </a:solidFill>
                <a:latin typeface="Helvetica Neue"/>
                <a:ea typeface="Helvetica Neue"/>
                <a:cs typeface="Helvetica Neue"/>
              </a:rPr>
              <a:t>DAB / Conditional</a:t>
            </a:r>
          </a:p>
        </p:txBody>
      </p:sp>
      <p:sp>
        <p:nvSpPr>
          <p:cNvPr id="22" name="box">
            <a:extLst xmlns:a="http://schemas.openxmlformats.org/drawingml/2006/main">
              <a:ext uri="{FF2B5EF4-FFF2-40B4-BE49-F238E27FC236}">
                <a16:creationId xmlns:a16="http://schemas.microsoft.com/office/drawing/2014/main" id="{B2D14457-C5A0-48DE-B2BA-080C0F99FFC9}"/>
              </a:ext>
            </a:extLst>
          </p:cNvPr>
          <p:cNvSpPr>
            <a:spLocks xmlns:a="http://schemas.openxmlformats.org/drawingml/2006/main" noGrp="1"/>
          </p:cNvSpPr>
          <p:nvPr/>
        </p:nvSpPr>
        <p:spPr>
          <a:xfrm xmlns:a="http://schemas.openxmlformats.org/drawingml/2006/main">
            <a:off x="7429500" y="4667250"/>
            <a:ext cx="1809750" cy="323850"/>
          </a:xfrm>
          <a:prstGeom xmlns:a="http://schemas.openxmlformats.org/drawingml/2006/main" prst="roundRect">
            <a:avLst>
              <a:gd name="adj" fmla="val 23529"/>
            </a:avLst>
          </a:prstGeom>
          <a:solidFill xmlns:a="http://schemas.openxmlformats.org/drawingml/2006/main">
            <a:srgbClr val="EEE8FF"/>
          </a:solidFill>
          <a:ln xmlns:a="http://schemas.openxmlformats.org/drawingml/2006/main" w="0">
            <a:noFill/>
            <a:prstDash val="solid"/>
          </a:ln>
        </p:spPr>
      </p:sp>
      <p:sp>
        <p:nvSpPr>
          <p:cNvPr id="23" name="text">
            <a:extLst xmlns:a="http://schemas.openxmlformats.org/drawingml/2006/main">
              <a:ext uri="{FF2B5EF4-FFF2-40B4-BE49-F238E27FC236}">
                <a16:creationId xmlns:a16="http://schemas.microsoft.com/office/drawing/2014/main" id="{57AE7348-AE43-41C3-8157-49EE16F4EA12}"/>
              </a:ext>
            </a:extLst>
          </p:cNvPr>
          <p:cNvSpPr>
            <a:spLocks xmlns:a="http://schemas.openxmlformats.org/drawingml/2006/main" noGrp="1"/>
          </p:cNvSpPr>
          <p:nvPr/>
        </p:nvSpPr>
        <p:spPr>
          <a:xfrm xmlns:a="http://schemas.openxmlformats.org/drawingml/2006/main">
            <a:off x="7505700" y="4686300"/>
            <a:ext cx="1657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8E6CEF"/>
                </a:solidFill>
                <a:latin typeface="Helvetica Neue"/>
                <a:ea typeface="Helvetica Neue"/>
                <a:cs typeface="Helvetica Neue"/>
              </a:defRPr>
            </a:pPr>
            <a:r>
              <a:rPr sz="1125" b="1">
                <a:solidFill>
                  <a:srgbClr val="8E6CEF"/>
                </a:solidFill>
                <a:latin typeface="Helvetica Neue"/>
                <a:ea typeface="Helvetica Neue"/>
                <a:cs typeface="Helvetica Neue"/>
              </a:rPr>
              <a:t>DN / DINO</a:t>
            </a:r>
          </a:p>
        </p:txBody>
      </p:sp>
      <p:sp>
        <p:nvSpPr>
          <p:cNvPr id="24" name="text">
            <a:extLst xmlns:a="http://schemas.openxmlformats.org/drawingml/2006/main">
              <a:ext uri="{FF2B5EF4-FFF2-40B4-BE49-F238E27FC236}">
                <a16:creationId xmlns:a16="http://schemas.microsoft.com/office/drawing/2014/main" id="{8EAB9514-A45C-428C-B4F3-E3665C898449}"/>
              </a:ext>
            </a:extLst>
          </p:cNvPr>
          <p:cNvSpPr>
            <a:spLocks xmlns:a="http://schemas.openxmlformats.org/drawingml/2006/main" noGrp="1"/>
          </p:cNvSpPr>
          <p:nvPr/>
        </p:nvSpPr>
        <p:spPr>
          <a:xfrm xmlns:a="http://schemas.openxmlformats.org/drawingml/2006/main">
            <a:off x="1257300" y="5314950"/>
            <a:ext cx="967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Add sparse multi-scale attention, stronger spatial query priors, or denoising objectives.</a:t>
            </a:r>
          </a:p>
        </p:txBody>
      </p:sp>
    </p:spTree>
    <p:extLst>
      <p:ext uri="{BB962C8B-B14F-4D97-AF65-F5344CB8AC3E}">
        <p14:creationId xmlns:p14="http://schemas.microsoft.com/office/powerpoint/2010/main" val="182933975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
            <a:extLst xmlns:a="http://schemas.openxmlformats.org/drawingml/2006/main">
              <a:ext uri="{FF2B5EF4-FFF2-40B4-BE49-F238E27FC236}">
                <a16:creationId xmlns:a16="http://schemas.microsoft.com/office/drawing/2014/main" id="{6866E6CC-BEE3-4D61-A5AC-41BEEFE06C50}"/>
              </a:ext>
            </a:extLst>
          </p:cNvPr>
          <p:cNvSpPr>
            <a:spLocks xmlns:a="http://schemas.openxmlformats.org/drawingml/2006/main" noGrp="1"/>
          </p:cNvSpPr>
          <p:nvPr/>
        </p:nvSpPr>
        <p:spPr>
          <a:xfrm xmlns:a="http://schemas.openxmlformats.org/drawingml/2006/main">
            <a:off x="400050" y="2095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3D8DFF"/>
                </a:solidFill>
                <a:latin typeface="Helvetica Neue"/>
                <a:ea typeface="Helvetica Neue"/>
                <a:cs typeface="Helvetica Neue"/>
              </a:defRPr>
            </a:pPr>
            <a:r>
              <a:rPr sz="975" b="1">
                <a:solidFill>
                  <a:srgbClr val="3D8DFF"/>
                </a:solidFill>
                <a:latin typeface="Helvetica Neue"/>
                <a:ea typeface="Helvetica Neue"/>
                <a:cs typeface="Helvetica Neue"/>
              </a:rPr>
              <a:t>DETR • FROM ONE IMAGE TO ONE SET</a:t>
            </a:r>
          </a:p>
        </p:txBody>
      </p:sp>
      <p:sp>
        <p:nvSpPr>
          <p:cNvPr id="2" name="text">
            <a:extLst xmlns:a="http://schemas.openxmlformats.org/drawingml/2006/main">
              <a:ext uri="{FF2B5EF4-FFF2-40B4-BE49-F238E27FC236}">
                <a16:creationId xmlns:a16="http://schemas.microsoft.com/office/drawing/2014/main" id="{3CC4F606-5B2E-4A0B-8FB5-8CDE6208F798}"/>
              </a:ext>
            </a:extLst>
          </p:cNvPr>
          <p:cNvSpPr>
            <a:spLocks xmlns:a="http://schemas.openxmlformats.org/drawingml/2006/main" noGrp="1"/>
          </p:cNvSpPr>
          <p:nvPr/>
        </p:nvSpPr>
        <p:spPr>
          <a:xfrm xmlns:a="http://schemas.openxmlformats.org/drawingml/2006/main">
            <a:off x="400050" y="457200"/>
            <a:ext cx="11391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111318"/>
                </a:solidFill>
                <a:latin typeface="Helvetica Neue"/>
                <a:ea typeface="Helvetica Neue"/>
                <a:cs typeface="Helvetica Neue"/>
              </a:defRPr>
            </a:pPr>
            <a:r>
              <a:rPr sz="2925" b="1">
                <a:solidFill>
                  <a:srgbClr val="111318"/>
                </a:solidFill>
                <a:latin typeface="Helvetica Neue"/>
                <a:ea typeface="Helvetica Neue"/>
                <a:cs typeface="Helvetica Neue"/>
              </a:rPr>
              <a:t>What changes when queries predict masks?</a:t>
            </a:r>
          </a:p>
        </p:txBody>
      </p:sp>
      <p:sp>
        <p:nvSpPr>
          <p:cNvPr id="3" name="text">
            <a:extLst xmlns:a="http://schemas.openxmlformats.org/drawingml/2006/main">
              <a:ext uri="{FF2B5EF4-FFF2-40B4-BE49-F238E27FC236}">
                <a16:creationId xmlns:a16="http://schemas.microsoft.com/office/drawing/2014/main" id="{DE897F0B-B78B-433C-9D08-502E6C469D42}"/>
              </a:ext>
            </a:extLst>
          </p:cNvPr>
          <p:cNvSpPr>
            <a:spLocks xmlns:a="http://schemas.openxmlformats.org/drawingml/2006/main" noGrp="1"/>
          </p:cNvSpPr>
          <p:nvPr/>
        </p:nvSpPr>
        <p:spPr>
          <a:xfrm xmlns:a="http://schemas.openxmlformats.org/drawingml/2006/main">
            <a:off x="400050" y="6486525"/>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D6673"/>
                </a:solidFill>
                <a:latin typeface="Helvetica Neue"/>
                <a:ea typeface="Helvetica Neue"/>
                <a:cs typeface="Helvetica Neue"/>
              </a:defRPr>
            </a:pPr>
            <a:r>
              <a:rPr sz="825" b="1">
                <a:solidFill>
                  <a:srgbClr val="5D6673"/>
                </a:solidFill>
                <a:latin typeface="Helvetica Neue"/>
                <a:ea typeface="Helvetica Neue"/>
                <a:cs typeface="Helvetica Neue"/>
              </a:rPr>
              <a:t>SEGMENTATION TRANSITION</a:t>
            </a:r>
          </a:p>
        </p:txBody>
      </p:sp>
      <p:sp>
        <p:nvSpPr>
          <p:cNvPr id="4" name="text">
            <a:extLst xmlns:a="http://schemas.openxmlformats.org/drawingml/2006/main">
              <a:ext uri="{FF2B5EF4-FFF2-40B4-BE49-F238E27FC236}">
                <a16:creationId xmlns:a16="http://schemas.microsoft.com/office/drawing/2014/main" id="{B6F6C3A5-7153-4913-AFBB-57C74CBA21E1}"/>
              </a:ext>
            </a:extLst>
          </p:cNvPr>
          <p:cNvSpPr>
            <a:spLocks xmlns:a="http://schemas.openxmlformats.org/drawingml/2006/main" noGrp="1"/>
          </p:cNvSpPr>
          <p:nvPr/>
        </p:nvSpPr>
        <p:spPr>
          <a:xfrm xmlns:a="http://schemas.openxmlformats.org/drawingml/2006/main">
            <a:off x="11315700" y="64579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00" b="1">
                <a:solidFill>
                  <a:srgbClr val="5D6673"/>
                </a:solidFill>
                <a:latin typeface="Helvetica Neue"/>
                <a:ea typeface="Helvetica Neue"/>
                <a:cs typeface="Helvetica Neue"/>
              </a:defRPr>
            </a:pPr>
            <a:r>
              <a:rPr sz="900" b="1">
                <a:solidFill>
                  <a:srgbClr val="5D6673"/>
                </a:solidFill>
                <a:latin typeface="Helvetica Neue"/>
                <a:ea typeface="Helvetica Neue"/>
                <a:cs typeface="Helvetica Neue"/>
              </a:rPr>
              <a:t>37</a:t>
            </a:r>
          </a:p>
        </p:txBody>
      </p:sp>
      <p:sp>
        <p:nvSpPr>
          <p:cNvPr id="5" name="box">
            <a:extLst xmlns:a="http://schemas.openxmlformats.org/drawingml/2006/main">
              <a:ext uri="{FF2B5EF4-FFF2-40B4-BE49-F238E27FC236}">
                <a16:creationId xmlns:a16="http://schemas.microsoft.com/office/drawing/2014/main" id="{66A6689A-5247-4B1A-B097-83CCBF9FA5C2}"/>
              </a:ext>
            </a:extLst>
          </p:cNvPr>
          <p:cNvSpPr>
            <a:spLocks xmlns:a="http://schemas.openxmlformats.org/drawingml/2006/main" noGrp="1"/>
          </p:cNvSpPr>
          <p:nvPr/>
        </p:nvSpPr>
        <p:spPr>
          <a:xfrm xmlns:a="http://schemas.openxmlformats.org/drawingml/2006/main">
            <a:off x="495300" y="1447800"/>
            <a:ext cx="5257800" cy="3028950"/>
          </a:xfrm>
          <a:prstGeom xmlns:a="http://schemas.openxmlformats.org/drawingml/2006/main" prst="roundRect">
            <a:avLst>
              <a:gd name="adj" fmla="val 2516"/>
            </a:avLst>
          </a:prstGeom>
          <a:solidFill xmlns:a="http://schemas.openxmlformats.org/drawingml/2006/main">
            <a:srgbClr val="D9F1FC"/>
          </a:solidFill>
          <a:ln xmlns:a="http://schemas.openxmlformats.org/drawingml/2006/main" w="0">
            <a:noFill/>
            <a:prstDash val="solid"/>
          </a:ln>
        </p:spPr>
      </p:sp>
      <p:sp>
        <p:nvSpPr>
          <p:cNvPr id="6" name="text">
            <a:extLst xmlns:a="http://schemas.openxmlformats.org/drawingml/2006/main">
              <a:ext uri="{FF2B5EF4-FFF2-40B4-BE49-F238E27FC236}">
                <a16:creationId xmlns:a16="http://schemas.microsoft.com/office/drawing/2014/main" id="{A779A054-EB33-4785-8812-B96CB9369E6A}"/>
              </a:ext>
            </a:extLst>
          </p:cNvPr>
          <p:cNvSpPr>
            <a:spLocks xmlns:a="http://schemas.openxmlformats.org/drawingml/2006/main" noGrp="1"/>
          </p:cNvSpPr>
          <p:nvPr/>
        </p:nvSpPr>
        <p:spPr>
          <a:xfrm xmlns:a="http://schemas.openxmlformats.org/drawingml/2006/main">
            <a:off x="781050" y="1657350"/>
            <a:ext cx="4686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ORIGINAL DETR</a:t>
            </a:r>
          </a:p>
        </p:txBody>
      </p:sp>
      <p:sp>
        <p:nvSpPr>
          <p:cNvPr id="7" name="node">
            <a:extLst xmlns:a="http://schemas.openxmlformats.org/drawingml/2006/main">
              <a:ext uri="{FF2B5EF4-FFF2-40B4-BE49-F238E27FC236}">
                <a16:creationId xmlns:a16="http://schemas.microsoft.com/office/drawing/2014/main" id="{57C6DB40-597C-4AC1-9043-B6A82E08EC60}"/>
              </a:ext>
            </a:extLst>
          </p:cNvPr>
          <p:cNvSpPr>
            <a:spLocks xmlns:a="http://schemas.openxmlformats.org/drawingml/2006/main" noGrp="1"/>
          </p:cNvSpPr>
          <p:nvPr/>
        </p:nvSpPr>
        <p:spPr>
          <a:xfrm xmlns:a="http://schemas.openxmlformats.org/drawingml/2006/main">
            <a:off x="1066800" y="2266950"/>
            <a:ext cx="1714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9050">
            <a:solidFill>
              <a:srgbClr val="BCC3CC"/>
            </a:solidFill>
            <a:prstDash val="solid"/>
          </a:ln>
        </p:spPr>
      </p:sp>
      <p:sp>
        <p:nvSpPr>
          <p:cNvPr id="8" name="node-label">
            <a:extLst xmlns:a="http://schemas.openxmlformats.org/drawingml/2006/main">
              <a:ext uri="{FF2B5EF4-FFF2-40B4-BE49-F238E27FC236}">
                <a16:creationId xmlns:a16="http://schemas.microsoft.com/office/drawing/2014/main" id="{CD746483-2A78-4B81-8EB9-11F6A8797748}"/>
              </a:ext>
            </a:extLst>
          </p:cNvPr>
          <p:cNvSpPr>
            <a:spLocks xmlns:a="http://schemas.openxmlformats.org/drawingml/2006/main" noGrp="1"/>
          </p:cNvSpPr>
          <p:nvPr/>
        </p:nvSpPr>
        <p:spPr>
          <a:xfrm xmlns:a="http://schemas.openxmlformats.org/drawingml/2006/main">
            <a:off x="1143000" y="2305050"/>
            <a:ext cx="1562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object query</a:t>
            </a:r>
          </a:p>
        </p:txBody>
      </p:sp>
      <p:sp>
        <p:nvSpPr>
          <p:cNvPr id="9" name="arrow">
            <a:extLst xmlns:a="http://schemas.openxmlformats.org/drawingml/2006/main">
              <a:ext uri="{FF2B5EF4-FFF2-40B4-BE49-F238E27FC236}">
                <a16:creationId xmlns:a16="http://schemas.microsoft.com/office/drawing/2014/main" id="{048B521D-70F9-4682-9F66-F6734ED9AE45}"/>
              </a:ext>
            </a:extLst>
          </p:cNvPr>
          <p:cNvSpPr>
            <a:spLocks xmlns:a="http://schemas.openxmlformats.org/drawingml/2006/main" noGrp="1"/>
          </p:cNvSpPr>
          <p:nvPr/>
        </p:nvSpPr>
        <p:spPr>
          <a:xfrm xmlns:a="http://schemas.openxmlformats.org/drawingml/2006/main">
            <a:off x="2895600" y="2400300"/>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0" name="node">
            <a:extLst xmlns:a="http://schemas.openxmlformats.org/drawingml/2006/main">
              <a:ext uri="{FF2B5EF4-FFF2-40B4-BE49-F238E27FC236}">
                <a16:creationId xmlns:a16="http://schemas.microsoft.com/office/drawing/2014/main" id="{EC5A13F2-4A8F-4C8E-8263-49C8A296BC90}"/>
              </a:ext>
            </a:extLst>
          </p:cNvPr>
          <p:cNvSpPr>
            <a:spLocks xmlns:a="http://schemas.openxmlformats.org/drawingml/2006/main" noGrp="1"/>
          </p:cNvSpPr>
          <p:nvPr/>
        </p:nvSpPr>
        <p:spPr>
          <a:xfrm xmlns:a="http://schemas.openxmlformats.org/drawingml/2006/main">
            <a:off x="3543300" y="2266950"/>
            <a:ext cx="1714500" cy="571500"/>
          </a:xfrm>
          <a:prstGeom xmlns:a="http://schemas.openxmlformats.org/drawingml/2006/main" prst="roundRect">
            <a:avLst>
              <a:gd name="adj" fmla="val 13333"/>
            </a:avLst>
          </a:prstGeom>
          <a:solidFill xmlns:a="http://schemas.openxmlformats.org/drawingml/2006/main">
            <a:srgbClr val="DDF4E8"/>
          </a:solidFill>
          <a:ln xmlns:a="http://schemas.openxmlformats.org/drawingml/2006/main" w="19050">
            <a:solidFill>
              <a:srgbClr val="45B97C"/>
            </a:solidFill>
            <a:prstDash val="solid"/>
          </a:ln>
        </p:spPr>
      </p:sp>
      <p:sp>
        <p:nvSpPr>
          <p:cNvPr id="11" name="node-label">
            <a:extLst xmlns:a="http://schemas.openxmlformats.org/drawingml/2006/main">
              <a:ext uri="{FF2B5EF4-FFF2-40B4-BE49-F238E27FC236}">
                <a16:creationId xmlns:a16="http://schemas.microsoft.com/office/drawing/2014/main" id="{3D7BC31F-926B-422B-8E4E-807A9028621F}"/>
              </a:ext>
            </a:extLst>
          </p:cNvPr>
          <p:cNvSpPr>
            <a:spLocks xmlns:a="http://schemas.openxmlformats.org/drawingml/2006/main" noGrp="1"/>
          </p:cNvSpPr>
          <p:nvPr/>
        </p:nvSpPr>
        <p:spPr>
          <a:xfrm xmlns:a="http://schemas.openxmlformats.org/drawingml/2006/main">
            <a:off x="3619500" y="2305050"/>
            <a:ext cx="1562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class + box</a:t>
            </a:r>
          </a:p>
        </p:txBody>
      </p:sp>
      <p:sp>
        <p:nvSpPr>
          <p:cNvPr id="12" name="arrow">
            <a:extLst xmlns:a="http://schemas.openxmlformats.org/drawingml/2006/main">
              <a:ext uri="{FF2B5EF4-FFF2-40B4-BE49-F238E27FC236}">
                <a16:creationId xmlns:a16="http://schemas.microsoft.com/office/drawing/2014/main" id="{222D6F67-1410-4074-A496-9C42BB1AC4FC}"/>
              </a:ext>
            </a:extLst>
          </p:cNvPr>
          <p:cNvSpPr>
            <a:spLocks xmlns:a="http://schemas.openxmlformats.org/drawingml/2006/main" noGrp="1"/>
          </p:cNvSpPr>
          <p:nvPr/>
        </p:nvSpPr>
        <p:spPr>
          <a:xfrm xmlns:a="http://schemas.openxmlformats.org/drawingml/2006/main">
            <a:off x="4210050" y="2971800"/>
            <a:ext cx="361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3" name="node">
            <a:extLst xmlns:a="http://schemas.openxmlformats.org/drawingml/2006/main">
              <a:ext uri="{FF2B5EF4-FFF2-40B4-BE49-F238E27FC236}">
                <a16:creationId xmlns:a16="http://schemas.microsoft.com/office/drawing/2014/main" id="{EA51E8D9-DB51-48E1-BDC5-2B2827ECBD32}"/>
              </a:ext>
            </a:extLst>
          </p:cNvPr>
          <p:cNvSpPr>
            <a:spLocks xmlns:a="http://schemas.openxmlformats.org/drawingml/2006/main" noGrp="1"/>
          </p:cNvSpPr>
          <p:nvPr/>
        </p:nvSpPr>
        <p:spPr>
          <a:xfrm xmlns:a="http://schemas.openxmlformats.org/drawingml/2006/main">
            <a:off x="2381250" y="3486150"/>
            <a:ext cx="28956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9050">
            <a:solidFill>
              <a:srgbClr val="BCC3CC"/>
            </a:solidFill>
            <a:prstDash val="solid"/>
          </a:ln>
        </p:spPr>
      </p:sp>
      <p:sp>
        <p:nvSpPr>
          <p:cNvPr id="14" name="node-label">
            <a:extLst xmlns:a="http://schemas.openxmlformats.org/drawingml/2006/main">
              <a:ext uri="{FF2B5EF4-FFF2-40B4-BE49-F238E27FC236}">
                <a16:creationId xmlns:a16="http://schemas.microsoft.com/office/drawing/2014/main" id="{74E79B30-EFC3-4C17-BED4-6BB23DB5DD2B}"/>
              </a:ext>
            </a:extLst>
          </p:cNvPr>
          <p:cNvSpPr>
            <a:spLocks xmlns:a="http://schemas.openxmlformats.org/drawingml/2006/main" noGrp="1"/>
          </p:cNvSpPr>
          <p:nvPr/>
        </p:nvSpPr>
        <p:spPr>
          <a:xfrm xmlns:a="http://schemas.openxmlformats.org/drawingml/2006/main">
            <a:off x="2457450" y="3524250"/>
            <a:ext cx="2743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optional mask head</a:t>
            </a:r>
          </a:p>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uses query + image features</a:t>
            </a:r>
          </a:p>
        </p:txBody>
      </p:sp>
      <p:sp>
        <p:nvSpPr>
          <p:cNvPr id="15" name="box">
            <a:extLst xmlns:a="http://schemas.openxmlformats.org/drawingml/2006/main">
              <a:ext uri="{FF2B5EF4-FFF2-40B4-BE49-F238E27FC236}">
                <a16:creationId xmlns:a16="http://schemas.microsoft.com/office/drawing/2014/main" id="{1AD17DFA-38AE-40E4-AC0A-97D13D81A6D0}"/>
              </a:ext>
            </a:extLst>
          </p:cNvPr>
          <p:cNvSpPr>
            <a:spLocks xmlns:a="http://schemas.openxmlformats.org/drawingml/2006/main" noGrp="1"/>
          </p:cNvSpPr>
          <p:nvPr/>
        </p:nvSpPr>
        <p:spPr>
          <a:xfrm xmlns:a="http://schemas.openxmlformats.org/drawingml/2006/main">
            <a:off x="6438900" y="1447800"/>
            <a:ext cx="5257800" cy="3028950"/>
          </a:xfrm>
          <a:prstGeom xmlns:a="http://schemas.openxmlformats.org/drawingml/2006/main" prst="roundRect">
            <a:avLst>
              <a:gd name="adj" fmla="val 2516"/>
            </a:avLst>
          </a:prstGeom>
          <a:solidFill xmlns:a="http://schemas.openxmlformats.org/drawingml/2006/main">
            <a:srgbClr val="DDF4E8"/>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FEB67CC9-55E8-4779-809D-4CEA987FD97E}"/>
              </a:ext>
            </a:extLst>
          </p:cNvPr>
          <p:cNvSpPr>
            <a:spLocks xmlns:a="http://schemas.openxmlformats.org/drawingml/2006/main" noGrp="1"/>
          </p:cNvSpPr>
          <p:nvPr/>
        </p:nvSpPr>
        <p:spPr>
          <a:xfrm xmlns:a="http://schemas.openxmlformats.org/drawingml/2006/main">
            <a:off x="6724650" y="1657350"/>
            <a:ext cx="4686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45B97C"/>
                </a:solidFill>
                <a:latin typeface="Helvetica Neue"/>
                <a:ea typeface="Helvetica Neue"/>
                <a:cs typeface="Helvetica Neue"/>
              </a:defRPr>
            </a:pPr>
            <a:r>
              <a:rPr sz="1650" b="1">
                <a:solidFill>
                  <a:srgbClr val="45B97C"/>
                </a:solidFill>
                <a:latin typeface="Helvetica Neue"/>
                <a:ea typeface="Helvetica Neue"/>
                <a:cs typeface="Helvetica Neue"/>
              </a:rPr>
              <a:t>MASK-CLASSIFICATION VIEW</a:t>
            </a:r>
          </a:p>
        </p:txBody>
      </p:sp>
      <p:sp>
        <p:nvSpPr>
          <p:cNvPr id="17" name="node">
            <a:extLst xmlns:a="http://schemas.openxmlformats.org/drawingml/2006/main">
              <a:ext uri="{FF2B5EF4-FFF2-40B4-BE49-F238E27FC236}">
                <a16:creationId xmlns:a16="http://schemas.microsoft.com/office/drawing/2014/main" id="{3CA9434B-34B0-4096-84E7-32D249E49208}"/>
              </a:ext>
            </a:extLst>
          </p:cNvPr>
          <p:cNvSpPr>
            <a:spLocks xmlns:a="http://schemas.openxmlformats.org/drawingml/2006/main" noGrp="1"/>
          </p:cNvSpPr>
          <p:nvPr/>
        </p:nvSpPr>
        <p:spPr>
          <a:xfrm xmlns:a="http://schemas.openxmlformats.org/drawingml/2006/main">
            <a:off x="7010400" y="2266950"/>
            <a:ext cx="1714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9050">
            <a:solidFill>
              <a:srgbClr val="BCC3CC"/>
            </a:solidFill>
            <a:prstDash val="solid"/>
          </a:ln>
        </p:spPr>
      </p:sp>
      <p:sp>
        <p:nvSpPr>
          <p:cNvPr id="18" name="node-label">
            <a:extLst xmlns:a="http://schemas.openxmlformats.org/drawingml/2006/main">
              <a:ext uri="{FF2B5EF4-FFF2-40B4-BE49-F238E27FC236}">
                <a16:creationId xmlns:a16="http://schemas.microsoft.com/office/drawing/2014/main" id="{707B37D1-8362-41E2-898B-890BD4300929}"/>
              </a:ext>
            </a:extLst>
          </p:cNvPr>
          <p:cNvSpPr>
            <a:spLocks xmlns:a="http://schemas.openxmlformats.org/drawingml/2006/main" noGrp="1"/>
          </p:cNvSpPr>
          <p:nvPr/>
        </p:nvSpPr>
        <p:spPr>
          <a:xfrm xmlns:a="http://schemas.openxmlformats.org/drawingml/2006/main">
            <a:off x="7086600" y="2305050"/>
            <a:ext cx="1562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object query</a:t>
            </a:r>
          </a:p>
        </p:txBody>
      </p:sp>
      <p:sp>
        <p:nvSpPr>
          <p:cNvPr id="19" name="arrow">
            <a:extLst xmlns:a="http://schemas.openxmlformats.org/drawingml/2006/main">
              <a:ext uri="{FF2B5EF4-FFF2-40B4-BE49-F238E27FC236}">
                <a16:creationId xmlns:a16="http://schemas.microsoft.com/office/drawing/2014/main" id="{8F07F5A9-227B-46AC-B92C-9906C421D425}"/>
              </a:ext>
            </a:extLst>
          </p:cNvPr>
          <p:cNvSpPr>
            <a:spLocks xmlns:a="http://schemas.openxmlformats.org/drawingml/2006/main" noGrp="1"/>
          </p:cNvSpPr>
          <p:nvPr/>
        </p:nvSpPr>
        <p:spPr>
          <a:xfrm xmlns:a="http://schemas.openxmlformats.org/drawingml/2006/main">
            <a:off x="8839200" y="2400300"/>
            <a:ext cx="533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45B97C"/>
                </a:solidFill>
                <a:latin typeface="Helvetica Neue"/>
                <a:ea typeface="Helvetica Neue"/>
                <a:cs typeface="Helvetica Neue"/>
              </a:defRPr>
            </a:pPr>
            <a:r>
              <a:rPr sz="2100" b="1">
                <a:solidFill>
                  <a:srgbClr val="45B97C"/>
                </a:solidFill>
                <a:latin typeface="Helvetica Neue"/>
                <a:ea typeface="Helvetica Neue"/>
                <a:cs typeface="Helvetica Neue"/>
              </a:rPr>
              <a:t>→</a:t>
            </a:r>
          </a:p>
        </p:txBody>
      </p:sp>
      <p:sp>
        <p:nvSpPr>
          <p:cNvPr id="20" name="node">
            <a:extLst xmlns:a="http://schemas.openxmlformats.org/drawingml/2006/main">
              <a:ext uri="{FF2B5EF4-FFF2-40B4-BE49-F238E27FC236}">
                <a16:creationId xmlns:a16="http://schemas.microsoft.com/office/drawing/2014/main" id="{307B7E89-3BDE-4369-9A59-EC57D785419F}"/>
              </a:ext>
            </a:extLst>
          </p:cNvPr>
          <p:cNvSpPr>
            <a:spLocks xmlns:a="http://schemas.openxmlformats.org/drawingml/2006/main" noGrp="1"/>
          </p:cNvSpPr>
          <p:nvPr/>
        </p:nvSpPr>
        <p:spPr>
          <a:xfrm xmlns:a="http://schemas.openxmlformats.org/drawingml/2006/main">
            <a:off x="9486900" y="2266950"/>
            <a:ext cx="1714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9050">
            <a:solidFill>
              <a:srgbClr val="45B97C"/>
            </a:solidFill>
            <a:prstDash val="solid"/>
          </a:ln>
        </p:spPr>
      </p:sp>
      <p:sp>
        <p:nvSpPr>
          <p:cNvPr id="21" name="node-label">
            <a:extLst xmlns:a="http://schemas.openxmlformats.org/drawingml/2006/main">
              <a:ext uri="{FF2B5EF4-FFF2-40B4-BE49-F238E27FC236}">
                <a16:creationId xmlns:a16="http://schemas.microsoft.com/office/drawing/2014/main" id="{444F9313-441F-4244-8374-209DA8ABFD1F}"/>
              </a:ext>
            </a:extLst>
          </p:cNvPr>
          <p:cNvSpPr>
            <a:spLocks xmlns:a="http://schemas.openxmlformats.org/drawingml/2006/main" noGrp="1"/>
          </p:cNvSpPr>
          <p:nvPr/>
        </p:nvSpPr>
        <p:spPr>
          <a:xfrm xmlns:a="http://schemas.openxmlformats.org/drawingml/2006/main">
            <a:off x="9563100" y="2305050"/>
            <a:ext cx="1562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1318"/>
                </a:solidFill>
                <a:latin typeface="Helvetica Neue"/>
                <a:ea typeface="Helvetica Neue"/>
                <a:cs typeface="Helvetica Neue"/>
              </a:defRPr>
            </a:pPr>
            <a:r>
              <a:rPr sz="1275" b="1">
                <a:solidFill>
                  <a:srgbClr val="111318"/>
                </a:solidFill>
                <a:latin typeface="Helvetica Neue"/>
                <a:ea typeface="Helvetica Neue"/>
                <a:cs typeface="Helvetica Neue"/>
              </a:rPr>
              <a:t>class + mask</a:t>
            </a:r>
          </a:p>
        </p:txBody>
      </p:sp>
      <p:sp>
        <p:nvSpPr>
          <p:cNvPr id="22" name="text">
            <a:extLst xmlns:a="http://schemas.openxmlformats.org/drawingml/2006/main">
              <a:ext uri="{FF2B5EF4-FFF2-40B4-BE49-F238E27FC236}">
                <a16:creationId xmlns:a16="http://schemas.microsoft.com/office/drawing/2014/main" id="{23ABBAF2-64EC-45D1-9CC8-1069CA2E447B}"/>
              </a:ext>
            </a:extLst>
          </p:cNvPr>
          <p:cNvSpPr>
            <a:spLocks xmlns:a="http://schemas.openxmlformats.org/drawingml/2006/main" noGrp="1"/>
          </p:cNvSpPr>
          <p:nvPr/>
        </p:nvSpPr>
        <p:spPr>
          <a:xfrm xmlns:a="http://schemas.openxmlformats.org/drawingml/2006/main">
            <a:off x="7010400" y="3276600"/>
            <a:ext cx="4191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Masks become the central set element;</a:t>
            </a:r>
          </a:p>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matching uses class and mask quality.</a:t>
            </a:r>
          </a:p>
        </p:txBody>
      </p:sp>
      <p:sp>
        <p:nvSpPr>
          <p:cNvPr id="23" name="box">
            <a:extLst xmlns:a="http://schemas.openxmlformats.org/drawingml/2006/main">
              <a:ext uri="{FF2B5EF4-FFF2-40B4-BE49-F238E27FC236}">
                <a16:creationId xmlns:a16="http://schemas.microsoft.com/office/drawing/2014/main" id="{3743797A-67BA-4712-984E-D240711D64B9}"/>
              </a:ext>
            </a:extLst>
          </p:cNvPr>
          <p:cNvSpPr>
            <a:spLocks xmlns:a="http://schemas.openxmlformats.org/drawingml/2006/main" noGrp="1"/>
          </p:cNvSpPr>
          <p:nvPr/>
        </p:nvSpPr>
        <p:spPr>
          <a:xfrm xmlns:a="http://schemas.openxmlformats.org/drawingml/2006/main">
            <a:off x="1600200" y="4876800"/>
            <a:ext cx="8991600" cy="685800"/>
          </a:xfrm>
          <a:prstGeom xmlns:a="http://schemas.openxmlformats.org/drawingml/2006/main" prst="roundRect">
            <a:avLst>
              <a:gd name="adj" fmla="val 11111"/>
            </a:avLst>
          </a:prstGeom>
          <a:solidFill xmlns:a="http://schemas.openxmlformats.org/drawingml/2006/main">
            <a:srgbClr val="EEF1F4"/>
          </a:solidFill>
          <a:ln xmlns:a="http://schemas.openxmlformats.org/drawingml/2006/main" w="0">
            <a:noFill/>
            <a:prstDash val="solid"/>
          </a:ln>
        </p:spPr>
      </p:sp>
      <p:sp>
        <p:nvSpPr>
          <p:cNvPr id="24" name="text">
            <a:extLst xmlns:a="http://schemas.openxmlformats.org/drawingml/2006/main">
              <a:ext uri="{FF2B5EF4-FFF2-40B4-BE49-F238E27FC236}">
                <a16:creationId xmlns:a16="http://schemas.microsoft.com/office/drawing/2014/main" id="{D49EF0CF-4892-42E8-B764-C14845333BB8}"/>
              </a:ext>
            </a:extLst>
          </p:cNvPr>
          <p:cNvSpPr>
            <a:spLocks xmlns:a="http://schemas.openxmlformats.org/drawingml/2006/main" noGrp="1"/>
          </p:cNvSpPr>
          <p:nvPr/>
        </p:nvSpPr>
        <p:spPr>
          <a:xfrm xmlns:a="http://schemas.openxmlformats.org/drawingml/2006/main">
            <a:off x="1771650" y="4953000"/>
            <a:ext cx="8648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318"/>
                </a:solidFill>
                <a:latin typeface="Helvetica Neue"/>
                <a:ea typeface="Helvetica Neue"/>
                <a:cs typeface="Helvetica Neue"/>
              </a:defRPr>
            </a:pPr>
            <a:r>
              <a:rPr sz="1500" b="1">
                <a:solidFill>
                  <a:srgbClr val="111318"/>
                </a:solidFill>
                <a:latin typeface="Helvetica Neue"/>
                <a:ea typeface="Helvetica Neue"/>
                <a:cs typeface="Helvetica Neue"/>
              </a:rPr>
              <a:t>The durable idea: learned queries + one-to-one set assignment.</a:t>
            </a:r>
          </a:p>
        </p:txBody>
      </p:sp>
      <p:sp>
        <p:nvSpPr>
          <p:cNvPr id="25" name="text">
            <a:extLst xmlns:a="http://schemas.openxmlformats.org/drawingml/2006/main">
              <a:ext uri="{FF2B5EF4-FFF2-40B4-BE49-F238E27FC236}">
                <a16:creationId xmlns:a16="http://schemas.microsoft.com/office/drawing/2014/main" id="{268B46D2-936C-40DE-B795-AE5E3E65EE2C}"/>
              </a:ext>
            </a:extLst>
          </p:cNvPr>
          <p:cNvSpPr>
            <a:spLocks xmlns:a="http://schemas.openxmlformats.org/drawingml/2006/main" noGrp="1"/>
          </p:cNvSpPr>
          <p:nvPr/>
        </p:nvSpPr>
        <p:spPr>
          <a:xfrm xmlns:a="http://schemas.openxmlformats.org/drawingml/2006/main">
            <a:off x="1504950" y="5676900"/>
            <a:ext cx="918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Architecture changed the detector. Set prediction changed the problem formulation.</a:t>
            </a:r>
          </a:p>
        </p:txBody>
      </p:sp>
    </p:spTree>
    <p:extLst>
      <p:ext uri="{BB962C8B-B14F-4D97-AF65-F5344CB8AC3E}">
        <p14:creationId xmlns:p14="http://schemas.microsoft.com/office/powerpoint/2010/main" val="4705082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2026-07-26T03:28:22.1350000Z</dcterms:created>
  <dcterms:modified xsi:type="dcterms:W3CDTF">2026-07-26T03:28:22.1350000Z</dcterms:modified>
</coreProperties>
</file>