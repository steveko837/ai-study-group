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bdc0cb2b35746cd" /><Relationship Type="http://schemas.openxmlformats.org/officeDocument/2006/relationships/extended-properties" Target="/docProps/app.xml" Id="R07eaa80604d44f0a" /><Relationship Type="http://schemas.openxmlformats.org/officeDocument/2006/relationships/officeDocument" Target="/ppt/presentation.xml" Id="R2191377ea0fe46e7" /></Relationships>
</file>

<file path=ppt/presentation.xml><?xml version="1.0" encoding="utf-8"?>
<p:presentation xmlns:p="http://schemas.openxmlformats.org/presentationml/2006/main">
  <p:sldMasterIdLst>
    <p:sldMasterId xmlns:r="http://schemas.openxmlformats.org/officeDocument/2006/relationships" id="2147483648" r:id="R45c8d1ab973a4042"/>
  </p:sldMasterIdLst>
  <p:notesMasterIdLst>
    <p:notesMasterId xmlns:r="http://schemas.openxmlformats.org/officeDocument/2006/relationships" r:id="R1663124944774a4b"/>
  </p:notesMasterIdLst>
  <p:sldIdLst>
    <p:sldId xmlns:r="http://schemas.openxmlformats.org/officeDocument/2006/relationships" id="256" r:id="R2d928a9044bd48cd"/>
    <p:sldId xmlns:r="http://schemas.openxmlformats.org/officeDocument/2006/relationships" id="257" r:id="Ra6264f173d0d4672"/>
    <p:sldId xmlns:r="http://schemas.openxmlformats.org/officeDocument/2006/relationships" id="258" r:id="Re3b38afd31e74ed0"/>
    <p:sldId xmlns:r="http://schemas.openxmlformats.org/officeDocument/2006/relationships" id="259" r:id="R353b4abe0dea449e"/>
    <p:sldId xmlns:r="http://schemas.openxmlformats.org/officeDocument/2006/relationships" id="260" r:id="Re74e51ce90824dea"/>
    <p:sldId xmlns:r="http://schemas.openxmlformats.org/officeDocument/2006/relationships" id="261" r:id="R483503fd19644b5c"/>
    <p:sldId xmlns:r="http://schemas.openxmlformats.org/officeDocument/2006/relationships" id="262" r:id="Rbdb8271e721c4965"/>
    <p:sldId xmlns:r="http://schemas.openxmlformats.org/officeDocument/2006/relationships" id="263" r:id="Re9c8602a1cb24630"/>
    <p:sldId xmlns:r="http://schemas.openxmlformats.org/officeDocument/2006/relationships" id="264" r:id="R62fcbaec2464452a"/>
    <p:sldId xmlns:r="http://schemas.openxmlformats.org/officeDocument/2006/relationships" id="265" r:id="R156e14b4ab3241c9"/>
    <p:sldId xmlns:r="http://schemas.openxmlformats.org/officeDocument/2006/relationships" id="266" r:id="R665e25ce00ae48db"/>
    <p:sldId xmlns:r="http://schemas.openxmlformats.org/officeDocument/2006/relationships" id="267" r:id="R6db7318868014da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1c03ee1d9bc4b4d" /><Relationship Type="http://schemas.openxmlformats.org/officeDocument/2006/relationships/slideMaster" Target="/ppt/slideMasters/slideMaster1.xml" Id="R45c8d1ab973a4042" /><Relationship Type="http://schemas.openxmlformats.org/officeDocument/2006/relationships/notesMaster" Target="/ppt/notesMasters/notesMaster1.xml" Id="R1663124944774a4b" /><Relationship Type="http://schemas.openxmlformats.org/officeDocument/2006/relationships/presProps" Target="/ppt/presProps.xml" Id="R3c58f745c6024101" /><Relationship Type="http://schemas.openxmlformats.org/officeDocument/2006/relationships/tableStyles" Target="/ppt/tableStyles.xml" Id="R5ade2e4f24134b86" /><Relationship Type="http://schemas.openxmlformats.org/officeDocument/2006/relationships/slide" Target="/ppt/slides/slide1.xml" Id="R2d928a9044bd48cd" /><Relationship Type="http://schemas.openxmlformats.org/officeDocument/2006/relationships/slide" Target="/ppt/slides/slide2.xml" Id="Ra6264f173d0d4672" /><Relationship Type="http://schemas.openxmlformats.org/officeDocument/2006/relationships/slide" Target="/ppt/slides/slide3.xml" Id="Re3b38afd31e74ed0" /><Relationship Type="http://schemas.openxmlformats.org/officeDocument/2006/relationships/slide" Target="/ppt/slides/slide4.xml" Id="R353b4abe0dea449e" /><Relationship Type="http://schemas.openxmlformats.org/officeDocument/2006/relationships/slide" Target="/ppt/slides/slide5.xml" Id="Re74e51ce90824dea" /><Relationship Type="http://schemas.openxmlformats.org/officeDocument/2006/relationships/slide" Target="/ppt/slides/slide6.xml" Id="R483503fd19644b5c" /><Relationship Type="http://schemas.openxmlformats.org/officeDocument/2006/relationships/slide" Target="/ppt/slides/slide7.xml" Id="Rbdb8271e721c4965" /><Relationship Type="http://schemas.openxmlformats.org/officeDocument/2006/relationships/slide" Target="/ppt/slides/slide8.xml" Id="Re9c8602a1cb24630" /><Relationship Type="http://schemas.openxmlformats.org/officeDocument/2006/relationships/slide" Target="/ppt/slides/slide9.xml" Id="R62fcbaec2464452a" /><Relationship Type="http://schemas.openxmlformats.org/officeDocument/2006/relationships/slide" Target="/ppt/slides/slide10.xml" Id="R156e14b4ab3241c9" /><Relationship Type="http://schemas.openxmlformats.org/officeDocument/2006/relationships/slide" Target="/ppt/slides/slide11.xml" Id="R665e25ce00ae48db" /><Relationship Type="http://schemas.openxmlformats.org/officeDocument/2006/relationships/slide" Target="/ppt/slides/slide12.xml" Id="R6db7318868014da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6e0f5ebb3ff4cf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1a5990e028f4aef" /><Relationship Type="http://schemas.openxmlformats.org/officeDocument/2006/relationships/notesMaster" Target="/ppt/notesMasters/notesMaster1.xml" Id="Rab7e9601bbeb4a80" /></Relationships>
</file>

<file path=ppt/notesSlides/_rels/notesSlide2.xml.rels>&#65279;<?xml version="1.0" encoding="utf-8"?><Relationships xmlns="http://schemas.openxmlformats.org/package/2006/relationships"><Relationship Type="http://schemas.openxmlformats.org/officeDocument/2006/relationships/slide" Target="/ppt/slides/slide2.xml" Id="R4bd1da93faf545f4" /><Relationship Type="http://schemas.openxmlformats.org/officeDocument/2006/relationships/notesMaster" Target="/ppt/notesMasters/notesMaster1.xml" Id="R6754dddb9432444d" /></Relationships>
</file>

<file path=ppt/notesSlides/_rels/notesSlide3.xml.rels>&#65279;<?xml version="1.0" encoding="utf-8"?><Relationships xmlns="http://schemas.openxmlformats.org/package/2006/relationships"><Relationship Type="http://schemas.openxmlformats.org/officeDocument/2006/relationships/slide" Target="/ppt/slides/slide3.xml" Id="R793ea65afcbb4ec1" /><Relationship Type="http://schemas.openxmlformats.org/officeDocument/2006/relationships/notesMaster" Target="/ppt/notesMasters/notesMaster1.xml" Id="R3e6a3c0c6e924fb8" /></Relationships>
</file>

<file path=ppt/notesSlides/_rels/notesSlide4.xml.rels>&#65279;<?xml version="1.0" encoding="utf-8"?><Relationships xmlns="http://schemas.openxmlformats.org/package/2006/relationships"><Relationship Type="http://schemas.openxmlformats.org/officeDocument/2006/relationships/slide" Target="/ppt/slides/slide4.xml" Id="R95bb09494a214e81" /><Relationship Type="http://schemas.openxmlformats.org/officeDocument/2006/relationships/notesMaster" Target="/ppt/notesMasters/notesMaster1.xml" Id="R279a3a5a65a34b1d" /></Relationships>
</file>

<file path=ppt/notesSlides/_rels/notesSlide5.xml.rels>&#65279;<?xml version="1.0" encoding="utf-8"?><Relationships xmlns="http://schemas.openxmlformats.org/package/2006/relationships"><Relationship Type="http://schemas.openxmlformats.org/officeDocument/2006/relationships/slide" Target="/ppt/slides/slide5.xml" Id="R14ff40302cec42b5" /><Relationship Type="http://schemas.openxmlformats.org/officeDocument/2006/relationships/notesMaster" Target="/ppt/notesMasters/notesMaster1.xml" Id="Rd58f370ebc794c18" /></Relationships>
</file>

<file path=ppt/notesSlides/_rels/notesSlide6.xml.rels>&#65279;<?xml version="1.0" encoding="utf-8"?><Relationships xmlns="http://schemas.openxmlformats.org/package/2006/relationships"><Relationship Type="http://schemas.openxmlformats.org/officeDocument/2006/relationships/slide" Target="/ppt/slides/slide6.xml" Id="R0463bc0f0ab84be9" /><Relationship Type="http://schemas.openxmlformats.org/officeDocument/2006/relationships/notesMaster" Target="/ppt/notesMasters/notesMaster1.xml" Id="Raafc8d780a444f26" /></Relationships>
</file>

<file path=ppt/notesSlides/_rels/notesSlide7.xml.rels>&#65279;<?xml version="1.0" encoding="utf-8"?><Relationships xmlns="http://schemas.openxmlformats.org/package/2006/relationships"><Relationship Type="http://schemas.openxmlformats.org/officeDocument/2006/relationships/slide" Target="/ppt/slides/slide7.xml" Id="Rc77f0b21e11449e4" /><Relationship Type="http://schemas.openxmlformats.org/officeDocument/2006/relationships/notesMaster" Target="/ppt/notesMasters/notesMaster1.xml" Id="Ree9cf3ecbc334f65" /></Relationships>
</file>

<file path=ppt/notesSlides/_rels/notesSlide8.xml.rels>&#65279;<?xml version="1.0" encoding="utf-8"?><Relationships xmlns="http://schemas.openxmlformats.org/package/2006/relationships"><Relationship Type="http://schemas.openxmlformats.org/officeDocument/2006/relationships/slide" Target="/ppt/slides/slide8.xml" Id="R8c48353886d74728" /><Relationship Type="http://schemas.openxmlformats.org/officeDocument/2006/relationships/notesMaster" Target="/ppt/notesMasters/notesMaster1.xml" Id="R1e6060f0d7944cfc" /></Relationships>
</file>

<file path=ppt/notesSlides/_rels/notesSlide9.xml.rels>&#65279;<?xml version="1.0" encoding="utf-8"?><Relationships xmlns="http://schemas.openxmlformats.org/package/2006/relationships"><Relationship Type="http://schemas.openxmlformats.org/officeDocument/2006/relationships/slide" Target="/ppt/slides/slide9.xml" Id="R2acae1148f5540f5" /><Relationship Type="http://schemas.openxmlformats.org/officeDocument/2006/relationships/notesMaster" Target="/ppt/notesMasters/notesMaster1.xml" Id="R0706ac06a438448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55bc3b0d20d42b0" /><Relationship Type="http://schemas.openxmlformats.org/officeDocument/2006/relationships/notesMaster" Target="/ppt/notesMasters/notesMaster1.xml" Id="Rb6570ec8d83f4b3e"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fb558259f3f141e8" /><Relationship Type="http://schemas.openxmlformats.org/officeDocument/2006/relationships/notesMaster" Target="/ppt/notesMasters/notesMaster1.xml" Id="Rf8ae89965e344524"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4342615e9d574e64" /><Relationship Type="http://schemas.openxmlformats.org/officeDocument/2006/relationships/notesMaster" Target="/ppt/notesMasters/notesMaster1.xml" Id="Rd924136df87548a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Current Phison materials use Pascari aiDAPTIV as the umbrella name. The public architecture is middleware plus a dedicated flash capacity tier across GPU/unified memory, system memory, and cache memory. SSD does not replace GPU compute.</a:t>
            </a:r>
          </a:p>
          <a:p xmlns:a="http://schemas.openxmlformats.org/drawingml/2006/main">
            <a:r>
              <a:t/>
            </a:r>
          </a:p>
          <a:p xmlns:a="http://schemas.openxmlformats.org/drawingml/2006/main">
            <a:r>
              <a:t>[Sources]</a:t>
            </a:r>
          </a:p>
          <a:p xmlns:a="http://schemas.openxmlformats.org/drawingml/2006/main">
            <a:r>
              <a:t>https://www.phisonenterprise.com/pascari-aidaptiv/</a:t>
            </a:r>
          </a:p>
          <a:p xmlns:a="http://schemas.openxmlformats.org/drawingml/2006/main">
            <a:r>
              <a:t>https://www.phisonenterprise.com/how-pascari-aidaptiv-works/</a:t>
            </a:r>
          </a:p>
          <a:p xmlns:a="http://schemas.openxmlformats.org/drawingml/2006/main">
            <a:r>
              <a:t>https://www.phison.com/phison-rescales-local-ai-inferencing-with-flash-memory-expansion-2/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table is a representative engineering hierarchy, not a benchmark comparison. NVIDIA publishes 80 GB and 3.35 TB/s for H100 SXM. Phison publishes up to 14.5 GB/s sequential throughput for the E28 controller. DRAM is intentionally expressed as a range because channel count and CPU platform dominate.</a:t>
            </a:r>
          </a:p>
          <a:p xmlns:a="http://schemas.openxmlformats.org/drawingml/2006/main">
            <a:r>
              <a:t/>
            </a:r>
          </a:p>
          <a:p xmlns:a="http://schemas.openxmlformats.org/drawingml/2006/main">
            <a:r>
              <a:t>[Sources]</a:t>
            </a:r>
          </a:p>
          <a:p xmlns:a="http://schemas.openxmlformats.org/drawingml/2006/main">
            <a:r>
              <a:t>https://www.nvidia.com/en-us/data-center/h100/</a:t>
            </a:r>
          </a:p>
          <a:p xmlns:a="http://schemas.openxmlformats.org/drawingml/2006/main">
            <a:r>
              <a:t>https://www.phison.com/ces-2025-phison-unveils-lightning-fast-gen5-storage-expanding-suite-of-high-performance-solutions/</a:t>
            </a:r>
          </a:p>
          <a:p xmlns:a="http://schemas.openxmlformats.org/drawingml/2006/main">
            <a:r>
              <a:t>https://www.phisonenterprise.com/pascari-aidaptiv/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Solid architecture elements are directly documented. The lower callout lists proprietary/undocumented details. Public Phison material does not document GPUDirect Storage, a direct GPU-to-SSD DMA contract, exact cache granularity, or eviction policy, so the deck does not claim those mechanisms.</a:t>
            </a:r>
          </a:p>
          <a:p xmlns:a="http://schemas.openxmlformats.org/drawingml/2006/main">
            <a:r>
              <a:t/>
            </a:r>
          </a:p>
          <a:p xmlns:a="http://schemas.openxmlformats.org/drawingml/2006/main">
            <a:r>
              <a:t>[Sources]</a:t>
            </a:r>
          </a:p>
          <a:p xmlns:a="http://schemas.openxmlformats.org/drawingml/2006/main">
            <a:r>
              <a:t>https://www.phisonenterprise.com/how-pascari-aidaptiv-works/</a:t>
            </a:r>
          </a:p>
          <a:p xmlns:a="http://schemas.openxmlformats.org/drawingml/2006/main">
            <a:r>
              <a:t>https://www.phisonenterprise.com/pascari-aidaptiv/</a:t>
            </a:r>
          </a:p>
          <a:p xmlns:a="http://schemas.openxmlformats.org/drawingml/2006/main">
            <a:r>
              <a:t>https://github.com/aiDAPTIV-Phison/aiDAPTIV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Confirmed current inference mechanisms are KV-cache extension/reuse and Dynamic MoE. The dense layer-streaming statement is deliberately labeled as an industry pattern, not a documented proprietary Phison scheduler. The official GitHub separates Link 2 fine-tuning focus from Link 3 inference features.</a:t>
            </a:r>
          </a:p>
          <a:p xmlns:a="http://schemas.openxmlformats.org/drawingml/2006/main">
            <a:r>
              <a:t/>
            </a:r>
          </a:p>
          <a:p xmlns:a="http://schemas.openxmlformats.org/drawingml/2006/main">
            <a:r>
              <a:t>[Sources]</a:t>
            </a:r>
          </a:p>
          <a:p xmlns:a="http://schemas.openxmlformats.org/drawingml/2006/main">
            <a:r>
              <a:t>https://www.phisonenterprise.com/kv-cache-extension-reuse/</a:t>
            </a:r>
          </a:p>
          <a:p xmlns:a="http://schemas.openxmlformats.org/drawingml/2006/main">
            <a:r>
              <a:t>https://www.phisonenterprise.com/dynamic-moe/</a:t>
            </a:r>
          </a:p>
          <a:p xmlns:a="http://schemas.openxmlformats.org/drawingml/2006/main">
            <a:r>
              <a:t>https://github.com/aiDAPTIV-Phison/aiDAPTIV</a:t>
            </a:r>
          </a:p>
          <a:p xmlns:a="http://schemas.openxmlformats.org/drawingml/2006/main">
            <a:r>
              <a:t>https://www.deepspeed.ai/2022/09/09/zero-inference.html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Fine-tuning support is explicit. The official repository lists LoRA and full-parameter fine-tuning, CPU Adam, multi-GPU/multi-node, VLM, and SSD-based GPU-memory offload. Current product pages discuss LoRA and QLoRA and state that exact placement varies by runtime and training method. The diagram avoids claiming that every optimizer/activation tensor is always placed on SSD.</a:t>
            </a:r>
          </a:p>
          <a:p xmlns:a="http://schemas.openxmlformats.org/drawingml/2006/main">
            <a:r>
              <a:t/>
            </a:r>
          </a:p>
          <a:p xmlns:a="http://schemas.openxmlformats.org/drawingml/2006/main">
            <a:r>
              <a:t>[Sources]</a:t>
            </a:r>
          </a:p>
          <a:p xmlns:a="http://schemas.openxmlformats.org/drawingml/2006/main">
            <a:r>
              <a:t>https://www.phisonenterprise.com/elastic-fine-tuning/</a:t>
            </a:r>
          </a:p>
          <a:p xmlns:a="http://schemas.openxmlformats.org/drawingml/2006/main">
            <a:r>
              <a:t>https://github.com/aiDAPTIV-Phison/aiDAPTIV</a:t>
            </a:r>
          </a:p>
          <a:p xmlns:a="http://schemas.openxmlformats.org/drawingml/2006/main">
            <a:r>
              <a:t>https://www.phisonenterprise.com/how-pascari-aidaptiv-works/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140 GB FP16 weight figure is arithmetic, not a benchmark. Training-state footprint depends on precision, optimizer, LoRA/QLoRA/full tuning, checkpointing, batch, and sequence length. Phison's official GitHub publishes the 2 TB/up-to-70B/128 GB RAM sizing guidance. The 519-to-971 tokens/s number is a Phison internal comparison with incomplete public methodology and is labeled accordingly.</a:t>
            </a:r>
          </a:p>
          <a:p xmlns:a="http://schemas.openxmlformats.org/drawingml/2006/main">
            <a:r>
              <a:t/>
            </a:r>
          </a:p>
          <a:p xmlns:a="http://schemas.openxmlformats.org/drawingml/2006/main">
            <a:r>
              <a:t>[Sources]</a:t>
            </a:r>
          </a:p>
          <a:p xmlns:a="http://schemas.openxmlformats.org/drawingml/2006/main">
            <a:r>
              <a:t>https://github.com/aiDAPTIV-Phison/aiDAPTIV</a:t>
            </a:r>
          </a:p>
          <a:p xmlns:a="http://schemas.openxmlformats.org/drawingml/2006/main">
            <a:r>
              <a:t>https://www.phison.com/phisons-worlds-first-6nm-ai-computing-ssd-solution-wins-computex-2025-best-choice-golden-award/</a:t>
            </a:r>
          </a:p>
          <a:p xmlns:a="http://schemas.openxmlformats.org/drawingml/2006/main">
            <a:r>
              <a:t>https://www.phisonenterprise.com/elastic-fine-tuning/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DeepSpeed descriptions come from its official tutorials. aiDAPTIV descriptions come from Phison's current product pages and official GitHub. No official integration between the two was identified in reviewed official materials as of 2026-08-29, so the relationship is explicitly conceptual.</a:t>
            </a:r>
          </a:p>
          <a:p xmlns:a="http://schemas.openxmlformats.org/drawingml/2006/main">
            <a:r>
              <a:t/>
            </a:r>
          </a:p>
          <a:p xmlns:a="http://schemas.openxmlformats.org/drawingml/2006/main">
            <a:r>
              <a:t>[Sources]</a:t>
            </a:r>
          </a:p>
          <a:p xmlns:a="http://schemas.openxmlformats.org/drawingml/2006/main">
            <a:r>
              <a:t>https://www.deepspeed.ai/tutorials/zero/</a:t>
            </a:r>
          </a:p>
          <a:p xmlns:a="http://schemas.openxmlformats.org/drawingml/2006/main">
            <a:r>
              <a:t>https://www.deepspeed.ai/tutorials/zero-offload/</a:t>
            </a:r>
          </a:p>
          <a:p xmlns:a="http://schemas.openxmlformats.org/drawingml/2006/main">
            <a:r>
              <a:t>https://www.deepspeed.ai/2022/09/09/zero-inference.html</a:t>
            </a:r>
          </a:p>
          <a:p xmlns:a="http://schemas.openxmlformats.org/drawingml/2006/main">
            <a:r>
              <a:t>https://www.phisonenterprise.com/how-pascari-aidaptiv-works/</a:t>
            </a:r>
          </a:p>
          <a:p xmlns:a="http://schemas.openxmlformats.org/drawingml/2006/main">
            <a:r>
              <a:t>https://github.com/aiDAPTIV-Phison/aiDAPTIV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Stage definitions and offload behavior are from DeepSpeed's official tutorials. ZeRO-Inference explicitly streams layers from CPU/NVMe and uses prefetching; it is positioned for throughput-oriented inference. aiDAPTIV is compared as a platform layer only, without claiming official integration.</a:t>
            </a:r>
          </a:p>
          <a:p xmlns:a="http://schemas.openxmlformats.org/drawingml/2006/main">
            <a:r>
              <a:t/>
            </a:r>
          </a:p>
          <a:p xmlns:a="http://schemas.openxmlformats.org/drawingml/2006/main">
            <a:r>
              <a:t>[Sources]</a:t>
            </a:r>
          </a:p>
          <a:p xmlns:a="http://schemas.openxmlformats.org/drawingml/2006/main">
            <a:r>
              <a:t>https://www.deepspeed.ai/tutorials/zero/</a:t>
            </a:r>
          </a:p>
          <a:p xmlns:a="http://schemas.openxmlformats.org/drawingml/2006/main">
            <a:r>
              <a:t>https://www.deepspeed.ai/tutorials/zero-offload/</a:t>
            </a:r>
          </a:p>
          <a:p xmlns:a="http://schemas.openxmlformats.org/drawingml/2006/main">
            <a:r>
              <a:t>https://www.deepspeed.ai/2022/09/09/zero-inference.html</a:t>
            </a:r>
          </a:p>
          <a:p xmlns:a="http://schemas.openxmlformats.org/drawingml/2006/main">
            <a:r>
              <a:t>https://www.microsoft.com/en-us/research/blog/zero-infinity-and-deepspeed-unlocking-unprecedented-model-scale-for-deep-learning-training/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Phison's current Cache Memory page explicitly identifies sustained writes, latency variation, wear management, data placement, recovery behavior, and workload contention as controller/firmware concerns. The product-family roadmap is copied from that page. E28 bandwidth is not used as a guarantee for every aiDAPTIV cache SKU.</a:t>
            </a:r>
          </a:p>
          <a:p xmlns:a="http://schemas.openxmlformats.org/drawingml/2006/main">
            <a:r>
              <a:t/>
            </a:r>
          </a:p>
          <a:p xmlns:a="http://schemas.openxmlformats.org/drawingml/2006/main">
            <a:r>
              <a:t>[Sources]</a:t>
            </a:r>
          </a:p>
          <a:p xmlns:a="http://schemas.openxmlformats.org/drawingml/2006/main">
            <a:r>
              <a:t>https://www.phisonenterprise.com/aidaptiv-cache-memory/</a:t>
            </a:r>
          </a:p>
          <a:p xmlns:a="http://schemas.openxmlformats.org/drawingml/2006/main">
            <a:r>
              <a:t>https://www.phison.com/ces-2025-phison-unveils-lightning-fast-gen5-storage-expanding-suite-of-high-performance-solutions/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six-step flow and overlap timeline are a general heterogeneous-memory implementation pattern. Phison confirms the three-tier retention model and workload-specific state movement but does not publicly specify this exact prefetch scheduler or timeline.</a:t>
            </a:r>
          </a:p>
          <a:p xmlns:a="http://schemas.openxmlformats.org/drawingml/2006/main">
            <a:r>
              <a:t/>
            </a:r>
          </a:p>
          <a:p xmlns:a="http://schemas.openxmlformats.org/drawingml/2006/main">
            <a:r>
              <a:t>[Sources]</a:t>
            </a:r>
          </a:p>
          <a:p xmlns:a="http://schemas.openxmlformats.org/drawingml/2006/main">
            <a:r>
              <a:t>https://www.phisonenterprise.com/how-pascari-aidaptiv-works/</a:t>
            </a:r>
          </a:p>
          <a:p xmlns:a="http://schemas.openxmlformats.org/drawingml/2006/main">
            <a:r>
              <a:t>https://www.deepspeed.ai/2022/09/09/zero-inference.html</a:t>
            </a:r>
          </a:p>
          <a:p xmlns:a="http://schemas.openxmlformats.org/drawingml/2006/main">
            <a:r>
              <a:t>https://www.microsoft.com/en-us/research/blog/zero-infinity-and-deepspeed-unlocking-unprecedented-model-scale-for-deep-learning-training/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 balanced engineering assessment synthesized from Phison's own capacity/tradeoff statements, KV/MoE suitability guidance, cache-memory endurance discussion, and DeepSpeed's throughput-versus-latency guidance for NVMe streaming.</a:t>
            </a:r>
          </a:p>
          <a:p xmlns:a="http://schemas.openxmlformats.org/drawingml/2006/main">
            <a:r>
              <a:t/>
            </a:r>
          </a:p>
          <a:p xmlns:a="http://schemas.openxmlformats.org/drawingml/2006/main">
            <a:r>
              <a:t>[Sources]</a:t>
            </a:r>
          </a:p>
          <a:p xmlns:a="http://schemas.openxmlformats.org/drawingml/2006/main">
            <a:r>
              <a:t>https://www.phisonenterprise.com/how-pascari-aidaptiv-works/</a:t>
            </a:r>
          </a:p>
          <a:p xmlns:a="http://schemas.openxmlformats.org/drawingml/2006/main">
            <a:r>
              <a:t>https://www.phisonenterprise.com/kv-cache-extension-reuse/</a:t>
            </a:r>
          </a:p>
          <a:p xmlns:a="http://schemas.openxmlformats.org/drawingml/2006/main">
            <a:r>
              <a:t>https://www.phisonenterprise.com/dynamic-moe/</a:t>
            </a:r>
          </a:p>
          <a:p xmlns:a="http://schemas.openxmlformats.org/drawingml/2006/main">
            <a:r>
              <a:t>https://www.phisonenterprise.com/aidaptiv-cache-memory/</a:t>
            </a:r>
          </a:p>
          <a:p xmlns:a="http://schemas.openxmlformats.org/drawingml/2006/main">
            <a:r>
              <a:t>https://www.deepspeed.ai/2022/09/09/zero-inference.html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Closing synthesis. The questions at the bottom convert the public-document gaps into productive engineering discussion topics: runtime matrix, placement policy, direct-path plans, qualification methodology, and endurance observability.</a:t>
            </a:r>
          </a:p>
          <a:p xmlns:a="http://schemas.openxmlformats.org/drawingml/2006/main">
            <a:r>
              <a:t/>
            </a:r>
          </a:p>
          <a:p xmlns:a="http://schemas.openxmlformats.org/drawingml/2006/main">
            <a:r>
              <a:t>[Sources]</a:t>
            </a:r>
          </a:p>
          <a:p xmlns:a="http://schemas.openxmlformats.org/drawingml/2006/main">
            <a:r>
              <a:t>https://www.phisonenterprise.com/pascari-aidaptiv/</a:t>
            </a:r>
          </a:p>
          <a:p xmlns:a="http://schemas.openxmlformats.org/drawingml/2006/main">
            <a:r>
              <a:t>https://www.phisonenterprise.com/how-pascari-aidaptiv-works/</a:t>
            </a:r>
          </a:p>
          <a:p xmlns:a="http://schemas.openxmlformats.org/drawingml/2006/main">
            <a:r>
              <a:t>https://github.com/aiDAPTIV-Phison/aiDAPTIV</a:t>
            </a:r>
          </a:p>
          <a:p xmlns:a="http://schemas.openxmlformats.org/drawingml/2006/main">
            <a:r>
              <a:t>https://www.deepspeed.ai/tutorials/zero/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37c206b63584f1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333068f7b4848dc" /><Relationship Type="http://schemas.openxmlformats.org/officeDocument/2006/relationships/slideLayout" Target="/ppt/slideLayouts/slideLayout1.xml" Id="R5ae018389a5f4fc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ae018389a5f4fc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faec92ee767a461e" /><Relationship Type="http://schemas.openxmlformats.org/officeDocument/2006/relationships/notesSlide" Target="/ppt/notesSlides/notesSlide1.xml" Id="R73904427708046ce"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fbfb3b15e4784dfd" /><Relationship Type="http://schemas.openxmlformats.org/officeDocument/2006/relationships/notesSlide" Target="/ppt/notesSlides/notesSlide2.xml" Id="R524fd4d30d1142ce"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aeedf92b39c844dd" /><Relationship Type="http://schemas.openxmlformats.org/officeDocument/2006/relationships/notesSlide" Target="/ppt/notesSlides/notesSlide3.xml" Id="R8e1ed69cb52f464b"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f9824af4dab84fe9" /><Relationship Type="http://schemas.openxmlformats.org/officeDocument/2006/relationships/notesSlide" Target="/ppt/notesSlides/notesSlide4.xml" Id="R2b285daff6ac4494"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6b82a04037ef448c" /><Relationship Type="http://schemas.openxmlformats.org/officeDocument/2006/relationships/notesSlide" Target="/ppt/notesSlides/notesSlide5.xml" Id="Raf9b01fbae2047cc"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e27cc24558ad40e4" /><Relationship Type="http://schemas.openxmlformats.org/officeDocument/2006/relationships/notesSlide" Target="/ppt/notesSlides/notesSlide6.xml" Id="R59d6cd502db243aa"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6463826904b94993" /><Relationship Type="http://schemas.openxmlformats.org/officeDocument/2006/relationships/notesSlide" Target="/ppt/notesSlides/notesSlide7.xml" Id="R11b7adf2310c4a67"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51aa10b88c3c4b52" /><Relationship Type="http://schemas.openxmlformats.org/officeDocument/2006/relationships/notesSlide" Target="/ppt/notesSlides/notesSlide8.xml" Id="R56dfe7e5f61d4adc"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6915f547ffc740ff" /><Relationship Type="http://schemas.openxmlformats.org/officeDocument/2006/relationships/notesSlide" Target="/ppt/notesSlides/notesSlide9.xml" Id="R716772fbfe76414f"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660c03c3ab934ad6" /><Relationship Type="http://schemas.openxmlformats.org/officeDocument/2006/relationships/notesSlide" Target="/ppt/notesSlides/notesSlide10.xml" Id="R18b9c0ecf11d4490"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e1397f6123344334" /><Relationship Type="http://schemas.openxmlformats.org/officeDocument/2006/relationships/notesSlide" Target="/ppt/notesSlides/notesSlide11.xml" Id="Rfd6610d9a8f84ab2"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d30b2308c14b495c" /><Relationship Type="http://schemas.openxmlformats.org/officeDocument/2006/relationships/notesSlide" Target="/ppt/notesSlides/notesSlide12.xml" Id="R2e0054cf264e4e42" /></Relationships>
</file>

<file path=ppt/slides/slide1.xml><?xml version="1.0" encoding="utf-8"?>
<p:sld xmlns:p="http://schemas.openxmlformats.org/presentationml/2006/main">
  <p:cSld>
    <p:bg>
      <p:bgPr>
        <a:solidFill xmlns:a="http://schemas.openxmlformats.org/drawingml/2006/main">
          <a:srgbClr val="F4F7FB"/>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D0967D00-3570-4CCC-854A-379EB4FF6A7D}"/>
              </a:ext>
            </a:extLst>
          </p:cNvPr>
          <p:cNvSpPr>
            <a:spLocks xmlns:a="http://schemas.openxmlformats.org/drawingml/2006/main" noGrp="1"/>
          </p:cNvSpPr>
          <p:nvPr/>
        </p:nvSpPr>
        <p:spPr>
          <a:xfrm xmlns:a="http://schemas.openxmlformats.org/drawingml/2006/main">
            <a:off x="609600" y="3238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2B6DE9"/>
                </a:solidFill>
              </a:defRPr>
            </a:pPr>
            <a:r>
              <a:rPr sz="1125" b="1">
                <a:solidFill>
                  <a:srgbClr val="2B6DE9"/>
                </a:solidFill>
              </a:rPr>
              <a:t>PHISON • AI MEMORY SYSTEMS</a:t>
            </a:r>
          </a:p>
        </p:txBody>
      </p:sp>
      <p:sp>
        <p:nvSpPr>
          <p:cNvPr id="2" name="">
            <a:extLst xmlns:a="http://schemas.openxmlformats.org/drawingml/2006/main">
              <a:ext uri="{FF2B5EF4-FFF2-40B4-BE49-F238E27FC236}">
                <a16:creationId xmlns:a16="http://schemas.microsoft.com/office/drawing/2014/main" id="{DE406897-0909-4A94-8993-71CA05F49950}"/>
              </a:ext>
            </a:extLst>
          </p:cNvPr>
          <p:cNvSpPr>
            <a:spLocks xmlns:a="http://schemas.openxmlformats.org/drawingml/2006/main" noGrp="1"/>
          </p:cNvSpPr>
          <p:nvPr/>
        </p:nvSpPr>
        <p:spPr>
          <a:xfrm xmlns:a="http://schemas.openxmlformats.org/drawingml/2006/main">
            <a:off x="609600" y="781050"/>
            <a:ext cx="63817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5400" b="1">
                <a:solidFill>
                  <a:srgbClr val="0A1628"/>
                </a:solidFill>
              </a:defRPr>
            </a:pPr>
            <a:r>
              <a:rPr sz="5400" b="1">
                <a:solidFill>
                  <a:srgbClr val="0A1628"/>
                </a:solidFill>
              </a:rPr>
              <a:t>Phison aiDAPTIV</a:t>
            </a:r>
          </a:p>
        </p:txBody>
      </p:sp>
      <p:sp>
        <p:nvSpPr>
          <p:cNvPr id="3" name="">
            <a:extLst xmlns:a="http://schemas.openxmlformats.org/drawingml/2006/main">
              <a:ext uri="{FF2B5EF4-FFF2-40B4-BE49-F238E27FC236}">
                <a16:creationId xmlns:a16="http://schemas.microsoft.com/office/drawing/2014/main" id="{8DBF6BC7-498F-48E6-8943-1BC7C1286ABB}"/>
              </a:ext>
            </a:extLst>
          </p:cNvPr>
          <p:cNvSpPr>
            <a:spLocks xmlns:a="http://schemas.openxmlformats.org/drawingml/2006/main" noGrp="1"/>
          </p:cNvSpPr>
          <p:nvPr/>
        </p:nvSpPr>
        <p:spPr>
          <a:xfrm xmlns:a="http://schemas.openxmlformats.org/drawingml/2006/main">
            <a:off x="609600" y="1581150"/>
            <a:ext cx="6762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550" b="0">
                <a:solidFill>
                  <a:srgbClr val="53657A"/>
                </a:solidFill>
              </a:defRPr>
            </a:pPr>
            <a:r>
              <a:rPr sz="2550" b="0">
                <a:solidFill>
                  <a:srgbClr val="53657A"/>
                </a:solidFill>
              </a:rPr>
              <a:t>Flash as a managed AI memory tier</a:t>
            </a:r>
          </a:p>
        </p:txBody>
      </p:sp>
      <p:sp>
        <p:nvSpPr>
          <p:cNvPr id="4" name="">
            <a:extLst xmlns:a="http://schemas.openxmlformats.org/drawingml/2006/main">
              <a:ext uri="{FF2B5EF4-FFF2-40B4-BE49-F238E27FC236}">
                <a16:creationId xmlns:a16="http://schemas.microsoft.com/office/drawing/2014/main" id="{E73DD2FB-BC60-43D5-905C-BE55F0BF98EA}"/>
              </a:ext>
            </a:extLst>
          </p:cNvPr>
          <p:cNvSpPr>
            <a:spLocks xmlns:a="http://schemas.openxmlformats.org/drawingml/2006/main" noGrp="1"/>
          </p:cNvSpPr>
          <p:nvPr/>
        </p:nvSpPr>
        <p:spPr>
          <a:xfrm xmlns:a="http://schemas.openxmlformats.org/drawingml/2006/main">
            <a:off x="609600" y="2200275"/>
            <a:ext cx="6477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37475B"/>
                </a:solidFill>
              </a:defRPr>
            </a:pPr>
            <a:r>
              <a:rPr sz="1350" b="1">
                <a:solidFill>
                  <a:srgbClr val="37475B"/>
                </a:solidFill>
              </a:rPr>
              <a:t>Current name: Pascari aiDAPTIV = Middleware + Cache Memory</a:t>
            </a:r>
          </a:p>
        </p:txBody>
      </p:sp>
      <p:sp>
        <p:nvSpPr>
          <p:cNvPr id="5" name="">
            <a:extLst xmlns:a="http://schemas.openxmlformats.org/drawingml/2006/main">
              <a:ext uri="{FF2B5EF4-FFF2-40B4-BE49-F238E27FC236}">
                <a16:creationId xmlns:a16="http://schemas.microsoft.com/office/drawing/2014/main" id="{7E1F8149-414C-4C5A-9871-A9369FF5D57B}"/>
              </a:ext>
            </a:extLst>
          </p:cNvPr>
          <p:cNvSpPr>
            <a:spLocks xmlns:a="http://schemas.openxmlformats.org/drawingml/2006/main" noGrp="1"/>
          </p:cNvSpPr>
          <p:nvPr/>
        </p:nvSpPr>
        <p:spPr>
          <a:xfrm xmlns:a="http://schemas.openxmlformats.org/drawingml/2006/main">
            <a:off x="8724900" y="4619625"/>
            <a:ext cx="400050" cy="361950"/>
          </a:xfrm>
          <a:prstGeom xmlns:a="http://schemas.openxmlformats.org/drawingml/2006/main" prst="downArrow">
            <a:avLst/>
          </a:prstGeom>
          <a:solidFill xmlns:a="http://schemas.openxmlformats.org/drawingml/2006/main">
            <a:srgbClr val="E98A15"/>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EBBB287F-9494-4985-83A1-47298E39D8DE}"/>
              </a:ext>
            </a:extLst>
          </p:cNvPr>
          <p:cNvSpPr>
            <a:spLocks xmlns:a="http://schemas.openxmlformats.org/drawingml/2006/main" noGrp="1"/>
          </p:cNvSpPr>
          <p:nvPr/>
        </p:nvSpPr>
        <p:spPr>
          <a:xfrm xmlns:a="http://schemas.openxmlformats.org/drawingml/2006/main">
            <a:off x="8724900" y="3638550"/>
            <a:ext cx="400050" cy="361950"/>
          </a:xfrm>
          <a:prstGeom xmlns:a="http://schemas.openxmlformats.org/drawingml/2006/main" prst="downArrow">
            <a:avLst/>
          </a:prstGeom>
          <a:solidFill xmlns:a="http://schemas.openxmlformats.org/drawingml/2006/main">
            <a:srgbClr val="0A9DB5"/>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B22669AD-712E-4BEB-BAF3-FF8CCA07C129}"/>
              </a:ext>
            </a:extLst>
          </p:cNvPr>
          <p:cNvSpPr>
            <a:spLocks xmlns:a="http://schemas.openxmlformats.org/drawingml/2006/main" noGrp="1"/>
          </p:cNvSpPr>
          <p:nvPr/>
        </p:nvSpPr>
        <p:spPr>
          <a:xfrm xmlns:a="http://schemas.openxmlformats.org/drawingml/2006/main">
            <a:off x="8724900" y="2657475"/>
            <a:ext cx="400050" cy="361950"/>
          </a:xfrm>
          <a:prstGeom xmlns:a="http://schemas.openxmlformats.org/drawingml/2006/main" prst="downArrow">
            <a:avLst/>
          </a:prstGeom>
          <a:solidFill xmlns:a="http://schemas.openxmlformats.org/drawingml/2006/main">
            <a:srgbClr val="7157D9"/>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6D5CA431-C91B-4443-B6AF-2A3F03033741}"/>
              </a:ext>
            </a:extLst>
          </p:cNvPr>
          <p:cNvSpPr>
            <a:spLocks xmlns:a="http://schemas.openxmlformats.org/drawingml/2006/main" noGrp="1"/>
          </p:cNvSpPr>
          <p:nvPr/>
        </p:nvSpPr>
        <p:spPr>
          <a:xfrm xmlns:a="http://schemas.openxmlformats.org/drawingml/2006/main">
            <a:off x="7477125" y="4933950"/>
            <a:ext cx="2905125" cy="781050"/>
          </a:xfrm>
          <a:prstGeom xmlns:a="http://schemas.openxmlformats.org/drawingml/2006/main" prst="roundRect">
            <a:avLst>
              <a:gd name="adj" fmla="val 14634"/>
            </a:avLst>
          </a:prstGeom>
          <a:solidFill xmlns:a="http://schemas.openxmlformats.org/drawingml/2006/main">
            <a:srgbClr val="FFF2DF"/>
          </a:solidFill>
          <a:ln xmlns:a="http://schemas.openxmlformats.org/drawingml/2006/main" w="11430">
            <a:solidFill>
              <a:srgbClr val="E98A15"/>
            </a:solidFill>
            <a:prstDash val="solid"/>
          </a:ln>
        </p:spPr>
      </p:sp>
      <p:sp>
        <p:nvSpPr>
          <p:cNvPr id="9" name="">
            <a:extLst xmlns:a="http://schemas.openxmlformats.org/drawingml/2006/main">
              <a:ext uri="{FF2B5EF4-FFF2-40B4-BE49-F238E27FC236}">
                <a16:creationId xmlns:a16="http://schemas.microsoft.com/office/drawing/2014/main" id="{D99CA0D3-FB7D-45C1-AEB4-A61B25BC62F7}"/>
              </a:ext>
            </a:extLst>
          </p:cNvPr>
          <p:cNvSpPr>
            <a:spLocks xmlns:a="http://schemas.openxmlformats.org/drawingml/2006/main" noGrp="1"/>
          </p:cNvSpPr>
          <p:nvPr/>
        </p:nvSpPr>
        <p:spPr>
          <a:xfrm xmlns:a="http://schemas.openxmlformats.org/drawingml/2006/main">
            <a:off x="7648575" y="5057775"/>
            <a:ext cx="25622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75" b="1">
                <a:solidFill>
                  <a:srgbClr val="E98A15"/>
                </a:solidFill>
              </a:defRPr>
            </a:pPr>
            <a:r>
              <a:rPr sz="1875" b="1">
                <a:solidFill>
                  <a:srgbClr val="E98A15"/>
                </a:solidFill>
              </a:rPr>
              <a:t>SSD / NAND</a:t>
            </a:r>
          </a:p>
        </p:txBody>
      </p:sp>
      <p:sp>
        <p:nvSpPr>
          <p:cNvPr id="10" name="">
            <a:extLst xmlns:a="http://schemas.openxmlformats.org/drawingml/2006/main">
              <a:ext uri="{FF2B5EF4-FFF2-40B4-BE49-F238E27FC236}">
                <a16:creationId xmlns:a16="http://schemas.microsoft.com/office/drawing/2014/main" id="{E19D505F-B35F-465F-A549-48CA6F61BAB0}"/>
              </a:ext>
            </a:extLst>
          </p:cNvPr>
          <p:cNvSpPr>
            <a:spLocks xmlns:a="http://schemas.openxmlformats.org/drawingml/2006/main" noGrp="1"/>
          </p:cNvSpPr>
          <p:nvPr/>
        </p:nvSpPr>
        <p:spPr>
          <a:xfrm xmlns:a="http://schemas.openxmlformats.org/drawingml/2006/main">
            <a:off x="7648575" y="5419725"/>
            <a:ext cx="25622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0">
                <a:solidFill>
                  <a:srgbClr val="53657A"/>
                </a:solidFill>
              </a:defRPr>
            </a:pPr>
            <a:r>
              <a:rPr sz="1200" b="0">
                <a:solidFill>
                  <a:srgbClr val="53657A"/>
                </a:solidFill>
              </a:rPr>
              <a:t>retained capacity</a:t>
            </a:r>
          </a:p>
        </p:txBody>
      </p:sp>
      <p:sp>
        <p:nvSpPr>
          <p:cNvPr id="11" name="">
            <a:extLst xmlns:a="http://schemas.openxmlformats.org/drawingml/2006/main">
              <a:ext uri="{FF2B5EF4-FFF2-40B4-BE49-F238E27FC236}">
                <a16:creationId xmlns:a16="http://schemas.microsoft.com/office/drawing/2014/main" id="{80179B70-2C41-468F-8349-EDC507AAF6AB}"/>
              </a:ext>
            </a:extLst>
          </p:cNvPr>
          <p:cNvSpPr>
            <a:spLocks xmlns:a="http://schemas.openxmlformats.org/drawingml/2006/main" noGrp="1"/>
          </p:cNvSpPr>
          <p:nvPr/>
        </p:nvSpPr>
        <p:spPr>
          <a:xfrm xmlns:a="http://schemas.openxmlformats.org/drawingml/2006/main">
            <a:off x="7477125" y="3952875"/>
            <a:ext cx="2905125" cy="781050"/>
          </a:xfrm>
          <a:prstGeom xmlns:a="http://schemas.openxmlformats.org/drawingml/2006/main" prst="roundRect">
            <a:avLst>
              <a:gd name="adj" fmla="val 14634"/>
            </a:avLst>
          </a:prstGeom>
          <a:solidFill xmlns:a="http://schemas.openxmlformats.org/drawingml/2006/main">
            <a:srgbClr val="E4F7FA"/>
          </a:solidFill>
          <a:ln xmlns:a="http://schemas.openxmlformats.org/drawingml/2006/main" w="11430">
            <a:solidFill>
              <a:srgbClr val="0A9DB5"/>
            </a:solidFill>
            <a:prstDash val="solid"/>
          </a:ln>
        </p:spPr>
      </p:sp>
      <p:sp>
        <p:nvSpPr>
          <p:cNvPr id="12" name="">
            <a:extLst xmlns:a="http://schemas.openxmlformats.org/drawingml/2006/main">
              <a:ext uri="{FF2B5EF4-FFF2-40B4-BE49-F238E27FC236}">
                <a16:creationId xmlns:a16="http://schemas.microsoft.com/office/drawing/2014/main" id="{570332DB-8C61-4E53-A83E-2521437ECB33}"/>
              </a:ext>
            </a:extLst>
          </p:cNvPr>
          <p:cNvSpPr>
            <a:spLocks xmlns:a="http://schemas.openxmlformats.org/drawingml/2006/main" noGrp="1"/>
          </p:cNvSpPr>
          <p:nvPr/>
        </p:nvSpPr>
        <p:spPr>
          <a:xfrm xmlns:a="http://schemas.openxmlformats.org/drawingml/2006/main">
            <a:off x="7648575" y="4076700"/>
            <a:ext cx="25622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75" b="1">
                <a:solidFill>
                  <a:srgbClr val="0A9DB5"/>
                </a:solidFill>
              </a:defRPr>
            </a:pPr>
            <a:r>
              <a:rPr sz="1875" b="1">
                <a:solidFill>
                  <a:srgbClr val="0A9DB5"/>
                </a:solidFill>
              </a:rPr>
              <a:t>System DRAM</a:t>
            </a:r>
          </a:p>
        </p:txBody>
      </p:sp>
      <p:sp>
        <p:nvSpPr>
          <p:cNvPr id="13" name="">
            <a:extLst xmlns:a="http://schemas.openxmlformats.org/drawingml/2006/main">
              <a:ext uri="{FF2B5EF4-FFF2-40B4-BE49-F238E27FC236}">
                <a16:creationId xmlns:a16="http://schemas.microsoft.com/office/drawing/2014/main" id="{4007D261-04DD-4A19-858B-3ACF44043AEB}"/>
              </a:ext>
            </a:extLst>
          </p:cNvPr>
          <p:cNvSpPr>
            <a:spLocks xmlns:a="http://schemas.openxmlformats.org/drawingml/2006/main" noGrp="1"/>
          </p:cNvSpPr>
          <p:nvPr/>
        </p:nvSpPr>
        <p:spPr>
          <a:xfrm xmlns:a="http://schemas.openxmlformats.org/drawingml/2006/main">
            <a:off x="7648575" y="4438650"/>
            <a:ext cx="25622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0">
                <a:solidFill>
                  <a:srgbClr val="53657A"/>
                </a:solidFill>
              </a:defRPr>
            </a:pPr>
            <a:r>
              <a:rPr sz="1200" b="0">
                <a:solidFill>
                  <a:srgbClr val="53657A"/>
                </a:solidFill>
              </a:rPr>
              <a:t>staging / warm state</a:t>
            </a:r>
          </a:p>
        </p:txBody>
      </p:sp>
      <p:sp>
        <p:nvSpPr>
          <p:cNvPr id="14" name="">
            <a:extLst xmlns:a="http://schemas.openxmlformats.org/drawingml/2006/main">
              <a:ext uri="{FF2B5EF4-FFF2-40B4-BE49-F238E27FC236}">
                <a16:creationId xmlns:a16="http://schemas.microsoft.com/office/drawing/2014/main" id="{DF27E218-C27B-4B74-A808-6E38892429B8}"/>
              </a:ext>
            </a:extLst>
          </p:cNvPr>
          <p:cNvSpPr>
            <a:spLocks xmlns:a="http://schemas.openxmlformats.org/drawingml/2006/main" noGrp="1"/>
          </p:cNvSpPr>
          <p:nvPr/>
        </p:nvSpPr>
        <p:spPr>
          <a:xfrm xmlns:a="http://schemas.openxmlformats.org/drawingml/2006/main">
            <a:off x="7477125" y="2971800"/>
            <a:ext cx="2905125" cy="781050"/>
          </a:xfrm>
          <a:prstGeom xmlns:a="http://schemas.openxmlformats.org/drawingml/2006/main" prst="roundRect">
            <a:avLst>
              <a:gd name="adj" fmla="val 14634"/>
            </a:avLst>
          </a:prstGeom>
          <a:solidFill xmlns:a="http://schemas.openxmlformats.org/drawingml/2006/main">
            <a:srgbClr val="EEEAFE"/>
          </a:solidFill>
          <a:ln xmlns:a="http://schemas.openxmlformats.org/drawingml/2006/main" w="11430">
            <a:solidFill>
              <a:srgbClr val="7157D9"/>
            </a:solidFill>
            <a:prstDash val="solid"/>
          </a:ln>
        </p:spPr>
      </p:sp>
      <p:sp>
        <p:nvSpPr>
          <p:cNvPr id="15" name="">
            <a:extLst xmlns:a="http://schemas.openxmlformats.org/drawingml/2006/main">
              <a:ext uri="{FF2B5EF4-FFF2-40B4-BE49-F238E27FC236}">
                <a16:creationId xmlns:a16="http://schemas.microsoft.com/office/drawing/2014/main" id="{85EEEA0F-B08F-4D62-831D-F3A86806380A}"/>
              </a:ext>
            </a:extLst>
          </p:cNvPr>
          <p:cNvSpPr>
            <a:spLocks xmlns:a="http://schemas.openxmlformats.org/drawingml/2006/main" noGrp="1"/>
          </p:cNvSpPr>
          <p:nvPr/>
        </p:nvSpPr>
        <p:spPr>
          <a:xfrm xmlns:a="http://schemas.openxmlformats.org/drawingml/2006/main">
            <a:off x="7648575" y="3095625"/>
            <a:ext cx="25622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75" b="1">
                <a:solidFill>
                  <a:srgbClr val="7157D9"/>
                </a:solidFill>
              </a:defRPr>
            </a:pPr>
            <a:r>
              <a:rPr sz="1875" b="1">
                <a:solidFill>
                  <a:srgbClr val="7157D9"/>
                </a:solidFill>
              </a:rPr>
              <a:t>GPU VRAM</a:t>
            </a:r>
          </a:p>
        </p:txBody>
      </p:sp>
      <p:sp>
        <p:nvSpPr>
          <p:cNvPr id="16" name="">
            <a:extLst xmlns:a="http://schemas.openxmlformats.org/drawingml/2006/main">
              <a:ext uri="{FF2B5EF4-FFF2-40B4-BE49-F238E27FC236}">
                <a16:creationId xmlns:a16="http://schemas.microsoft.com/office/drawing/2014/main" id="{988FBA93-A497-4354-8CA7-660CCB647A9B}"/>
              </a:ext>
            </a:extLst>
          </p:cNvPr>
          <p:cNvSpPr>
            <a:spLocks xmlns:a="http://schemas.openxmlformats.org/drawingml/2006/main" noGrp="1"/>
          </p:cNvSpPr>
          <p:nvPr/>
        </p:nvSpPr>
        <p:spPr>
          <a:xfrm xmlns:a="http://schemas.openxmlformats.org/drawingml/2006/main">
            <a:off x="7648575" y="3457575"/>
            <a:ext cx="25622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0">
                <a:solidFill>
                  <a:srgbClr val="53657A"/>
                </a:solidFill>
              </a:defRPr>
            </a:pPr>
            <a:r>
              <a:rPr sz="1200" b="0">
                <a:solidFill>
                  <a:srgbClr val="53657A"/>
                </a:solidFill>
              </a:rPr>
              <a:t>active working set</a:t>
            </a:r>
          </a:p>
        </p:txBody>
      </p:sp>
      <p:sp>
        <p:nvSpPr>
          <p:cNvPr id="17" name="">
            <a:extLst xmlns:a="http://schemas.openxmlformats.org/drawingml/2006/main">
              <a:ext uri="{FF2B5EF4-FFF2-40B4-BE49-F238E27FC236}">
                <a16:creationId xmlns:a16="http://schemas.microsoft.com/office/drawing/2014/main" id="{5F95A6E4-203C-4EE2-BF03-71ABEA1ED1C0}"/>
              </a:ext>
            </a:extLst>
          </p:cNvPr>
          <p:cNvSpPr>
            <a:spLocks xmlns:a="http://schemas.openxmlformats.org/drawingml/2006/main" noGrp="1"/>
          </p:cNvSpPr>
          <p:nvPr/>
        </p:nvSpPr>
        <p:spPr>
          <a:xfrm xmlns:a="http://schemas.openxmlformats.org/drawingml/2006/main">
            <a:off x="7477125" y="1990725"/>
            <a:ext cx="2905125" cy="781050"/>
          </a:xfrm>
          <a:prstGeom xmlns:a="http://schemas.openxmlformats.org/drawingml/2006/main" prst="roundRect">
            <a:avLst>
              <a:gd name="adj" fmla="val 14634"/>
            </a:avLst>
          </a:prstGeom>
          <a:solidFill xmlns:a="http://schemas.openxmlformats.org/drawingml/2006/main">
            <a:srgbClr val="10253F"/>
          </a:solidFill>
          <a:ln xmlns:a="http://schemas.openxmlformats.org/drawingml/2006/main" w="11430">
            <a:solidFill>
              <a:srgbClr val="10253F"/>
            </a:solidFill>
            <a:prstDash val="solid"/>
          </a:ln>
        </p:spPr>
      </p:sp>
      <p:sp>
        <p:nvSpPr>
          <p:cNvPr id="18" name="">
            <a:extLst xmlns:a="http://schemas.openxmlformats.org/drawingml/2006/main">
              <a:ext uri="{FF2B5EF4-FFF2-40B4-BE49-F238E27FC236}">
                <a16:creationId xmlns:a16="http://schemas.microsoft.com/office/drawing/2014/main" id="{C2E8CE08-E4A9-4718-94B5-186D86BB9F1F}"/>
              </a:ext>
            </a:extLst>
          </p:cNvPr>
          <p:cNvSpPr>
            <a:spLocks xmlns:a="http://schemas.openxmlformats.org/drawingml/2006/main" noGrp="1"/>
          </p:cNvSpPr>
          <p:nvPr/>
        </p:nvSpPr>
        <p:spPr>
          <a:xfrm xmlns:a="http://schemas.openxmlformats.org/drawingml/2006/main">
            <a:off x="7648575" y="2114550"/>
            <a:ext cx="25622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75" b="1">
                <a:solidFill>
                  <a:srgbClr val="FFFFFF"/>
                </a:solidFill>
              </a:defRPr>
            </a:pPr>
            <a:r>
              <a:rPr sz="1875" b="1">
                <a:solidFill>
                  <a:srgbClr val="FFFFFF"/>
                </a:solidFill>
              </a:rPr>
              <a:t>GPU compute</a:t>
            </a:r>
          </a:p>
        </p:txBody>
      </p:sp>
      <p:sp>
        <p:nvSpPr>
          <p:cNvPr id="19" name="">
            <a:extLst xmlns:a="http://schemas.openxmlformats.org/drawingml/2006/main">
              <a:ext uri="{FF2B5EF4-FFF2-40B4-BE49-F238E27FC236}">
                <a16:creationId xmlns:a16="http://schemas.microsoft.com/office/drawing/2014/main" id="{C87B7D3C-7988-45CE-B377-6A66247FE822}"/>
              </a:ext>
            </a:extLst>
          </p:cNvPr>
          <p:cNvSpPr>
            <a:spLocks xmlns:a="http://schemas.openxmlformats.org/drawingml/2006/main" noGrp="1"/>
          </p:cNvSpPr>
          <p:nvPr/>
        </p:nvSpPr>
        <p:spPr>
          <a:xfrm xmlns:a="http://schemas.openxmlformats.org/drawingml/2006/main">
            <a:off x="7648575" y="2476500"/>
            <a:ext cx="25622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0">
                <a:solidFill>
                  <a:srgbClr val="53657A"/>
                </a:solidFill>
              </a:defRPr>
            </a:pPr>
            <a:r>
              <a:rPr sz="1200" b="0">
                <a:solidFill>
                  <a:srgbClr val="53657A"/>
                </a:solidFill>
              </a:rPr>
              <a:t>tensor cores execute</a:t>
            </a:r>
          </a:p>
        </p:txBody>
      </p:sp>
      <p:sp>
        <p:nvSpPr>
          <p:cNvPr id="20" name="">
            <a:extLst xmlns:a="http://schemas.openxmlformats.org/drawingml/2006/main">
              <a:ext uri="{FF2B5EF4-FFF2-40B4-BE49-F238E27FC236}">
                <a16:creationId xmlns:a16="http://schemas.microsoft.com/office/drawing/2014/main" id="{072CECDF-AB21-49D9-B85A-B34C3ABC4669}"/>
              </a:ext>
            </a:extLst>
          </p:cNvPr>
          <p:cNvSpPr>
            <a:spLocks xmlns:a="http://schemas.openxmlformats.org/drawingml/2006/main" noGrp="1"/>
          </p:cNvSpPr>
          <p:nvPr/>
        </p:nvSpPr>
        <p:spPr>
          <a:xfrm xmlns:a="http://schemas.openxmlformats.org/drawingml/2006/main">
            <a:off x="609600" y="2914650"/>
            <a:ext cx="5924550" cy="2686050"/>
          </a:xfrm>
          <a:prstGeom xmlns:a="http://schemas.openxmlformats.org/drawingml/2006/main" prst="roundRect">
            <a:avLst>
              <a:gd name="adj" fmla="val 4965"/>
            </a:avLst>
          </a:prstGeom>
          <a:solidFill xmlns:a="http://schemas.openxmlformats.org/drawingml/2006/main">
            <a:srgbClr val="FFFFFF"/>
          </a:solidFill>
          <a:ln xmlns:a="http://schemas.openxmlformats.org/drawingml/2006/main" w="11430">
            <a:solidFill>
              <a:srgbClr val="C8D3E0"/>
            </a:solidFill>
            <a:prstDash val="solid"/>
          </a:ln>
        </p:spPr>
      </p:sp>
      <p:sp>
        <p:nvSpPr>
          <p:cNvPr id="21" name="">
            <a:extLst xmlns:a="http://schemas.openxmlformats.org/drawingml/2006/main">
              <a:ext uri="{FF2B5EF4-FFF2-40B4-BE49-F238E27FC236}">
                <a16:creationId xmlns:a16="http://schemas.microsoft.com/office/drawing/2014/main" id="{D8020408-520E-4683-A03F-4265DA23E985}"/>
              </a:ext>
            </a:extLst>
          </p:cNvPr>
          <p:cNvSpPr>
            <a:spLocks xmlns:a="http://schemas.openxmlformats.org/drawingml/2006/main" noGrp="1"/>
          </p:cNvSpPr>
          <p:nvPr/>
        </p:nvSpPr>
        <p:spPr>
          <a:xfrm xmlns:a="http://schemas.openxmlformats.org/drawingml/2006/main">
            <a:off x="876300" y="3162300"/>
            <a:ext cx="47625" cy="228600"/>
          </a:xfrm>
          <a:prstGeom xmlns:a="http://schemas.openxmlformats.org/drawingml/2006/main" prst="rect">
            <a:avLst/>
          </a:prstGeom>
          <a:solidFill xmlns:a="http://schemas.openxmlformats.org/drawingml/2006/main">
            <a:srgbClr val="09866A"/>
          </a:solidFill>
          <a:ln xmlns:a="http://schemas.openxmlformats.org/drawingml/2006/main" w="11430">
            <a:solidFill>
              <a:srgbClr val="09866A"/>
            </a:solidFill>
            <a:prstDash val="solid"/>
          </a:ln>
        </p:spPr>
      </p:sp>
      <p:sp>
        <p:nvSpPr>
          <p:cNvPr id="22" name="">
            <a:extLst xmlns:a="http://schemas.openxmlformats.org/drawingml/2006/main">
              <a:ext uri="{FF2B5EF4-FFF2-40B4-BE49-F238E27FC236}">
                <a16:creationId xmlns:a16="http://schemas.microsoft.com/office/drawing/2014/main" id="{BB0C420D-F8AC-4E18-A9E0-FF36C8486B27}"/>
              </a:ext>
            </a:extLst>
          </p:cNvPr>
          <p:cNvSpPr>
            <a:spLocks xmlns:a="http://schemas.openxmlformats.org/drawingml/2006/main" noGrp="1"/>
          </p:cNvSpPr>
          <p:nvPr/>
        </p:nvSpPr>
        <p:spPr>
          <a:xfrm xmlns:a="http://schemas.openxmlformats.org/drawingml/2006/main">
            <a:off x="1009650" y="3143250"/>
            <a:ext cx="15811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09866A"/>
                </a:solidFill>
              </a:defRPr>
            </a:pPr>
            <a:r>
              <a:rPr sz="1050" b="1">
                <a:solidFill>
                  <a:srgbClr val="09866A"/>
                </a:solidFill>
              </a:rPr>
              <a:t>SYSTEM ROLE</a:t>
            </a:r>
          </a:p>
        </p:txBody>
      </p:sp>
      <p:sp>
        <p:nvSpPr>
          <p:cNvPr id="23" name="">
            <a:extLst xmlns:a="http://schemas.openxmlformats.org/drawingml/2006/main">
              <a:ext uri="{FF2B5EF4-FFF2-40B4-BE49-F238E27FC236}">
                <a16:creationId xmlns:a16="http://schemas.microsoft.com/office/drawing/2014/main" id="{0396EEC0-CD67-4B5D-BDBD-18D522339F79}"/>
              </a:ext>
            </a:extLst>
          </p:cNvPr>
          <p:cNvSpPr>
            <a:spLocks xmlns:a="http://schemas.openxmlformats.org/drawingml/2006/main" noGrp="1"/>
          </p:cNvSpPr>
          <p:nvPr/>
        </p:nvSpPr>
        <p:spPr>
          <a:xfrm xmlns:a="http://schemas.openxmlformats.org/drawingml/2006/main">
            <a:off x="876300" y="3629025"/>
            <a:ext cx="76200" cy="76200"/>
          </a:xfrm>
          <a:prstGeom xmlns:a="http://schemas.openxmlformats.org/drawingml/2006/main" prst="roundRect">
            <a:avLst>
              <a:gd name="adj" fmla="val 50000"/>
            </a:avLst>
          </a:prstGeom>
          <a:solidFill xmlns:a="http://schemas.openxmlformats.org/drawingml/2006/main">
            <a:srgbClr val="2B6DE9"/>
          </a:solidFill>
          <a:ln xmlns:a="http://schemas.openxmlformats.org/drawingml/2006/main" w="11430">
            <a:solidFill>
              <a:srgbClr val="2B6DE9"/>
            </a:solidFill>
            <a:prstDash val="solid"/>
          </a:ln>
        </p:spPr>
      </p:sp>
      <p:sp>
        <p:nvSpPr>
          <p:cNvPr id="24" name="">
            <a:extLst xmlns:a="http://schemas.openxmlformats.org/drawingml/2006/main">
              <a:ext uri="{FF2B5EF4-FFF2-40B4-BE49-F238E27FC236}">
                <a16:creationId xmlns:a16="http://schemas.microsoft.com/office/drawing/2014/main" id="{D2BA31D1-A825-49EB-8E30-5A7481E13B30}"/>
              </a:ext>
            </a:extLst>
          </p:cNvPr>
          <p:cNvSpPr>
            <a:spLocks xmlns:a="http://schemas.openxmlformats.org/drawingml/2006/main" noGrp="1"/>
          </p:cNvSpPr>
          <p:nvPr/>
        </p:nvSpPr>
        <p:spPr>
          <a:xfrm xmlns:a="http://schemas.openxmlformats.org/drawingml/2006/main">
            <a:off x="1085850" y="3543300"/>
            <a:ext cx="507682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a:solidFill>
                  <a:srgbClr val="0A1628"/>
                </a:solidFill>
              </a:defRPr>
            </a:pPr>
            <a:r>
              <a:rPr sz="1500" b="0">
                <a:solidFill>
                  <a:srgbClr val="0A1628"/>
                </a:solidFill>
              </a:rPr>
              <a:t>Breaks the memory-capacity wall before compute is exhausted.</a:t>
            </a:r>
          </a:p>
        </p:txBody>
      </p:sp>
      <p:sp>
        <p:nvSpPr>
          <p:cNvPr id="25" name="">
            <a:extLst xmlns:a="http://schemas.openxmlformats.org/drawingml/2006/main">
              <a:ext uri="{FF2B5EF4-FFF2-40B4-BE49-F238E27FC236}">
                <a16:creationId xmlns:a16="http://schemas.microsoft.com/office/drawing/2014/main" id="{992F62DA-4E0E-40F0-9C7C-9FF4A58A9ADC}"/>
              </a:ext>
            </a:extLst>
          </p:cNvPr>
          <p:cNvSpPr>
            <a:spLocks xmlns:a="http://schemas.openxmlformats.org/drawingml/2006/main" noGrp="1"/>
          </p:cNvSpPr>
          <p:nvPr/>
        </p:nvSpPr>
        <p:spPr>
          <a:xfrm xmlns:a="http://schemas.openxmlformats.org/drawingml/2006/main">
            <a:off x="876300" y="4105275"/>
            <a:ext cx="76200" cy="76200"/>
          </a:xfrm>
          <a:prstGeom xmlns:a="http://schemas.openxmlformats.org/drawingml/2006/main" prst="roundRect">
            <a:avLst>
              <a:gd name="adj" fmla="val 50000"/>
            </a:avLst>
          </a:prstGeom>
          <a:solidFill xmlns:a="http://schemas.openxmlformats.org/drawingml/2006/main">
            <a:srgbClr val="2B6DE9"/>
          </a:solidFill>
          <a:ln xmlns:a="http://schemas.openxmlformats.org/drawingml/2006/main" w="11430">
            <a:solidFill>
              <a:srgbClr val="2B6DE9"/>
            </a:solidFill>
            <a:prstDash val="solid"/>
          </a:ln>
        </p:spPr>
      </p:sp>
      <p:sp>
        <p:nvSpPr>
          <p:cNvPr id="26" name="">
            <a:extLst xmlns:a="http://schemas.openxmlformats.org/drawingml/2006/main">
              <a:ext uri="{FF2B5EF4-FFF2-40B4-BE49-F238E27FC236}">
                <a16:creationId xmlns:a16="http://schemas.microsoft.com/office/drawing/2014/main" id="{C975F7BC-A8F9-4B74-A957-7ADE43DDCA47}"/>
              </a:ext>
            </a:extLst>
          </p:cNvPr>
          <p:cNvSpPr>
            <a:spLocks xmlns:a="http://schemas.openxmlformats.org/drawingml/2006/main" noGrp="1"/>
          </p:cNvSpPr>
          <p:nvPr/>
        </p:nvSpPr>
        <p:spPr>
          <a:xfrm xmlns:a="http://schemas.openxmlformats.org/drawingml/2006/main">
            <a:off x="1085850" y="4019550"/>
            <a:ext cx="507682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a:solidFill>
                  <a:srgbClr val="0A1628"/>
                </a:solidFill>
              </a:defRPr>
            </a:pPr>
            <a:r>
              <a:rPr sz="1500" b="0">
                <a:solidFill>
                  <a:srgbClr val="0A1628"/>
                </a:solidFill>
              </a:rPr>
              <a:t>Keeps active state near compute; retains colder state below.</a:t>
            </a:r>
          </a:p>
        </p:txBody>
      </p:sp>
      <p:sp>
        <p:nvSpPr>
          <p:cNvPr id="27" name="">
            <a:extLst xmlns:a="http://schemas.openxmlformats.org/drawingml/2006/main">
              <a:ext uri="{FF2B5EF4-FFF2-40B4-BE49-F238E27FC236}">
                <a16:creationId xmlns:a16="http://schemas.microsoft.com/office/drawing/2014/main" id="{AC83E9CC-14A7-477B-BD60-FA95F3965D47}"/>
              </a:ext>
            </a:extLst>
          </p:cNvPr>
          <p:cNvSpPr>
            <a:spLocks xmlns:a="http://schemas.openxmlformats.org/drawingml/2006/main" noGrp="1"/>
          </p:cNvSpPr>
          <p:nvPr/>
        </p:nvSpPr>
        <p:spPr>
          <a:xfrm xmlns:a="http://schemas.openxmlformats.org/drawingml/2006/main">
            <a:off x="876300" y="4581525"/>
            <a:ext cx="76200" cy="76200"/>
          </a:xfrm>
          <a:prstGeom xmlns:a="http://schemas.openxmlformats.org/drawingml/2006/main" prst="roundRect">
            <a:avLst>
              <a:gd name="adj" fmla="val 50000"/>
            </a:avLst>
          </a:prstGeom>
          <a:solidFill xmlns:a="http://schemas.openxmlformats.org/drawingml/2006/main">
            <a:srgbClr val="2B6DE9"/>
          </a:solidFill>
          <a:ln xmlns:a="http://schemas.openxmlformats.org/drawingml/2006/main" w="11430">
            <a:solidFill>
              <a:srgbClr val="2B6DE9"/>
            </a:solidFill>
            <a:prstDash val="solid"/>
          </a:ln>
        </p:spPr>
      </p:sp>
      <p:sp>
        <p:nvSpPr>
          <p:cNvPr id="28" name="">
            <a:extLst xmlns:a="http://schemas.openxmlformats.org/drawingml/2006/main">
              <a:ext uri="{FF2B5EF4-FFF2-40B4-BE49-F238E27FC236}">
                <a16:creationId xmlns:a16="http://schemas.microsoft.com/office/drawing/2014/main" id="{147ABA83-ED01-4F63-BFE5-597A823FDCC7}"/>
              </a:ext>
            </a:extLst>
          </p:cNvPr>
          <p:cNvSpPr>
            <a:spLocks xmlns:a="http://schemas.openxmlformats.org/drawingml/2006/main" noGrp="1"/>
          </p:cNvSpPr>
          <p:nvPr/>
        </p:nvSpPr>
        <p:spPr>
          <a:xfrm xmlns:a="http://schemas.openxmlformats.org/drawingml/2006/main">
            <a:off x="1085850" y="4495800"/>
            <a:ext cx="507682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a:solidFill>
                  <a:srgbClr val="0A1628"/>
                </a:solidFill>
              </a:defRPr>
            </a:pPr>
            <a:r>
              <a:rPr sz="1500" b="0">
                <a:solidFill>
                  <a:srgbClr val="0A1628"/>
                </a:solidFill>
              </a:rPr>
              <a:t>Supports documented inference and fine-tuning integrations.</a:t>
            </a:r>
          </a:p>
        </p:txBody>
      </p:sp>
      <p:sp>
        <p:nvSpPr>
          <p:cNvPr id="29" name="">
            <a:extLst xmlns:a="http://schemas.openxmlformats.org/drawingml/2006/main">
              <a:ext uri="{FF2B5EF4-FFF2-40B4-BE49-F238E27FC236}">
                <a16:creationId xmlns:a16="http://schemas.microsoft.com/office/drawing/2014/main" id="{EA528491-3A77-4622-B8F1-B6136F989704}"/>
              </a:ext>
            </a:extLst>
          </p:cNvPr>
          <p:cNvSpPr>
            <a:spLocks xmlns:a="http://schemas.openxmlformats.org/drawingml/2006/main" noGrp="1"/>
          </p:cNvSpPr>
          <p:nvPr/>
        </p:nvSpPr>
        <p:spPr>
          <a:xfrm xmlns:a="http://schemas.openxmlformats.org/drawingml/2006/main">
            <a:off x="876300" y="5057775"/>
            <a:ext cx="76200" cy="76200"/>
          </a:xfrm>
          <a:prstGeom xmlns:a="http://schemas.openxmlformats.org/drawingml/2006/main" prst="roundRect">
            <a:avLst>
              <a:gd name="adj" fmla="val 50000"/>
            </a:avLst>
          </a:prstGeom>
          <a:solidFill xmlns:a="http://schemas.openxmlformats.org/drawingml/2006/main">
            <a:srgbClr val="2B6DE9"/>
          </a:solidFill>
          <a:ln xmlns:a="http://schemas.openxmlformats.org/drawingml/2006/main" w="11430">
            <a:solidFill>
              <a:srgbClr val="2B6DE9"/>
            </a:solidFill>
            <a:prstDash val="solid"/>
          </a:ln>
        </p:spPr>
      </p:sp>
      <p:sp>
        <p:nvSpPr>
          <p:cNvPr id="30" name="">
            <a:extLst xmlns:a="http://schemas.openxmlformats.org/drawingml/2006/main">
              <a:ext uri="{FF2B5EF4-FFF2-40B4-BE49-F238E27FC236}">
                <a16:creationId xmlns:a16="http://schemas.microsoft.com/office/drawing/2014/main" id="{C7B2F33C-B907-4F75-9CE6-D4055BA23011}"/>
              </a:ext>
            </a:extLst>
          </p:cNvPr>
          <p:cNvSpPr>
            <a:spLocks xmlns:a="http://schemas.openxmlformats.org/drawingml/2006/main" noGrp="1"/>
          </p:cNvSpPr>
          <p:nvPr/>
        </p:nvSpPr>
        <p:spPr>
          <a:xfrm xmlns:a="http://schemas.openxmlformats.org/drawingml/2006/main">
            <a:off x="1085850" y="4972050"/>
            <a:ext cx="507682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a:solidFill>
                  <a:srgbClr val="0A1628"/>
                </a:solidFill>
              </a:defRPr>
            </a:pPr>
            <a:r>
              <a:rPr sz="1500" b="0">
                <a:solidFill>
                  <a:srgbClr val="0A1628"/>
                </a:solidFill>
              </a:rPr>
              <a:t>Adds capacity—not tensor compute or HBM-class latency.</a:t>
            </a:r>
          </a:p>
        </p:txBody>
      </p:sp>
      <p:sp>
        <p:nvSpPr>
          <p:cNvPr id="31" name="">
            <a:extLst xmlns:a="http://schemas.openxmlformats.org/drawingml/2006/main">
              <a:ext uri="{FF2B5EF4-FFF2-40B4-BE49-F238E27FC236}">
                <a16:creationId xmlns:a16="http://schemas.microsoft.com/office/drawing/2014/main" id="{DC766BA9-5677-4A0B-ADB0-070D33F438A4}"/>
              </a:ext>
            </a:extLst>
          </p:cNvPr>
          <p:cNvSpPr>
            <a:spLocks xmlns:a="http://schemas.openxmlformats.org/drawingml/2006/main" noGrp="1"/>
          </p:cNvSpPr>
          <p:nvPr/>
        </p:nvSpPr>
        <p:spPr>
          <a:xfrm xmlns:a="http://schemas.openxmlformats.org/drawingml/2006/main">
            <a:off x="11182350" y="6429375"/>
            <a:ext cx="476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200" b="1">
                <a:solidFill>
                  <a:srgbClr val="53657A"/>
                </a:solidFill>
              </a:defRPr>
            </a:pPr>
            <a:r>
              <a:rPr sz="1200" b="1">
                <a:solidFill>
                  <a:srgbClr val="53657A"/>
                </a:solidFill>
              </a:rPr>
              <a:t>01</a:t>
            </a:r>
          </a:p>
        </p:txBody>
      </p:sp>
    </p:spTree>
    <p:extLst>
      <p:ext uri="{BB962C8B-B14F-4D97-AF65-F5344CB8AC3E}">
        <p14:creationId xmlns:p14="http://schemas.microsoft.com/office/powerpoint/2010/main" val="810266618"/>
      </p:ext>
    </p:extLst>
  </p:cSld>
</p:sld>
</file>

<file path=ppt/slides/slide2.xml><?xml version="1.0" encoding="utf-8"?>
<p:sld xmlns:p="http://schemas.openxmlformats.org/presentationml/2006/main">
  <p:cSld>
    <p:bg>
      <p:bgPr>
        <a:solidFill xmlns:a="http://schemas.openxmlformats.org/drawingml/2006/main">
          <a:srgbClr val="F4F7FB"/>
        </a:solidFill>
      </p:bgPr>
    </p:bg>
    <p:spTree>
      <p:nvGrpSpPr>
        <p:cNvPr id="1" name=""/>
        <p:cNvGrpSpPr/>
        <p:nvPr/>
      </p:nvGrpSpPr>
      <p:grpSpPr>
        <a:xfrm xmlns:a="http://schemas.openxmlformats.org/drawingml/2006/main"/>
      </p:grpSpPr>
      <p:sp>
        <p:nvSpPr>
          <p:cNvPr id="58" name="">
            <a:extLst xmlns:a="http://schemas.openxmlformats.org/drawingml/2006/main">
              <a:ext uri="{FF2B5EF4-FFF2-40B4-BE49-F238E27FC236}">
                <a16:creationId xmlns:a16="http://schemas.microsoft.com/office/drawing/2014/main" id="{306C8DD0-5F69-4434-A4EE-ACA3706B65AD}"/>
              </a:ext>
            </a:extLst>
          </p:cNvPr>
          <p:cNvSpPr>
            <a:spLocks xmlns:a="http://schemas.openxmlformats.org/drawingml/2006/main" noGrp="1"/>
          </p:cNvSpPr>
          <p:nvPr/>
        </p:nvSpPr>
        <p:spPr>
          <a:xfrm xmlns:a="http://schemas.openxmlformats.org/drawingml/2006/main">
            <a:off x="609600" y="257175"/>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2B6DE9"/>
                </a:solidFill>
              </a:defRPr>
            </a:pPr>
            <a:r>
              <a:rPr sz="1050" b="1">
                <a:solidFill>
                  <a:srgbClr val="2B6DE9"/>
                </a:solidFill>
              </a:rPr>
              <a:t>WHY A NEW MEMORY HIERARCHY</a:t>
            </a:r>
          </a:p>
        </p:txBody>
      </p:sp>
      <p:sp>
        <p:nvSpPr>
          <p:cNvPr id="2" name="">
            <a:extLst xmlns:a="http://schemas.openxmlformats.org/drawingml/2006/main">
              <a:ext uri="{FF2B5EF4-FFF2-40B4-BE49-F238E27FC236}">
                <a16:creationId xmlns:a16="http://schemas.microsoft.com/office/drawing/2014/main" id="{791F5988-0108-42D7-936F-8657528BF4C6}"/>
              </a:ext>
            </a:extLst>
          </p:cNvPr>
          <p:cNvSpPr>
            <a:spLocks xmlns:a="http://schemas.openxmlformats.org/drawingml/2006/main" noGrp="1"/>
          </p:cNvSpPr>
          <p:nvPr/>
        </p:nvSpPr>
        <p:spPr>
          <a:xfrm xmlns:a="http://schemas.openxmlformats.org/drawingml/2006/main">
            <a:off x="11191875" y="219075"/>
            <a:ext cx="476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200" b="1">
                <a:solidFill>
                  <a:srgbClr val="53657A"/>
                </a:solidFill>
              </a:defRPr>
            </a:pPr>
            <a:r>
              <a:rPr sz="1200" b="1">
                <a:solidFill>
                  <a:srgbClr val="53657A"/>
                </a:solidFill>
              </a:rPr>
              <a:t>02</a:t>
            </a:r>
          </a:p>
        </p:txBody>
      </p:sp>
      <p:sp>
        <p:nvSpPr>
          <p:cNvPr id="3" name="">
            <a:extLst xmlns:a="http://schemas.openxmlformats.org/drawingml/2006/main">
              <a:ext uri="{FF2B5EF4-FFF2-40B4-BE49-F238E27FC236}">
                <a16:creationId xmlns:a16="http://schemas.microsoft.com/office/drawing/2014/main" id="{B7742BDD-448B-4D23-A2EB-C3DD5293DBEF}"/>
              </a:ext>
            </a:extLst>
          </p:cNvPr>
          <p:cNvSpPr>
            <a:spLocks xmlns:a="http://schemas.openxmlformats.org/drawingml/2006/main" noGrp="1"/>
          </p:cNvSpPr>
          <p:nvPr/>
        </p:nvSpPr>
        <p:spPr>
          <a:xfrm xmlns:a="http://schemas.openxmlformats.org/drawingml/2006/main">
            <a:off x="609600" y="552450"/>
            <a:ext cx="109061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600" b="1">
                <a:solidFill>
                  <a:srgbClr val="0A1628"/>
                </a:solidFill>
              </a:defRPr>
            </a:pPr>
            <a:r>
              <a:rPr sz="3600" b="1">
                <a:solidFill>
                  <a:srgbClr val="0A1628"/>
                </a:solidFill>
              </a:rPr>
              <a:t>Capacity expands as memory gets slower</a:t>
            </a:r>
          </a:p>
        </p:txBody>
      </p:sp>
      <p:sp>
        <p:nvSpPr>
          <p:cNvPr id="4" name="">
            <a:extLst xmlns:a="http://schemas.openxmlformats.org/drawingml/2006/main">
              <a:ext uri="{FF2B5EF4-FFF2-40B4-BE49-F238E27FC236}">
                <a16:creationId xmlns:a16="http://schemas.microsoft.com/office/drawing/2014/main" id="{65A0D8DD-C8EA-4887-BA38-5C8379A6F828}"/>
              </a:ext>
            </a:extLst>
          </p:cNvPr>
          <p:cNvSpPr>
            <a:spLocks xmlns:a="http://schemas.openxmlformats.org/drawingml/2006/main" noGrp="1"/>
          </p:cNvSpPr>
          <p:nvPr/>
        </p:nvSpPr>
        <p:spPr>
          <a:xfrm xmlns:a="http://schemas.openxmlformats.org/drawingml/2006/main">
            <a:off x="609600" y="1200150"/>
            <a:ext cx="10972800" cy="0"/>
          </a:xfrm>
          <a:prstGeom xmlns:a="http://schemas.openxmlformats.org/drawingml/2006/main" prst="line">
            <a:avLst/>
          </a:prstGeom>
          <a:noFill xmlns:a="http://schemas.openxmlformats.org/drawingml/2006/main"/>
          <a:ln xmlns:a="http://schemas.openxmlformats.org/drawingml/2006/main" w="11430">
            <a:solidFill>
              <a:srgbClr val="C8D3E0"/>
            </a:solidFill>
            <a:prstDash val="solid"/>
          </a:ln>
        </p:spPr>
      </p:sp>
      <p:sp>
        <p:nvSpPr>
          <p:cNvPr id="5" name="">
            <a:extLst xmlns:a="http://schemas.openxmlformats.org/drawingml/2006/main">
              <a:ext uri="{FF2B5EF4-FFF2-40B4-BE49-F238E27FC236}">
                <a16:creationId xmlns:a16="http://schemas.microsoft.com/office/drawing/2014/main" id="{B81D6144-DB20-4925-8B34-C84CB11CAC68}"/>
              </a:ext>
            </a:extLst>
          </p:cNvPr>
          <p:cNvSpPr>
            <a:spLocks xmlns:a="http://schemas.openxmlformats.org/drawingml/2006/main" noGrp="1"/>
          </p:cNvSpPr>
          <p:nvPr/>
        </p:nvSpPr>
        <p:spPr>
          <a:xfrm xmlns:a="http://schemas.openxmlformats.org/drawingml/2006/main">
            <a:off x="609600" y="6543675"/>
            <a:ext cx="10096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7B8796"/>
                </a:solidFill>
              </a:defRPr>
            </a:pPr>
            <a:r>
              <a:rPr sz="900" b="0">
                <a:solidFill>
                  <a:srgbClr val="7B8796"/>
                </a:solidFill>
              </a:rPr>
              <a:t>Phison aiDAPTIV technical architecture  •  Sources and claim boundaries in speaker notes</a:t>
            </a:r>
          </a:p>
        </p:txBody>
      </p:sp>
      <p:sp>
        <p:nvSpPr>
          <p:cNvPr id="6" name="">
            <a:extLst xmlns:a="http://schemas.openxmlformats.org/drawingml/2006/main">
              <a:ext uri="{FF2B5EF4-FFF2-40B4-BE49-F238E27FC236}">
                <a16:creationId xmlns:a16="http://schemas.microsoft.com/office/drawing/2014/main" id="{77CC008D-83C8-42AD-BACC-47E64E038FE7}"/>
              </a:ext>
            </a:extLst>
          </p:cNvPr>
          <p:cNvSpPr>
            <a:spLocks xmlns:a="http://schemas.openxmlformats.org/drawingml/2006/main" noGrp="1"/>
          </p:cNvSpPr>
          <p:nvPr/>
        </p:nvSpPr>
        <p:spPr>
          <a:xfrm xmlns:a="http://schemas.openxmlformats.org/drawingml/2006/main">
            <a:off x="609600" y="1352550"/>
            <a:ext cx="10906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53657A"/>
                </a:solidFill>
              </a:defRPr>
            </a:pPr>
            <a:r>
              <a:rPr sz="1275" b="0">
                <a:solidFill>
                  <a:srgbClr val="53657A"/>
                </a:solidFill>
              </a:rPr>
              <a:t>Representative—not apples-to-apples. Actual bandwidth and latency depend on platform topology, channel count, queueing, and access pattern.</a:t>
            </a:r>
          </a:p>
        </p:txBody>
      </p:sp>
      <p:sp>
        <p:nvSpPr>
          <p:cNvPr id="7" name="">
            <a:extLst xmlns:a="http://schemas.openxmlformats.org/drawingml/2006/main">
              <a:ext uri="{FF2B5EF4-FFF2-40B4-BE49-F238E27FC236}">
                <a16:creationId xmlns:a16="http://schemas.microsoft.com/office/drawing/2014/main" id="{C8B67EB0-BBE2-4130-B82A-F13C2B6A5B4D}"/>
              </a:ext>
            </a:extLst>
          </p:cNvPr>
          <p:cNvSpPr>
            <a:spLocks xmlns:a="http://schemas.openxmlformats.org/drawingml/2006/main" noGrp="1"/>
          </p:cNvSpPr>
          <p:nvPr/>
        </p:nvSpPr>
        <p:spPr>
          <a:xfrm xmlns:a="http://schemas.openxmlformats.org/drawingml/2006/main">
            <a:off x="609600" y="1752600"/>
            <a:ext cx="2000250" cy="495300"/>
          </a:xfrm>
          <a:prstGeom xmlns:a="http://schemas.openxmlformats.org/drawingml/2006/main" prst="rect">
            <a:avLst/>
          </a:prstGeom>
          <a:solidFill xmlns:a="http://schemas.openxmlformats.org/drawingml/2006/main">
            <a:srgbClr val="10253F"/>
          </a:solidFill>
          <a:ln xmlns:a="http://schemas.openxmlformats.org/drawingml/2006/main" w="11430">
            <a:solidFill>
              <a:srgbClr val="C8D3E0"/>
            </a:solidFill>
            <a:prstDash val="solid"/>
          </a:ln>
        </p:spPr>
      </p:sp>
      <p:sp>
        <p:nvSpPr>
          <p:cNvPr id="8" name="">
            <a:extLst xmlns:a="http://schemas.openxmlformats.org/drawingml/2006/main">
              <a:ext uri="{FF2B5EF4-FFF2-40B4-BE49-F238E27FC236}">
                <a16:creationId xmlns:a16="http://schemas.microsoft.com/office/drawing/2014/main" id="{33D19017-0882-4A6F-9328-DBB2DA791FF5}"/>
              </a:ext>
            </a:extLst>
          </p:cNvPr>
          <p:cNvSpPr>
            <a:spLocks xmlns:a="http://schemas.openxmlformats.org/drawingml/2006/main" noGrp="1"/>
          </p:cNvSpPr>
          <p:nvPr/>
        </p:nvSpPr>
        <p:spPr>
          <a:xfrm xmlns:a="http://schemas.openxmlformats.org/drawingml/2006/main">
            <a:off x="704850" y="1828800"/>
            <a:ext cx="1809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FFFFFF"/>
                </a:solidFill>
              </a:defRPr>
            </a:pPr>
            <a:r>
              <a:rPr sz="1575" b="1">
                <a:solidFill>
                  <a:srgbClr val="FFFFFF"/>
                </a:solidFill>
              </a:rPr>
              <a:t>Tier</a:t>
            </a:r>
          </a:p>
        </p:txBody>
      </p:sp>
      <p:sp>
        <p:nvSpPr>
          <p:cNvPr id="9" name="">
            <a:extLst xmlns:a="http://schemas.openxmlformats.org/drawingml/2006/main">
              <a:ext uri="{FF2B5EF4-FFF2-40B4-BE49-F238E27FC236}">
                <a16:creationId xmlns:a16="http://schemas.microsoft.com/office/drawing/2014/main" id="{8FBEC67E-DD05-45A4-AA83-3F6F9EABF5AE}"/>
              </a:ext>
            </a:extLst>
          </p:cNvPr>
          <p:cNvSpPr>
            <a:spLocks xmlns:a="http://schemas.openxmlformats.org/drawingml/2006/main" noGrp="1"/>
          </p:cNvSpPr>
          <p:nvPr/>
        </p:nvSpPr>
        <p:spPr>
          <a:xfrm xmlns:a="http://schemas.openxmlformats.org/drawingml/2006/main">
            <a:off x="2609850" y="1752600"/>
            <a:ext cx="1666875" cy="495300"/>
          </a:xfrm>
          <a:prstGeom xmlns:a="http://schemas.openxmlformats.org/drawingml/2006/main" prst="rect">
            <a:avLst/>
          </a:prstGeom>
          <a:solidFill xmlns:a="http://schemas.openxmlformats.org/drawingml/2006/main">
            <a:srgbClr val="10253F"/>
          </a:solidFill>
          <a:ln xmlns:a="http://schemas.openxmlformats.org/drawingml/2006/main" w="11430">
            <a:solidFill>
              <a:srgbClr val="C8D3E0"/>
            </a:solidFill>
            <a:prstDash val="solid"/>
          </a:ln>
        </p:spPr>
      </p:sp>
      <p:sp>
        <p:nvSpPr>
          <p:cNvPr id="10" name="">
            <a:extLst xmlns:a="http://schemas.openxmlformats.org/drawingml/2006/main">
              <a:ext uri="{FF2B5EF4-FFF2-40B4-BE49-F238E27FC236}">
                <a16:creationId xmlns:a16="http://schemas.microsoft.com/office/drawing/2014/main" id="{0F4F4C85-95E1-4164-8797-7FE6F62C57F4}"/>
              </a:ext>
            </a:extLst>
          </p:cNvPr>
          <p:cNvSpPr>
            <a:spLocks xmlns:a="http://schemas.openxmlformats.org/drawingml/2006/main" noGrp="1"/>
          </p:cNvSpPr>
          <p:nvPr/>
        </p:nvSpPr>
        <p:spPr>
          <a:xfrm xmlns:a="http://schemas.openxmlformats.org/drawingml/2006/main">
            <a:off x="2705100" y="1828800"/>
            <a:ext cx="147637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FFFFFF"/>
                </a:solidFill>
              </a:defRPr>
            </a:pPr>
            <a:r>
              <a:rPr sz="1575" b="1">
                <a:solidFill>
                  <a:srgbClr val="FFFFFF"/>
                </a:solidFill>
              </a:rPr>
              <a:t>Capacity</a:t>
            </a:r>
          </a:p>
        </p:txBody>
      </p:sp>
      <p:sp>
        <p:nvSpPr>
          <p:cNvPr id="11" name="">
            <a:extLst xmlns:a="http://schemas.openxmlformats.org/drawingml/2006/main">
              <a:ext uri="{FF2B5EF4-FFF2-40B4-BE49-F238E27FC236}">
                <a16:creationId xmlns:a16="http://schemas.microsoft.com/office/drawing/2014/main" id="{53AE25C3-0A7D-4C7B-84FA-47C7A4176F06}"/>
              </a:ext>
            </a:extLst>
          </p:cNvPr>
          <p:cNvSpPr>
            <a:spLocks xmlns:a="http://schemas.openxmlformats.org/drawingml/2006/main" noGrp="1"/>
          </p:cNvSpPr>
          <p:nvPr/>
        </p:nvSpPr>
        <p:spPr>
          <a:xfrm xmlns:a="http://schemas.openxmlformats.org/drawingml/2006/main">
            <a:off x="4276725" y="1752600"/>
            <a:ext cx="2476500" cy="495300"/>
          </a:xfrm>
          <a:prstGeom xmlns:a="http://schemas.openxmlformats.org/drawingml/2006/main" prst="rect">
            <a:avLst/>
          </a:prstGeom>
          <a:solidFill xmlns:a="http://schemas.openxmlformats.org/drawingml/2006/main">
            <a:srgbClr val="10253F"/>
          </a:solidFill>
          <a:ln xmlns:a="http://schemas.openxmlformats.org/drawingml/2006/main" w="11430">
            <a:solidFill>
              <a:srgbClr val="C8D3E0"/>
            </a:solidFill>
            <a:prstDash val="solid"/>
          </a:ln>
        </p:spPr>
      </p:sp>
      <p:sp>
        <p:nvSpPr>
          <p:cNvPr id="12" name="">
            <a:extLst xmlns:a="http://schemas.openxmlformats.org/drawingml/2006/main">
              <a:ext uri="{FF2B5EF4-FFF2-40B4-BE49-F238E27FC236}">
                <a16:creationId xmlns:a16="http://schemas.microsoft.com/office/drawing/2014/main" id="{1E30EDFE-36CC-448A-88DD-03138F0AFBBC}"/>
              </a:ext>
            </a:extLst>
          </p:cNvPr>
          <p:cNvSpPr>
            <a:spLocks xmlns:a="http://schemas.openxmlformats.org/drawingml/2006/main" noGrp="1"/>
          </p:cNvSpPr>
          <p:nvPr/>
        </p:nvSpPr>
        <p:spPr>
          <a:xfrm xmlns:a="http://schemas.openxmlformats.org/drawingml/2006/main">
            <a:off x="4371975" y="1828800"/>
            <a:ext cx="2286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FFFFFF"/>
                </a:solidFill>
              </a:defRPr>
            </a:pPr>
            <a:r>
              <a:rPr sz="1575" b="1">
                <a:solidFill>
                  <a:srgbClr val="FFFFFF"/>
                </a:solidFill>
              </a:rPr>
              <a:t>Peak bandwidth</a:t>
            </a:r>
          </a:p>
        </p:txBody>
      </p:sp>
      <p:sp>
        <p:nvSpPr>
          <p:cNvPr id="13" name="">
            <a:extLst xmlns:a="http://schemas.openxmlformats.org/drawingml/2006/main">
              <a:ext uri="{FF2B5EF4-FFF2-40B4-BE49-F238E27FC236}">
                <a16:creationId xmlns:a16="http://schemas.microsoft.com/office/drawing/2014/main" id="{757D9F17-344A-4DDA-B692-3E703B542239}"/>
              </a:ext>
            </a:extLst>
          </p:cNvPr>
          <p:cNvSpPr>
            <a:spLocks xmlns:a="http://schemas.openxmlformats.org/drawingml/2006/main" noGrp="1"/>
          </p:cNvSpPr>
          <p:nvPr/>
        </p:nvSpPr>
        <p:spPr>
          <a:xfrm xmlns:a="http://schemas.openxmlformats.org/drawingml/2006/main">
            <a:off x="6753225" y="1752600"/>
            <a:ext cx="1524000" cy="495300"/>
          </a:xfrm>
          <a:prstGeom xmlns:a="http://schemas.openxmlformats.org/drawingml/2006/main" prst="rect">
            <a:avLst/>
          </a:prstGeom>
          <a:solidFill xmlns:a="http://schemas.openxmlformats.org/drawingml/2006/main">
            <a:srgbClr val="10253F"/>
          </a:solidFill>
          <a:ln xmlns:a="http://schemas.openxmlformats.org/drawingml/2006/main" w="11430">
            <a:solidFill>
              <a:srgbClr val="C8D3E0"/>
            </a:solidFill>
            <a:prstDash val="solid"/>
          </a:ln>
        </p:spPr>
      </p:sp>
      <p:sp>
        <p:nvSpPr>
          <p:cNvPr id="14" name="">
            <a:extLst xmlns:a="http://schemas.openxmlformats.org/drawingml/2006/main">
              <a:ext uri="{FF2B5EF4-FFF2-40B4-BE49-F238E27FC236}">
                <a16:creationId xmlns:a16="http://schemas.microsoft.com/office/drawing/2014/main" id="{15A426F5-0954-4A91-83B5-4C28F5E838E7}"/>
              </a:ext>
            </a:extLst>
          </p:cNvPr>
          <p:cNvSpPr>
            <a:spLocks xmlns:a="http://schemas.openxmlformats.org/drawingml/2006/main" noGrp="1"/>
          </p:cNvSpPr>
          <p:nvPr/>
        </p:nvSpPr>
        <p:spPr>
          <a:xfrm xmlns:a="http://schemas.openxmlformats.org/drawingml/2006/main">
            <a:off x="6848475" y="1828800"/>
            <a:ext cx="1333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FFFFFF"/>
                </a:solidFill>
              </a:defRPr>
            </a:pPr>
            <a:r>
              <a:rPr sz="1575" b="1">
                <a:solidFill>
                  <a:srgbClr val="FFFFFF"/>
                </a:solidFill>
              </a:rPr>
              <a:t>Latency</a:t>
            </a:r>
          </a:p>
        </p:txBody>
      </p:sp>
      <p:sp>
        <p:nvSpPr>
          <p:cNvPr id="15" name="">
            <a:extLst xmlns:a="http://schemas.openxmlformats.org/drawingml/2006/main">
              <a:ext uri="{FF2B5EF4-FFF2-40B4-BE49-F238E27FC236}">
                <a16:creationId xmlns:a16="http://schemas.microsoft.com/office/drawing/2014/main" id="{AC34BBDC-89FF-44FB-9564-753F84560A19}"/>
              </a:ext>
            </a:extLst>
          </p:cNvPr>
          <p:cNvSpPr>
            <a:spLocks xmlns:a="http://schemas.openxmlformats.org/drawingml/2006/main" noGrp="1"/>
          </p:cNvSpPr>
          <p:nvPr/>
        </p:nvSpPr>
        <p:spPr>
          <a:xfrm xmlns:a="http://schemas.openxmlformats.org/drawingml/2006/main">
            <a:off x="8277225" y="1752600"/>
            <a:ext cx="1666875" cy="495300"/>
          </a:xfrm>
          <a:prstGeom xmlns:a="http://schemas.openxmlformats.org/drawingml/2006/main" prst="rect">
            <a:avLst/>
          </a:prstGeom>
          <a:solidFill xmlns:a="http://schemas.openxmlformats.org/drawingml/2006/main">
            <a:srgbClr val="10253F"/>
          </a:solidFill>
          <a:ln xmlns:a="http://schemas.openxmlformats.org/drawingml/2006/main" w="11430">
            <a:solidFill>
              <a:srgbClr val="C8D3E0"/>
            </a:solidFill>
            <a:prstDash val="solid"/>
          </a:ln>
        </p:spPr>
      </p:sp>
      <p:sp>
        <p:nvSpPr>
          <p:cNvPr id="16" name="">
            <a:extLst xmlns:a="http://schemas.openxmlformats.org/drawingml/2006/main">
              <a:ext uri="{FF2B5EF4-FFF2-40B4-BE49-F238E27FC236}">
                <a16:creationId xmlns:a16="http://schemas.microsoft.com/office/drawing/2014/main" id="{DAFE7AF9-0F27-4B44-B282-CBEA69A1CED6}"/>
              </a:ext>
            </a:extLst>
          </p:cNvPr>
          <p:cNvSpPr>
            <a:spLocks xmlns:a="http://schemas.openxmlformats.org/drawingml/2006/main" noGrp="1"/>
          </p:cNvSpPr>
          <p:nvPr/>
        </p:nvSpPr>
        <p:spPr>
          <a:xfrm xmlns:a="http://schemas.openxmlformats.org/drawingml/2006/main">
            <a:off x="8372475" y="1828800"/>
            <a:ext cx="147637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FFFFFF"/>
                </a:solidFill>
              </a:defRPr>
            </a:pPr>
            <a:r>
              <a:rPr sz="1575" b="1">
                <a:solidFill>
                  <a:srgbClr val="FFFFFF"/>
                </a:solidFill>
              </a:rPr>
              <a:t>Cost / GB</a:t>
            </a:r>
          </a:p>
        </p:txBody>
      </p:sp>
      <p:sp>
        <p:nvSpPr>
          <p:cNvPr id="17" name="">
            <a:extLst xmlns:a="http://schemas.openxmlformats.org/drawingml/2006/main">
              <a:ext uri="{FF2B5EF4-FFF2-40B4-BE49-F238E27FC236}">
                <a16:creationId xmlns:a16="http://schemas.microsoft.com/office/drawing/2014/main" id="{01AFA898-D248-493F-B234-1B83F41DBDBA}"/>
              </a:ext>
            </a:extLst>
          </p:cNvPr>
          <p:cNvSpPr>
            <a:spLocks xmlns:a="http://schemas.openxmlformats.org/drawingml/2006/main" noGrp="1"/>
          </p:cNvSpPr>
          <p:nvPr/>
        </p:nvSpPr>
        <p:spPr>
          <a:xfrm xmlns:a="http://schemas.openxmlformats.org/drawingml/2006/main">
            <a:off x="9944100" y="1752600"/>
            <a:ext cx="1619250" cy="495300"/>
          </a:xfrm>
          <a:prstGeom xmlns:a="http://schemas.openxmlformats.org/drawingml/2006/main" prst="rect">
            <a:avLst/>
          </a:prstGeom>
          <a:solidFill xmlns:a="http://schemas.openxmlformats.org/drawingml/2006/main">
            <a:srgbClr val="10253F"/>
          </a:solidFill>
          <a:ln xmlns:a="http://schemas.openxmlformats.org/drawingml/2006/main" w="11430">
            <a:solidFill>
              <a:srgbClr val="C8D3E0"/>
            </a:solidFill>
            <a:prstDash val="solid"/>
          </a:ln>
        </p:spPr>
      </p:sp>
      <p:sp>
        <p:nvSpPr>
          <p:cNvPr id="18" name="">
            <a:extLst xmlns:a="http://schemas.openxmlformats.org/drawingml/2006/main">
              <a:ext uri="{FF2B5EF4-FFF2-40B4-BE49-F238E27FC236}">
                <a16:creationId xmlns:a16="http://schemas.microsoft.com/office/drawing/2014/main" id="{71781D63-D615-42E9-B3D9-AEDBF4FD47FB}"/>
              </a:ext>
            </a:extLst>
          </p:cNvPr>
          <p:cNvSpPr>
            <a:spLocks xmlns:a="http://schemas.openxmlformats.org/drawingml/2006/main" noGrp="1"/>
          </p:cNvSpPr>
          <p:nvPr/>
        </p:nvSpPr>
        <p:spPr>
          <a:xfrm xmlns:a="http://schemas.openxmlformats.org/drawingml/2006/main">
            <a:off x="10039350" y="1828800"/>
            <a:ext cx="1428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FFFFFF"/>
                </a:solidFill>
              </a:defRPr>
            </a:pPr>
            <a:r>
              <a:rPr sz="1575" b="1">
                <a:solidFill>
                  <a:srgbClr val="FFFFFF"/>
                </a:solidFill>
              </a:rPr>
              <a:t>Persistence</a:t>
            </a:r>
          </a:p>
        </p:txBody>
      </p:sp>
      <p:sp>
        <p:nvSpPr>
          <p:cNvPr id="19" name="">
            <a:extLst xmlns:a="http://schemas.openxmlformats.org/drawingml/2006/main">
              <a:ext uri="{FF2B5EF4-FFF2-40B4-BE49-F238E27FC236}">
                <a16:creationId xmlns:a16="http://schemas.microsoft.com/office/drawing/2014/main" id="{475C53DE-EF27-4B2D-BDF0-8DEB72378C14}"/>
              </a:ext>
            </a:extLst>
          </p:cNvPr>
          <p:cNvSpPr>
            <a:spLocks xmlns:a="http://schemas.openxmlformats.org/drawingml/2006/main" noGrp="1"/>
          </p:cNvSpPr>
          <p:nvPr/>
        </p:nvSpPr>
        <p:spPr>
          <a:xfrm xmlns:a="http://schemas.openxmlformats.org/drawingml/2006/main">
            <a:off x="609600" y="2247900"/>
            <a:ext cx="2000250" cy="1200150"/>
          </a:xfrm>
          <a:prstGeom xmlns:a="http://schemas.openxmlformats.org/drawingml/2006/main" prst="rect">
            <a:avLst/>
          </a:prstGeom>
          <a:solidFill xmlns:a="http://schemas.openxmlformats.org/drawingml/2006/main">
            <a:srgbClr val="EEEAFE"/>
          </a:solidFill>
          <a:ln xmlns:a="http://schemas.openxmlformats.org/drawingml/2006/main" w="11430">
            <a:solidFill>
              <a:srgbClr val="C8D3E0"/>
            </a:solidFill>
            <a:prstDash val="solid"/>
          </a:ln>
        </p:spPr>
      </p:sp>
      <p:sp>
        <p:nvSpPr>
          <p:cNvPr id="20" name="">
            <a:extLst xmlns:a="http://schemas.openxmlformats.org/drawingml/2006/main">
              <a:ext uri="{FF2B5EF4-FFF2-40B4-BE49-F238E27FC236}">
                <a16:creationId xmlns:a16="http://schemas.microsoft.com/office/drawing/2014/main" id="{5AE36E8B-9AF6-4648-A15D-2AA7867D4BC5}"/>
              </a:ext>
            </a:extLst>
          </p:cNvPr>
          <p:cNvSpPr>
            <a:spLocks xmlns:a="http://schemas.openxmlformats.org/drawingml/2006/main" noGrp="1"/>
          </p:cNvSpPr>
          <p:nvPr/>
        </p:nvSpPr>
        <p:spPr>
          <a:xfrm xmlns:a="http://schemas.openxmlformats.org/drawingml/2006/main">
            <a:off x="704850" y="2324100"/>
            <a:ext cx="1809750"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7157D9"/>
                </a:solidFill>
              </a:defRPr>
            </a:pPr>
            <a:r>
              <a:rPr sz="1575" b="1">
                <a:solidFill>
                  <a:srgbClr val="7157D9"/>
                </a:solidFill>
              </a:rPr>
              <a:t>GPU HBM / VRAM</a:t>
            </a:r>
          </a:p>
        </p:txBody>
      </p:sp>
      <p:sp>
        <p:nvSpPr>
          <p:cNvPr id="21" name="">
            <a:extLst xmlns:a="http://schemas.openxmlformats.org/drawingml/2006/main">
              <a:ext uri="{FF2B5EF4-FFF2-40B4-BE49-F238E27FC236}">
                <a16:creationId xmlns:a16="http://schemas.microsoft.com/office/drawing/2014/main" id="{CA156B06-BB9D-4037-B810-A26E9B2FF7A8}"/>
              </a:ext>
            </a:extLst>
          </p:cNvPr>
          <p:cNvSpPr>
            <a:spLocks xmlns:a="http://schemas.openxmlformats.org/drawingml/2006/main" noGrp="1"/>
          </p:cNvSpPr>
          <p:nvPr/>
        </p:nvSpPr>
        <p:spPr>
          <a:xfrm xmlns:a="http://schemas.openxmlformats.org/drawingml/2006/main">
            <a:off x="2609850" y="2247900"/>
            <a:ext cx="1666875" cy="1200150"/>
          </a:xfrm>
          <a:prstGeom xmlns:a="http://schemas.openxmlformats.org/drawingml/2006/main" prst="rect">
            <a:avLst/>
          </a:prstGeom>
          <a:solidFill xmlns:a="http://schemas.openxmlformats.org/drawingml/2006/main">
            <a:srgbClr val="FFFFFF"/>
          </a:solidFill>
          <a:ln xmlns:a="http://schemas.openxmlformats.org/drawingml/2006/main" w="11430">
            <a:solidFill>
              <a:srgbClr val="C8D3E0"/>
            </a:solidFill>
            <a:prstDash val="solid"/>
          </a:ln>
        </p:spPr>
      </p:sp>
      <p:sp>
        <p:nvSpPr>
          <p:cNvPr id="22" name="">
            <a:extLst xmlns:a="http://schemas.openxmlformats.org/drawingml/2006/main">
              <a:ext uri="{FF2B5EF4-FFF2-40B4-BE49-F238E27FC236}">
                <a16:creationId xmlns:a16="http://schemas.microsoft.com/office/drawing/2014/main" id="{E890A55A-082E-42C0-89CA-C6450AF2A07A}"/>
              </a:ext>
            </a:extLst>
          </p:cNvPr>
          <p:cNvSpPr>
            <a:spLocks xmlns:a="http://schemas.openxmlformats.org/drawingml/2006/main" noGrp="1"/>
          </p:cNvSpPr>
          <p:nvPr/>
        </p:nvSpPr>
        <p:spPr>
          <a:xfrm xmlns:a="http://schemas.openxmlformats.org/drawingml/2006/main">
            <a:off x="2705100" y="2324100"/>
            <a:ext cx="1476375"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0">
                <a:solidFill>
                  <a:srgbClr val="0A1628"/>
                </a:solidFill>
              </a:defRPr>
            </a:pPr>
            <a:r>
              <a:rPr sz="1575" b="0">
                <a:solidFill>
                  <a:srgbClr val="0A1628"/>
                </a:solidFill>
              </a:rPr>
              <a:t>10s–100s GB / GPU</a:t>
            </a:r>
          </a:p>
        </p:txBody>
      </p:sp>
      <p:sp>
        <p:nvSpPr>
          <p:cNvPr id="23" name="">
            <a:extLst xmlns:a="http://schemas.openxmlformats.org/drawingml/2006/main">
              <a:ext uri="{FF2B5EF4-FFF2-40B4-BE49-F238E27FC236}">
                <a16:creationId xmlns:a16="http://schemas.microsoft.com/office/drawing/2014/main" id="{33DCAE0E-748D-44E5-B75F-BA776D1D271D}"/>
              </a:ext>
            </a:extLst>
          </p:cNvPr>
          <p:cNvSpPr>
            <a:spLocks xmlns:a="http://schemas.openxmlformats.org/drawingml/2006/main" noGrp="1"/>
          </p:cNvSpPr>
          <p:nvPr/>
        </p:nvSpPr>
        <p:spPr>
          <a:xfrm xmlns:a="http://schemas.openxmlformats.org/drawingml/2006/main">
            <a:off x="4276725" y="2247900"/>
            <a:ext cx="2476500" cy="1200150"/>
          </a:xfrm>
          <a:prstGeom xmlns:a="http://schemas.openxmlformats.org/drawingml/2006/main" prst="rect">
            <a:avLst/>
          </a:prstGeom>
          <a:solidFill xmlns:a="http://schemas.openxmlformats.org/drawingml/2006/main">
            <a:srgbClr val="FFFFFF"/>
          </a:solidFill>
          <a:ln xmlns:a="http://schemas.openxmlformats.org/drawingml/2006/main" w="11430">
            <a:solidFill>
              <a:srgbClr val="C8D3E0"/>
            </a:solidFill>
            <a:prstDash val="solid"/>
          </a:ln>
        </p:spPr>
      </p:sp>
      <p:sp>
        <p:nvSpPr>
          <p:cNvPr id="24" name="">
            <a:extLst xmlns:a="http://schemas.openxmlformats.org/drawingml/2006/main">
              <a:ext uri="{FF2B5EF4-FFF2-40B4-BE49-F238E27FC236}">
                <a16:creationId xmlns:a16="http://schemas.microsoft.com/office/drawing/2014/main" id="{7FECB081-6A5F-4991-B07F-47F50854AFE4}"/>
              </a:ext>
            </a:extLst>
          </p:cNvPr>
          <p:cNvSpPr>
            <a:spLocks xmlns:a="http://schemas.openxmlformats.org/drawingml/2006/main" noGrp="1"/>
          </p:cNvSpPr>
          <p:nvPr/>
        </p:nvSpPr>
        <p:spPr>
          <a:xfrm xmlns:a="http://schemas.openxmlformats.org/drawingml/2006/main">
            <a:off x="4371975" y="2324100"/>
            <a:ext cx="2286000"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0">
                <a:solidFill>
                  <a:srgbClr val="0A1628"/>
                </a:solidFill>
              </a:defRPr>
            </a:pPr>
            <a:r>
              <a:rPr sz="1575" b="0">
                <a:solidFill>
                  <a:srgbClr val="0A1628"/>
                </a:solidFill>
              </a:rPr>
              <a:t>TB/s class</a:t>
            </a:r>
          </a:p>
          <a:p xmlns:a="http://schemas.openxmlformats.org/drawingml/2006/main">
            <a:pPr algn="l">
              <a:defRPr sz="1575" b="0">
                <a:solidFill>
                  <a:srgbClr val="0A1628"/>
                </a:solidFill>
              </a:defRPr>
            </a:pPr>
            <a:r>
              <a:rPr sz="1575" b="0">
                <a:solidFill>
                  <a:srgbClr val="0A1628"/>
                </a:solidFill>
              </a:rPr>
              <a:t>H100: 3.35 TB/s</a:t>
            </a:r>
          </a:p>
        </p:txBody>
      </p:sp>
      <p:sp>
        <p:nvSpPr>
          <p:cNvPr id="25" name="">
            <a:extLst xmlns:a="http://schemas.openxmlformats.org/drawingml/2006/main">
              <a:ext uri="{FF2B5EF4-FFF2-40B4-BE49-F238E27FC236}">
                <a16:creationId xmlns:a16="http://schemas.microsoft.com/office/drawing/2014/main" id="{B84E32C6-3C97-494E-BA44-EBCB94568267}"/>
              </a:ext>
            </a:extLst>
          </p:cNvPr>
          <p:cNvSpPr>
            <a:spLocks xmlns:a="http://schemas.openxmlformats.org/drawingml/2006/main" noGrp="1"/>
          </p:cNvSpPr>
          <p:nvPr/>
        </p:nvSpPr>
        <p:spPr>
          <a:xfrm xmlns:a="http://schemas.openxmlformats.org/drawingml/2006/main">
            <a:off x="6753225" y="2247900"/>
            <a:ext cx="1524000" cy="1200150"/>
          </a:xfrm>
          <a:prstGeom xmlns:a="http://schemas.openxmlformats.org/drawingml/2006/main" prst="rect">
            <a:avLst/>
          </a:prstGeom>
          <a:solidFill xmlns:a="http://schemas.openxmlformats.org/drawingml/2006/main">
            <a:srgbClr val="FFFFFF"/>
          </a:solidFill>
          <a:ln xmlns:a="http://schemas.openxmlformats.org/drawingml/2006/main" w="11430">
            <a:solidFill>
              <a:srgbClr val="C8D3E0"/>
            </a:solidFill>
            <a:prstDash val="solid"/>
          </a:ln>
        </p:spPr>
      </p:sp>
      <p:sp>
        <p:nvSpPr>
          <p:cNvPr id="26" name="">
            <a:extLst xmlns:a="http://schemas.openxmlformats.org/drawingml/2006/main">
              <a:ext uri="{FF2B5EF4-FFF2-40B4-BE49-F238E27FC236}">
                <a16:creationId xmlns:a16="http://schemas.microsoft.com/office/drawing/2014/main" id="{5C7E1B12-8ECC-4DE3-8AD4-97FB70F86A8F}"/>
              </a:ext>
            </a:extLst>
          </p:cNvPr>
          <p:cNvSpPr>
            <a:spLocks xmlns:a="http://schemas.openxmlformats.org/drawingml/2006/main" noGrp="1"/>
          </p:cNvSpPr>
          <p:nvPr/>
        </p:nvSpPr>
        <p:spPr>
          <a:xfrm xmlns:a="http://schemas.openxmlformats.org/drawingml/2006/main">
            <a:off x="6848475" y="2324100"/>
            <a:ext cx="1333500"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0">
                <a:solidFill>
                  <a:srgbClr val="0A1628"/>
                </a:solidFill>
              </a:defRPr>
            </a:pPr>
            <a:r>
              <a:rPr sz="1575" b="0">
                <a:solidFill>
                  <a:srgbClr val="0A1628"/>
                </a:solidFill>
              </a:rPr>
              <a:t>Lowest</a:t>
            </a:r>
          </a:p>
        </p:txBody>
      </p:sp>
      <p:sp>
        <p:nvSpPr>
          <p:cNvPr id="27" name="">
            <a:extLst xmlns:a="http://schemas.openxmlformats.org/drawingml/2006/main">
              <a:ext uri="{FF2B5EF4-FFF2-40B4-BE49-F238E27FC236}">
                <a16:creationId xmlns:a16="http://schemas.microsoft.com/office/drawing/2014/main" id="{090C7C59-A829-41BD-BDF7-641712EFC283}"/>
              </a:ext>
            </a:extLst>
          </p:cNvPr>
          <p:cNvSpPr>
            <a:spLocks xmlns:a="http://schemas.openxmlformats.org/drawingml/2006/main" noGrp="1"/>
          </p:cNvSpPr>
          <p:nvPr/>
        </p:nvSpPr>
        <p:spPr>
          <a:xfrm xmlns:a="http://schemas.openxmlformats.org/drawingml/2006/main">
            <a:off x="8277225" y="2247900"/>
            <a:ext cx="1666875" cy="1200150"/>
          </a:xfrm>
          <a:prstGeom xmlns:a="http://schemas.openxmlformats.org/drawingml/2006/main" prst="rect">
            <a:avLst/>
          </a:prstGeom>
          <a:solidFill xmlns:a="http://schemas.openxmlformats.org/drawingml/2006/main">
            <a:srgbClr val="FFFFFF"/>
          </a:solidFill>
          <a:ln xmlns:a="http://schemas.openxmlformats.org/drawingml/2006/main" w="11430">
            <a:solidFill>
              <a:srgbClr val="C8D3E0"/>
            </a:solidFill>
            <a:prstDash val="solid"/>
          </a:ln>
        </p:spPr>
      </p:sp>
      <p:sp>
        <p:nvSpPr>
          <p:cNvPr id="28" name="">
            <a:extLst xmlns:a="http://schemas.openxmlformats.org/drawingml/2006/main">
              <a:ext uri="{FF2B5EF4-FFF2-40B4-BE49-F238E27FC236}">
                <a16:creationId xmlns:a16="http://schemas.microsoft.com/office/drawing/2014/main" id="{4312C5E7-B708-416A-AE85-DB6F5AAF929A}"/>
              </a:ext>
            </a:extLst>
          </p:cNvPr>
          <p:cNvSpPr>
            <a:spLocks xmlns:a="http://schemas.openxmlformats.org/drawingml/2006/main" noGrp="1"/>
          </p:cNvSpPr>
          <p:nvPr/>
        </p:nvSpPr>
        <p:spPr>
          <a:xfrm xmlns:a="http://schemas.openxmlformats.org/drawingml/2006/main">
            <a:off x="8372475" y="2324100"/>
            <a:ext cx="1476375"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0">
                <a:solidFill>
                  <a:srgbClr val="0A1628"/>
                </a:solidFill>
              </a:defRPr>
            </a:pPr>
            <a:r>
              <a:rPr sz="1575" b="0">
                <a:solidFill>
                  <a:srgbClr val="0A1628"/>
                </a:solidFill>
              </a:rPr>
              <a:t>Highest</a:t>
            </a:r>
          </a:p>
        </p:txBody>
      </p:sp>
      <p:sp>
        <p:nvSpPr>
          <p:cNvPr id="29" name="">
            <a:extLst xmlns:a="http://schemas.openxmlformats.org/drawingml/2006/main">
              <a:ext uri="{FF2B5EF4-FFF2-40B4-BE49-F238E27FC236}">
                <a16:creationId xmlns:a16="http://schemas.microsoft.com/office/drawing/2014/main" id="{17B15D19-5516-4741-ACD8-F52196737FE0}"/>
              </a:ext>
            </a:extLst>
          </p:cNvPr>
          <p:cNvSpPr>
            <a:spLocks xmlns:a="http://schemas.openxmlformats.org/drawingml/2006/main" noGrp="1"/>
          </p:cNvSpPr>
          <p:nvPr/>
        </p:nvSpPr>
        <p:spPr>
          <a:xfrm xmlns:a="http://schemas.openxmlformats.org/drawingml/2006/main">
            <a:off x="9944100" y="2247900"/>
            <a:ext cx="1619250" cy="1200150"/>
          </a:xfrm>
          <a:prstGeom xmlns:a="http://schemas.openxmlformats.org/drawingml/2006/main" prst="rect">
            <a:avLst/>
          </a:prstGeom>
          <a:solidFill xmlns:a="http://schemas.openxmlformats.org/drawingml/2006/main">
            <a:srgbClr val="FFFFFF"/>
          </a:solidFill>
          <a:ln xmlns:a="http://schemas.openxmlformats.org/drawingml/2006/main" w="11430">
            <a:solidFill>
              <a:srgbClr val="C8D3E0"/>
            </a:solidFill>
            <a:prstDash val="solid"/>
          </a:ln>
        </p:spPr>
      </p:sp>
      <p:sp>
        <p:nvSpPr>
          <p:cNvPr id="30" name="">
            <a:extLst xmlns:a="http://schemas.openxmlformats.org/drawingml/2006/main">
              <a:ext uri="{FF2B5EF4-FFF2-40B4-BE49-F238E27FC236}">
                <a16:creationId xmlns:a16="http://schemas.microsoft.com/office/drawing/2014/main" id="{ED0920FB-B04D-4FFD-8E8A-4C3EEFED5AB3}"/>
              </a:ext>
            </a:extLst>
          </p:cNvPr>
          <p:cNvSpPr>
            <a:spLocks xmlns:a="http://schemas.openxmlformats.org/drawingml/2006/main" noGrp="1"/>
          </p:cNvSpPr>
          <p:nvPr/>
        </p:nvSpPr>
        <p:spPr>
          <a:xfrm xmlns:a="http://schemas.openxmlformats.org/drawingml/2006/main">
            <a:off x="10039350" y="2324100"/>
            <a:ext cx="1428750"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0">
                <a:solidFill>
                  <a:srgbClr val="0A1628"/>
                </a:solidFill>
              </a:defRPr>
            </a:pPr>
            <a:r>
              <a:rPr sz="1575" b="0">
                <a:solidFill>
                  <a:srgbClr val="0A1628"/>
                </a:solidFill>
              </a:rPr>
              <a:t>No</a:t>
            </a:r>
          </a:p>
        </p:txBody>
      </p:sp>
      <p:sp>
        <p:nvSpPr>
          <p:cNvPr id="31" name="">
            <a:extLst xmlns:a="http://schemas.openxmlformats.org/drawingml/2006/main">
              <a:ext uri="{FF2B5EF4-FFF2-40B4-BE49-F238E27FC236}">
                <a16:creationId xmlns:a16="http://schemas.microsoft.com/office/drawing/2014/main" id="{1B310DA6-EC9B-433B-A520-5D6BF9B661D7}"/>
              </a:ext>
            </a:extLst>
          </p:cNvPr>
          <p:cNvSpPr>
            <a:spLocks xmlns:a="http://schemas.openxmlformats.org/drawingml/2006/main" noGrp="1"/>
          </p:cNvSpPr>
          <p:nvPr/>
        </p:nvSpPr>
        <p:spPr>
          <a:xfrm xmlns:a="http://schemas.openxmlformats.org/drawingml/2006/main">
            <a:off x="609600" y="3448050"/>
            <a:ext cx="2000250" cy="1200150"/>
          </a:xfrm>
          <a:prstGeom xmlns:a="http://schemas.openxmlformats.org/drawingml/2006/main" prst="rect">
            <a:avLst/>
          </a:prstGeom>
          <a:solidFill xmlns:a="http://schemas.openxmlformats.org/drawingml/2006/main">
            <a:srgbClr val="E4F7FA"/>
          </a:solidFill>
          <a:ln xmlns:a="http://schemas.openxmlformats.org/drawingml/2006/main" w="11430">
            <a:solidFill>
              <a:srgbClr val="C8D3E0"/>
            </a:solidFill>
            <a:prstDash val="solid"/>
          </a:ln>
        </p:spPr>
      </p:sp>
      <p:sp>
        <p:nvSpPr>
          <p:cNvPr id="32" name="">
            <a:extLst xmlns:a="http://schemas.openxmlformats.org/drawingml/2006/main">
              <a:ext uri="{FF2B5EF4-FFF2-40B4-BE49-F238E27FC236}">
                <a16:creationId xmlns:a16="http://schemas.microsoft.com/office/drawing/2014/main" id="{5F0C74C2-1A32-4293-B8CB-DD348905B36A}"/>
              </a:ext>
            </a:extLst>
          </p:cNvPr>
          <p:cNvSpPr>
            <a:spLocks xmlns:a="http://schemas.openxmlformats.org/drawingml/2006/main" noGrp="1"/>
          </p:cNvSpPr>
          <p:nvPr/>
        </p:nvSpPr>
        <p:spPr>
          <a:xfrm xmlns:a="http://schemas.openxmlformats.org/drawingml/2006/main">
            <a:off x="704850" y="3524250"/>
            <a:ext cx="1809750"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A9DB5"/>
                </a:solidFill>
              </a:defRPr>
            </a:pPr>
            <a:r>
              <a:rPr sz="1575" b="1">
                <a:solidFill>
                  <a:srgbClr val="0A9DB5"/>
                </a:solidFill>
              </a:rPr>
              <a:t>CPU DRAM</a:t>
            </a:r>
          </a:p>
        </p:txBody>
      </p:sp>
      <p:sp>
        <p:nvSpPr>
          <p:cNvPr id="33" name="">
            <a:extLst xmlns:a="http://schemas.openxmlformats.org/drawingml/2006/main">
              <a:ext uri="{FF2B5EF4-FFF2-40B4-BE49-F238E27FC236}">
                <a16:creationId xmlns:a16="http://schemas.microsoft.com/office/drawing/2014/main" id="{873A2C56-7078-4CC9-AE19-75B1346F54E7}"/>
              </a:ext>
            </a:extLst>
          </p:cNvPr>
          <p:cNvSpPr>
            <a:spLocks xmlns:a="http://schemas.openxmlformats.org/drawingml/2006/main" noGrp="1"/>
          </p:cNvSpPr>
          <p:nvPr/>
        </p:nvSpPr>
        <p:spPr>
          <a:xfrm xmlns:a="http://schemas.openxmlformats.org/drawingml/2006/main">
            <a:off x="2609850" y="3448050"/>
            <a:ext cx="1666875" cy="1200150"/>
          </a:xfrm>
          <a:prstGeom xmlns:a="http://schemas.openxmlformats.org/drawingml/2006/main" prst="rect">
            <a:avLst/>
          </a:prstGeom>
          <a:solidFill xmlns:a="http://schemas.openxmlformats.org/drawingml/2006/main">
            <a:srgbClr val="FFFFFF"/>
          </a:solidFill>
          <a:ln xmlns:a="http://schemas.openxmlformats.org/drawingml/2006/main" w="11430">
            <a:solidFill>
              <a:srgbClr val="C8D3E0"/>
            </a:solidFill>
            <a:prstDash val="solid"/>
          </a:ln>
        </p:spPr>
      </p:sp>
      <p:sp>
        <p:nvSpPr>
          <p:cNvPr id="34" name="">
            <a:extLst xmlns:a="http://schemas.openxmlformats.org/drawingml/2006/main">
              <a:ext uri="{FF2B5EF4-FFF2-40B4-BE49-F238E27FC236}">
                <a16:creationId xmlns:a16="http://schemas.microsoft.com/office/drawing/2014/main" id="{D07DEF55-CC1D-45D8-8425-984213264481}"/>
              </a:ext>
            </a:extLst>
          </p:cNvPr>
          <p:cNvSpPr>
            <a:spLocks xmlns:a="http://schemas.openxmlformats.org/drawingml/2006/main" noGrp="1"/>
          </p:cNvSpPr>
          <p:nvPr/>
        </p:nvSpPr>
        <p:spPr>
          <a:xfrm xmlns:a="http://schemas.openxmlformats.org/drawingml/2006/main">
            <a:off x="2705100" y="3524250"/>
            <a:ext cx="1476375"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0">
                <a:solidFill>
                  <a:srgbClr val="0A1628"/>
                </a:solidFill>
              </a:defRPr>
            </a:pPr>
            <a:r>
              <a:rPr sz="1575" b="0">
                <a:solidFill>
                  <a:srgbClr val="0A1628"/>
                </a:solidFill>
              </a:rPr>
              <a:t>100s GB–TB / node</a:t>
            </a:r>
          </a:p>
        </p:txBody>
      </p:sp>
      <p:sp>
        <p:nvSpPr>
          <p:cNvPr id="35" name="">
            <a:extLst xmlns:a="http://schemas.openxmlformats.org/drawingml/2006/main">
              <a:ext uri="{FF2B5EF4-FFF2-40B4-BE49-F238E27FC236}">
                <a16:creationId xmlns:a16="http://schemas.microsoft.com/office/drawing/2014/main" id="{F92B8B32-6F0E-4BFF-9C84-599FBBA65003}"/>
              </a:ext>
            </a:extLst>
          </p:cNvPr>
          <p:cNvSpPr>
            <a:spLocks xmlns:a="http://schemas.openxmlformats.org/drawingml/2006/main" noGrp="1"/>
          </p:cNvSpPr>
          <p:nvPr/>
        </p:nvSpPr>
        <p:spPr>
          <a:xfrm xmlns:a="http://schemas.openxmlformats.org/drawingml/2006/main">
            <a:off x="4276725" y="3448050"/>
            <a:ext cx="2476500" cy="1200150"/>
          </a:xfrm>
          <a:prstGeom xmlns:a="http://schemas.openxmlformats.org/drawingml/2006/main" prst="rect">
            <a:avLst/>
          </a:prstGeom>
          <a:solidFill xmlns:a="http://schemas.openxmlformats.org/drawingml/2006/main">
            <a:srgbClr val="FFFFFF"/>
          </a:solidFill>
          <a:ln xmlns:a="http://schemas.openxmlformats.org/drawingml/2006/main" w="11430">
            <a:solidFill>
              <a:srgbClr val="C8D3E0"/>
            </a:solidFill>
            <a:prstDash val="solid"/>
          </a:ln>
        </p:spPr>
      </p:sp>
      <p:sp>
        <p:nvSpPr>
          <p:cNvPr id="36" name="">
            <a:extLst xmlns:a="http://schemas.openxmlformats.org/drawingml/2006/main">
              <a:ext uri="{FF2B5EF4-FFF2-40B4-BE49-F238E27FC236}">
                <a16:creationId xmlns:a16="http://schemas.microsoft.com/office/drawing/2014/main" id="{8E28C92B-7EDD-4CDB-BE81-AFFCE06AFA5B}"/>
              </a:ext>
            </a:extLst>
          </p:cNvPr>
          <p:cNvSpPr>
            <a:spLocks xmlns:a="http://schemas.openxmlformats.org/drawingml/2006/main" noGrp="1"/>
          </p:cNvSpPr>
          <p:nvPr/>
        </p:nvSpPr>
        <p:spPr>
          <a:xfrm xmlns:a="http://schemas.openxmlformats.org/drawingml/2006/main">
            <a:off x="4371975" y="3524250"/>
            <a:ext cx="2286000"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0">
                <a:solidFill>
                  <a:srgbClr val="0A1628"/>
                </a:solidFill>
              </a:defRPr>
            </a:pPr>
            <a:r>
              <a:rPr sz="1575" b="0">
                <a:solidFill>
                  <a:srgbClr val="0A1628"/>
                </a:solidFill>
              </a:rPr>
              <a:t>10s–100s GB/s</a:t>
            </a:r>
          </a:p>
          <a:p xmlns:a="http://schemas.openxmlformats.org/drawingml/2006/main">
            <a:pPr algn="l">
              <a:defRPr sz="1575" b="0">
                <a:solidFill>
                  <a:srgbClr val="0A1628"/>
                </a:solidFill>
              </a:defRPr>
            </a:pPr>
            <a:r>
              <a:rPr sz="1575" b="0">
                <a:solidFill>
                  <a:srgbClr val="0A1628"/>
                </a:solidFill>
              </a:rPr>
              <a:t>platform aggregate</a:t>
            </a:r>
          </a:p>
        </p:txBody>
      </p:sp>
      <p:sp>
        <p:nvSpPr>
          <p:cNvPr id="37" name="">
            <a:extLst xmlns:a="http://schemas.openxmlformats.org/drawingml/2006/main">
              <a:ext uri="{FF2B5EF4-FFF2-40B4-BE49-F238E27FC236}">
                <a16:creationId xmlns:a16="http://schemas.microsoft.com/office/drawing/2014/main" id="{40BFC0DA-9947-450B-B7B1-C09171843AD1}"/>
              </a:ext>
            </a:extLst>
          </p:cNvPr>
          <p:cNvSpPr>
            <a:spLocks xmlns:a="http://schemas.openxmlformats.org/drawingml/2006/main" noGrp="1"/>
          </p:cNvSpPr>
          <p:nvPr/>
        </p:nvSpPr>
        <p:spPr>
          <a:xfrm xmlns:a="http://schemas.openxmlformats.org/drawingml/2006/main">
            <a:off x="6753225" y="3448050"/>
            <a:ext cx="1524000" cy="1200150"/>
          </a:xfrm>
          <a:prstGeom xmlns:a="http://schemas.openxmlformats.org/drawingml/2006/main" prst="rect">
            <a:avLst/>
          </a:prstGeom>
          <a:solidFill xmlns:a="http://schemas.openxmlformats.org/drawingml/2006/main">
            <a:srgbClr val="FFFFFF"/>
          </a:solidFill>
          <a:ln xmlns:a="http://schemas.openxmlformats.org/drawingml/2006/main" w="11430">
            <a:solidFill>
              <a:srgbClr val="C8D3E0"/>
            </a:solidFill>
            <a:prstDash val="solid"/>
          </a:ln>
        </p:spPr>
      </p:sp>
      <p:sp>
        <p:nvSpPr>
          <p:cNvPr id="38" name="">
            <a:extLst xmlns:a="http://schemas.openxmlformats.org/drawingml/2006/main">
              <a:ext uri="{FF2B5EF4-FFF2-40B4-BE49-F238E27FC236}">
                <a16:creationId xmlns:a16="http://schemas.microsoft.com/office/drawing/2014/main" id="{CF634F69-F081-4F8C-9A27-56AFBB0D9B22}"/>
              </a:ext>
            </a:extLst>
          </p:cNvPr>
          <p:cNvSpPr>
            <a:spLocks xmlns:a="http://schemas.openxmlformats.org/drawingml/2006/main" noGrp="1"/>
          </p:cNvSpPr>
          <p:nvPr/>
        </p:nvSpPr>
        <p:spPr>
          <a:xfrm xmlns:a="http://schemas.openxmlformats.org/drawingml/2006/main">
            <a:off x="6848475" y="3524250"/>
            <a:ext cx="1333500"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0">
                <a:solidFill>
                  <a:srgbClr val="0A1628"/>
                </a:solidFill>
              </a:defRPr>
            </a:pPr>
            <a:r>
              <a:rPr sz="1575" b="0">
                <a:solidFill>
                  <a:srgbClr val="0A1628"/>
                </a:solidFill>
              </a:rPr>
              <a:t>Low</a:t>
            </a:r>
          </a:p>
        </p:txBody>
      </p:sp>
      <p:sp>
        <p:nvSpPr>
          <p:cNvPr id="39" name="">
            <a:extLst xmlns:a="http://schemas.openxmlformats.org/drawingml/2006/main">
              <a:ext uri="{FF2B5EF4-FFF2-40B4-BE49-F238E27FC236}">
                <a16:creationId xmlns:a16="http://schemas.microsoft.com/office/drawing/2014/main" id="{A190202B-B4B2-4371-BCD8-BB90E33E5229}"/>
              </a:ext>
            </a:extLst>
          </p:cNvPr>
          <p:cNvSpPr>
            <a:spLocks xmlns:a="http://schemas.openxmlformats.org/drawingml/2006/main" noGrp="1"/>
          </p:cNvSpPr>
          <p:nvPr/>
        </p:nvSpPr>
        <p:spPr>
          <a:xfrm xmlns:a="http://schemas.openxmlformats.org/drawingml/2006/main">
            <a:off x="8277225" y="3448050"/>
            <a:ext cx="1666875" cy="1200150"/>
          </a:xfrm>
          <a:prstGeom xmlns:a="http://schemas.openxmlformats.org/drawingml/2006/main" prst="rect">
            <a:avLst/>
          </a:prstGeom>
          <a:solidFill xmlns:a="http://schemas.openxmlformats.org/drawingml/2006/main">
            <a:srgbClr val="FFFFFF"/>
          </a:solidFill>
          <a:ln xmlns:a="http://schemas.openxmlformats.org/drawingml/2006/main" w="11430">
            <a:solidFill>
              <a:srgbClr val="C8D3E0"/>
            </a:solidFill>
            <a:prstDash val="solid"/>
          </a:ln>
        </p:spPr>
      </p:sp>
      <p:sp>
        <p:nvSpPr>
          <p:cNvPr id="40" name="">
            <a:extLst xmlns:a="http://schemas.openxmlformats.org/drawingml/2006/main">
              <a:ext uri="{FF2B5EF4-FFF2-40B4-BE49-F238E27FC236}">
                <a16:creationId xmlns:a16="http://schemas.microsoft.com/office/drawing/2014/main" id="{7B5879A2-F92B-4D1A-9CB8-FF6AB80D38AC}"/>
              </a:ext>
            </a:extLst>
          </p:cNvPr>
          <p:cNvSpPr>
            <a:spLocks xmlns:a="http://schemas.openxmlformats.org/drawingml/2006/main" noGrp="1"/>
          </p:cNvSpPr>
          <p:nvPr/>
        </p:nvSpPr>
        <p:spPr>
          <a:xfrm xmlns:a="http://schemas.openxmlformats.org/drawingml/2006/main">
            <a:off x="8372475" y="3524250"/>
            <a:ext cx="1476375"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0">
                <a:solidFill>
                  <a:srgbClr val="0A1628"/>
                </a:solidFill>
              </a:defRPr>
            </a:pPr>
            <a:r>
              <a:rPr sz="1575" b="0">
                <a:solidFill>
                  <a:srgbClr val="0A1628"/>
                </a:solidFill>
              </a:rPr>
              <a:t>Medium</a:t>
            </a:r>
          </a:p>
        </p:txBody>
      </p:sp>
      <p:sp>
        <p:nvSpPr>
          <p:cNvPr id="41" name="">
            <a:extLst xmlns:a="http://schemas.openxmlformats.org/drawingml/2006/main">
              <a:ext uri="{FF2B5EF4-FFF2-40B4-BE49-F238E27FC236}">
                <a16:creationId xmlns:a16="http://schemas.microsoft.com/office/drawing/2014/main" id="{A69A4711-B50D-4AE4-8D36-DAEE9ECEBB8C}"/>
              </a:ext>
            </a:extLst>
          </p:cNvPr>
          <p:cNvSpPr>
            <a:spLocks xmlns:a="http://schemas.openxmlformats.org/drawingml/2006/main" noGrp="1"/>
          </p:cNvSpPr>
          <p:nvPr/>
        </p:nvSpPr>
        <p:spPr>
          <a:xfrm xmlns:a="http://schemas.openxmlformats.org/drawingml/2006/main">
            <a:off x="9944100" y="3448050"/>
            <a:ext cx="1619250" cy="1200150"/>
          </a:xfrm>
          <a:prstGeom xmlns:a="http://schemas.openxmlformats.org/drawingml/2006/main" prst="rect">
            <a:avLst/>
          </a:prstGeom>
          <a:solidFill xmlns:a="http://schemas.openxmlformats.org/drawingml/2006/main">
            <a:srgbClr val="FFFFFF"/>
          </a:solidFill>
          <a:ln xmlns:a="http://schemas.openxmlformats.org/drawingml/2006/main" w="11430">
            <a:solidFill>
              <a:srgbClr val="C8D3E0"/>
            </a:solidFill>
            <a:prstDash val="solid"/>
          </a:ln>
        </p:spPr>
      </p:sp>
      <p:sp>
        <p:nvSpPr>
          <p:cNvPr id="42" name="">
            <a:extLst xmlns:a="http://schemas.openxmlformats.org/drawingml/2006/main">
              <a:ext uri="{FF2B5EF4-FFF2-40B4-BE49-F238E27FC236}">
                <a16:creationId xmlns:a16="http://schemas.microsoft.com/office/drawing/2014/main" id="{031130B8-BA9B-46AB-B6E9-1DC2D46312CD}"/>
              </a:ext>
            </a:extLst>
          </p:cNvPr>
          <p:cNvSpPr>
            <a:spLocks xmlns:a="http://schemas.openxmlformats.org/drawingml/2006/main" noGrp="1"/>
          </p:cNvSpPr>
          <p:nvPr/>
        </p:nvSpPr>
        <p:spPr>
          <a:xfrm xmlns:a="http://schemas.openxmlformats.org/drawingml/2006/main">
            <a:off x="10039350" y="3524250"/>
            <a:ext cx="1428750"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0">
                <a:solidFill>
                  <a:srgbClr val="0A1628"/>
                </a:solidFill>
              </a:defRPr>
            </a:pPr>
            <a:r>
              <a:rPr sz="1575" b="0">
                <a:solidFill>
                  <a:srgbClr val="0A1628"/>
                </a:solidFill>
              </a:rPr>
              <a:t>No</a:t>
            </a:r>
          </a:p>
        </p:txBody>
      </p:sp>
      <p:sp>
        <p:nvSpPr>
          <p:cNvPr id="43" name="">
            <a:extLst xmlns:a="http://schemas.openxmlformats.org/drawingml/2006/main">
              <a:ext uri="{FF2B5EF4-FFF2-40B4-BE49-F238E27FC236}">
                <a16:creationId xmlns:a16="http://schemas.microsoft.com/office/drawing/2014/main" id="{71AD65A1-2C69-40F0-8145-C558DE320E0B}"/>
              </a:ext>
            </a:extLst>
          </p:cNvPr>
          <p:cNvSpPr>
            <a:spLocks xmlns:a="http://schemas.openxmlformats.org/drawingml/2006/main" noGrp="1"/>
          </p:cNvSpPr>
          <p:nvPr/>
        </p:nvSpPr>
        <p:spPr>
          <a:xfrm xmlns:a="http://schemas.openxmlformats.org/drawingml/2006/main">
            <a:off x="609600" y="4648200"/>
            <a:ext cx="2000250" cy="1200150"/>
          </a:xfrm>
          <a:prstGeom xmlns:a="http://schemas.openxmlformats.org/drawingml/2006/main" prst="rect">
            <a:avLst/>
          </a:prstGeom>
          <a:solidFill xmlns:a="http://schemas.openxmlformats.org/drawingml/2006/main">
            <a:srgbClr val="FFF2DF"/>
          </a:solidFill>
          <a:ln xmlns:a="http://schemas.openxmlformats.org/drawingml/2006/main" w="11430">
            <a:solidFill>
              <a:srgbClr val="C8D3E0"/>
            </a:solidFill>
            <a:prstDash val="solid"/>
          </a:ln>
        </p:spPr>
      </p:sp>
      <p:sp>
        <p:nvSpPr>
          <p:cNvPr id="44" name="">
            <a:extLst xmlns:a="http://schemas.openxmlformats.org/drawingml/2006/main">
              <a:ext uri="{FF2B5EF4-FFF2-40B4-BE49-F238E27FC236}">
                <a16:creationId xmlns:a16="http://schemas.microsoft.com/office/drawing/2014/main" id="{692445ED-3BB3-4479-9F1F-0202D8C4BAC9}"/>
              </a:ext>
            </a:extLst>
          </p:cNvPr>
          <p:cNvSpPr>
            <a:spLocks xmlns:a="http://schemas.openxmlformats.org/drawingml/2006/main" noGrp="1"/>
          </p:cNvSpPr>
          <p:nvPr/>
        </p:nvSpPr>
        <p:spPr>
          <a:xfrm xmlns:a="http://schemas.openxmlformats.org/drawingml/2006/main">
            <a:off x="704850" y="4724400"/>
            <a:ext cx="1809750"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E98A15"/>
                </a:solidFill>
              </a:defRPr>
            </a:pPr>
            <a:r>
              <a:rPr sz="1575" b="1">
                <a:solidFill>
                  <a:srgbClr val="E98A15"/>
                </a:solidFill>
              </a:rPr>
              <a:t>NVMe SSD</a:t>
            </a:r>
          </a:p>
        </p:txBody>
      </p:sp>
      <p:sp>
        <p:nvSpPr>
          <p:cNvPr id="45" name="">
            <a:extLst xmlns:a="http://schemas.openxmlformats.org/drawingml/2006/main">
              <a:ext uri="{FF2B5EF4-FFF2-40B4-BE49-F238E27FC236}">
                <a16:creationId xmlns:a16="http://schemas.microsoft.com/office/drawing/2014/main" id="{F4F5FF26-A82B-4F9A-96B9-8A595923CE5E}"/>
              </a:ext>
            </a:extLst>
          </p:cNvPr>
          <p:cNvSpPr>
            <a:spLocks xmlns:a="http://schemas.openxmlformats.org/drawingml/2006/main" noGrp="1"/>
          </p:cNvSpPr>
          <p:nvPr/>
        </p:nvSpPr>
        <p:spPr>
          <a:xfrm xmlns:a="http://schemas.openxmlformats.org/drawingml/2006/main">
            <a:off x="2609850" y="4648200"/>
            <a:ext cx="1666875" cy="1200150"/>
          </a:xfrm>
          <a:prstGeom xmlns:a="http://schemas.openxmlformats.org/drawingml/2006/main" prst="rect">
            <a:avLst/>
          </a:prstGeom>
          <a:solidFill xmlns:a="http://schemas.openxmlformats.org/drawingml/2006/main">
            <a:srgbClr val="FFFFFF"/>
          </a:solidFill>
          <a:ln xmlns:a="http://schemas.openxmlformats.org/drawingml/2006/main" w="11430">
            <a:solidFill>
              <a:srgbClr val="C8D3E0"/>
            </a:solidFill>
            <a:prstDash val="solid"/>
          </a:ln>
        </p:spPr>
      </p:sp>
      <p:sp>
        <p:nvSpPr>
          <p:cNvPr id="46" name="">
            <a:extLst xmlns:a="http://schemas.openxmlformats.org/drawingml/2006/main">
              <a:ext uri="{FF2B5EF4-FFF2-40B4-BE49-F238E27FC236}">
                <a16:creationId xmlns:a16="http://schemas.microsoft.com/office/drawing/2014/main" id="{5139EEFC-AA36-450C-9930-36E7B0BCF8C7}"/>
              </a:ext>
            </a:extLst>
          </p:cNvPr>
          <p:cNvSpPr>
            <a:spLocks xmlns:a="http://schemas.openxmlformats.org/drawingml/2006/main" noGrp="1"/>
          </p:cNvSpPr>
          <p:nvPr/>
        </p:nvSpPr>
        <p:spPr>
          <a:xfrm xmlns:a="http://schemas.openxmlformats.org/drawingml/2006/main">
            <a:off x="2705100" y="4724400"/>
            <a:ext cx="1476375"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0">
                <a:solidFill>
                  <a:srgbClr val="0A1628"/>
                </a:solidFill>
              </a:defRPr>
            </a:pPr>
            <a:r>
              <a:rPr sz="1575" b="0">
                <a:solidFill>
                  <a:srgbClr val="0A1628"/>
                </a:solidFill>
              </a:rPr>
              <a:t>TBs per drive</a:t>
            </a:r>
          </a:p>
        </p:txBody>
      </p:sp>
      <p:sp>
        <p:nvSpPr>
          <p:cNvPr id="47" name="">
            <a:extLst xmlns:a="http://schemas.openxmlformats.org/drawingml/2006/main">
              <a:ext uri="{FF2B5EF4-FFF2-40B4-BE49-F238E27FC236}">
                <a16:creationId xmlns:a16="http://schemas.microsoft.com/office/drawing/2014/main" id="{45128B62-F728-41D1-BF4A-A799A482F4B6}"/>
              </a:ext>
            </a:extLst>
          </p:cNvPr>
          <p:cNvSpPr>
            <a:spLocks xmlns:a="http://schemas.openxmlformats.org/drawingml/2006/main" noGrp="1"/>
          </p:cNvSpPr>
          <p:nvPr/>
        </p:nvSpPr>
        <p:spPr>
          <a:xfrm xmlns:a="http://schemas.openxmlformats.org/drawingml/2006/main">
            <a:off x="4276725" y="4648200"/>
            <a:ext cx="2476500" cy="1200150"/>
          </a:xfrm>
          <a:prstGeom xmlns:a="http://schemas.openxmlformats.org/drawingml/2006/main" prst="rect">
            <a:avLst/>
          </a:prstGeom>
          <a:solidFill xmlns:a="http://schemas.openxmlformats.org/drawingml/2006/main">
            <a:srgbClr val="FFFFFF"/>
          </a:solidFill>
          <a:ln xmlns:a="http://schemas.openxmlformats.org/drawingml/2006/main" w="11430">
            <a:solidFill>
              <a:srgbClr val="C8D3E0"/>
            </a:solidFill>
            <a:prstDash val="solid"/>
          </a:ln>
        </p:spPr>
      </p:sp>
      <p:sp>
        <p:nvSpPr>
          <p:cNvPr id="48" name="">
            <a:extLst xmlns:a="http://schemas.openxmlformats.org/drawingml/2006/main">
              <a:ext uri="{FF2B5EF4-FFF2-40B4-BE49-F238E27FC236}">
                <a16:creationId xmlns:a16="http://schemas.microsoft.com/office/drawing/2014/main" id="{698AFC3C-FD2C-4ED5-847F-5798B957A877}"/>
              </a:ext>
            </a:extLst>
          </p:cNvPr>
          <p:cNvSpPr>
            <a:spLocks xmlns:a="http://schemas.openxmlformats.org/drawingml/2006/main" noGrp="1"/>
          </p:cNvSpPr>
          <p:nvPr/>
        </p:nvSpPr>
        <p:spPr>
          <a:xfrm xmlns:a="http://schemas.openxmlformats.org/drawingml/2006/main">
            <a:off x="4371975" y="4724400"/>
            <a:ext cx="2286000"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0">
                <a:solidFill>
                  <a:srgbClr val="0A1628"/>
                </a:solidFill>
              </a:defRPr>
            </a:pPr>
            <a:r>
              <a:rPr sz="1575" b="0">
                <a:solidFill>
                  <a:srgbClr val="0A1628"/>
                </a:solidFill>
              </a:rPr>
              <a:t>GB/s class</a:t>
            </a:r>
          </a:p>
          <a:p xmlns:a="http://schemas.openxmlformats.org/drawingml/2006/main">
            <a:pPr algn="l">
              <a:defRPr sz="1575" b="0">
                <a:solidFill>
                  <a:srgbClr val="0A1628"/>
                </a:solidFill>
              </a:defRPr>
            </a:pPr>
            <a:r>
              <a:rPr sz="1575" b="0">
                <a:solidFill>
                  <a:srgbClr val="0A1628"/>
                </a:solidFill>
              </a:rPr>
              <a:t>E28: up to 14.5 GB/s</a:t>
            </a:r>
          </a:p>
        </p:txBody>
      </p:sp>
      <p:sp>
        <p:nvSpPr>
          <p:cNvPr id="49" name="">
            <a:extLst xmlns:a="http://schemas.openxmlformats.org/drawingml/2006/main">
              <a:ext uri="{FF2B5EF4-FFF2-40B4-BE49-F238E27FC236}">
                <a16:creationId xmlns:a16="http://schemas.microsoft.com/office/drawing/2014/main" id="{1847D7D8-A642-4C8D-B5B0-2B99941A116B}"/>
              </a:ext>
            </a:extLst>
          </p:cNvPr>
          <p:cNvSpPr>
            <a:spLocks xmlns:a="http://schemas.openxmlformats.org/drawingml/2006/main" noGrp="1"/>
          </p:cNvSpPr>
          <p:nvPr/>
        </p:nvSpPr>
        <p:spPr>
          <a:xfrm xmlns:a="http://schemas.openxmlformats.org/drawingml/2006/main">
            <a:off x="6753225" y="4648200"/>
            <a:ext cx="1524000" cy="1200150"/>
          </a:xfrm>
          <a:prstGeom xmlns:a="http://schemas.openxmlformats.org/drawingml/2006/main" prst="rect">
            <a:avLst/>
          </a:prstGeom>
          <a:solidFill xmlns:a="http://schemas.openxmlformats.org/drawingml/2006/main">
            <a:srgbClr val="FFFFFF"/>
          </a:solidFill>
          <a:ln xmlns:a="http://schemas.openxmlformats.org/drawingml/2006/main" w="11430">
            <a:solidFill>
              <a:srgbClr val="C8D3E0"/>
            </a:solidFill>
            <a:prstDash val="solid"/>
          </a:ln>
        </p:spPr>
      </p:sp>
      <p:sp>
        <p:nvSpPr>
          <p:cNvPr id="50" name="">
            <a:extLst xmlns:a="http://schemas.openxmlformats.org/drawingml/2006/main">
              <a:ext uri="{FF2B5EF4-FFF2-40B4-BE49-F238E27FC236}">
                <a16:creationId xmlns:a16="http://schemas.microsoft.com/office/drawing/2014/main" id="{C8342B8E-A08D-4173-9000-58CA8D860E15}"/>
              </a:ext>
            </a:extLst>
          </p:cNvPr>
          <p:cNvSpPr>
            <a:spLocks xmlns:a="http://schemas.openxmlformats.org/drawingml/2006/main" noGrp="1"/>
          </p:cNvSpPr>
          <p:nvPr/>
        </p:nvSpPr>
        <p:spPr>
          <a:xfrm xmlns:a="http://schemas.openxmlformats.org/drawingml/2006/main">
            <a:off x="6848475" y="4724400"/>
            <a:ext cx="1333500"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0">
                <a:solidFill>
                  <a:srgbClr val="0A1628"/>
                </a:solidFill>
              </a:defRPr>
            </a:pPr>
            <a:r>
              <a:rPr sz="1575" b="0">
                <a:solidFill>
                  <a:srgbClr val="0A1628"/>
                </a:solidFill>
              </a:rPr>
              <a:t>Highest</a:t>
            </a:r>
          </a:p>
        </p:txBody>
      </p:sp>
      <p:sp>
        <p:nvSpPr>
          <p:cNvPr id="51" name="">
            <a:extLst xmlns:a="http://schemas.openxmlformats.org/drawingml/2006/main">
              <a:ext uri="{FF2B5EF4-FFF2-40B4-BE49-F238E27FC236}">
                <a16:creationId xmlns:a16="http://schemas.microsoft.com/office/drawing/2014/main" id="{DBDAB9C0-DE15-44AC-B085-BB8015C45CB6}"/>
              </a:ext>
            </a:extLst>
          </p:cNvPr>
          <p:cNvSpPr>
            <a:spLocks xmlns:a="http://schemas.openxmlformats.org/drawingml/2006/main" noGrp="1"/>
          </p:cNvSpPr>
          <p:nvPr/>
        </p:nvSpPr>
        <p:spPr>
          <a:xfrm xmlns:a="http://schemas.openxmlformats.org/drawingml/2006/main">
            <a:off x="8277225" y="4648200"/>
            <a:ext cx="1666875" cy="1200150"/>
          </a:xfrm>
          <a:prstGeom xmlns:a="http://schemas.openxmlformats.org/drawingml/2006/main" prst="rect">
            <a:avLst/>
          </a:prstGeom>
          <a:solidFill xmlns:a="http://schemas.openxmlformats.org/drawingml/2006/main">
            <a:srgbClr val="FFFFFF"/>
          </a:solidFill>
          <a:ln xmlns:a="http://schemas.openxmlformats.org/drawingml/2006/main" w="11430">
            <a:solidFill>
              <a:srgbClr val="C8D3E0"/>
            </a:solidFill>
            <a:prstDash val="solid"/>
          </a:ln>
        </p:spPr>
      </p:sp>
      <p:sp>
        <p:nvSpPr>
          <p:cNvPr id="52" name="">
            <a:extLst xmlns:a="http://schemas.openxmlformats.org/drawingml/2006/main">
              <a:ext uri="{FF2B5EF4-FFF2-40B4-BE49-F238E27FC236}">
                <a16:creationId xmlns:a16="http://schemas.microsoft.com/office/drawing/2014/main" id="{2E69C9ED-0119-4A09-941E-68238C97874E}"/>
              </a:ext>
            </a:extLst>
          </p:cNvPr>
          <p:cNvSpPr>
            <a:spLocks xmlns:a="http://schemas.openxmlformats.org/drawingml/2006/main" noGrp="1"/>
          </p:cNvSpPr>
          <p:nvPr/>
        </p:nvSpPr>
        <p:spPr>
          <a:xfrm xmlns:a="http://schemas.openxmlformats.org/drawingml/2006/main">
            <a:off x="8372475" y="4724400"/>
            <a:ext cx="1476375"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0">
                <a:solidFill>
                  <a:srgbClr val="0A1628"/>
                </a:solidFill>
              </a:defRPr>
            </a:pPr>
            <a:r>
              <a:rPr sz="1575" b="0">
                <a:solidFill>
                  <a:srgbClr val="0A1628"/>
                </a:solidFill>
              </a:rPr>
              <a:t>Lowest</a:t>
            </a:r>
          </a:p>
        </p:txBody>
      </p:sp>
      <p:sp>
        <p:nvSpPr>
          <p:cNvPr id="53" name="">
            <a:extLst xmlns:a="http://schemas.openxmlformats.org/drawingml/2006/main">
              <a:ext uri="{FF2B5EF4-FFF2-40B4-BE49-F238E27FC236}">
                <a16:creationId xmlns:a16="http://schemas.microsoft.com/office/drawing/2014/main" id="{62A92827-DE6B-4415-9E42-560341A2DFF9}"/>
              </a:ext>
            </a:extLst>
          </p:cNvPr>
          <p:cNvSpPr>
            <a:spLocks xmlns:a="http://schemas.openxmlformats.org/drawingml/2006/main" noGrp="1"/>
          </p:cNvSpPr>
          <p:nvPr/>
        </p:nvSpPr>
        <p:spPr>
          <a:xfrm xmlns:a="http://schemas.openxmlformats.org/drawingml/2006/main">
            <a:off x="9944100" y="4648200"/>
            <a:ext cx="1619250" cy="1200150"/>
          </a:xfrm>
          <a:prstGeom xmlns:a="http://schemas.openxmlformats.org/drawingml/2006/main" prst="rect">
            <a:avLst/>
          </a:prstGeom>
          <a:solidFill xmlns:a="http://schemas.openxmlformats.org/drawingml/2006/main">
            <a:srgbClr val="FFFFFF"/>
          </a:solidFill>
          <a:ln xmlns:a="http://schemas.openxmlformats.org/drawingml/2006/main" w="11430">
            <a:solidFill>
              <a:srgbClr val="C8D3E0"/>
            </a:solidFill>
            <a:prstDash val="solid"/>
          </a:ln>
        </p:spPr>
      </p:sp>
      <p:sp>
        <p:nvSpPr>
          <p:cNvPr id="54" name="">
            <a:extLst xmlns:a="http://schemas.openxmlformats.org/drawingml/2006/main">
              <a:ext uri="{FF2B5EF4-FFF2-40B4-BE49-F238E27FC236}">
                <a16:creationId xmlns:a16="http://schemas.microsoft.com/office/drawing/2014/main" id="{A813F3F7-E4C4-4712-9275-807345CEAFE4}"/>
              </a:ext>
            </a:extLst>
          </p:cNvPr>
          <p:cNvSpPr>
            <a:spLocks xmlns:a="http://schemas.openxmlformats.org/drawingml/2006/main" noGrp="1"/>
          </p:cNvSpPr>
          <p:nvPr/>
        </p:nvSpPr>
        <p:spPr>
          <a:xfrm xmlns:a="http://schemas.openxmlformats.org/drawingml/2006/main">
            <a:off x="10039350" y="4724400"/>
            <a:ext cx="1428750"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0">
                <a:solidFill>
                  <a:srgbClr val="0A1628"/>
                </a:solidFill>
              </a:defRPr>
            </a:pPr>
            <a:r>
              <a:rPr sz="1575" b="0">
                <a:solidFill>
                  <a:srgbClr val="0A1628"/>
                </a:solidFill>
              </a:rPr>
              <a:t>Yes</a:t>
            </a:r>
          </a:p>
        </p:txBody>
      </p:sp>
      <p:sp>
        <p:nvSpPr>
          <p:cNvPr id="55" name="">
            <a:extLst xmlns:a="http://schemas.openxmlformats.org/drawingml/2006/main">
              <a:ext uri="{FF2B5EF4-FFF2-40B4-BE49-F238E27FC236}">
                <a16:creationId xmlns:a16="http://schemas.microsoft.com/office/drawing/2014/main" id="{98E8C225-80BA-4C21-95D1-7F620536B012}"/>
              </a:ext>
            </a:extLst>
          </p:cNvPr>
          <p:cNvSpPr>
            <a:spLocks xmlns:a="http://schemas.openxmlformats.org/drawingml/2006/main" noGrp="1"/>
          </p:cNvSpPr>
          <p:nvPr/>
        </p:nvSpPr>
        <p:spPr>
          <a:xfrm xmlns:a="http://schemas.openxmlformats.org/drawingml/2006/main">
            <a:off x="609600" y="5581650"/>
            <a:ext cx="10953750" cy="685800"/>
          </a:xfrm>
          <a:prstGeom xmlns:a="http://schemas.openxmlformats.org/drawingml/2006/main" prst="roundRect">
            <a:avLst>
              <a:gd name="adj" fmla="val 13889"/>
            </a:avLst>
          </a:prstGeom>
          <a:solidFill xmlns:a="http://schemas.openxmlformats.org/drawingml/2006/main">
            <a:srgbClr val="10253F"/>
          </a:solidFill>
          <a:ln xmlns:a="http://schemas.openxmlformats.org/drawingml/2006/main" w="11430">
            <a:solidFill>
              <a:srgbClr val="10253F"/>
            </a:solidFill>
            <a:prstDash val="solid"/>
          </a:ln>
        </p:spPr>
      </p:sp>
      <p:sp>
        <p:nvSpPr>
          <p:cNvPr id="56" name="">
            <a:extLst xmlns:a="http://schemas.openxmlformats.org/drawingml/2006/main">
              <a:ext uri="{FF2B5EF4-FFF2-40B4-BE49-F238E27FC236}">
                <a16:creationId xmlns:a16="http://schemas.microsoft.com/office/drawing/2014/main" id="{1E1FB7C2-3E53-4F77-B967-9D336191E4C6}"/>
              </a:ext>
            </a:extLst>
          </p:cNvPr>
          <p:cNvSpPr>
            <a:spLocks xmlns:a="http://schemas.openxmlformats.org/drawingml/2006/main" noGrp="1"/>
          </p:cNvSpPr>
          <p:nvPr/>
        </p:nvSpPr>
        <p:spPr>
          <a:xfrm xmlns:a="http://schemas.openxmlformats.org/drawingml/2006/main">
            <a:off x="819150" y="5753100"/>
            <a:ext cx="171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FFFFFF"/>
                </a:solidFill>
              </a:defRPr>
            </a:pPr>
            <a:r>
              <a:rPr sz="1650" b="1">
                <a:solidFill>
                  <a:srgbClr val="FFFFFF"/>
                </a:solidFill>
              </a:rPr>
              <a:t>Why LLMs spill</a:t>
            </a:r>
          </a:p>
        </p:txBody>
      </p:sp>
      <p:sp>
        <p:nvSpPr>
          <p:cNvPr id="57" name="">
            <a:extLst xmlns:a="http://schemas.openxmlformats.org/drawingml/2006/main">
              <a:ext uri="{FF2B5EF4-FFF2-40B4-BE49-F238E27FC236}">
                <a16:creationId xmlns:a16="http://schemas.microsoft.com/office/drawing/2014/main" id="{91840285-589D-4A0E-8236-9DFFCFB6359F}"/>
              </a:ext>
            </a:extLst>
          </p:cNvPr>
          <p:cNvSpPr>
            <a:spLocks xmlns:a="http://schemas.openxmlformats.org/drawingml/2006/main" noGrp="1"/>
          </p:cNvSpPr>
          <p:nvPr/>
        </p:nvSpPr>
        <p:spPr>
          <a:xfrm xmlns:a="http://schemas.openxmlformats.org/drawingml/2006/main">
            <a:off x="2609850" y="5724525"/>
            <a:ext cx="8667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FFFFFF"/>
                </a:solidFill>
              </a:defRPr>
            </a:pPr>
            <a:r>
              <a:rPr sz="1650" b="0">
                <a:solidFill>
                  <a:srgbClr val="FFFFFF"/>
                </a:solidFill>
              </a:rPr>
              <a:t>weights + growing KV cache + activations + gradients + optimizer state + checkpoints can exceed the fast tier</a:t>
            </a:r>
          </a:p>
        </p:txBody>
      </p:sp>
    </p:spTree>
    <p:extLst>
      <p:ext uri="{BB962C8B-B14F-4D97-AF65-F5344CB8AC3E}">
        <p14:creationId xmlns:p14="http://schemas.microsoft.com/office/powerpoint/2010/main" val="923389704"/>
      </p:ext>
    </p:extLst>
  </p:cSld>
</p:sld>
</file>

<file path=ppt/slides/slide3.xml><?xml version="1.0" encoding="utf-8"?>
<p:sld xmlns:p="http://schemas.openxmlformats.org/presentationml/2006/main">
  <p:cSld>
    <p:bg>
      <p:bgPr>
        <a:solidFill xmlns:a="http://schemas.openxmlformats.org/drawingml/2006/main">
          <a:srgbClr val="F4F7FB"/>
        </a:solidFill>
      </p:bgPr>
    </p:bg>
    <p:spTree>
      <p:nvGrpSpPr>
        <p:cNvPr id="1" name=""/>
        <p:cNvGrpSpPr/>
        <p:nvPr/>
      </p:nvGrpSpPr>
      <p:grpSpPr>
        <a:xfrm xmlns:a="http://schemas.openxmlformats.org/drawingml/2006/main"/>
      </p:grpSpPr>
      <p:sp>
        <p:nvSpPr>
          <p:cNvPr id="38" name="">
            <a:extLst xmlns:a="http://schemas.openxmlformats.org/drawingml/2006/main">
              <a:ext uri="{FF2B5EF4-FFF2-40B4-BE49-F238E27FC236}">
                <a16:creationId xmlns:a16="http://schemas.microsoft.com/office/drawing/2014/main" id="{2EB7E761-DF3D-43E0-9FD5-099EE742EC6A}"/>
              </a:ext>
            </a:extLst>
          </p:cNvPr>
          <p:cNvSpPr>
            <a:spLocks xmlns:a="http://schemas.openxmlformats.org/drawingml/2006/main" noGrp="1"/>
          </p:cNvSpPr>
          <p:nvPr/>
        </p:nvSpPr>
        <p:spPr>
          <a:xfrm xmlns:a="http://schemas.openxmlformats.org/drawingml/2006/main">
            <a:off x="609600" y="257175"/>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2B6DE9"/>
                </a:solidFill>
              </a:defRPr>
            </a:pPr>
            <a:r>
              <a:rPr sz="1050" b="1">
                <a:solidFill>
                  <a:srgbClr val="2B6DE9"/>
                </a:solidFill>
              </a:rPr>
              <a:t>AIDAPTIV SYSTEM ARCHITECTURE</a:t>
            </a:r>
          </a:p>
        </p:txBody>
      </p:sp>
      <p:sp>
        <p:nvSpPr>
          <p:cNvPr id="2" name="">
            <a:extLst xmlns:a="http://schemas.openxmlformats.org/drawingml/2006/main">
              <a:ext uri="{FF2B5EF4-FFF2-40B4-BE49-F238E27FC236}">
                <a16:creationId xmlns:a16="http://schemas.microsoft.com/office/drawing/2014/main" id="{B9069EFE-2FD4-480B-9555-4CFA3E6AAD01}"/>
              </a:ext>
            </a:extLst>
          </p:cNvPr>
          <p:cNvSpPr>
            <a:spLocks xmlns:a="http://schemas.openxmlformats.org/drawingml/2006/main" noGrp="1"/>
          </p:cNvSpPr>
          <p:nvPr/>
        </p:nvSpPr>
        <p:spPr>
          <a:xfrm xmlns:a="http://schemas.openxmlformats.org/drawingml/2006/main">
            <a:off x="11191875" y="219075"/>
            <a:ext cx="476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200" b="1">
                <a:solidFill>
                  <a:srgbClr val="53657A"/>
                </a:solidFill>
              </a:defRPr>
            </a:pPr>
            <a:r>
              <a:rPr sz="1200" b="1">
                <a:solidFill>
                  <a:srgbClr val="53657A"/>
                </a:solidFill>
              </a:rPr>
              <a:t>03</a:t>
            </a:r>
          </a:p>
        </p:txBody>
      </p:sp>
      <p:sp>
        <p:nvSpPr>
          <p:cNvPr id="3" name="">
            <a:extLst xmlns:a="http://schemas.openxmlformats.org/drawingml/2006/main">
              <a:ext uri="{FF2B5EF4-FFF2-40B4-BE49-F238E27FC236}">
                <a16:creationId xmlns:a16="http://schemas.microsoft.com/office/drawing/2014/main" id="{23878930-AEE2-4F34-A886-5377DF400BB9}"/>
              </a:ext>
            </a:extLst>
          </p:cNvPr>
          <p:cNvSpPr>
            <a:spLocks xmlns:a="http://schemas.openxmlformats.org/drawingml/2006/main" noGrp="1"/>
          </p:cNvSpPr>
          <p:nvPr/>
        </p:nvSpPr>
        <p:spPr>
          <a:xfrm xmlns:a="http://schemas.openxmlformats.org/drawingml/2006/main">
            <a:off x="609600" y="552450"/>
            <a:ext cx="109061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600" b="1">
                <a:solidFill>
                  <a:srgbClr val="0A1628"/>
                </a:solidFill>
              </a:defRPr>
            </a:pPr>
            <a:r>
              <a:rPr sz="3600" b="1">
                <a:solidFill>
                  <a:srgbClr val="0A1628"/>
                </a:solidFill>
              </a:rPr>
              <a:t>aiDAPTIV manages a three-tier working set</a:t>
            </a:r>
          </a:p>
        </p:txBody>
      </p:sp>
      <p:sp>
        <p:nvSpPr>
          <p:cNvPr id="4" name="">
            <a:extLst xmlns:a="http://schemas.openxmlformats.org/drawingml/2006/main">
              <a:ext uri="{FF2B5EF4-FFF2-40B4-BE49-F238E27FC236}">
                <a16:creationId xmlns:a16="http://schemas.microsoft.com/office/drawing/2014/main" id="{0B72BC88-7846-4D92-9ACA-E9EBEE1C4358}"/>
              </a:ext>
            </a:extLst>
          </p:cNvPr>
          <p:cNvSpPr>
            <a:spLocks xmlns:a="http://schemas.openxmlformats.org/drawingml/2006/main" noGrp="1"/>
          </p:cNvSpPr>
          <p:nvPr/>
        </p:nvSpPr>
        <p:spPr>
          <a:xfrm xmlns:a="http://schemas.openxmlformats.org/drawingml/2006/main">
            <a:off x="609600" y="1200150"/>
            <a:ext cx="10972800" cy="0"/>
          </a:xfrm>
          <a:prstGeom xmlns:a="http://schemas.openxmlformats.org/drawingml/2006/main" prst="line">
            <a:avLst/>
          </a:prstGeom>
          <a:noFill xmlns:a="http://schemas.openxmlformats.org/drawingml/2006/main"/>
          <a:ln xmlns:a="http://schemas.openxmlformats.org/drawingml/2006/main" w="11430">
            <a:solidFill>
              <a:srgbClr val="C8D3E0"/>
            </a:solidFill>
            <a:prstDash val="solid"/>
          </a:ln>
        </p:spPr>
      </p:sp>
      <p:sp>
        <p:nvSpPr>
          <p:cNvPr id="5" name="">
            <a:extLst xmlns:a="http://schemas.openxmlformats.org/drawingml/2006/main">
              <a:ext uri="{FF2B5EF4-FFF2-40B4-BE49-F238E27FC236}">
                <a16:creationId xmlns:a16="http://schemas.microsoft.com/office/drawing/2014/main" id="{FDA62342-D47B-4B9B-B4EF-68A64182986D}"/>
              </a:ext>
            </a:extLst>
          </p:cNvPr>
          <p:cNvSpPr>
            <a:spLocks xmlns:a="http://schemas.openxmlformats.org/drawingml/2006/main" noGrp="1"/>
          </p:cNvSpPr>
          <p:nvPr/>
        </p:nvSpPr>
        <p:spPr>
          <a:xfrm xmlns:a="http://schemas.openxmlformats.org/drawingml/2006/main">
            <a:off x="609600" y="6543675"/>
            <a:ext cx="10096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7B8796"/>
                </a:solidFill>
              </a:defRPr>
            </a:pPr>
            <a:r>
              <a:rPr sz="900" b="0">
                <a:solidFill>
                  <a:srgbClr val="7B8796"/>
                </a:solidFill>
              </a:rPr>
              <a:t>Phison aiDAPTIV technical architecture  •  Sources and claim boundaries in speaker notes</a:t>
            </a:r>
          </a:p>
        </p:txBody>
      </p:sp>
      <p:sp>
        <p:nvSpPr>
          <p:cNvPr id="6" name="">
            <a:extLst xmlns:a="http://schemas.openxmlformats.org/drawingml/2006/main">
              <a:ext uri="{FF2B5EF4-FFF2-40B4-BE49-F238E27FC236}">
                <a16:creationId xmlns:a16="http://schemas.microsoft.com/office/drawing/2014/main" id="{823E3772-B572-4A97-80EB-A3BBDB6D9D6E}"/>
              </a:ext>
            </a:extLst>
          </p:cNvPr>
          <p:cNvSpPr>
            <a:spLocks xmlns:a="http://schemas.openxmlformats.org/drawingml/2006/main" noGrp="1"/>
          </p:cNvSpPr>
          <p:nvPr/>
        </p:nvSpPr>
        <p:spPr>
          <a:xfrm xmlns:a="http://schemas.openxmlformats.org/drawingml/2006/main">
            <a:off x="5105400" y="2276475"/>
            <a:ext cx="666750" cy="323850"/>
          </a:xfrm>
          <a:prstGeom xmlns:a="http://schemas.openxmlformats.org/drawingml/2006/main" prst="rightArrow">
            <a:avLst/>
          </a:prstGeom>
          <a:solidFill xmlns:a="http://schemas.openxmlformats.org/drawingml/2006/main">
            <a:srgbClr val="7157D9"/>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D708AD92-0E79-422D-8997-93721807AC3D}"/>
              </a:ext>
            </a:extLst>
          </p:cNvPr>
          <p:cNvSpPr>
            <a:spLocks xmlns:a="http://schemas.openxmlformats.org/drawingml/2006/main" noGrp="1"/>
          </p:cNvSpPr>
          <p:nvPr/>
        </p:nvSpPr>
        <p:spPr>
          <a:xfrm xmlns:a="http://schemas.openxmlformats.org/drawingml/2006/main">
            <a:off x="5105400" y="3638550"/>
            <a:ext cx="666750" cy="323850"/>
          </a:xfrm>
          <a:prstGeom xmlns:a="http://schemas.openxmlformats.org/drawingml/2006/main" prst="rightArrow">
            <a:avLst/>
          </a:prstGeom>
          <a:solidFill xmlns:a="http://schemas.openxmlformats.org/drawingml/2006/main">
            <a:srgbClr val="0A9DB5"/>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6D277A14-DA1A-4862-8BC6-5F5BFF077FD2}"/>
              </a:ext>
            </a:extLst>
          </p:cNvPr>
          <p:cNvSpPr>
            <a:spLocks xmlns:a="http://schemas.openxmlformats.org/drawingml/2006/main" noGrp="1"/>
          </p:cNvSpPr>
          <p:nvPr/>
        </p:nvSpPr>
        <p:spPr>
          <a:xfrm xmlns:a="http://schemas.openxmlformats.org/drawingml/2006/main">
            <a:off x="5105400" y="5000625"/>
            <a:ext cx="666750" cy="323850"/>
          </a:xfrm>
          <a:prstGeom xmlns:a="http://schemas.openxmlformats.org/drawingml/2006/main" prst="rightArrow">
            <a:avLst/>
          </a:prstGeom>
          <a:solidFill xmlns:a="http://schemas.openxmlformats.org/drawingml/2006/main">
            <a:srgbClr val="E98A15"/>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84292E7E-A99F-4412-BB84-44DD96540A1A}"/>
              </a:ext>
            </a:extLst>
          </p:cNvPr>
          <p:cNvSpPr>
            <a:spLocks xmlns:a="http://schemas.openxmlformats.org/drawingml/2006/main" noGrp="1"/>
          </p:cNvSpPr>
          <p:nvPr/>
        </p:nvSpPr>
        <p:spPr>
          <a:xfrm xmlns:a="http://schemas.openxmlformats.org/drawingml/2006/main">
            <a:off x="9525000" y="2914650"/>
            <a:ext cx="342900" cy="533400"/>
          </a:xfrm>
          <a:prstGeom xmlns:a="http://schemas.openxmlformats.org/drawingml/2006/main" prst="downArrow">
            <a:avLst/>
          </a:prstGeom>
          <a:solidFill xmlns:a="http://schemas.openxmlformats.org/drawingml/2006/main">
            <a:srgbClr val="2B6DE9"/>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84236C43-5F3D-4DCF-9A65-F46B17F60645}"/>
              </a:ext>
            </a:extLst>
          </p:cNvPr>
          <p:cNvSpPr>
            <a:spLocks xmlns:a="http://schemas.openxmlformats.org/drawingml/2006/main" noGrp="1"/>
          </p:cNvSpPr>
          <p:nvPr/>
        </p:nvSpPr>
        <p:spPr>
          <a:xfrm xmlns:a="http://schemas.openxmlformats.org/drawingml/2006/main">
            <a:off x="9525000" y="4276725"/>
            <a:ext cx="342900" cy="533400"/>
          </a:xfrm>
          <a:prstGeom xmlns:a="http://schemas.openxmlformats.org/drawingml/2006/main" prst="downArrow">
            <a:avLst/>
          </a:prstGeom>
          <a:solidFill xmlns:a="http://schemas.openxmlformats.org/drawingml/2006/main">
            <a:srgbClr val="2B6DE9"/>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6287B01B-F57E-4C01-8211-7526356AFCA7}"/>
              </a:ext>
            </a:extLst>
          </p:cNvPr>
          <p:cNvSpPr>
            <a:spLocks xmlns:a="http://schemas.openxmlformats.org/drawingml/2006/main" noGrp="1"/>
          </p:cNvSpPr>
          <p:nvPr/>
        </p:nvSpPr>
        <p:spPr>
          <a:xfrm xmlns:a="http://schemas.openxmlformats.org/drawingml/2006/main">
            <a:off x="609600" y="1571625"/>
            <a:ext cx="4476750" cy="4114800"/>
          </a:xfrm>
          <a:prstGeom xmlns:a="http://schemas.openxmlformats.org/drawingml/2006/main" prst="roundRect">
            <a:avLst>
              <a:gd name="adj" fmla="val 3241"/>
            </a:avLst>
          </a:prstGeom>
          <a:solidFill xmlns:a="http://schemas.openxmlformats.org/drawingml/2006/main">
            <a:srgbClr val="FFFFFF"/>
          </a:solidFill>
          <a:ln xmlns:a="http://schemas.openxmlformats.org/drawingml/2006/main" w="11430">
            <a:solidFill>
              <a:srgbClr val="C8D3E0"/>
            </a:solidFill>
            <a:prstDash val="solid"/>
          </a:ln>
        </p:spPr>
      </p:sp>
      <p:sp>
        <p:nvSpPr>
          <p:cNvPr id="12" name="">
            <a:extLst xmlns:a="http://schemas.openxmlformats.org/drawingml/2006/main">
              <a:ext uri="{FF2B5EF4-FFF2-40B4-BE49-F238E27FC236}">
                <a16:creationId xmlns:a16="http://schemas.microsoft.com/office/drawing/2014/main" id="{1FB96795-2A96-4BAE-892B-321AAD3251EE}"/>
              </a:ext>
            </a:extLst>
          </p:cNvPr>
          <p:cNvSpPr>
            <a:spLocks xmlns:a="http://schemas.openxmlformats.org/drawingml/2006/main" noGrp="1"/>
          </p:cNvSpPr>
          <p:nvPr/>
        </p:nvSpPr>
        <p:spPr>
          <a:xfrm xmlns:a="http://schemas.openxmlformats.org/drawingml/2006/main">
            <a:off x="876300" y="1781175"/>
            <a:ext cx="47625" cy="228600"/>
          </a:xfrm>
          <a:prstGeom xmlns:a="http://schemas.openxmlformats.org/drawingml/2006/main" prst="rect">
            <a:avLst/>
          </a:prstGeom>
          <a:solidFill xmlns:a="http://schemas.openxmlformats.org/drawingml/2006/main">
            <a:srgbClr val="09866A"/>
          </a:solidFill>
          <a:ln xmlns:a="http://schemas.openxmlformats.org/drawingml/2006/main" w="11430">
            <a:solidFill>
              <a:srgbClr val="09866A"/>
            </a:solidFill>
            <a:prstDash val="solid"/>
          </a:ln>
        </p:spPr>
      </p:sp>
      <p:sp>
        <p:nvSpPr>
          <p:cNvPr id="13" name="">
            <a:extLst xmlns:a="http://schemas.openxmlformats.org/drawingml/2006/main">
              <a:ext uri="{FF2B5EF4-FFF2-40B4-BE49-F238E27FC236}">
                <a16:creationId xmlns:a16="http://schemas.microsoft.com/office/drawing/2014/main" id="{45A852D2-BAA1-4376-AA41-C3509A14ECF8}"/>
              </a:ext>
            </a:extLst>
          </p:cNvPr>
          <p:cNvSpPr>
            <a:spLocks xmlns:a="http://schemas.openxmlformats.org/drawingml/2006/main" noGrp="1"/>
          </p:cNvSpPr>
          <p:nvPr/>
        </p:nvSpPr>
        <p:spPr>
          <a:xfrm xmlns:a="http://schemas.openxmlformats.org/drawingml/2006/main">
            <a:off x="1009650" y="1762125"/>
            <a:ext cx="19621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09866A"/>
                </a:solidFill>
              </a:defRPr>
            </a:pPr>
            <a:r>
              <a:rPr sz="1050" b="1">
                <a:solidFill>
                  <a:srgbClr val="09866A"/>
                </a:solidFill>
              </a:rPr>
              <a:t>CONFIRMED BY PHISON</a:t>
            </a:r>
          </a:p>
        </p:txBody>
      </p:sp>
      <p:sp>
        <p:nvSpPr>
          <p:cNvPr id="14" name="">
            <a:extLst xmlns:a="http://schemas.openxmlformats.org/drawingml/2006/main">
              <a:ext uri="{FF2B5EF4-FFF2-40B4-BE49-F238E27FC236}">
                <a16:creationId xmlns:a16="http://schemas.microsoft.com/office/drawing/2014/main" id="{BC4F32D2-69D2-49EC-AD4B-16F309EF6965}"/>
              </a:ext>
            </a:extLst>
          </p:cNvPr>
          <p:cNvSpPr>
            <a:spLocks xmlns:a="http://schemas.openxmlformats.org/drawingml/2006/main" noGrp="1"/>
          </p:cNvSpPr>
          <p:nvPr/>
        </p:nvSpPr>
        <p:spPr>
          <a:xfrm xmlns:a="http://schemas.openxmlformats.org/drawingml/2006/main">
            <a:off x="876300" y="2238375"/>
            <a:ext cx="76200" cy="76200"/>
          </a:xfrm>
          <a:prstGeom xmlns:a="http://schemas.openxmlformats.org/drawingml/2006/main" prst="roundRect">
            <a:avLst>
              <a:gd name="adj" fmla="val 50000"/>
            </a:avLst>
          </a:prstGeom>
          <a:solidFill xmlns:a="http://schemas.openxmlformats.org/drawingml/2006/main">
            <a:srgbClr val="2B6DE9"/>
          </a:solidFill>
          <a:ln xmlns:a="http://schemas.openxmlformats.org/drawingml/2006/main" w="11430">
            <a:solidFill>
              <a:srgbClr val="2B6DE9"/>
            </a:solidFill>
            <a:prstDash val="solid"/>
          </a:ln>
        </p:spPr>
      </p:sp>
      <p:sp>
        <p:nvSpPr>
          <p:cNvPr id="15" name="">
            <a:extLst xmlns:a="http://schemas.openxmlformats.org/drawingml/2006/main">
              <a:ext uri="{FF2B5EF4-FFF2-40B4-BE49-F238E27FC236}">
                <a16:creationId xmlns:a16="http://schemas.microsoft.com/office/drawing/2014/main" id="{82242E34-E7E7-413B-A64F-A01229447314}"/>
              </a:ext>
            </a:extLst>
          </p:cNvPr>
          <p:cNvSpPr>
            <a:spLocks xmlns:a="http://schemas.openxmlformats.org/drawingml/2006/main" noGrp="1"/>
          </p:cNvSpPr>
          <p:nvPr/>
        </p:nvSpPr>
        <p:spPr>
          <a:xfrm xmlns:a="http://schemas.openxmlformats.org/drawingml/2006/main">
            <a:off x="1085850" y="2152650"/>
            <a:ext cx="36957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0">
                <a:solidFill>
                  <a:srgbClr val="0A1628"/>
                </a:solidFill>
              </a:defRPr>
            </a:pPr>
            <a:r>
              <a:rPr sz="1575" b="0">
                <a:solidFill>
                  <a:srgbClr val="0A1628"/>
                </a:solidFill>
              </a:rPr>
              <a:t>aiDAPTIV Middleware orchestrates AI data across GPU, DRAM, and flash.</a:t>
            </a:r>
          </a:p>
        </p:txBody>
      </p:sp>
      <p:sp>
        <p:nvSpPr>
          <p:cNvPr id="16" name="">
            <a:extLst xmlns:a="http://schemas.openxmlformats.org/drawingml/2006/main">
              <a:ext uri="{FF2B5EF4-FFF2-40B4-BE49-F238E27FC236}">
                <a16:creationId xmlns:a16="http://schemas.microsoft.com/office/drawing/2014/main" id="{8A30C9F2-764A-4823-B3DB-316CE84EFFAB}"/>
              </a:ext>
            </a:extLst>
          </p:cNvPr>
          <p:cNvSpPr>
            <a:spLocks xmlns:a="http://schemas.openxmlformats.org/drawingml/2006/main" noGrp="1"/>
          </p:cNvSpPr>
          <p:nvPr/>
        </p:nvSpPr>
        <p:spPr>
          <a:xfrm xmlns:a="http://schemas.openxmlformats.org/drawingml/2006/main">
            <a:off x="876300" y="3019425"/>
            <a:ext cx="76200" cy="76200"/>
          </a:xfrm>
          <a:prstGeom xmlns:a="http://schemas.openxmlformats.org/drawingml/2006/main" prst="roundRect">
            <a:avLst>
              <a:gd name="adj" fmla="val 50000"/>
            </a:avLst>
          </a:prstGeom>
          <a:solidFill xmlns:a="http://schemas.openxmlformats.org/drawingml/2006/main">
            <a:srgbClr val="2B6DE9"/>
          </a:solidFill>
          <a:ln xmlns:a="http://schemas.openxmlformats.org/drawingml/2006/main" w="11430">
            <a:solidFill>
              <a:srgbClr val="2B6DE9"/>
            </a:solidFill>
            <a:prstDash val="solid"/>
          </a:ln>
        </p:spPr>
      </p:sp>
      <p:sp>
        <p:nvSpPr>
          <p:cNvPr id="17" name="">
            <a:extLst xmlns:a="http://schemas.openxmlformats.org/drawingml/2006/main">
              <a:ext uri="{FF2B5EF4-FFF2-40B4-BE49-F238E27FC236}">
                <a16:creationId xmlns:a16="http://schemas.microsoft.com/office/drawing/2014/main" id="{1A50A2E9-A504-492B-B626-CCC54A759502}"/>
              </a:ext>
            </a:extLst>
          </p:cNvPr>
          <p:cNvSpPr>
            <a:spLocks xmlns:a="http://schemas.openxmlformats.org/drawingml/2006/main" noGrp="1"/>
          </p:cNvSpPr>
          <p:nvPr/>
        </p:nvSpPr>
        <p:spPr>
          <a:xfrm xmlns:a="http://schemas.openxmlformats.org/drawingml/2006/main">
            <a:off x="1085850" y="2933700"/>
            <a:ext cx="36957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0">
                <a:solidFill>
                  <a:srgbClr val="0A1628"/>
                </a:solidFill>
              </a:defRPr>
            </a:pPr>
            <a:r>
              <a:rPr sz="1575" b="0">
                <a:solidFill>
                  <a:srgbClr val="0A1628"/>
                </a:solidFill>
              </a:rPr>
              <a:t>Cache Memory retains eligible less-active KV, experts, model, or training state.</a:t>
            </a:r>
          </a:p>
        </p:txBody>
      </p:sp>
      <p:sp>
        <p:nvSpPr>
          <p:cNvPr id="18" name="">
            <a:extLst xmlns:a="http://schemas.openxmlformats.org/drawingml/2006/main">
              <a:ext uri="{FF2B5EF4-FFF2-40B4-BE49-F238E27FC236}">
                <a16:creationId xmlns:a16="http://schemas.microsoft.com/office/drawing/2014/main" id="{B422C35B-75F2-4C5D-AD0D-40EC37D91B3F}"/>
              </a:ext>
            </a:extLst>
          </p:cNvPr>
          <p:cNvSpPr>
            <a:spLocks xmlns:a="http://schemas.openxmlformats.org/drawingml/2006/main" noGrp="1"/>
          </p:cNvSpPr>
          <p:nvPr/>
        </p:nvSpPr>
        <p:spPr>
          <a:xfrm xmlns:a="http://schemas.openxmlformats.org/drawingml/2006/main">
            <a:off x="876300" y="3800475"/>
            <a:ext cx="76200" cy="76200"/>
          </a:xfrm>
          <a:prstGeom xmlns:a="http://schemas.openxmlformats.org/drawingml/2006/main" prst="roundRect">
            <a:avLst>
              <a:gd name="adj" fmla="val 50000"/>
            </a:avLst>
          </a:prstGeom>
          <a:solidFill xmlns:a="http://schemas.openxmlformats.org/drawingml/2006/main">
            <a:srgbClr val="2B6DE9"/>
          </a:solidFill>
          <a:ln xmlns:a="http://schemas.openxmlformats.org/drawingml/2006/main" w="11430">
            <a:solidFill>
              <a:srgbClr val="2B6DE9"/>
            </a:solidFill>
            <a:prstDash val="solid"/>
          </a:ln>
        </p:spPr>
      </p:sp>
      <p:sp>
        <p:nvSpPr>
          <p:cNvPr id="19" name="">
            <a:extLst xmlns:a="http://schemas.openxmlformats.org/drawingml/2006/main">
              <a:ext uri="{FF2B5EF4-FFF2-40B4-BE49-F238E27FC236}">
                <a16:creationId xmlns:a16="http://schemas.microsoft.com/office/drawing/2014/main" id="{B3580F40-14EA-4E8D-BADB-F847EEB2F3E8}"/>
              </a:ext>
            </a:extLst>
          </p:cNvPr>
          <p:cNvSpPr>
            <a:spLocks xmlns:a="http://schemas.openxmlformats.org/drawingml/2006/main" noGrp="1"/>
          </p:cNvSpPr>
          <p:nvPr/>
        </p:nvSpPr>
        <p:spPr>
          <a:xfrm xmlns:a="http://schemas.openxmlformats.org/drawingml/2006/main">
            <a:off x="1085850" y="3714750"/>
            <a:ext cx="36957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0">
                <a:solidFill>
                  <a:srgbClr val="0A1628"/>
                </a:solidFill>
              </a:defRPr>
            </a:pPr>
            <a:r>
              <a:rPr sz="1575" b="0">
                <a:solidFill>
                  <a:srgbClr val="0A1628"/>
                </a:solidFill>
              </a:rPr>
              <a:t>Discrete-GPU and unified-memory system patterns are supported where integrated.</a:t>
            </a:r>
          </a:p>
        </p:txBody>
      </p:sp>
      <p:sp>
        <p:nvSpPr>
          <p:cNvPr id="20" name="">
            <a:extLst xmlns:a="http://schemas.openxmlformats.org/drawingml/2006/main">
              <a:ext uri="{FF2B5EF4-FFF2-40B4-BE49-F238E27FC236}">
                <a16:creationId xmlns:a16="http://schemas.microsoft.com/office/drawing/2014/main" id="{C20675B3-F7E6-4691-9301-67F0EA5133E7}"/>
              </a:ext>
            </a:extLst>
          </p:cNvPr>
          <p:cNvSpPr>
            <a:spLocks xmlns:a="http://schemas.openxmlformats.org/drawingml/2006/main" noGrp="1"/>
          </p:cNvSpPr>
          <p:nvPr/>
        </p:nvSpPr>
        <p:spPr>
          <a:xfrm xmlns:a="http://schemas.openxmlformats.org/drawingml/2006/main">
            <a:off x="876300" y="4581525"/>
            <a:ext cx="76200" cy="76200"/>
          </a:xfrm>
          <a:prstGeom xmlns:a="http://schemas.openxmlformats.org/drawingml/2006/main" prst="roundRect">
            <a:avLst>
              <a:gd name="adj" fmla="val 50000"/>
            </a:avLst>
          </a:prstGeom>
          <a:solidFill xmlns:a="http://schemas.openxmlformats.org/drawingml/2006/main">
            <a:srgbClr val="2B6DE9"/>
          </a:solidFill>
          <a:ln xmlns:a="http://schemas.openxmlformats.org/drawingml/2006/main" w="11430">
            <a:solidFill>
              <a:srgbClr val="2B6DE9"/>
            </a:solidFill>
            <a:prstDash val="solid"/>
          </a:ln>
        </p:spPr>
      </p:sp>
      <p:sp>
        <p:nvSpPr>
          <p:cNvPr id="21" name="">
            <a:extLst xmlns:a="http://schemas.openxmlformats.org/drawingml/2006/main">
              <a:ext uri="{FF2B5EF4-FFF2-40B4-BE49-F238E27FC236}">
                <a16:creationId xmlns:a16="http://schemas.microsoft.com/office/drawing/2014/main" id="{26000887-19AC-4C20-960A-722B27166F76}"/>
              </a:ext>
            </a:extLst>
          </p:cNvPr>
          <p:cNvSpPr>
            <a:spLocks xmlns:a="http://schemas.openxmlformats.org/drawingml/2006/main" noGrp="1"/>
          </p:cNvSpPr>
          <p:nvPr/>
        </p:nvSpPr>
        <p:spPr>
          <a:xfrm xmlns:a="http://schemas.openxmlformats.org/drawingml/2006/main">
            <a:off x="1085850" y="4495800"/>
            <a:ext cx="36957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0">
                <a:solidFill>
                  <a:srgbClr val="0A1628"/>
                </a:solidFill>
              </a:defRPr>
            </a:pPr>
            <a:r>
              <a:rPr sz="1575" b="0">
                <a:solidFill>
                  <a:srgbClr val="0A1628"/>
                </a:solidFill>
              </a:rPr>
              <a:t>Placement varies by runtime, model, sequence length, batch, and hardware.</a:t>
            </a:r>
          </a:p>
        </p:txBody>
      </p:sp>
      <p:sp>
        <p:nvSpPr>
          <p:cNvPr id="22" name="">
            <a:extLst xmlns:a="http://schemas.openxmlformats.org/drawingml/2006/main">
              <a:ext uri="{FF2B5EF4-FFF2-40B4-BE49-F238E27FC236}">
                <a16:creationId xmlns:a16="http://schemas.microsoft.com/office/drawing/2014/main" id="{88A37BF7-7B71-4004-8556-F59E69BFFB41}"/>
              </a:ext>
            </a:extLst>
          </p:cNvPr>
          <p:cNvSpPr>
            <a:spLocks xmlns:a="http://schemas.openxmlformats.org/drawingml/2006/main" noGrp="1"/>
          </p:cNvSpPr>
          <p:nvPr/>
        </p:nvSpPr>
        <p:spPr>
          <a:xfrm xmlns:a="http://schemas.openxmlformats.org/drawingml/2006/main">
            <a:off x="5810250" y="1847850"/>
            <a:ext cx="3619500" cy="971550"/>
          </a:xfrm>
          <a:prstGeom xmlns:a="http://schemas.openxmlformats.org/drawingml/2006/main" prst="roundRect">
            <a:avLst>
              <a:gd name="adj" fmla="val 11765"/>
            </a:avLst>
          </a:prstGeom>
          <a:solidFill xmlns:a="http://schemas.openxmlformats.org/drawingml/2006/main">
            <a:srgbClr val="EEEAFE"/>
          </a:solidFill>
          <a:ln xmlns:a="http://schemas.openxmlformats.org/drawingml/2006/main" w="11430">
            <a:solidFill>
              <a:srgbClr val="7157D9"/>
            </a:solidFill>
            <a:prstDash val="solid"/>
          </a:ln>
        </p:spPr>
      </p:sp>
      <p:sp>
        <p:nvSpPr>
          <p:cNvPr id="23" name="">
            <a:extLst xmlns:a="http://schemas.openxmlformats.org/drawingml/2006/main">
              <a:ext uri="{FF2B5EF4-FFF2-40B4-BE49-F238E27FC236}">
                <a16:creationId xmlns:a16="http://schemas.microsoft.com/office/drawing/2014/main" id="{56329A3F-5F81-4503-ACC5-95D60948945B}"/>
              </a:ext>
            </a:extLst>
          </p:cNvPr>
          <p:cNvSpPr>
            <a:spLocks xmlns:a="http://schemas.openxmlformats.org/drawingml/2006/main" noGrp="1"/>
          </p:cNvSpPr>
          <p:nvPr/>
        </p:nvSpPr>
        <p:spPr>
          <a:xfrm xmlns:a="http://schemas.openxmlformats.org/drawingml/2006/main">
            <a:off x="5981700" y="1971675"/>
            <a:ext cx="3276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75" b="1">
                <a:solidFill>
                  <a:srgbClr val="7157D9"/>
                </a:solidFill>
              </a:defRPr>
            </a:pPr>
            <a:r>
              <a:rPr sz="1875" b="1">
                <a:solidFill>
                  <a:srgbClr val="7157D9"/>
                </a:solidFill>
              </a:rPr>
              <a:t>GPU / unified memory</a:t>
            </a:r>
          </a:p>
        </p:txBody>
      </p:sp>
      <p:sp>
        <p:nvSpPr>
          <p:cNvPr id="24" name="">
            <a:extLst xmlns:a="http://schemas.openxmlformats.org/drawingml/2006/main">
              <a:ext uri="{FF2B5EF4-FFF2-40B4-BE49-F238E27FC236}">
                <a16:creationId xmlns:a16="http://schemas.microsoft.com/office/drawing/2014/main" id="{7C085CEF-2789-41BD-87D6-1A0C3F435BBF}"/>
              </a:ext>
            </a:extLst>
          </p:cNvPr>
          <p:cNvSpPr>
            <a:spLocks xmlns:a="http://schemas.openxmlformats.org/drawingml/2006/main" noGrp="1"/>
          </p:cNvSpPr>
          <p:nvPr/>
        </p:nvSpPr>
        <p:spPr>
          <a:xfrm xmlns:a="http://schemas.openxmlformats.org/drawingml/2006/main">
            <a:off x="5981700" y="2333625"/>
            <a:ext cx="32766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75" b="0">
                <a:solidFill>
                  <a:srgbClr val="53657A"/>
                </a:solidFill>
              </a:defRPr>
            </a:pPr>
            <a:r>
              <a:rPr sz="1275" b="0">
                <a:solidFill>
                  <a:srgbClr val="53657A"/>
                </a:solidFill>
              </a:rPr>
              <a:t>active layers • KV • experts</a:t>
            </a:r>
          </a:p>
        </p:txBody>
      </p:sp>
      <p:sp>
        <p:nvSpPr>
          <p:cNvPr id="25" name="">
            <a:extLst xmlns:a="http://schemas.openxmlformats.org/drawingml/2006/main">
              <a:ext uri="{FF2B5EF4-FFF2-40B4-BE49-F238E27FC236}">
                <a16:creationId xmlns:a16="http://schemas.microsoft.com/office/drawing/2014/main" id="{299A7868-73AF-4D8D-ADF4-C79963B31142}"/>
              </a:ext>
            </a:extLst>
          </p:cNvPr>
          <p:cNvSpPr>
            <a:spLocks xmlns:a="http://schemas.openxmlformats.org/drawingml/2006/main" noGrp="1"/>
          </p:cNvSpPr>
          <p:nvPr/>
        </p:nvSpPr>
        <p:spPr>
          <a:xfrm xmlns:a="http://schemas.openxmlformats.org/drawingml/2006/main">
            <a:off x="5810250" y="3209925"/>
            <a:ext cx="3619500" cy="971550"/>
          </a:xfrm>
          <a:prstGeom xmlns:a="http://schemas.openxmlformats.org/drawingml/2006/main" prst="roundRect">
            <a:avLst>
              <a:gd name="adj" fmla="val 11765"/>
            </a:avLst>
          </a:prstGeom>
          <a:solidFill xmlns:a="http://schemas.openxmlformats.org/drawingml/2006/main">
            <a:srgbClr val="E4F7FA"/>
          </a:solidFill>
          <a:ln xmlns:a="http://schemas.openxmlformats.org/drawingml/2006/main" w="11430">
            <a:solidFill>
              <a:srgbClr val="0A9DB5"/>
            </a:solidFill>
            <a:prstDash val="solid"/>
          </a:ln>
        </p:spPr>
      </p:sp>
      <p:sp>
        <p:nvSpPr>
          <p:cNvPr id="26" name="">
            <a:extLst xmlns:a="http://schemas.openxmlformats.org/drawingml/2006/main">
              <a:ext uri="{FF2B5EF4-FFF2-40B4-BE49-F238E27FC236}">
                <a16:creationId xmlns:a16="http://schemas.microsoft.com/office/drawing/2014/main" id="{23C0B765-58CF-46B8-B486-BCED559DE816}"/>
              </a:ext>
            </a:extLst>
          </p:cNvPr>
          <p:cNvSpPr>
            <a:spLocks xmlns:a="http://schemas.openxmlformats.org/drawingml/2006/main" noGrp="1"/>
          </p:cNvSpPr>
          <p:nvPr/>
        </p:nvSpPr>
        <p:spPr>
          <a:xfrm xmlns:a="http://schemas.openxmlformats.org/drawingml/2006/main">
            <a:off x="5981700" y="3333750"/>
            <a:ext cx="3276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950" b="1">
                <a:solidFill>
                  <a:srgbClr val="0A9DB5"/>
                </a:solidFill>
              </a:defRPr>
            </a:pPr>
            <a:r>
              <a:rPr sz="1950" b="1">
                <a:solidFill>
                  <a:srgbClr val="0A9DB5"/>
                </a:solidFill>
              </a:rPr>
              <a:t>System DRAM</a:t>
            </a:r>
          </a:p>
        </p:txBody>
      </p:sp>
      <p:sp>
        <p:nvSpPr>
          <p:cNvPr id="27" name="">
            <a:extLst xmlns:a="http://schemas.openxmlformats.org/drawingml/2006/main">
              <a:ext uri="{FF2B5EF4-FFF2-40B4-BE49-F238E27FC236}">
                <a16:creationId xmlns:a16="http://schemas.microsoft.com/office/drawing/2014/main" id="{AB127688-2D09-4263-B43E-50DF7AAC8924}"/>
              </a:ext>
            </a:extLst>
          </p:cNvPr>
          <p:cNvSpPr>
            <a:spLocks xmlns:a="http://schemas.openxmlformats.org/drawingml/2006/main" noGrp="1"/>
          </p:cNvSpPr>
          <p:nvPr/>
        </p:nvSpPr>
        <p:spPr>
          <a:xfrm xmlns:a="http://schemas.openxmlformats.org/drawingml/2006/main">
            <a:off x="5981700" y="3695700"/>
            <a:ext cx="32766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0">
                <a:solidFill>
                  <a:srgbClr val="53657A"/>
                </a:solidFill>
              </a:defRPr>
            </a:pPr>
            <a:r>
              <a:rPr sz="1350" b="0">
                <a:solidFill>
                  <a:srgbClr val="53657A"/>
                </a:solidFill>
              </a:rPr>
              <a:t>prefetched / near-term / intermediate state</a:t>
            </a:r>
          </a:p>
        </p:txBody>
      </p:sp>
      <p:sp>
        <p:nvSpPr>
          <p:cNvPr id="28" name="">
            <a:extLst xmlns:a="http://schemas.openxmlformats.org/drawingml/2006/main">
              <a:ext uri="{FF2B5EF4-FFF2-40B4-BE49-F238E27FC236}">
                <a16:creationId xmlns:a16="http://schemas.microsoft.com/office/drawing/2014/main" id="{1328F72F-937D-401A-830B-5976EF0CE85B}"/>
              </a:ext>
            </a:extLst>
          </p:cNvPr>
          <p:cNvSpPr>
            <a:spLocks xmlns:a="http://schemas.openxmlformats.org/drawingml/2006/main" noGrp="1"/>
          </p:cNvSpPr>
          <p:nvPr/>
        </p:nvSpPr>
        <p:spPr>
          <a:xfrm xmlns:a="http://schemas.openxmlformats.org/drawingml/2006/main">
            <a:off x="5810250" y="4572000"/>
            <a:ext cx="3619500" cy="971550"/>
          </a:xfrm>
          <a:prstGeom xmlns:a="http://schemas.openxmlformats.org/drawingml/2006/main" prst="roundRect">
            <a:avLst>
              <a:gd name="adj" fmla="val 11765"/>
            </a:avLst>
          </a:prstGeom>
          <a:solidFill xmlns:a="http://schemas.openxmlformats.org/drawingml/2006/main">
            <a:srgbClr val="FFF2DF"/>
          </a:solidFill>
          <a:ln xmlns:a="http://schemas.openxmlformats.org/drawingml/2006/main" w="11430">
            <a:solidFill>
              <a:srgbClr val="E98A15"/>
            </a:solidFill>
            <a:prstDash val="solid"/>
          </a:ln>
        </p:spPr>
      </p:sp>
      <p:sp>
        <p:nvSpPr>
          <p:cNvPr id="29" name="">
            <a:extLst xmlns:a="http://schemas.openxmlformats.org/drawingml/2006/main">
              <a:ext uri="{FF2B5EF4-FFF2-40B4-BE49-F238E27FC236}">
                <a16:creationId xmlns:a16="http://schemas.microsoft.com/office/drawing/2014/main" id="{0D2E17BB-EB1A-4AE5-B4DF-8E56524FD8DC}"/>
              </a:ext>
            </a:extLst>
          </p:cNvPr>
          <p:cNvSpPr>
            <a:spLocks xmlns:a="http://schemas.openxmlformats.org/drawingml/2006/main" noGrp="1"/>
          </p:cNvSpPr>
          <p:nvPr/>
        </p:nvSpPr>
        <p:spPr>
          <a:xfrm xmlns:a="http://schemas.openxmlformats.org/drawingml/2006/main">
            <a:off x="5981700" y="4695825"/>
            <a:ext cx="3276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950" b="1">
                <a:solidFill>
                  <a:srgbClr val="E98A15"/>
                </a:solidFill>
              </a:defRPr>
            </a:pPr>
            <a:r>
              <a:rPr sz="1950" b="1">
                <a:solidFill>
                  <a:srgbClr val="E98A15"/>
                </a:solidFill>
              </a:rPr>
              <a:t>aiDAPTIV Cache Memory</a:t>
            </a:r>
          </a:p>
        </p:txBody>
      </p:sp>
      <p:sp>
        <p:nvSpPr>
          <p:cNvPr id="30" name="">
            <a:extLst xmlns:a="http://schemas.openxmlformats.org/drawingml/2006/main">
              <a:ext uri="{FF2B5EF4-FFF2-40B4-BE49-F238E27FC236}">
                <a16:creationId xmlns:a16="http://schemas.microsoft.com/office/drawing/2014/main" id="{2E956571-498A-4872-A15E-9B4192C22032}"/>
              </a:ext>
            </a:extLst>
          </p:cNvPr>
          <p:cNvSpPr>
            <a:spLocks xmlns:a="http://schemas.openxmlformats.org/drawingml/2006/main" noGrp="1"/>
          </p:cNvSpPr>
          <p:nvPr/>
        </p:nvSpPr>
        <p:spPr>
          <a:xfrm xmlns:a="http://schemas.openxmlformats.org/drawingml/2006/main">
            <a:off x="5981700" y="5057775"/>
            <a:ext cx="32766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0">
                <a:solidFill>
                  <a:srgbClr val="53657A"/>
                </a:solidFill>
              </a:defRPr>
            </a:pPr>
            <a:r>
              <a:rPr sz="1350" b="0">
                <a:solidFill>
                  <a:srgbClr val="53657A"/>
                </a:solidFill>
              </a:rPr>
              <a:t>retained colder state • dedicated NVMe tier</a:t>
            </a:r>
          </a:p>
        </p:txBody>
      </p:sp>
      <p:sp>
        <p:nvSpPr>
          <p:cNvPr id="31" name="">
            <a:extLst xmlns:a="http://schemas.openxmlformats.org/drawingml/2006/main">
              <a:ext uri="{FF2B5EF4-FFF2-40B4-BE49-F238E27FC236}">
                <a16:creationId xmlns:a16="http://schemas.microsoft.com/office/drawing/2014/main" id="{C379E08F-BA69-48DA-B0C4-D99A31F20F96}"/>
              </a:ext>
            </a:extLst>
          </p:cNvPr>
          <p:cNvSpPr>
            <a:spLocks xmlns:a="http://schemas.openxmlformats.org/drawingml/2006/main" noGrp="1"/>
          </p:cNvSpPr>
          <p:nvPr/>
        </p:nvSpPr>
        <p:spPr>
          <a:xfrm xmlns:a="http://schemas.openxmlformats.org/drawingml/2006/main">
            <a:off x="9734550" y="2105025"/>
            <a:ext cx="1838325" cy="3181350"/>
          </a:xfrm>
          <a:prstGeom xmlns:a="http://schemas.openxmlformats.org/drawingml/2006/main" prst="roundRect">
            <a:avLst>
              <a:gd name="adj" fmla="val 6218"/>
            </a:avLst>
          </a:prstGeom>
          <a:solidFill xmlns:a="http://schemas.openxmlformats.org/drawingml/2006/main">
            <a:srgbClr val="10253F"/>
          </a:solidFill>
          <a:ln xmlns:a="http://schemas.openxmlformats.org/drawingml/2006/main" w="11430">
            <a:solidFill>
              <a:srgbClr val="10253F"/>
            </a:solidFill>
            <a:prstDash val="solid"/>
          </a:ln>
        </p:spPr>
      </p:sp>
      <p:sp>
        <p:nvSpPr>
          <p:cNvPr id="32" name="">
            <a:extLst xmlns:a="http://schemas.openxmlformats.org/drawingml/2006/main">
              <a:ext uri="{FF2B5EF4-FFF2-40B4-BE49-F238E27FC236}">
                <a16:creationId xmlns:a16="http://schemas.microsoft.com/office/drawing/2014/main" id="{4AF2E87C-2AFB-49D9-9D83-3525A3C75F0B}"/>
              </a:ext>
            </a:extLst>
          </p:cNvPr>
          <p:cNvSpPr>
            <a:spLocks xmlns:a="http://schemas.openxmlformats.org/drawingml/2006/main" noGrp="1"/>
          </p:cNvSpPr>
          <p:nvPr/>
        </p:nvSpPr>
        <p:spPr>
          <a:xfrm xmlns:a="http://schemas.openxmlformats.org/drawingml/2006/main">
            <a:off x="9877425" y="2352675"/>
            <a:ext cx="1552575"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725" b="1">
                <a:solidFill>
                  <a:srgbClr val="FFFFFF"/>
                </a:solidFill>
              </a:defRPr>
            </a:pPr>
            <a:r>
              <a:rPr sz="1725" b="1">
                <a:solidFill>
                  <a:srgbClr val="FFFFFF"/>
                </a:solidFill>
              </a:rPr>
              <a:t>aiDAPTIV</a:t>
            </a:r>
          </a:p>
          <a:p xmlns:a="http://schemas.openxmlformats.org/drawingml/2006/main">
            <a:pPr algn="ctr">
              <a:defRPr sz="1725" b="1">
                <a:solidFill>
                  <a:srgbClr val="FFFFFF"/>
                </a:solidFill>
              </a:defRPr>
            </a:pPr>
            <a:r>
              <a:rPr sz="1725" b="1">
                <a:solidFill>
                  <a:srgbClr val="FFFFFF"/>
                </a:solidFill>
              </a:rPr>
              <a:t>Middleware</a:t>
            </a:r>
          </a:p>
        </p:txBody>
      </p:sp>
      <p:sp>
        <p:nvSpPr>
          <p:cNvPr id="33" name="">
            <a:extLst xmlns:a="http://schemas.openxmlformats.org/drawingml/2006/main">
              <a:ext uri="{FF2B5EF4-FFF2-40B4-BE49-F238E27FC236}">
                <a16:creationId xmlns:a16="http://schemas.microsoft.com/office/drawing/2014/main" id="{37E35711-BBD7-49EA-8897-2FC95CE77716}"/>
              </a:ext>
            </a:extLst>
          </p:cNvPr>
          <p:cNvSpPr>
            <a:spLocks xmlns:a="http://schemas.openxmlformats.org/drawingml/2006/main" noGrp="1"/>
          </p:cNvSpPr>
          <p:nvPr/>
        </p:nvSpPr>
        <p:spPr>
          <a:xfrm xmlns:a="http://schemas.openxmlformats.org/drawingml/2006/main">
            <a:off x="9877425" y="3238500"/>
            <a:ext cx="1552575"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0">
                <a:solidFill>
                  <a:srgbClr val="CFE0F5"/>
                </a:solidFill>
              </a:defRPr>
            </a:pPr>
            <a:r>
              <a:rPr sz="1350" b="0">
                <a:solidFill>
                  <a:srgbClr val="CFE0F5"/>
                </a:solidFill>
              </a:rPr>
              <a:t>AI-aware</a:t>
            </a:r>
          </a:p>
          <a:p xmlns:a="http://schemas.openxmlformats.org/drawingml/2006/main">
            <a:pPr algn="ctr">
              <a:defRPr sz="1350" b="0">
                <a:solidFill>
                  <a:srgbClr val="CFE0F5"/>
                </a:solidFill>
              </a:defRPr>
            </a:pPr>
            <a:r>
              <a:rPr sz="1350" b="0">
                <a:solidFill>
                  <a:srgbClr val="CFE0F5"/>
                </a:solidFill>
              </a:rPr>
              <a:t>placement</a:t>
            </a:r>
          </a:p>
          <a:p xmlns:a="http://schemas.openxmlformats.org/drawingml/2006/main">
            <a:pPr algn="ctr">
              <a:defRPr sz="1350" b="0">
                <a:solidFill>
                  <a:srgbClr val="CFE0F5"/>
                </a:solidFill>
              </a:defRPr>
            </a:pPr>
            <a:r>
              <a:rPr sz="1350" b="0">
                <a:solidFill>
                  <a:srgbClr val="CFE0F5"/>
                </a:solidFill>
              </a:rPr>
              <a:t>and movement</a:t>
            </a:r>
          </a:p>
        </p:txBody>
      </p:sp>
      <p:sp>
        <p:nvSpPr>
          <p:cNvPr id="34" name="">
            <a:extLst xmlns:a="http://schemas.openxmlformats.org/drawingml/2006/main">
              <a:ext uri="{FF2B5EF4-FFF2-40B4-BE49-F238E27FC236}">
                <a16:creationId xmlns:a16="http://schemas.microsoft.com/office/drawing/2014/main" id="{FD0262A7-8102-4D54-9B7F-4E0270BB5E62}"/>
              </a:ext>
            </a:extLst>
          </p:cNvPr>
          <p:cNvSpPr>
            <a:spLocks xmlns:a="http://schemas.openxmlformats.org/drawingml/2006/main" noGrp="1"/>
          </p:cNvSpPr>
          <p:nvPr/>
        </p:nvSpPr>
        <p:spPr>
          <a:xfrm xmlns:a="http://schemas.openxmlformats.org/drawingml/2006/main">
            <a:off x="9877425" y="4686300"/>
            <a:ext cx="15525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b="1">
                <a:solidFill>
                  <a:srgbClr val="9DB5D0"/>
                </a:solidFill>
              </a:defRPr>
            </a:pPr>
            <a:r>
              <a:rPr sz="1125" b="1">
                <a:solidFill>
                  <a:srgbClr val="9DB5D0"/>
                </a:solidFill>
              </a:rPr>
              <a:t>runtime-specific</a:t>
            </a:r>
          </a:p>
        </p:txBody>
      </p:sp>
      <p:sp>
        <p:nvSpPr>
          <p:cNvPr id="35" name="">
            <a:extLst xmlns:a="http://schemas.openxmlformats.org/drawingml/2006/main">
              <a:ext uri="{FF2B5EF4-FFF2-40B4-BE49-F238E27FC236}">
                <a16:creationId xmlns:a16="http://schemas.microsoft.com/office/drawing/2014/main" id="{832DB4EC-ADAD-41DD-808E-CB2E91F651E5}"/>
              </a:ext>
            </a:extLst>
          </p:cNvPr>
          <p:cNvSpPr>
            <a:spLocks xmlns:a="http://schemas.openxmlformats.org/drawingml/2006/main" noGrp="1"/>
          </p:cNvSpPr>
          <p:nvPr/>
        </p:nvSpPr>
        <p:spPr>
          <a:xfrm xmlns:a="http://schemas.openxmlformats.org/drawingml/2006/main">
            <a:off x="609600" y="5924550"/>
            <a:ext cx="47625" cy="228600"/>
          </a:xfrm>
          <a:prstGeom xmlns:a="http://schemas.openxmlformats.org/drawingml/2006/main" prst="rect">
            <a:avLst/>
          </a:prstGeom>
          <a:solidFill xmlns:a="http://schemas.openxmlformats.org/drawingml/2006/main">
            <a:srgbClr val="E98A15"/>
          </a:solidFill>
          <a:ln xmlns:a="http://schemas.openxmlformats.org/drawingml/2006/main" w="11430">
            <a:solidFill>
              <a:srgbClr val="E98A15"/>
            </a:solidFill>
            <a:prstDash val="solid"/>
          </a:ln>
        </p:spPr>
      </p:sp>
      <p:sp>
        <p:nvSpPr>
          <p:cNvPr id="36" name="">
            <a:extLst xmlns:a="http://schemas.openxmlformats.org/drawingml/2006/main">
              <a:ext uri="{FF2B5EF4-FFF2-40B4-BE49-F238E27FC236}">
                <a16:creationId xmlns:a16="http://schemas.microsoft.com/office/drawing/2014/main" id="{77BF81AB-8217-413F-AE5F-94ADA2E23B5C}"/>
              </a:ext>
            </a:extLst>
          </p:cNvPr>
          <p:cNvSpPr>
            <a:spLocks xmlns:a="http://schemas.openxmlformats.org/drawingml/2006/main" noGrp="1"/>
          </p:cNvSpPr>
          <p:nvPr/>
        </p:nvSpPr>
        <p:spPr>
          <a:xfrm xmlns:a="http://schemas.openxmlformats.org/drawingml/2006/main">
            <a:off x="742950" y="5905500"/>
            <a:ext cx="2247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E98A15"/>
                </a:solidFill>
              </a:defRPr>
            </a:pPr>
            <a:r>
              <a:rPr sz="1050" b="1">
                <a:solidFill>
                  <a:srgbClr val="E98A15"/>
                </a:solidFill>
              </a:rPr>
              <a:t>NOT PUBLICLY SPECIFIED</a:t>
            </a:r>
          </a:p>
        </p:txBody>
      </p:sp>
      <p:sp>
        <p:nvSpPr>
          <p:cNvPr id="37" name="">
            <a:extLst xmlns:a="http://schemas.openxmlformats.org/drawingml/2006/main">
              <a:ext uri="{FF2B5EF4-FFF2-40B4-BE49-F238E27FC236}">
                <a16:creationId xmlns:a16="http://schemas.microsoft.com/office/drawing/2014/main" id="{38A51B06-4226-447D-B306-AD419DBFF313}"/>
              </a:ext>
            </a:extLst>
          </p:cNvPr>
          <p:cNvSpPr>
            <a:spLocks xmlns:a="http://schemas.openxmlformats.org/drawingml/2006/main" noGrp="1"/>
          </p:cNvSpPr>
          <p:nvPr/>
        </p:nvSpPr>
        <p:spPr>
          <a:xfrm xmlns:a="http://schemas.openxmlformats.org/drawingml/2006/main">
            <a:off x="2905125" y="5848350"/>
            <a:ext cx="8572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37475B"/>
                </a:solidFill>
              </a:defRPr>
            </a:pPr>
            <a:r>
              <a:rPr sz="1350" b="0">
                <a:solidFill>
                  <a:srgbClr val="37475B"/>
                </a:solidFill>
              </a:rPr>
              <a:t>eviction granularity • queue policy • prefetch algorithm • direct-storage path. No public GPUDirect Storage claim; host staging is the safe default model.</a:t>
            </a:r>
          </a:p>
        </p:txBody>
      </p:sp>
    </p:spTree>
    <p:extLst>
      <p:ext uri="{BB962C8B-B14F-4D97-AF65-F5344CB8AC3E}">
        <p14:creationId xmlns:p14="http://schemas.microsoft.com/office/powerpoint/2010/main" val="1928191210"/>
      </p:ext>
    </p:extLst>
  </p:cSld>
</p:sld>
</file>

<file path=ppt/slides/slide4.xml><?xml version="1.0" encoding="utf-8"?>
<p:sld xmlns:p="http://schemas.openxmlformats.org/presentationml/2006/main">
  <p:cSld>
    <p:bg>
      <p:bgPr>
        <a:solidFill xmlns:a="http://schemas.openxmlformats.org/drawingml/2006/main">
          <a:srgbClr val="F4F7FB"/>
        </a:solidFill>
      </p:bgPr>
    </p:bg>
    <p:spTree>
      <p:nvGrpSpPr>
        <p:cNvPr id="1" name=""/>
        <p:cNvGrpSpPr/>
        <p:nvPr/>
      </p:nvGrpSpPr>
      <p:grpSpPr>
        <a:xfrm xmlns:a="http://schemas.openxmlformats.org/drawingml/2006/main"/>
      </p:grpSpPr>
      <p:sp>
        <p:nvSpPr>
          <p:cNvPr id="42" name="">
            <a:extLst xmlns:a="http://schemas.openxmlformats.org/drawingml/2006/main">
              <a:ext uri="{FF2B5EF4-FFF2-40B4-BE49-F238E27FC236}">
                <a16:creationId xmlns:a16="http://schemas.microsoft.com/office/drawing/2014/main" id="{2BA22C79-4899-4284-83A2-8FFE248FBB4D}"/>
              </a:ext>
            </a:extLst>
          </p:cNvPr>
          <p:cNvSpPr>
            <a:spLocks xmlns:a="http://schemas.openxmlformats.org/drawingml/2006/main" noGrp="1"/>
          </p:cNvSpPr>
          <p:nvPr/>
        </p:nvSpPr>
        <p:spPr>
          <a:xfrm xmlns:a="http://schemas.openxmlformats.org/drawingml/2006/main">
            <a:off x="609600" y="257175"/>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2B6DE9"/>
                </a:solidFill>
              </a:defRPr>
            </a:pPr>
            <a:r>
              <a:rPr sz="1050" b="1">
                <a:solidFill>
                  <a:srgbClr val="2B6DE9"/>
                </a:solidFill>
              </a:rPr>
              <a:t>AIDAPTIV FOR LLM INFERENCE</a:t>
            </a:r>
          </a:p>
        </p:txBody>
      </p:sp>
      <p:sp>
        <p:nvSpPr>
          <p:cNvPr id="2" name="">
            <a:extLst xmlns:a="http://schemas.openxmlformats.org/drawingml/2006/main">
              <a:ext uri="{FF2B5EF4-FFF2-40B4-BE49-F238E27FC236}">
                <a16:creationId xmlns:a16="http://schemas.microsoft.com/office/drawing/2014/main" id="{0D1DCC36-7081-4CB3-A0F9-837EF5737031}"/>
              </a:ext>
            </a:extLst>
          </p:cNvPr>
          <p:cNvSpPr>
            <a:spLocks xmlns:a="http://schemas.openxmlformats.org/drawingml/2006/main" noGrp="1"/>
          </p:cNvSpPr>
          <p:nvPr/>
        </p:nvSpPr>
        <p:spPr>
          <a:xfrm xmlns:a="http://schemas.openxmlformats.org/drawingml/2006/main">
            <a:off x="11191875" y="219075"/>
            <a:ext cx="476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200" b="1">
                <a:solidFill>
                  <a:srgbClr val="53657A"/>
                </a:solidFill>
              </a:defRPr>
            </a:pPr>
            <a:r>
              <a:rPr sz="1200" b="1">
                <a:solidFill>
                  <a:srgbClr val="53657A"/>
                </a:solidFill>
              </a:rPr>
              <a:t>04</a:t>
            </a:r>
          </a:p>
        </p:txBody>
      </p:sp>
      <p:sp>
        <p:nvSpPr>
          <p:cNvPr id="3" name="">
            <a:extLst xmlns:a="http://schemas.openxmlformats.org/drawingml/2006/main">
              <a:ext uri="{FF2B5EF4-FFF2-40B4-BE49-F238E27FC236}">
                <a16:creationId xmlns:a16="http://schemas.microsoft.com/office/drawing/2014/main" id="{DEEF1641-DC91-4434-AD0C-C82292C30513}"/>
              </a:ext>
            </a:extLst>
          </p:cNvPr>
          <p:cNvSpPr>
            <a:spLocks xmlns:a="http://schemas.openxmlformats.org/drawingml/2006/main" noGrp="1"/>
          </p:cNvSpPr>
          <p:nvPr/>
        </p:nvSpPr>
        <p:spPr>
          <a:xfrm xmlns:a="http://schemas.openxmlformats.org/drawingml/2006/main">
            <a:off x="609600" y="552450"/>
            <a:ext cx="109061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600" b="1">
                <a:solidFill>
                  <a:srgbClr val="0A1628"/>
                </a:solidFill>
              </a:defRPr>
            </a:pPr>
            <a:r>
              <a:rPr sz="3600" b="1">
                <a:solidFill>
                  <a:srgbClr val="0A1628"/>
                </a:solidFill>
              </a:rPr>
              <a:t>Retained AI state avoids repeated work</a:t>
            </a:r>
          </a:p>
        </p:txBody>
      </p:sp>
      <p:sp>
        <p:nvSpPr>
          <p:cNvPr id="4" name="">
            <a:extLst xmlns:a="http://schemas.openxmlformats.org/drawingml/2006/main">
              <a:ext uri="{FF2B5EF4-FFF2-40B4-BE49-F238E27FC236}">
                <a16:creationId xmlns:a16="http://schemas.microsoft.com/office/drawing/2014/main" id="{4E4107E8-6091-4095-A91D-1A9A46AEB70D}"/>
              </a:ext>
            </a:extLst>
          </p:cNvPr>
          <p:cNvSpPr>
            <a:spLocks xmlns:a="http://schemas.openxmlformats.org/drawingml/2006/main" noGrp="1"/>
          </p:cNvSpPr>
          <p:nvPr/>
        </p:nvSpPr>
        <p:spPr>
          <a:xfrm xmlns:a="http://schemas.openxmlformats.org/drawingml/2006/main">
            <a:off x="609600" y="1200150"/>
            <a:ext cx="10972800" cy="0"/>
          </a:xfrm>
          <a:prstGeom xmlns:a="http://schemas.openxmlformats.org/drawingml/2006/main" prst="line">
            <a:avLst/>
          </a:prstGeom>
          <a:noFill xmlns:a="http://schemas.openxmlformats.org/drawingml/2006/main"/>
          <a:ln xmlns:a="http://schemas.openxmlformats.org/drawingml/2006/main" w="11430">
            <a:solidFill>
              <a:srgbClr val="C8D3E0"/>
            </a:solidFill>
            <a:prstDash val="solid"/>
          </a:ln>
        </p:spPr>
      </p:sp>
      <p:sp>
        <p:nvSpPr>
          <p:cNvPr id="5" name="">
            <a:extLst xmlns:a="http://schemas.openxmlformats.org/drawingml/2006/main">
              <a:ext uri="{FF2B5EF4-FFF2-40B4-BE49-F238E27FC236}">
                <a16:creationId xmlns:a16="http://schemas.microsoft.com/office/drawing/2014/main" id="{4B30A619-4F68-4B89-B44B-F9C56C8517BF}"/>
              </a:ext>
            </a:extLst>
          </p:cNvPr>
          <p:cNvSpPr>
            <a:spLocks xmlns:a="http://schemas.openxmlformats.org/drawingml/2006/main" noGrp="1"/>
          </p:cNvSpPr>
          <p:nvPr/>
        </p:nvSpPr>
        <p:spPr>
          <a:xfrm xmlns:a="http://schemas.openxmlformats.org/drawingml/2006/main">
            <a:off x="609600" y="6543675"/>
            <a:ext cx="10096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7B8796"/>
                </a:solidFill>
              </a:defRPr>
            </a:pPr>
            <a:r>
              <a:rPr sz="900" b="0">
                <a:solidFill>
                  <a:srgbClr val="7B8796"/>
                </a:solidFill>
              </a:rPr>
              <a:t>Phison aiDAPTIV technical architecture  •  Sources and claim boundaries in speaker notes</a:t>
            </a:r>
          </a:p>
        </p:txBody>
      </p:sp>
      <p:sp>
        <p:nvSpPr>
          <p:cNvPr id="6" name="">
            <a:extLst xmlns:a="http://schemas.openxmlformats.org/drawingml/2006/main">
              <a:ext uri="{FF2B5EF4-FFF2-40B4-BE49-F238E27FC236}">
                <a16:creationId xmlns:a16="http://schemas.microsoft.com/office/drawing/2014/main" id="{D7394131-68C4-4137-BDDA-C414C37E8F4E}"/>
              </a:ext>
            </a:extLst>
          </p:cNvPr>
          <p:cNvSpPr>
            <a:spLocks xmlns:a="http://schemas.openxmlformats.org/drawingml/2006/main" noGrp="1"/>
          </p:cNvSpPr>
          <p:nvPr/>
        </p:nvSpPr>
        <p:spPr>
          <a:xfrm xmlns:a="http://schemas.openxmlformats.org/drawingml/2006/main">
            <a:off x="609600" y="1457325"/>
            <a:ext cx="47625" cy="228600"/>
          </a:xfrm>
          <a:prstGeom xmlns:a="http://schemas.openxmlformats.org/drawingml/2006/main" prst="rect">
            <a:avLst/>
          </a:prstGeom>
          <a:solidFill xmlns:a="http://schemas.openxmlformats.org/drawingml/2006/main">
            <a:srgbClr val="09866A"/>
          </a:solidFill>
          <a:ln xmlns:a="http://schemas.openxmlformats.org/drawingml/2006/main" w="11430">
            <a:solidFill>
              <a:srgbClr val="09866A"/>
            </a:solidFill>
            <a:prstDash val="solid"/>
          </a:ln>
        </p:spPr>
      </p:sp>
      <p:sp>
        <p:nvSpPr>
          <p:cNvPr id="7" name="">
            <a:extLst xmlns:a="http://schemas.openxmlformats.org/drawingml/2006/main">
              <a:ext uri="{FF2B5EF4-FFF2-40B4-BE49-F238E27FC236}">
                <a16:creationId xmlns:a16="http://schemas.microsoft.com/office/drawing/2014/main" id="{8203FBCC-8C44-473B-92DC-0E0A4099D882}"/>
              </a:ext>
            </a:extLst>
          </p:cNvPr>
          <p:cNvSpPr>
            <a:spLocks xmlns:a="http://schemas.openxmlformats.org/drawingml/2006/main" noGrp="1"/>
          </p:cNvSpPr>
          <p:nvPr/>
        </p:nvSpPr>
        <p:spPr>
          <a:xfrm xmlns:a="http://schemas.openxmlformats.org/drawingml/2006/main">
            <a:off x="742950" y="1438275"/>
            <a:ext cx="2438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09866A"/>
                </a:solidFill>
              </a:defRPr>
            </a:pPr>
            <a:r>
              <a:rPr sz="1050" b="1">
                <a:solidFill>
                  <a:srgbClr val="09866A"/>
                </a:solidFill>
              </a:rPr>
              <a:t>DOCUMENTED INFERENCE MODES</a:t>
            </a:r>
          </a:p>
        </p:txBody>
      </p:sp>
      <p:sp>
        <p:nvSpPr>
          <p:cNvPr id="8" name="">
            <a:extLst xmlns:a="http://schemas.openxmlformats.org/drawingml/2006/main">
              <a:ext uri="{FF2B5EF4-FFF2-40B4-BE49-F238E27FC236}">
                <a16:creationId xmlns:a16="http://schemas.microsoft.com/office/drawing/2014/main" id="{44BF778E-5309-4A07-89EC-BFA509D2F120}"/>
              </a:ext>
            </a:extLst>
          </p:cNvPr>
          <p:cNvSpPr>
            <a:spLocks xmlns:a="http://schemas.openxmlformats.org/drawingml/2006/main" noGrp="1"/>
          </p:cNvSpPr>
          <p:nvPr/>
        </p:nvSpPr>
        <p:spPr>
          <a:xfrm xmlns:a="http://schemas.openxmlformats.org/drawingml/2006/main">
            <a:off x="3581400" y="2276475"/>
            <a:ext cx="514350" cy="304800"/>
          </a:xfrm>
          <a:prstGeom xmlns:a="http://schemas.openxmlformats.org/drawingml/2006/main" prst="rightArrow">
            <a:avLst/>
          </a:prstGeom>
          <a:solidFill xmlns:a="http://schemas.openxmlformats.org/drawingml/2006/main">
            <a:srgbClr val="E98A15"/>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0457C4AC-7ACF-4A85-B90C-1F7F358B754B}"/>
              </a:ext>
            </a:extLst>
          </p:cNvPr>
          <p:cNvSpPr>
            <a:spLocks xmlns:a="http://schemas.openxmlformats.org/drawingml/2006/main" noGrp="1"/>
          </p:cNvSpPr>
          <p:nvPr/>
        </p:nvSpPr>
        <p:spPr>
          <a:xfrm xmlns:a="http://schemas.openxmlformats.org/drawingml/2006/main">
            <a:off x="6210300" y="2276475"/>
            <a:ext cx="514350" cy="304800"/>
          </a:xfrm>
          <a:prstGeom xmlns:a="http://schemas.openxmlformats.org/drawingml/2006/main" prst="rightArrow">
            <a:avLst/>
          </a:prstGeom>
          <a:solidFill xmlns:a="http://schemas.openxmlformats.org/drawingml/2006/main">
            <a:srgbClr val="0A9DB5"/>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7A9EFD1C-FAB8-4432-89A7-C625E1AF0B3C}"/>
              </a:ext>
            </a:extLst>
          </p:cNvPr>
          <p:cNvSpPr>
            <a:spLocks xmlns:a="http://schemas.openxmlformats.org/drawingml/2006/main" noGrp="1"/>
          </p:cNvSpPr>
          <p:nvPr/>
        </p:nvSpPr>
        <p:spPr>
          <a:xfrm xmlns:a="http://schemas.openxmlformats.org/drawingml/2006/main">
            <a:off x="8839200" y="2276475"/>
            <a:ext cx="514350" cy="304800"/>
          </a:xfrm>
          <a:prstGeom xmlns:a="http://schemas.openxmlformats.org/drawingml/2006/main" prst="rightArrow">
            <a:avLst/>
          </a:prstGeom>
          <a:solidFill xmlns:a="http://schemas.openxmlformats.org/drawingml/2006/main">
            <a:srgbClr val="7157D9"/>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772CF5B7-714E-4CA2-B130-9DCCB266B48E}"/>
              </a:ext>
            </a:extLst>
          </p:cNvPr>
          <p:cNvSpPr>
            <a:spLocks xmlns:a="http://schemas.openxmlformats.org/drawingml/2006/main" noGrp="1"/>
          </p:cNvSpPr>
          <p:nvPr/>
        </p:nvSpPr>
        <p:spPr>
          <a:xfrm xmlns:a="http://schemas.openxmlformats.org/drawingml/2006/main">
            <a:off x="609600" y="1885950"/>
            <a:ext cx="2952750" cy="1104900"/>
          </a:xfrm>
          <a:prstGeom xmlns:a="http://schemas.openxmlformats.org/drawingml/2006/main" prst="roundRect">
            <a:avLst>
              <a:gd name="adj" fmla="val 10345"/>
            </a:avLst>
          </a:prstGeom>
          <a:solidFill xmlns:a="http://schemas.openxmlformats.org/drawingml/2006/main">
            <a:srgbClr val="FFF2DF"/>
          </a:solidFill>
          <a:ln xmlns:a="http://schemas.openxmlformats.org/drawingml/2006/main" w="11430">
            <a:solidFill>
              <a:srgbClr val="E98A15"/>
            </a:solidFill>
            <a:prstDash val="solid"/>
          </a:ln>
        </p:spPr>
      </p:sp>
      <p:sp>
        <p:nvSpPr>
          <p:cNvPr id="12" name="">
            <a:extLst xmlns:a="http://schemas.openxmlformats.org/drawingml/2006/main">
              <a:ext uri="{FF2B5EF4-FFF2-40B4-BE49-F238E27FC236}">
                <a16:creationId xmlns:a16="http://schemas.microsoft.com/office/drawing/2014/main" id="{0E3CB9A9-C0F8-413A-89F2-A13619A3EE34}"/>
              </a:ext>
            </a:extLst>
          </p:cNvPr>
          <p:cNvSpPr>
            <a:spLocks xmlns:a="http://schemas.openxmlformats.org/drawingml/2006/main" noGrp="1"/>
          </p:cNvSpPr>
          <p:nvPr/>
        </p:nvSpPr>
        <p:spPr>
          <a:xfrm xmlns:a="http://schemas.openxmlformats.org/drawingml/2006/main">
            <a:off x="781050" y="2009775"/>
            <a:ext cx="2609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950" b="1">
                <a:solidFill>
                  <a:srgbClr val="E98A15"/>
                </a:solidFill>
              </a:defRPr>
            </a:pPr>
            <a:r>
              <a:rPr sz="1950" b="1">
                <a:solidFill>
                  <a:srgbClr val="E98A15"/>
                </a:solidFill>
              </a:rPr>
              <a:t>Cache Memory</a:t>
            </a:r>
          </a:p>
        </p:txBody>
      </p:sp>
      <p:sp>
        <p:nvSpPr>
          <p:cNvPr id="13" name="">
            <a:extLst xmlns:a="http://schemas.openxmlformats.org/drawingml/2006/main">
              <a:ext uri="{FF2B5EF4-FFF2-40B4-BE49-F238E27FC236}">
                <a16:creationId xmlns:a16="http://schemas.microsoft.com/office/drawing/2014/main" id="{97280CB7-3830-4983-A765-06F772060569}"/>
              </a:ext>
            </a:extLst>
          </p:cNvPr>
          <p:cNvSpPr>
            <a:spLocks xmlns:a="http://schemas.openxmlformats.org/drawingml/2006/main" noGrp="1"/>
          </p:cNvSpPr>
          <p:nvPr/>
        </p:nvSpPr>
        <p:spPr>
          <a:xfrm xmlns:a="http://schemas.openxmlformats.org/drawingml/2006/main">
            <a:off x="781050" y="2371725"/>
            <a:ext cx="26098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0">
                <a:solidFill>
                  <a:srgbClr val="53657A"/>
                </a:solidFill>
              </a:defRPr>
            </a:pPr>
            <a:r>
              <a:rPr sz="1350" b="0">
                <a:solidFill>
                  <a:srgbClr val="53657A"/>
                </a:solidFill>
              </a:rPr>
              <a:t>less-active KV • expert pool</a:t>
            </a:r>
          </a:p>
        </p:txBody>
      </p:sp>
      <p:sp>
        <p:nvSpPr>
          <p:cNvPr id="14" name="">
            <a:extLst xmlns:a="http://schemas.openxmlformats.org/drawingml/2006/main">
              <a:ext uri="{FF2B5EF4-FFF2-40B4-BE49-F238E27FC236}">
                <a16:creationId xmlns:a16="http://schemas.microsoft.com/office/drawing/2014/main" id="{596BF03C-F399-43E9-BFB5-AD61BA85FCD1}"/>
              </a:ext>
            </a:extLst>
          </p:cNvPr>
          <p:cNvSpPr>
            <a:spLocks xmlns:a="http://schemas.openxmlformats.org/drawingml/2006/main" noGrp="1"/>
          </p:cNvSpPr>
          <p:nvPr/>
        </p:nvSpPr>
        <p:spPr>
          <a:xfrm xmlns:a="http://schemas.openxmlformats.org/drawingml/2006/main">
            <a:off x="4114800" y="1885950"/>
            <a:ext cx="2076450" cy="1104900"/>
          </a:xfrm>
          <a:prstGeom xmlns:a="http://schemas.openxmlformats.org/drawingml/2006/main" prst="roundRect">
            <a:avLst>
              <a:gd name="adj" fmla="val 10345"/>
            </a:avLst>
          </a:prstGeom>
          <a:solidFill xmlns:a="http://schemas.openxmlformats.org/drawingml/2006/main">
            <a:srgbClr val="E4F7FA"/>
          </a:solidFill>
          <a:ln xmlns:a="http://schemas.openxmlformats.org/drawingml/2006/main" w="11430">
            <a:solidFill>
              <a:srgbClr val="0A9DB5"/>
            </a:solidFill>
            <a:prstDash val="solid"/>
          </a:ln>
        </p:spPr>
      </p:sp>
      <p:sp>
        <p:nvSpPr>
          <p:cNvPr id="15" name="">
            <a:extLst xmlns:a="http://schemas.openxmlformats.org/drawingml/2006/main">
              <a:ext uri="{FF2B5EF4-FFF2-40B4-BE49-F238E27FC236}">
                <a16:creationId xmlns:a16="http://schemas.microsoft.com/office/drawing/2014/main" id="{56E18ED2-B30F-455C-A7AF-BC7008FBEC84}"/>
              </a:ext>
            </a:extLst>
          </p:cNvPr>
          <p:cNvSpPr>
            <a:spLocks xmlns:a="http://schemas.openxmlformats.org/drawingml/2006/main" noGrp="1"/>
          </p:cNvSpPr>
          <p:nvPr/>
        </p:nvSpPr>
        <p:spPr>
          <a:xfrm xmlns:a="http://schemas.openxmlformats.org/drawingml/2006/main">
            <a:off x="4286250" y="2009775"/>
            <a:ext cx="17335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950" b="1">
                <a:solidFill>
                  <a:srgbClr val="0A9DB5"/>
                </a:solidFill>
              </a:defRPr>
            </a:pPr>
            <a:r>
              <a:rPr sz="1950" b="1">
                <a:solidFill>
                  <a:srgbClr val="0A9DB5"/>
                </a:solidFill>
              </a:rPr>
              <a:t>DRAM</a:t>
            </a:r>
          </a:p>
        </p:txBody>
      </p:sp>
      <p:sp>
        <p:nvSpPr>
          <p:cNvPr id="16" name="">
            <a:extLst xmlns:a="http://schemas.openxmlformats.org/drawingml/2006/main">
              <a:ext uri="{FF2B5EF4-FFF2-40B4-BE49-F238E27FC236}">
                <a16:creationId xmlns:a16="http://schemas.microsoft.com/office/drawing/2014/main" id="{DD28F2E8-1659-43AC-9F44-5918F4F5ED7D}"/>
              </a:ext>
            </a:extLst>
          </p:cNvPr>
          <p:cNvSpPr>
            <a:spLocks xmlns:a="http://schemas.openxmlformats.org/drawingml/2006/main" noGrp="1"/>
          </p:cNvSpPr>
          <p:nvPr/>
        </p:nvSpPr>
        <p:spPr>
          <a:xfrm xmlns:a="http://schemas.openxmlformats.org/drawingml/2006/main">
            <a:off x="4286250" y="2371725"/>
            <a:ext cx="17335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0">
                <a:solidFill>
                  <a:srgbClr val="53657A"/>
                </a:solidFill>
              </a:defRPr>
            </a:pPr>
            <a:r>
              <a:rPr sz="1350" b="0">
                <a:solidFill>
                  <a:srgbClr val="53657A"/>
                </a:solidFill>
              </a:rPr>
              <a:t>staging / warm</a:t>
            </a:r>
          </a:p>
        </p:txBody>
      </p:sp>
      <p:sp>
        <p:nvSpPr>
          <p:cNvPr id="17" name="">
            <a:extLst xmlns:a="http://schemas.openxmlformats.org/drawingml/2006/main">
              <a:ext uri="{FF2B5EF4-FFF2-40B4-BE49-F238E27FC236}">
                <a16:creationId xmlns:a16="http://schemas.microsoft.com/office/drawing/2014/main" id="{C8E6A5CC-E54C-4BB6-9758-21909123A3C6}"/>
              </a:ext>
            </a:extLst>
          </p:cNvPr>
          <p:cNvSpPr>
            <a:spLocks xmlns:a="http://schemas.openxmlformats.org/drawingml/2006/main" noGrp="1"/>
          </p:cNvSpPr>
          <p:nvPr/>
        </p:nvSpPr>
        <p:spPr>
          <a:xfrm xmlns:a="http://schemas.openxmlformats.org/drawingml/2006/main">
            <a:off x="6743700" y="1885950"/>
            <a:ext cx="2076450" cy="1104900"/>
          </a:xfrm>
          <a:prstGeom xmlns:a="http://schemas.openxmlformats.org/drawingml/2006/main" prst="roundRect">
            <a:avLst>
              <a:gd name="adj" fmla="val 10345"/>
            </a:avLst>
          </a:prstGeom>
          <a:solidFill xmlns:a="http://schemas.openxmlformats.org/drawingml/2006/main">
            <a:srgbClr val="EEEAFE"/>
          </a:solidFill>
          <a:ln xmlns:a="http://schemas.openxmlformats.org/drawingml/2006/main" w="11430">
            <a:solidFill>
              <a:srgbClr val="7157D9"/>
            </a:solidFill>
            <a:prstDash val="solid"/>
          </a:ln>
        </p:spPr>
      </p:sp>
      <p:sp>
        <p:nvSpPr>
          <p:cNvPr id="18" name="">
            <a:extLst xmlns:a="http://schemas.openxmlformats.org/drawingml/2006/main">
              <a:ext uri="{FF2B5EF4-FFF2-40B4-BE49-F238E27FC236}">
                <a16:creationId xmlns:a16="http://schemas.microsoft.com/office/drawing/2014/main" id="{EAAF2771-0B24-432B-A63B-713EF0E08493}"/>
              </a:ext>
            </a:extLst>
          </p:cNvPr>
          <p:cNvSpPr>
            <a:spLocks xmlns:a="http://schemas.openxmlformats.org/drawingml/2006/main" noGrp="1"/>
          </p:cNvSpPr>
          <p:nvPr/>
        </p:nvSpPr>
        <p:spPr>
          <a:xfrm xmlns:a="http://schemas.openxmlformats.org/drawingml/2006/main">
            <a:off x="6915150" y="2009775"/>
            <a:ext cx="17335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950" b="1">
                <a:solidFill>
                  <a:srgbClr val="7157D9"/>
                </a:solidFill>
              </a:defRPr>
            </a:pPr>
            <a:r>
              <a:rPr sz="1950" b="1">
                <a:solidFill>
                  <a:srgbClr val="7157D9"/>
                </a:solidFill>
              </a:rPr>
              <a:t>VRAM</a:t>
            </a:r>
          </a:p>
        </p:txBody>
      </p:sp>
      <p:sp>
        <p:nvSpPr>
          <p:cNvPr id="19" name="">
            <a:extLst xmlns:a="http://schemas.openxmlformats.org/drawingml/2006/main">
              <a:ext uri="{FF2B5EF4-FFF2-40B4-BE49-F238E27FC236}">
                <a16:creationId xmlns:a16="http://schemas.microsoft.com/office/drawing/2014/main" id="{16294310-3E79-4121-82D7-FC7544D70EE8}"/>
              </a:ext>
            </a:extLst>
          </p:cNvPr>
          <p:cNvSpPr>
            <a:spLocks xmlns:a="http://schemas.openxmlformats.org/drawingml/2006/main" noGrp="1"/>
          </p:cNvSpPr>
          <p:nvPr/>
        </p:nvSpPr>
        <p:spPr>
          <a:xfrm xmlns:a="http://schemas.openxmlformats.org/drawingml/2006/main">
            <a:off x="6915150" y="2371725"/>
            <a:ext cx="17335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0">
                <a:solidFill>
                  <a:srgbClr val="53657A"/>
                </a:solidFill>
              </a:defRPr>
            </a:pPr>
            <a:r>
              <a:rPr sz="1350" b="0">
                <a:solidFill>
                  <a:srgbClr val="53657A"/>
                </a:solidFill>
              </a:rPr>
              <a:t>active state</a:t>
            </a:r>
          </a:p>
        </p:txBody>
      </p:sp>
      <p:sp>
        <p:nvSpPr>
          <p:cNvPr id="20" name="">
            <a:extLst xmlns:a="http://schemas.openxmlformats.org/drawingml/2006/main">
              <a:ext uri="{FF2B5EF4-FFF2-40B4-BE49-F238E27FC236}">
                <a16:creationId xmlns:a16="http://schemas.microsoft.com/office/drawing/2014/main" id="{1D19D340-08D1-4AA3-82D9-09C5EC01FDE1}"/>
              </a:ext>
            </a:extLst>
          </p:cNvPr>
          <p:cNvSpPr>
            <a:spLocks xmlns:a="http://schemas.openxmlformats.org/drawingml/2006/main" noGrp="1"/>
          </p:cNvSpPr>
          <p:nvPr/>
        </p:nvSpPr>
        <p:spPr>
          <a:xfrm xmlns:a="http://schemas.openxmlformats.org/drawingml/2006/main">
            <a:off x="9372600" y="1885950"/>
            <a:ext cx="2190750" cy="1104900"/>
          </a:xfrm>
          <a:prstGeom xmlns:a="http://schemas.openxmlformats.org/drawingml/2006/main" prst="roundRect">
            <a:avLst>
              <a:gd name="adj" fmla="val 10345"/>
            </a:avLst>
          </a:prstGeom>
          <a:solidFill xmlns:a="http://schemas.openxmlformats.org/drawingml/2006/main">
            <a:srgbClr val="10253F"/>
          </a:solidFill>
          <a:ln xmlns:a="http://schemas.openxmlformats.org/drawingml/2006/main" w="11430">
            <a:solidFill>
              <a:srgbClr val="10253F"/>
            </a:solidFill>
            <a:prstDash val="solid"/>
          </a:ln>
        </p:spPr>
      </p:sp>
      <p:sp>
        <p:nvSpPr>
          <p:cNvPr id="21" name="">
            <a:extLst xmlns:a="http://schemas.openxmlformats.org/drawingml/2006/main">
              <a:ext uri="{FF2B5EF4-FFF2-40B4-BE49-F238E27FC236}">
                <a16:creationId xmlns:a16="http://schemas.microsoft.com/office/drawing/2014/main" id="{82461107-6834-41D9-8138-A13296AF712B}"/>
              </a:ext>
            </a:extLst>
          </p:cNvPr>
          <p:cNvSpPr>
            <a:spLocks xmlns:a="http://schemas.openxmlformats.org/drawingml/2006/main" noGrp="1"/>
          </p:cNvSpPr>
          <p:nvPr/>
        </p:nvSpPr>
        <p:spPr>
          <a:xfrm xmlns:a="http://schemas.openxmlformats.org/drawingml/2006/main">
            <a:off x="9544050" y="2009775"/>
            <a:ext cx="1847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950" b="1">
                <a:solidFill>
                  <a:srgbClr val="FFFFFF"/>
                </a:solidFill>
              </a:defRPr>
            </a:pPr>
            <a:r>
              <a:rPr sz="1950" b="1">
                <a:solidFill>
                  <a:srgbClr val="FFFFFF"/>
                </a:solidFill>
              </a:rPr>
              <a:t>Tensor cores</a:t>
            </a:r>
          </a:p>
        </p:txBody>
      </p:sp>
      <p:sp>
        <p:nvSpPr>
          <p:cNvPr id="22" name="">
            <a:extLst xmlns:a="http://schemas.openxmlformats.org/drawingml/2006/main">
              <a:ext uri="{FF2B5EF4-FFF2-40B4-BE49-F238E27FC236}">
                <a16:creationId xmlns:a16="http://schemas.microsoft.com/office/drawing/2014/main" id="{DA593B13-E3E0-4FBB-8A8C-C9E33A72DD8B}"/>
              </a:ext>
            </a:extLst>
          </p:cNvPr>
          <p:cNvSpPr>
            <a:spLocks xmlns:a="http://schemas.openxmlformats.org/drawingml/2006/main" noGrp="1"/>
          </p:cNvSpPr>
          <p:nvPr/>
        </p:nvSpPr>
        <p:spPr>
          <a:xfrm xmlns:a="http://schemas.openxmlformats.org/drawingml/2006/main">
            <a:off x="9544050" y="2371725"/>
            <a:ext cx="18478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0">
                <a:solidFill>
                  <a:srgbClr val="53657A"/>
                </a:solidFill>
              </a:defRPr>
            </a:pPr>
            <a:r>
              <a:rPr sz="1350" b="0">
                <a:solidFill>
                  <a:srgbClr val="53657A"/>
                </a:solidFill>
              </a:rPr>
              <a:t>prefill / decode</a:t>
            </a:r>
          </a:p>
        </p:txBody>
      </p:sp>
      <p:sp>
        <p:nvSpPr>
          <p:cNvPr id="23" name="">
            <a:extLst xmlns:a="http://schemas.openxmlformats.org/drawingml/2006/main">
              <a:ext uri="{FF2B5EF4-FFF2-40B4-BE49-F238E27FC236}">
                <a16:creationId xmlns:a16="http://schemas.microsoft.com/office/drawing/2014/main" id="{A3266258-6F76-4AB0-8236-F777CE278D8F}"/>
              </a:ext>
            </a:extLst>
          </p:cNvPr>
          <p:cNvSpPr>
            <a:spLocks xmlns:a="http://schemas.openxmlformats.org/drawingml/2006/main" noGrp="1"/>
          </p:cNvSpPr>
          <p:nvPr/>
        </p:nvSpPr>
        <p:spPr>
          <a:xfrm xmlns:a="http://schemas.openxmlformats.org/drawingml/2006/main">
            <a:off x="609600" y="3276600"/>
            <a:ext cx="5200650" cy="2324100"/>
          </a:xfrm>
          <a:prstGeom xmlns:a="http://schemas.openxmlformats.org/drawingml/2006/main" prst="roundRect">
            <a:avLst>
              <a:gd name="adj" fmla="val 4918"/>
            </a:avLst>
          </a:prstGeom>
          <a:solidFill xmlns:a="http://schemas.openxmlformats.org/drawingml/2006/main">
            <a:srgbClr val="FFFFFF"/>
          </a:solidFill>
          <a:ln xmlns:a="http://schemas.openxmlformats.org/drawingml/2006/main" w="11430">
            <a:solidFill>
              <a:srgbClr val="C8D3E0"/>
            </a:solidFill>
            <a:prstDash val="solid"/>
          </a:ln>
        </p:spPr>
      </p:sp>
      <p:sp>
        <p:nvSpPr>
          <p:cNvPr id="24" name="">
            <a:extLst xmlns:a="http://schemas.openxmlformats.org/drawingml/2006/main">
              <a:ext uri="{FF2B5EF4-FFF2-40B4-BE49-F238E27FC236}">
                <a16:creationId xmlns:a16="http://schemas.microsoft.com/office/drawing/2014/main" id="{06FF5268-DA1D-4D8B-B5E9-53D8E05848E6}"/>
              </a:ext>
            </a:extLst>
          </p:cNvPr>
          <p:cNvSpPr>
            <a:spLocks xmlns:a="http://schemas.openxmlformats.org/drawingml/2006/main" noGrp="1"/>
          </p:cNvSpPr>
          <p:nvPr/>
        </p:nvSpPr>
        <p:spPr>
          <a:xfrm xmlns:a="http://schemas.openxmlformats.org/drawingml/2006/main">
            <a:off x="838200" y="3476625"/>
            <a:ext cx="4667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09866A"/>
                </a:solidFill>
              </a:defRPr>
            </a:pPr>
            <a:r>
              <a:rPr sz="1950" b="1">
                <a:solidFill>
                  <a:srgbClr val="09866A"/>
                </a:solidFill>
              </a:rPr>
              <a:t>KV extension + prefix reuse</a:t>
            </a:r>
          </a:p>
        </p:txBody>
      </p:sp>
      <p:sp>
        <p:nvSpPr>
          <p:cNvPr id="25" name="">
            <a:extLst xmlns:a="http://schemas.openxmlformats.org/drawingml/2006/main">
              <a:ext uri="{FF2B5EF4-FFF2-40B4-BE49-F238E27FC236}">
                <a16:creationId xmlns:a16="http://schemas.microsoft.com/office/drawing/2014/main" id="{C23F628F-FD09-4C40-B7B1-36FBB761EB3E}"/>
              </a:ext>
            </a:extLst>
          </p:cNvPr>
          <p:cNvSpPr>
            <a:spLocks xmlns:a="http://schemas.openxmlformats.org/drawingml/2006/main" noGrp="1"/>
          </p:cNvSpPr>
          <p:nvPr/>
        </p:nvSpPr>
        <p:spPr>
          <a:xfrm xmlns:a="http://schemas.openxmlformats.org/drawingml/2006/main">
            <a:off x="838200" y="4010025"/>
            <a:ext cx="76200" cy="76200"/>
          </a:xfrm>
          <a:prstGeom xmlns:a="http://schemas.openxmlformats.org/drawingml/2006/main" prst="roundRect">
            <a:avLst>
              <a:gd name="adj" fmla="val 50000"/>
            </a:avLst>
          </a:prstGeom>
          <a:solidFill xmlns:a="http://schemas.openxmlformats.org/drawingml/2006/main">
            <a:srgbClr val="2B6DE9"/>
          </a:solidFill>
          <a:ln xmlns:a="http://schemas.openxmlformats.org/drawingml/2006/main" w="11430">
            <a:solidFill>
              <a:srgbClr val="2B6DE9"/>
            </a:solidFill>
            <a:prstDash val="solid"/>
          </a:ln>
        </p:spPr>
      </p:sp>
      <p:sp>
        <p:nvSpPr>
          <p:cNvPr id="26" name="">
            <a:extLst xmlns:a="http://schemas.openxmlformats.org/drawingml/2006/main">
              <a:ext uri="{FF2B5EF4-FFF2-40B4-BE49-F238E27FC236}">
                <a16:creationId xmlns:a16="http://schemas.microsoft.com/office/drawing/2014/main" id="{D988FDCA-7037-4E83-8CF6-78A08823FA1D}"/>
              </a:ext>
            </a:extLst>
          </p:cNvPr>
          <p:cNvSpPr>
            <a:spLocks xmlns:a="http://schemas.openxmlformats.org/drawingml/2006/main" noGrp="1"/>
          </p:cNvSpPr>
          <p:nvPr/>
        </p:nvSpPr>
        <p:spPr>
          <a:xfrm xmlns:a="http://schemas.openxmlformats.org/drawingml/2006/main">
            <a:off x="1047750" y="3924300"/>
            <a:ext cx="44577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a:solidFill>
                  <a:srgbClr val="0A1628"/>
                </a:solidFill>
              </a:defRPr>
            </a:pPr>
            <a:r>
              <a:rPr sz="1500" b="0">
                <a:solidFill>
                  <a:srgbClr val="0A1628"/>
                </a:solidFill>
              </a:rPr>
              <a:t>Retain eligible KV state beyond the fast tier.</a:t>
            </a:r>
          </a:p>
        </p:txBody>
      </p:sp>
      <p:sp>
        <p:nvSpPr>
          <p:cNvPr id="27" name="">
            <a:extLst xmlns:a="http://schemas.openxmlformats.org/drawingml/2006/main">
              <a:ext uri="{FF2B5EF4-FFF2-40B4-BE49-F238E27FC236}">
                <a16:creationId xmlns:a16="http://schemas.microsoft.com/office/drawing/2014/main" id="{AB87E9BE-5123-408E-8E16-B986EEDF3918}"/>
              </a:ext>
            </a:extLst>
          </p:cNvPr>
          <p:cNvSpPr>
            <a:spLocks xmlns:a="http://schemas.openxmlformats.org/drawingml/2006/main" noGrp="1"/>
          </p:cNvSpPr>
          <p:nvPr/>
        </p:nvSpPr>
        <p:spPr>
          <a:xfrm xmlns:a="http://schemas.openxmlformats.org/drawingml/2006/main">
            <a:off x="838200" y="4476750"/>
            <a:ext cx="76200" cy="76200"/>
          </a:xfrm>
          <a:prstGeom xmlns:a="http://schemas.openxmlformats.org/drawingml/2006/main" prst="roundRect">
            <a:avLst>
              <a:gd name="adj" fmla="val 50000"/>
            </a:avLst>
          </a:prstGeom>
          <a:solidFill xmlns:a="http://schemas.openxmlformats.org/drawingml/2006/main">
            <a:srgbClr val="2B6DE9"/>
          </a:solidFill>
          <a:ln xmlns:a="http://schemas.openxmlformats.org/drawingml/2006/main" w="11430">
            <a:solidFill>
              <a:srgbClr val="2B6DE9"/>
            </a:solidFill>
            <a:prstDash val="solid"/>
          </a:ln>
        </p:spPr>
      </p:sp>
      <p:sp>
        <p:nvSpPr>
          <p:cNvPr id="28" name="">
            <a:extLst xmlns:a="http://schemas.openxmlformats.org/drawingml/2006/main">
              <a:ext uri="{FF2B5EF4-FFF2-40B4-BE49-F238E27FC236}">
                <a16:creationId xmlns:a16="http://schemas.microsoft.com/office/drawing/2014/main" id="{4332DB1F-2F70-4FA9-8F5A-26C9C15F0595}"/>
              </a:ext>
            </a:extLst>
          </p:cNvPr>
          <p:cNvSpPr>
            <a:spLocks xmlns:a="http://schemas.openxmlformats.org/drawingml/2006/main" noGrp="1"/>
          </p:cNvSpPr>
          <p:nvPr/>
        </p:nvSpPr>
        <p:spPr>
          <a:xfrm xmlns:a="http://schemas.openxmlformats.org/drawingml/2006/main">
            <a:off x="1047750" y="4391025"/>
            <a:ext cx="44577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a:solidFill>
                  <a:srgbClr val="0A1628"/>
                </a:solidFill>
              </a:defRPr>
            </a:pPr>
            <a:r>
              <a:rPr sz="1500" b="0">
                <a:solidFill>
                  <a:srgbClr val="0A1628"/>
                </a:solidFill>
              </a:rPr>
              <a:t>Reuse requires identical tokens from the prompt start.</a:t>
            </a:r>
          </a:p>
        </p:txBody>
      </p:sp>
      <p:sp>
        <p:nvSpPr>
          <p:cNvPr id="29" name="">
            <a:extLst xmlns:a="http://schemas.openxmlformats.org/drawingml/2006/main">
              <a:ext uri="{FF2B5EF4-FFF2-40B4-BE49-F238E27FC236}">
                <a16:creationId xmlns:a16="http://schemas.microsoft.com/office/drawing/2014/main" id="{7DE127A4-C504-4720-BB34-69A117D16E2A}"/>
              </a:ext>
            </a:extLst>
          </p:cNvPr>
          <p:cNvSpPr>
            <a:spLocks xmlns:a="http://schemas.openxmlformats.org/drawingml/2006/main" noGrp="1"/>
          </p:cNvSpPr>
          <p:nvPr/>
        </p:nvSpPr>
        <p:spPr>
          <a:xfrm xmlns:a="http://schemas.openxmlformats.org/drawingml/2006/main">
            <a:off x="838200" y="4943475"/>
            <a:ext cx="76200" cy="76200"/>
          </a:xfrm>
          <a:prstGeom xmlns:a="http://schemas.openxmlformats.org/drawingml/2006/main" prst="roundRect">
            <a:avLst>
              <a:gd name="adj" fmla="val 50000"/>
            </a:avLst>
          </a:prstGeom>
          <a:solidFill xmlns:a="http://schemas.openxmlformats.org/drawingml/2006/main">
            <a:srgbClr val="2B6DE9"/>
          </a:solidFill>
          <a:ln xmlns:a="http://schemas.openxmlformats.org/drawingml/2006/main" w="11430">
            <a:solidFill>
              <a:srgbClr val="2B6DE9"/>
            </a:solidFill>
            <a:prstDash val="solid"/>
          </a:ln>
        </p:spPr>
      </p:sp>
      <p:sp>
        <p:nvSpPr>
          <p:cNvPr id="30" name="">
            <a:extLst xmlns:a="http://schemas.openxmlformats.org/drawingml/2006/main">
              <a:ext uri="{FF2B5EF4-FFF2-40B4-BE49-F238E27FC236}">
                <a16:creationId xmlns:a16="http://schemas.microsoft.com/office/drawing/2014/main" id="{AB889086-959B-4E72-B375-5795B1A1D76B}"/>
              </a:ext>
            </a:extLst>
          </p:cNvPr>
          <p:cNvSpPr>
            <a:spLocks xmlns:a="http://schemas.openxmlformats.org/drawingml/2006/main" noGrp="1"/>
          </p:cNvSpPr>
          <p:nvPr/>
        </p:nvSpPr>
        <p:spPr>
          <a:xfrm xmlns:a="http://schemas.openxmlformats.org/drawingml/2006/main">
            <a:off x="1047750" y="4857750"/>
            <a:ext cx="44577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a:solidFill>
                  <a:srgbClr val="0A1628"/>
                </a:solidFill>
              </a:defRPr>
            </a:pPr>
            <a:r>
              <a:rPr sz="1500" b="0">
                <a:solidFill>
                  <a:srgbClr val="0A1628"/>
                </a:solidFill>
              </a:rPr>
              <a:t>Best: stable system prompts, documents, RAG blocks, agents.</a:t>
            </a:r>
          </a:p>
        </p:txBody>
      </p:sp>
      <p:sp>
        <p:nvSpPr>
          <p:cNvPr id="31" name="">
            <a:extLst xmlns:a="http://schemas.openxmlformats.org/drawingml/2006/main">
              <a:ext uri="{FF2B5EF4-FFF2-40B4-BE49-F238E27FC236}">
                <a16:creationId xmlns:a16="http://schemas.microsoft.com/office/drawing/2014/main" id="{C93FB443-079E-4B1D-8641-67EF4E1F03D0}"/>
              </a:ext>
            </a:extLst>
          </p:cNvPr>
          <p:cNvSpPr>
            <a:spLocks xmlns:a="http://schemas.openxmlformats.org/drawingml/2006/main" noGrp="1"/>
          </p:cNvSpPr>
          <p:nvPr/>
        </p:nvSpPr>
        <p:spPr>
          <a:xfrm xmlns:a="http://schemas.openxmlformats.org/drawingml/2006/main">
            <a:off x="6057900" y="3276600"/>
            <a:ext cx="5505450" cy="2324100"/>
          </a:xfrm>
          <a:prstGeom xmlns:a="http://schemas.openxmlformats.org/drawingml/2006/main" prst="roundRect">
            <a:avLst>
              <a:gd name="adj" fmla="val 4918"/>
            </a:avLst>
          </a:prstGeom>
          <a:solidFill xmlns:a="http://schemas.openxmlformats.org/drawingml/2006/main">
            <a:srgbClr val="FFFFFF"/>
          </a:solidFill>
          <a:ln xmlns:a="http://schemas.openxmlformats.org/drawingml/2006/main" w="11430">
            <a:solidFill>
              <a:srgbClr val="C8D3E0"/>
            </a:solidFill>
            <a:prstDash val="solid"/>
          </a:ln>
        </p:spPr>
      </p:sp>
      <p:sp>
        <p:nvSpPr>
          <p:cNvPr id="32" name="">
            <a:extLst xmlns:a="http://schemas.openxmlformats.org/drawingml/2006/main">
              <a:ext uri="{FF2B5EF4-FFF2-40B4-BE49-F238E27FC236}">
                <a16:creationId xmlns:a16="http://schemas.microsoft.com/office/drawing/2014/main" id="{183A4FA2-CD7C-495F-B68D-9A77E99EAA94}"/>
              </a:ext>
            </a:extLst>
          </p:cNvPr>
          <p:cNvSpPr>
            <a:spLocks xmlns:a="http://schemas.openxmlformats.org/drawingml/2006/main" noGrp="1"/>
          </p:cNvSpPr>
          <p:nvPr/>
        </p:nvSpPr>
        <p:spPr>
          <a:xfrm xmlns:a="http://schemas.openxmlformats.org/drawingml/2006/main">
            <a:off x="6286500" y="3476625"/>
            <a:ext cx="4762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09866A"/>
                </a:solidFill>
              </a:defRPr>
            </a:pPr>
            <a:r>
              <a:rPr sz="1950" b="1">
                <a:solidFill>
                  <a:srgbClr val="09866A"/>
                </a:solidFill>
              </a:rPr>
              <a:t>Dynamic MoE: expert locality</a:t>
            </a:r>
          </a:p>
        </p:txBody>
      </p:sp>
      <p:sp>
        <p:nvSpPr>
          <p:cNvPr id="33" name="">
            <a:extLst xmlns:a="http://schemas.openxmlformats.org/drawingml/2006/main">
              <a:ext uri="{FF2B5EF4-FFF2-40B4-BE49-F238E27FC236}">
                <a16:creationId xmlns:a16="http://schemas.microsoft.com/office/drawing/2014/main" id="{F3A845AA-D65E-4F2B-BB24-316133070DBB}"/>
              </a:ext>
            </a:extLst>
          </p:cNvPr>
          <p:cNvSpPr>
            <a:spLocks xmlns:a="http://schemas.openxmlformats.org/drawingml/2006/main" noGrp="1"/>
          </p:cNvSpPr>
          <p:nvPr/>
        </p:nvSpPr>
        <p:spPr>
          <a:xfrm xmlns:a="http://schemas.openxmlformats.org/drawingml/2006/main">
            <a:off x="6286500" y="4010025"/>
            <a:ext cx="76200" cy="76200"/>
          </a:xfrm>
          <a:prstGeom xmlns:a="http://schemas.openxmlformats.org/drawingml/2006/main" prst="roundRect">
            <a:avLst>
              <a:gd name="adj" fmla="val 50000"/>
            </a:avLst>
          </a:prstGeom>
          <a:solidFill xmlns:a="http://schemas.openxmlformats.org/drawingml/2006/main">
            <a:srgbClr val="2B6DE9"/>
          </a:solidFill>
          <a:ln xmlns:a="http://schemas.openxmlformats.org/drawingml/2006/main" w="11430">
            <a:solidFill>
              <a:srgbClr val="2B6DE9"/>
            </a:solidFill>
            <a:prstDash val="solid"/>
          </a:ln>
        </p:spPr>
      </p:sp>
      <p:sp>
        <p:nvSpPr>
          <p:cNvPr id="34" name="">
            <a:extLst xmlns:a="http://schemas.openxmlformats.org/drawingml/2006/main">
              <a:ext uri="{FF2B5EF4-FFF2-40B4-BE49-F238E27FC236}">
                <a16:creationId xmlns:a16="http://schemas.microsoft.com/office/drawing/2014/main" id="{777365E5-11DD-4E48-BA22-FBE97D60DFC3}"/>
              </a:ext>
            </a:extLst>
          </p:cNvPr>
          <p:cNvSpPr>
            <a:spLocks xmlns:a="http://schemas.openxmlformats.org/drawingml/2006/main" noGrp="1"/>
          </p:cNvSpPr>
          <p:nvPr/>
        </p:nvSpPr>
        <p:spPr>
          <a:xfrm xmlns:a="http://schemas.openxmlformats.org/drawingml/2006/main">
            <a:off x="6496050" y="3924300"/>
            <a:ext cx="474345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a:solidFill>
                  <a:srgbClr val="0A1628"/>
                </a:solidFill>
              </a:defRPr>
            </a:pPr>
            <a:r>
              <a:rPr sz="1500" b="0">
                <a:solidFill>
                  <a:srgbClr val="0A1628"/>
                </a:solidFill>
              </a:rPr>
              <a:t>Retain the full expert pool in cache memory.</a:t>
            </a:r>
          </a:p>
        </p:txBody>
      </p:sp>
      <p:sp>
        <p:nvSpPr>
          <p:cNvPr id="35" name="">
            <a:extLst xmlns:a="http://schemas.openxmlformats.org/drawingml/2006/main">
              <a:ext uri="{FF2B5EF4-FFF2-40B4-BE49-F238E27FC236}">
                <a16:creationId xmlns:a16="http://schemas.microsoft.com/office/drawing/2014/main" id="{CF7611AC-7A2A-42B8-861B-1987425DD6B2}"/>
              </a:ext>
            </a:extLst>
          </p:cNvPr>
          <p:cNvSpPr>
            <a:spLocks xmlns:a="http://schemas.openxmlformats.org/drawingml/2006/main" noGrp="1"/>
          </p:cNvSpPr>
          <p:nvPr/>
        </p:nvSpPr>
        <p:spPr>
          <a:xfrm xmlns:a="http://schemas.openxmlformats.org/drawingml/2006/main">
            <a:off x="6286500" y="4476750"/>
            <a:ext cx="76200" cy="76200"/>
          </a:xfrm>
          <a:prstGeom xmlns:a="http://schemas.openxmlformats.org/drawingml/2006/main" prst="roundRect">
            <a:avLst>
              <a:gd name="adj" fmla="val 50000"/>
            </a:avLst>
          </a:prstGeom>
          <a:solidFill xmlns:a="http://schemas.openxmlformats.org/drawingml/2006/main">
            <a:srgbClr val="2B6DE9"/>
          </a:solidFill>
          <a:ln xmlns:a="http://schemas.openxmlformats.org/drawingml/2006/main" w="11430">
            <a:solidFill>
              <a:srgbClr val="2B6DE9"/>
            </a:solidFill>
            <a:prstDash val="solid"/>
          </a:ln>
        </p:spPr>
      </p:sp>
      <p:sp>
        <p:nvSpPr>
          <p:cNvPr id="36" name="">
            <a:extLst xmlns:a="http://schemas.openxmlformats.org/drawingml/2006/main">
              <a:ext uri="{FF2B5EF4-FFF2-40B4-BE49-F238E27FC236}">
                <a16:creationId xmlns:a16="http://schemas.microsoft.com/office/drawing/2014/main" id="{EF86E10E-F333-4285-9FF6-BA9C63AD00EF}"/>
              </a:ext>
            </a:extLst>
          </p:cNvPr>
          <p:cNvSpPr>
            <a:spLocks xmlns:a="http://schemas.openxmlformats.org/drawingml/2006/main" noGrp="1"/>
          </p:cNvSpPr>
          <p:nvPr/>
        </p:nvSpPr>
        <p:spPr>
          <a:xfrm xmlns:a="http://schemas.openxmlformats.org/drawingml/2006/main">
            <a:off x="6496050" y="4391025"/>
            <a:ext cx="474345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a:solidFill>
                  <a:srgbClr val="0A1628"/>
                </a:solidFill>
              </a:defRPr>
            </a:pPr>
            <a:r>
              <a:rPr sz="1500" b="0">
                <a:solidFill>
                  <a:srgbClr val="0A1628"/>
                </a:solidFill>
              </a:rPr>
              <a:t>Bring selected experts toward compute as routed.</a:t>
            </a:r>
          </a:p>
        </p:txBody>
      </p:sp>
      <p:sp>
        <p:nvSpPr>
          <p:cNvPr id="37" name="">
            <a:extLst xmlns:a="http://schemas.openxmlformats.org/drawingml/2006/main">
              <a:ext uri="{FF2B5EF4-FFF2-40B4-BE49-F238E27FC236}">
                <a16:creationId xmlns:a16="http://schemas.microsoft.com/office/drawing/2014/main" id="{2A1DEB2C-B557-4A3B-94C2-87FA6467DAA0}"/>
              </a:ext>
            </a:extLst>
          </p:cNvPr>
          <p:cNvSpPr>
            <a:spLocks xmlns:a="http://schemas.openxmlformats.org/drawingml/2006/main" noGrp="1"/>
          </p:cNvSpPr>
          <p:nvPr/>
        </p:nvSpPr>
        <p:spPr>
          <a:xfrm xmlns:a="http://schemas.openxmlformats.org/drawingml/2006/main">
            <a:off x="6286500" y="4943475"/>
            <a:ext cx="76200" cy="76200"/>
          </a:xfrm>
          <a:prstGeom xmlns:a="http://schemas.openxmlformats.org/drawingml/2006/main" prst="roundRect">
            <a:avLst>
              <a:gd name="adj" fmla="val 50000"/>
            </a:avLst>
          </a:prstGeom>
          <a:solidFill xmlns:a="http://schemas.openxmlformats.org/drawingml/2006/main">
            <a:srgbClr val="2B6DE9"/>
          </a:solidFill>
          <a:ln xmlns:a="http://schemas.openxmlformats.org/drawingml/2006/main" w="11430">
            <a:solidFill>
              <a:srgbClr val="2B6DE9"/>
            </a:solidFill>
            <a:prstDash val="solid"/>
          </a:ln>
        </p:spPr>
      </p:sp>
      <p:sp>
        <p:nvSpPr>
          <p:cNvPr id="38" name="">
            <a:extLst xmlns:a="http://schemas.openxmlformats.org/drawingml/2006/main">
              <a:ext uri="{FF2B5EF4-FFF2-40B4-BE49-F238E27FC236}">
                <a16:creationId xmlns:a16="http://schemas.microsoft.com/office/drawing/2014/main" id="{8CA5218F-95C4-4553-BABE-ED75D807A11D}"/>
              </a:ext>
            </a:extLst>
          </p:cNvPr>
          <p:cNvSpPr>
            <a:spLocks xmlns:a="http://schemas.openxmlformats.org/drawingml/2006/main" noGrp="1"/>
          </p:cNvSpPr>
          <p:nvPr/>
        </p:nvSpPr>
        <p:spPr>
          <a:xfrm xmlns:a="http://schemas.openxmlformats.org/drawingml/2006/main">
            <a:off x="6496050" y="4857750"/>
            <a:ext cx="474345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a:solidFill>
                  <a:srgbClr val="0A1628"/>
                </a:solidFill>
              </a:defRPr>
            </a:pPr>
            <a:r>
              <a:rPr sz="1500" b="0">
                <a:solidFill>
                  <a:srgbClr val="0A1628"/>
                </a:solidFill>
              </a:rPr>
              <a:t>Stalls grow when expert locality is poor or choices vary rapidly.</a:t>
            </a:r>
          </a:p>
        </p:txBody>
      </p:sp>
      <p:sp>
        <p:nvSpPr>
          <p:cNvPr id="39" name="">
            <a:extLst xmlns:a="http://schemas.openxmlformats.org/drawingml/2006/main">
              <a:ext uri="{FF2B5EF4-FFF2-40B4-BE49-F238E27FC236}">
                <a16:creationId xmlns:a16="http://schemas.microsoft.com/office/drawing/2014/main" id="{7DA48E5B-FBD0-48C0-AA5B-4E1D357FD7D9}"/>
              </a:ext>
            </a:extLst>
          </p:cNvPr>
          <p:cNvSpPr>
            <a:spLocks xmlns:a="http://schemas.openxmlformats.org/drawingml/2006/main" noGrp="1"/>
          </p:cNvSpPr>
          <p:nvPr/>
        </p:nvSpPr>
        <p:spPr>
          <a:xfrm xmlns:a="http://schemas.openxmlformats.org/drawingml/2006/main">
            <a:off x="609600" y="5838825"/>
            <a:ext cx="47625" cy="228600"/>
          </a:xfrm>
          <a:prstGeom xmlns:a="http://schemas.openxmlformats.org/drawingml/2006/main" prst="rect">
            <a:avLst/>
          </a:prstGeom>
          <a:solidFill xmlns:a="http://schemas.openxmlformats.org/drawingml/2006/main">
            <a:srgbClr val="E98A15"/>
          </a:solidFill>
          <a:ln xmlns:a="http://schemas.openxmlformats.org/drawingml/2006/main" w="11430">
            <a:solidFill>
              <a:srgbClr val="E98A15"/>
            </a:solidFill>
            <a:prstDash val="solid"/>
          </a:ln>
        </p:spPr>
      </p:sp>
      <p:sp>
        <p:nvSpPr>
          <p:cNvPr id="40" name="">
            <a:extLst xmlns:a="http://schemas.openxmlformats.org/drawingml/2006/main">
              <a:ext uri="{FF2B5EF4-FFF2-40B4-BE49-F238E27FC236}">
                <a16:creationId xmlns:a16="http://schemas.microsoft.com/office/drawing/2014/main" id="{75C0CB61-D764-4798-AD72-C5E9D3EE626E}"/>
              </a:ext>
            </a:extLst>
          </p:cNvPr>
          <p:cNvSpPr>
            <a:spLocks xmlns:a="http://schemas.openxmlformats.org/drawingml/2006/main" noGrp="1"/>
          </p:cNvSpPr>
          <p:nvPr/>
        </p:nvSpPr>
        <p:spPr>
          <a:xfrm xmlns:a="http://schemas.openxmlformats.org/drawingml/2006/main">
            <a:off x="742950" y="5819775"/>
            <a:ext cx="3009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E98A15"/>
                </a:solidFill>
              </a:defRPr>
            </a:pPr>
            <a:r>
              <a:rPr sz="1050" b="1">
                <a:solidFill>
                  <a:srgbClr val="E98A15"/>
                </a:solidFill>
              </a:rPr>
              <a:t>ENGINEERING PATTERN—VERIFY RUNTIME</a:t>
            </a:r>
          </a:p>
        </p:txBody>
      </p:sp>
      <p:sp>
        <p:nvSpPr>
          <p:cNvPr id="41" name="">
            <a:extLst xmlns:a="http://schemas.openxmlformats.org/drawingml/2006/main">
              <a:ext uri="{FF2B5EF4-FFF2-40B4-BE49-F238E27FC236}">
                <a16:creationId xmlns:a16="http://schemas.microsoft.com/office/drawing/2014/main" id="{1F1EFFA2-CD5A-42BB-9407-D8D6783965CF}"/>
              </a:ext>
            </a:extLst>
          </p:cNvPr>
          <p:cNvSpPr>
            <a:spLocks xmlns:a="http://schemas.openxmlformats.org/drawingml/2006/main" noGrp="1"/>
          </p:cNvSpPr>
          <p:nvPr/>
        </p:nvSpPr>
        <p:spPr>
          <a:xfrm xmlns:a="http://schemas.openxmlformats.org/drawingml/2006/main">
            <a:off x="3762375" y="5753100"/>
            <a:ext cx="776287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37475B"/>
                </a:solidFill>
              </a:defRPr>
            </a:pPr>
            <a:r>
              <a:rPr sz="1350" b="0">
                <a:solidFill>
                  <a:srgbClr val="37475B"/>
                </a:solidFill>
              </a:rPr>
              <a:t>Dense layer-on-demand streaming with asynchronous prefetch is common in NVMe offload systems, but current public Phison pages emphasize KV reuse and MoE; Link 3 carries inference features.</a:t>
            </a:r>
          </a:p>
        </p:txBody>
      </p:sp>
    </p:spTree>
    <p:extLst>
      <p:ext uri="{BB962C8B-B14F-4D97-AF65-F5344CB8AC3E}">
        <p14:creationId xmlns:p14="http://schemas.microsoft.com/office/powerpoint/2010/main" val="1268828699"/>
      </p:ext>
    </p:extLst>
  </p:cSld>
</p:sld>
</file>

<file path=ppt/slides/slide5.xml><?xml version="1.0" encoding="utf-8"?>
<p:sld xmlns:p="http://schemas.openxmlformats.org/presentationml/2006/main">
  <p:cSld>
    <p:bg>
      <p:bgPr>
        <a:solidFill xmlns:a="http://schemas.openxmlformats.org/drawingml/2006/main">
          <a:srgbClr val="F4F7FB"/>
        </a:solidFill>
      </p:bgPr>
    </p:bg>
    <p:spTree>
      <p:nvGrpSpPr>
        <p:cNvPr id="1" name=""/>
        <p:cNvGrpSpPr/>
        <p:nvPr/>
      </p:nvGrpSpPr>
      <p:grpSpPr>
        <a:xfrm xmlns:a="http://schemas.openxmlformats.org/drawingml/2006/main"/>
      </p:grpSpPr>
      <p:sp>
        <p:nvSpPr>
          <p:cNvPr id="42" name="">
            <a:extLst xmlns:a="http://schemas.openxmlformats.org/drawingml/2006/main">
              <a:ext uri="{FF2B5EF4-FFF2-40B4-BE49-F238E27FC236}">
                <a16:creationId xmlns:a16="http://schemas.microsoft.com/office/drawing/2014/main" id="{B2D7187D-E113-4293-A2FF-435C3145B3EA}"/>
              </a:ext>
            </a:extLst>
          </p:cNvPr>
          <p:cNvSpPr>
            <a:spLocks xmlns:a="http://schemas.openxmlformats.org/drawingml/2006/main" noGrp="1"/>
          </p:cNvSpPr>
          <p:nvPr/>
        </p:nvSpPr>
        <p:spPr>
          <a:xfrm xmlns:a="http://schemas.openxmlformats.org/drawingml/2006/main">
            <a:off x="609600" y="257175"/>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2B6DE9"/>
                </a:solidFill>
              </a:defRPr>
            </a:pPr>
            <a:r>
              <a:rPr sz="1050" b="1">
                <a:solidFill>
                  <a:srgbClr val="2B6DE9"/>
                </a:solidFill>
              </a:rPr>
              <a:t>AIDAPTIV FOR FINE-TUNING</a:t>
            </a:r>
          </a:p>
        </p:txBody>
      </p:sp>
      <p:sp>
        <p:nvSpPr>
          <p:cNvPr id="2" name="">
            <a:extLst xmlns:a="http://schemas.openxmlformats.org/drawingml/2006/main">
              <a:ext uri="{FF2B5EF4-FFF2-40B4-BE49-F238E27FC236}">
                <a16:creationId xmlns:a16="http://schemas.microsoft.com/office/drawing/2014/main" id="{71408EF3-FC75-4DC0-A6CD-F3A5A285761A}"/>
              </a:ext>
            </a:extLst>
          </p:cNvPr>
          <p:cNvSpPr>
            <a:spLocks xmlns:a="http://schemas.openxmlformats.org/drawingml/2006/main" noGrp="1"/>
          </p:cNvSpPr>
          <p:nvPr/>
        </p:nvSpPr>
        <p:spPr>
          <a:xfrm xmlns:a="http://schemas.openxmlformats.org/drawingml/2006/main">
            <a:off x="11191875" y="219075"/>
            <a:ext cx="476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200" b="1">
                <a:solidFill>
                  <a:srgbClr val="53657A"/>
                </a:solidFill>
              </a:defRPr>
            </a:pPr>
            <a:r>
              <a:rPr sz="1200" b="1">
                <a:solidFill>
                  <a:srgbClr val="53657A"/>
                </a:solidFill>
              </a:rPr>
              <a:t>05</a:t>
            </a:r>
          </a:p>
        </p:txBody>
      </p:sp>
      <p:sp>
        <p:nvSpPr>
          <p:cNvPr id="3" name="">
            <a:extLst xmlns:a="http://schemas.openxmlformats.org/drawingml/2006/main">
              <a:ext uri="{FF2B5EF4-FFF2-40B4-BE49-F238E27FC236}">
                <a16:creationId xmlns:a16="http://schemas.microsoft.com/office/drawing/2014/main" id="{49E01B03-4DFA-4A36-A7FA-C66F7C2F24F7}"/>
              </a:ext>
            </a:extLst>
          </p:cNvPr>
          <p:cNvSpPr>
            <a:spLocks xmlns:a="http://schemas.openxmlformats.org/drawingml/2006/main" noGrp="1"/>
          </p:cNvSpPr>
          <p:nvPr/>
        </p:nvSpPr>
        <p:spPr>
          <a:xfrm xmlns:a="http://schemas.openxmlformats.org/drawingml/2006/main">
            <a:off x="609600" y="552450"/>
            <a:ext cx="109061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600" b="1">
                <a:solidFill>
                  <a:srgbClr val="0A1628"/>
                </a:solidFill>
              </a:defRPr>
            </a:pPr>
            <a:r>
              <a:rPr sz="3600" b="1">
                <a:solidFill>
                  <a:srgbClr val="0A1628"/>
                </a:solidFill>
              </a:rPr>
              <a:t>Elastic Fine-Tuning is a core capability</a:t>
            </a:r>
          </a:p>
        </p:txBody>
      </p:sp>
      <p:sp>
        <p:nvSpPr>
          <p:cNvPr id="4" name="">
            <a:extLst xmlns:a="http://schemas.openxmlformats.org/drawingml/2006/main">
              <a:ext uri="{FF2B5EF4-FFF2-40B4-BE49-F238E27FC236}">
                <a16:creationId xmlns:a16="http://schemas.microsoft.com/office/drawing/2014/main" id="{012442C8-A144-4344-9B4D-19422E3B49E8}"/>
              </a:ext>
            </a:extLst>
          </p:cNvPr>
          <p:cNvSpPr>
            <a:spLocks xmlns:a="http://schemas.openxmlformats.org/drawingml/2006/main" noGrp="1"/>
          </p:cNvSpPr>
          <p:nvPr/>
        </p:nvSpPr>
        <p:spPr>
          <a:xfrm xmlns:a="http://schemas.openxmlformats.org/drawingml/2006/main">
            <a:off x="609600" y="1200150"/>
            <a:ext cx="10972800" cy="0"/>
          </a:xfrm>
          <a:prstGeom xmlns:a="http://schemas.openxmlformats.org/drawingml/2006/main" prst="line">
            <a:avLst/>
          </a:prstGeom>
          <a:noFill xmlns:a="http://schemas.openxmlformats.org/drawingml/2006/main"/>
          <a:ln xmlns:a="http://schemas.openxmlformats.org/drawingml/2006/main" w="11430">
            <a:solidFill>
              <a:srgbClr val="C8D3E0"/>
            </a:solidFill>
            <a:prstDash val="solid"/>
          </a:ln>
        </p:spPr>
      </p:sp>
      <p:sp>
        <p:nvSpPr>
          <p:cNvPr id="5" name="">
            <a:extLst xmlns:a="http://schemas.openxmlformats.org/drawingml/2006/main">
              <a:ext uri="{FF2B5EF4-FFF2-40B4-BE49-F238E27FC236}">
                <a16:creationId xmlns:a16="http://schemas.microsoft.com/office/drawing/2014/main" id="{43E8C165-E99F-48E6-95E3-108DADB5B8BE}"/>
              </a:ext>
            </a:extLst>
          </p:cNvPr>
          <p:cNvSpPr>
            <a:spLocks xmlns:a="http://schemas.openxmlformats.org/drawingml/2006/main" noGrp="1"/>
          </p:cNvSpPr>
          <p:nvPr/>
        </p:nvSpPr>
        <p:spPr>
          <a:xfrm xmlns:a="http://schemas.openxmlformats.org/drawingml/2006/main">
            <a:off x="609600" y="6543675"/>
            <a:ext cx="10096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7B8796"/>
                </a:solidFill>
              </a:defRPr>
            </a:pPr>
            <a:r>
              <a:rPr sz="900" b="0">
                <a:solidFill>
                  <a:srgbClr val="7B8796"/>
                </a:solidFill>
              </a:rPr>
              <a:t>Phison aiDAPTIV technical architecture  •  Sources and claim boundaries in speaker notes</a:t>
            </a:r>
          </a:p>
        </p:txBody>
      </p:sp>
      <p:sp>
        <p:nvSpPr>
          <p:cNvPr id="6" name="">
            <a:extLst xmlns:a="http://schemas.openxmlformats.org/drawingml/2006/main">
              <a:ext uri="{FF2B5EF4-FFF2-40B4-BE49-F238E27FC236}">
                <a16:creationId xmlns:a16="http://schemas.microsoft.com/office/drawing/2014/main" id="{143F1060-264D-4846-85CA-05E2D18BF650}"/>
              </a:ext>
            </a:extLst>
          </p:cNvPr>
          <p:cNvSpPr>
            <a:spLocks xmlns:a="http://schemas.openxmlformats.org/drawingml/2006/main" noGrp="1"/>
          </p:cNvSpPr>
          <p:nvPr/>
        </p:nvSpPr>
        <p:spPr>
          <a:xfrm xmlns:a="http://schemas.openxmlformats.org/drawingml/2006/main">
            <a:off x="609600" y="1457325"/>
            <a:ext cx="47625" cy="228600"/>
          </a:xfrm>
          <a:prstGeom xmlns:a="http://schemas.openxmlformats.org/drawingml/2006/main" prst="rect">
            <a:avLst/>
          </a:prstGeom>
          <a:solidFill xmlns:a="http://schemas.openxmlformats.org/drawingml/2006/main">
            <a:srgbClr val="09866A"/>
          </a:solidFill>
          <a:ln xmlns:a="http://schemas.openxmlformats.org/drawingml/2006/main" w="11430">
            <a:solidFill>
              <a:srgbClr val="09866A"/>
            </a:solidFill>
            <a:prstDash val="solid"/>
          </a:ln>
        </p:spPr>
      </p:sp>
      <p:sp>
        <p:nvSpPr>
          <p:cNvPr id="7" name="">
            <a:extLst xmlns:a="http://schemas.openxmlformats.org/drawingml/2006/main">
              <a:ext uri="{FF2B5EF4-FFF2-40B4-BE49-F238E27FC236}">
                <a16:creationId xmlns:a16="http://schemas.microsoft.com/office/drawing/2014/main" id="{39CEF870-AA35-4365-BDF6-D2DDE6E76565}"/>
              </a:ext>
            </a:extLst>
          </p:cNvPr>
          <p:cNvSpPr>
            <a:spLocks xmlns:a="http://schemas.openxmlformats.org/drawingml/2006/main" noGrp="1"/>
          </p:cNvSpPr>
          <p:nvPr/>
        </p:nvSpPr>
        <p:spPr>
          <a:xfrm xmlns:a="http://schemas.openxmlformats.org/drawingml/2006/main">
            <a:off x="742950" y="1438275"/>
            <a:ext cx="2247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09866A"/>
                </a:solidFill>
              </a:defRPr>
            </a:pPr>
            <a:r>
              <a:rPr sz="1050" b="1">
                <a:solidFill>
                  <a:srgbClr val="09866A"/>
                </a:solidFill>
              </a:rPr>
              <a:t>OFFICIAL LINK 2 CAPABILITIES</a:t>
            </a:r>
          </a:p>
        </p:txBody>
      </p:sp>
      <p:sp>
        <p:nvSpPr>
          <p:cNvPr id="8" name="">
            <a:extLst xmlns:a="http://schemas.openxmlformats.org/drawingml/2006/main">
              <a:ext uri="{FF2B5EF4-FFF2-40B4-BE49-F238E27FC236}">
                <a16:creationId xmlns:a16="http://schemas.microsoft.com/office/drawing/2014/main" id="{091DBC6D-F1DD-4868-8DBD-0D30EF2BE9A1}"/>
              </a:ext>
            </a:extLst>
          </p:cNvPr>
          <p:cNvSpPr>
            <a:spLocks xmlns:a="http://schemas.openxmlformats.org/drawingml/2006/main" noGrp="1"/>
          </p:cNvSpPr>
          <p:nvPr/>
        </p:nvSpPr>
        <p:spPr>
          <a:xfrm xmlns:a="http://schemas.openxmlformats.org/drawingml/2006/main">
            <a:off x="3933825" y="3028950"/>
            <a:ext cx="381000" cy="419100"/>
          </a:xfrm>
          <a:prstGeom xmlns:a="http://schemas.openxmlformats.org/drawingml/2006/main" prst="downArrow">
            <a:avLst/>
          </a:prstGeom>
          <a:solidFill xmlns:a="http://schemas.openxmlformats.org/drawingml/2006/main">
            <a:srgbClr val="E98A15"/>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C73B6DF1-8329-452E-B3E1-B111AD1B2B01}"/>
              </a:ext>
            </a:extLst>
          </p:cNvPr>
          <p:cNvSpPr>
            <a:spLocks xmlns:a="http://schemas.openxmlformats.org/drawingml/2006/main" noGrp="1"/>
          </p:cNvSpPr>
          <p:nvPr/>
        </p:nvSpPr>
        <p:spPr>
          <a:xfrm xmlns:a="http://schemas.openxmlformats.org/drawingml/2006/main">
            <a:off x="3933825" y="4305300"/>
            <a:ext cx="381000" cy="419100"/>
          </a:xfrm>
          <a:prstGeom xmlns:a="http://schemas.openxmlformats.org/drawingml/2006/main" prst="downArrow">
            <a:avLst/>
          </a:prstGeom>
          <a:solidFill xmlns:a="http://schemas.openxmlformats.org/drawingml/2006/main">
            <a:srgbClr val="0A9DB5"/>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4BA780E5-8E54-4DC3-9C3E-793BC11DEA49}"/>
              </a:ext>
            </a:extLst>
          </p:cNvPr>
          <p:cNvSpPr>
            <a:spLocks xmlns:a="http://schemas.openxmlformats.org/drawingml/2006/main" noGrp="1"/>
          </p:cNvSpPr>
          <p:nvPr/>
        </p:nvSpPr>
        <p:spPr>
          <a:xfrm xmlns:a="http://schemas.openxmlformats.org/drawingml/2006/main">
            <a:off x="3933825" y="5534025"/>
            <a:ext cx="381000" cy="419100"/>
          </a:xfrm>
          <a:prstGeom xmlns:a="http://schemas.openxmlformats.org/drawingml/2006/main" prst="downArrow">
            <a:avLst/>
          </a:prstGeom>
          <a:solidFill xmlns:a="http://schemas.openxmlformats.org/drawingml/2006/main">
            <a:srgbClr val="7157D9"/>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2AA6BB6F-D5F8-4651-A9C9-938EE36EC97F}"/>
              </a:ext>
            </a:extLst>
          </p:cNvPr>
          <p:cNvSpPr>
            <a:spLocks xmlns:a="http://schemas.openxmlformats.org/drawingml/2006/main" noGrp="1"/>
          </p:cNvSpPr>
          <p:nvPr/>
        </p:nvSpPr>
        <p:spPr>
          <a:xfrm xmlns:a="http://schemas.openxmlformats.org/drawingml/2006/main">
            <a:off x="609600" y="1809750"/>
            <a:ext cx="6810375" cy="1314450"/>
          </a:xfrm>
          <a:prstGeom xmlns:a="http://schemas.openxmlformats.org/drawingml/2006/main" prst="roundRect">
            <a:avLst>
              <a:gd name="adj" fmla="val 8696"/>
            </a:avLst>
          </a:prstGeom>
          <a:solidFill xmlns:a="http://schemas.openxmlformats.org/drawingml/2006/main">
            <a:srgbClr val="FFF2DF"/>
          </a:solidFill>
          <a:ln xmlns:a="http://schemas.openxmlformats.org/drawingml/2006/main" w="11430">
            <a:solidFill>
              <a:srgbClr val="E98A15"/>
            </a:solidFill>
            <a:prstDash val="solid"/>
          </a:ln>
        </p:spPr>
      </p:sp>
      <p:sp>
        <p:nvSpPr>
          <p:cNvPr id="12" name="">
            <a:extLst xmlns:a="http://schemas.openxmlformats.org/drawingml/2006/main">
              <a:ext uri="{FF2B5EF4-FFF2-40B4-BE49-F238E27FC236}">
                <a16:creationId xmlns:a16="http://schemas.microsoft.com/office/drawing/2014/main" id="{40564DB0-32D0-4E80-8A21-C5F0CD7E9A25}"/>
              </a:ext>
            </a:extLst>
          </p:cNvPr>
          <p:cNvSpPr>
            <a:spLocks xmlns:a="http://schemas.openxmlformats.org/drawingml/2006/main" noGrp="1"/>
          </p:cNvSpPr>
          <p:nvPr/>
        </p:nvSpPr>
        <p:spPr>
          <a:xfrm xmlns:a="http://schemas.openxmlformats.org/drawingml/2006/main">
            <a:off x="838200" y="1990725"/>
            <a:ext cx="619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100" b="1">
                <a:solidFill>
                  <a:srgbClr val="E98A15"/>
                </a:solidFill>
              </a:defRPr>
            </a:pPr>
            <a:r>
              <a:rPr sz="2100" b="1">
                <a:solidFill>
                  <a:srgbClr val="E98A15"/>
                </a:solidFill>
              </a:rPr>
              <a:t>aiDAPTIV Cache Memory</a:t>
            </a:r>
          </a:p>
        </p:txBody>
      </p:sp>
      <p:sp>
        <p:nvSpPr>
          <p:cNvPr id="13" name="">
            <a:extLst xmlns:a="http://schemas.openxmlformats.org/drawingml/2006/main">
              <a:ext uri="{FF2B5EF4-FFF2-40B4-BE49-F238E27FC236}">
                <a16:creationId xmlns:a16="http://schemas.microsoft.com/office/drawing/2014/main" id="{657B5E70-E7DB-48ED-AFD2-557C3BE93478}"/>
              </a:ext>
            </a:extLst>
          </p:cNvPr>
          <p:cNvSpPr>
            <a:spLocks xmlns:a="http://schemas.openxmlformats.org/drawingml/2006/main" noGrp="1"/>
          </p:cNvSpPr>
          <p:nvPr/>
        </p:nvSpPr>
        <p:spPr>
          <a:xfrm xmlns:a="http://schemas.openxmlformats.org/drawingml/2006/main">
            <a:off x="838200" y="2428875"/>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0">
                <a:solidFill>
                  <a:srgbClr val="0A1628"/>
                </a:solidFill>
              </a:defRPr>
            </a:pPr>
            <a:r>
              <a:rPr sz="1425" b="0">
                <a:solidFill>
                  <a:srgbClr val="0A1628"/>
                </a:solidFill>
              </a:rPr>
              <a:t>• model / training state</a:t>
            </a:r>
          </a:p>
        </p:txBody>
      </p:sp>
      <p:sp>
        <p:nvSpPr>
          <p:cNvPr id="14" name="">
            <a:extLst xmlns:a="http://schemas.openxmlformats.org/drawingml/2006/main">
              <a:ext uri="{FF2B5EF4-FFF2-40B4-BE49-F238E27FC236}">
                <a16:creationId xmlns:a16="http://schemas.microsoft.com/office/drawing/2014/main" id="{BC2E9BE6-3ECB-49D5-8B38-54FA219C3D0C}"/>
              </a:ext>
            </a:extLst>
          </p:cNvPr>
          <p:cNvSpPr>
            <a:spLocks xmlns:a="http://schemas.openxmlformats.org/drawingml/2006/main" noGrp="1"/>
          </p:cNvSpPr>
          <p:nvPr/>
        </p:nvSpPr>
        <p:spPr>
          <a:xfrm xmlns:a="http://schemas.openxmlformats.org/drawingml/2006/main">
            <a:off x="3981450" y="2428875"/>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0">
                <a:solidFill>
                  <a:srgbClr val="0A1628"/>
                </a:solidFill>
              </a:defRPr>
            </a:pPr>
            <a:r>
              <a:rPr sz="1425" b="0">
                <a:solidFill>
                  <a:srgbClr val="0A1628"/>
                </a:solidFill>
              </a:rPr>
              <a:t>• optimizer state*</a:t>
            </a:r>
          </a:p>
        </p:txBody>
      </p:sp>
      <p:sp>
        <p:nvSpPr>
          <p:cNvPr id="15" name="">
            <a:extLst xmlns:a="http://schemas.openxmlformats.org/drawingml/2006/main">
              <a:ext uri="{FF2B5EF4-FFF2-40B4-BE49-F238E27FC236}">
                <a16:creationId xmlns:a16="http://schemas.microsoft.com/office/drawing/2014/main" id="{A3FA5039-19FA-4ECF-95E3-372C422A076A}"/>
              </a:ext>
            </a:extLst>
          </p:cNvPr>
          <p:cNvSpPr>
            <a:spLocks xmlns:a="http://schemas.openxmlformats.org/drawingml/2006/main" noGrp="1"/>
          </p:cNvSpPr>
          <p:nvPr/>
        </p:nvSpPr>
        <p:spPr>
          <a:xfrm xmlns:a="http://schemas.openxmlformats.org/drawingml/2006/main">
            <a:off x="838200" y="2752725"/>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0">
                <a:solidFill>
                  <a:srgbClr val="0A1628"/>
                </a:solidFill>
              </a:defRPr>
            </a:pPr>
            <a:r>
              <a:rPr sz="1425" b="0">
                <a:solidFill>
                  <a:srgbClr val="0A1628"/>
                </a:solidFill>
              </a:rPr>
              <a:t>• dataset + checkpoints*</a:t>
            </a:r>
          </a:p>
        </p:txBody>
      </p:sp>
      <p:sp>
        <p:nvSpPr>
          <p:cNvPr id="16" name="">
            <a:extLst xmlns:a="http://schemas.openxmlformats.org/drawingml/2006/main">
              <a:ext uri="{FF2B5EF4-FFF2-40B4-BE49-F238E27FC236}">
                <a16:creationId xmlns:a16="http://schemas.microsoft.com/office/drawing/2014/main" id="{2BAB7BB3-CD6E-48DC-A600-FE36B6CC7B93}"/>
              </a:ext>
            </a:extLst>
          </p:cNvPr>
          <p:cNvSpPr>
            <a:spLocks xmlns:a="http://schemas.openxmlformats.org/drawingml/2006/main" noGrp="1"/>
          </p:cNvSpPr>
          <p:nvPr/>
        </p:nvSpPr>
        <p:spPr>
          <a:xfrm xmlns:a="http://schemas.openxmlformats.org/drawingml/2006/main">
            <a:off x="3981450" y="2752725"/>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0">
                <a:solidFill>
                  <a:srgbClr val="0A1628"/>
                </a:solidFill>
              </a:defRPr>
            </a:pPr>
            <a:r>
              <a:rPr sz="1425" b="0">
                <a:solidFill>
                  <a:srgbClr val="0A1628"/>
                </a:solidFill>
              </a:rPr>
              <a:t>• activations*</a:t>
            </a:r>
          </a:p>
        </p:txBody>
      </p:sp>
      <p:sp>
        <p:nvSpPr>
          <p:cNvPr id="17" name="">
            <a:extLst xmlns:a="http://schemas.openxmlformats.org/drawingml/2006/main">
              <a:ext uri="{FF2B5EF4-FFF2-40B4-BE49-F238E27FC236}">
                <a16:creationId xmlns:a16="http://schemas.microsoft.com/office/drawing/2014/main" id="{3E08C9CF-8A8F-405C-A345-0993A9E5C658}"/>
              </a:ext>
            </a:extLst>
          </p:cNvPr>
          <p:cNvSpPr>
            <a:spLocks xmlns:a="http://schemas.openxmlformats.org/drawingml/2006/main" noGrp="1"/>
          </p:cNvSpPr>
          <p:nvPr/>
        </p:nvSpPr>
        <p:spPr>
          <a:xfrm xmlns:a="http://schemas.openxmlformats.org/drawingml/2006/main">
            <a:off x="2571750" y="3476625"/>
            <a:ext cx="2952750" cy="895350"/>
          </a:xfrm>
          <a:prstGeom xmlns:a="http://schemas.openxmlformats.org/drawingml/2006/main" prst="roundRect">
            <a:avLst>
              <a:gd name="adj" fmla="val 12766"/>
            </a:avLst>
          </a:prstGeom>
          <a:solidFill xmlns:a="http://schemas.openxmlformats.org/drawingml/2006/main">
            <a:srgbClr val="E4F7FA"/>
          </a:solidFill>
          <a:ln xmlns:a="http://schemas.openxmlformats.org/drawingml/2006/main" w="11430">
            <a:solidFill>
              <a:srgbClr val="0A9DB5"/>
            </a:solidFill>
            <a:prstDash val="solid"/>
          </a:ln>
        </p:spPr>
      </p:sp>
      <p:sp>
        <p:nvSpPr>
          <p:cNvPr id="18" name="">
            <a:extLst xmlns:a="http://schemas.openxmlformats.org/drawingml/2006/main">
              <a:ext uri="{FF2B5EF4-FFF2-40B4-BE49-F238E27FC236}">
                <a16:creationId xmlns:a16="http://schemas.microsoft.com/office/drawing/2014/main" id="{00D1F58E-E145-45D8-99CE-B98DABBBD95D}"/>
              </a:ext>
            </a:extLst>
          </p:cNvPr>
          <p:cNvSpPr>
            <a:spLocks xmlns:a="http://schemas.openxmlformats.org/drawingml/2006/main" noGrp="1"/>
          </p:cNvSpPr>
          <p:nvPr/>
        </p:nvSpPr>
        <p:spPr>
          <a:xfrm xmlns:a="http://schemas.openxmlformats.org/drawingml/2006/main">
            <a:off x="2743200" y="3600450"/>
            <a:ext cx="2609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75" b="1">
                <a:solidFill>
                  <a:srgbClr val="0A9DB5"/>
                </a:solidFill>
              </a:defRPr>
            </a:pPr>
            <a:r>
              <a:rPr sz="1875" b="1">
                <a:solidFill>
                  <a:srgbClr val="0A9DB5"/>
                </a:solidFill>
              </a:rPr>
              <a:t>System DRAM</a:t>
            </a:r>
          </a:p>
        </p:txBody>
      </p:sp>
      <p:sp>
        <p:nvSpPr>
          <p:cNvPr id="19" name="">
            <a:extLst xmlns:a="http://schemas.openxmlformats.org/drawingml/2006/main">
              <a:ext uri="{FF2B5EF4-FFF2-40B4-BE49-F238E27FC236}">
                <a16:creationId xmlns:a16="http://schemas.microsoft.com/office/drawing/2014/main" id="{02011C3F-48A2-4E95-83EF-F586FB662030}"/>
              </a:ext>
            </a:extLst>
          </p:cNvPr>
          <p:cNvSpPr>
            <a:spLocks xmlns:a="http://schemas.openxmlformats.org/drawingml/2006/main" noGrp="1"/>
          </p:cNvSpPr>
          <p:nvPr/>
        </p:nvSpPr>
        <p:spPr>
          <a:xfrm xmlns:a="http://schemas.openxmlformats.org/drawingml/2006/main">
            <a:off x="2743200" y="3962400"/>
            <a:ext cx="26098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0">
                <a:solidFill>
                  <a:srgbClr val="53657A"/>
                </a:solidFill>
              </a:defRPr>
            </a:pPr>
            <a:r>
              <a:rPr sz="1200" b="0">
                <a:solidFill>
                  <a:srgbClr val="53657A"/>
                </a:solidFill>
              </a:rPr>
              <a:t>staging • CPU Adam • near-term</a:t>
            </a:r>
          </a:p>
        </p:txBody>
      </p:sp>
      <p:sp>
        <p:nvSpPr>
          <p:cNvPr id="20" name="">
            <a:extLst xmlns:a="http://schemas.openxmlformats.org/drawingml/2006/main">
              <a:ext uri="{FF2B5EF4-FFF2-40B4-BE49-F238E27FC236}">
                <a16:creationId xmlns:a16="http://schemas.microsoft.com/office/drawing/2014/main" id="{DA7F9E9C-8862-495E-BFF3-BF4FDDEDB44E}"/>
              </a:ext>
            </a:extLst>
          </p:cNvPr>
          <p:cNvSpPr>
            <a:spLocks xmlns:a="http://schemas.openxmlformats.org/drawingml/2006/main" noGrp="1"/>
          </p:cNvSpPr>
          <p:nvPr/>
        </p:nvSpPr>
        <p:spPr>
          <a:xfrm xmlns:a="http://schemas.openxmlformats.org/drawingml/2006/main">
            <a:off x="2571750" y="4752975"/>
            <a:ext cx="2952750" cy="895350"/>
          </a:xfrm>
          <a:prstGeom xmlns:a="http://schemas.openxmlformats.org/drawingml/2006/main" prst="roundRect">
            <a:avLst>
              <a:gd name="adj" fmla="val 12766"/>
            </a:avLst>
          </a:prstGeom>
          <a:solidFill xmlns:a="http://schemas.openxmlformats.org/drawingml/2006/main">
            <a:srgbClr val="EEEAFE"/>
          </a:solidFill>
          <a:ln xmlns:a="http://schemas.openxmlformats.org/drawingml/2006/main" w="11430">
            <a:solidFill>
              <a:srgbClr val="7157D9"/>
            </a:solidFill>
            <a:prstDash val="solid"/>
          </a:ln>
        </p:spPr>
      </p:sp>
      <p:sp>
        <p:nvSpPr>
          <p:cNvPr id="21" name="">
            <a:extLst xmlns:a="http://schemas.openxmlformats.org/drawingml/2006/main">
              <a:ext uri="{FF2B5EF4-FFF2-40B4-BE49-F238E27FC236}">
                <a16:creationId xmlns:a16="http://schemas.microsoft.com/office/drawing/2014/main" id="{5462239C-81B8-49F9-83D1-4744E86F5D6D}"/>
              </a:ext>
            </a:extLst>
          </p:cNvPr>
          <p:cNvSpPr>
            <a:spLocks xmlns:a="http://schemas.openxmlformats.org/drawingml/2006/main" noGrp="1"/>
          </p:cNvSpPr>
          <p:nvPr/>
        </p:nvSpPr>
        <p:spPr>
          <a:xfrm xmlns:a="http://schemas.openxmlformats.org/drawingml/2006/main">
            <a:off x="2743200" y="4876800"/>
            <a:ext cx="2609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75" b="1">
                <a:solidFill>
                  <a:srgbClr val="7157D9"/>
                </a:solidFill>
              </a:defRPr>
            </a:pPr>
            <a:r>
              <a:rPr sz="1875" b="1">
                <a:solidFill>
                  <a:srgbClr val="7157D9"/>
                </a:solidFill>
              </a:rPr>
              <a:t>GPU VRAM</a:t>
            </a:r>
          </a:p>
        </p:txBody>
      </p:sp>
      <p:sp>
        <p:nvSpPr>
          <p:cNvPr id="22" name="">
            <a:extLst xmlns:a="http://schemas.openxmlformats.org/drawingml/2006/main">
              <a:ext uri="{FF2B5EF4-FFF2-40B4-BE49-F238E27FC236}">
                <a16:creationId xmlns:a16="http://schemas.microsoft.com/office/drawing/2014/main" id="{F594E700-8AA7-436E-B2A0-814FE8C562A4}"/>
              </a:ext>
            </a:extLst>
          </p:cNvPr>
          <p:cNvSpPr>
            <a:spLocks xmlns:a="http://schemas.openxmlformats.org/drawingml/2006/main" noGrp="1"/>
          </p:cNvSpPr>
          <p:nvPr/>
        </p:nvSpPr>
        <p:spPr>
          <a:xfrm xmlns:a="http://schemas.openxmlformats.org/drawingml/2006/main">
            <a:off x="2743200" y="5238750"/>
            <a:ext cx="26098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0">
                <a:solidFill>
                  <a:srgbClr val="53657A"/>
                </a:solidFill>
              </a:defRPr>
            </a:pPr>
            <a:r>
              <a:rPr sz="1200" b="0">
                <a:solidFill>
                  <a:srgbClr val="53657A"/>
                </a:solidFill>
              </a:rPr>
              <a:t>current layers • grads • activations</a:t>
            </a:r>
          </a:p>
        </p:txBody>
      </p:sp>
      <p:sp>
        <p:nvSpPr>
          <p:cNvPr id="23" name="">
            <a:extLst xmlns:a="http://schemas.openxmlformats.org/drawingml/2006/main">
              <a:ext uri="{FF2B5EF4-FFF2-40B4-BE49-F238E27FC236}">
                <a16:creationId xmlns:a16="http://schemas.microsoft.com/office/drawing/2014/main" id="{3D6A8ED1-902C-430C-8992-724D60E4B828}"/>
              </a:ext>
            </a:extLst>
          </p:cNvPr>
          <p:cNvSpPr>
            <a:spLocks xmlns:a="http://schemas.openxmlformats.org/drawingml/2006/main" noGrp="1"/>
          </p:cNvSpPr>
          <p:nvPr/>
        </p:nvSpPr>
        <p:spPr>
          <a:xfrm xmlns:a="http://schemas.openxmlformats.org/drawingml/2006/main">
            <a:off x="2571750" y="5981700"/>
            <a:ext cx="2952750" cy="323850"/>
          </a:xfrm>
          <a:prstGeom xmlns:a="http://schemas.openxmlformats.org/drawingml/2006/main" prst="roundRect">
            <a:avLst>
              <a:gd name="adj" fmla="val 23529"/>
            </a:avLst>
          </a:prstGeom>
          <a:solidFill xmlns:a="http://schemas.openxmlformats.org/drawingml/2006/main">
            <a:srgbClr val="10253F"/>
          </a:solidFill>
          <a:ln xmlns:a="http://schemas.openxmlformats.org/drawingml/2006/main" w="11430">
            <a:solidFill>
              <a:srgbClr val="10253F"/>
            </a:solidFill>
            <a:prstDash val="solid"/>
          </a:ln>
        </p:spPr>
      </p:sp>
      <p:sp>
        <p:nvSpPr>
          <p:cNvPr id="24" name="">
            <a:extLst xmlns:a="http://schemas.openxmlformats.org/drawingml/2006/main">
              <a:ext uri="{FF2B5EF4-FFF2-40B4-BE49-F238E27FC236}">
                <a16:creationId xmlns:a16="http://schemas.microsoft.com/office/drawing/2014/main" id="{59B2DEA6-F4C2-435A-A809-DE6788ADAFF7}"/>
              </a:ext>
            </a:extLst>
          </p:cNvPr>
          <p:cNvSpPr>
            <a:spLocks xmlns:a="http://schemas.openxmlformats.org/drawingml/2006/main" noGrp="1"/>
          </p:cNvSpPr>
          <p:nvPr/>
        </p:nvSpPr>
        <p:spPr>
          <a:xfrm xmlns:a="http://schemas.openxmlformats.org/drawingml/2006/main">
            <a:off x="2686050" y="6019800"/>
            <a:ext cx="27241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1">
                <a:solidFill>
                  <a:srgbClr val="FFFFFF"/>
                </a:solidFill>
              </a:defRPr>
            </a:pPr>
            <a:r>
              <a:rPr sz="1200" b="1">
                <a:solidFill>
                  <a:srgbClr val="FFFFFF"/>
                </a:solidFill>
              </a:rPr>
              <a:t>forward • backward • update</a:t>
            </a:r>
          </a:p>
        </p:txBody>
      </p:sp>
      <p:sp>
        <p:nvSpPr>
          <p:cNvPr id="25" name="">
            <a:extLst xmlns:a="http://schemas.openxmlformats.org/drawingml/2006/main">
              <a:ext uri="{FF2B5EF4-FFF2-40B4-BE49-F238E27FC236}">
                <a16:creationId xmlns:a16="http://schemas.microsoft.com/office/drawing/2014/main" id="{2FF06B5C-AFE6-4896-9F14-F8C2D853984F}"/>
              </a:ext>
            </a:extLst>
          </p:cNvPr>
          <p:cNvSpPr>
            <a:spLocks xmlns:a="http://schemas.openxmlformats.org/drawingml/2006/main" noGrp="1"/>
          </p:cNvSpPr>
          <p:nvPr/>
        </p:nvSpPr>
        <p:spPr>
          <a:xfrm xmlns:a="http://schemas.openxmlformats.org/drawingml/2006/main">
            <a:off x="7810500" y="1809750"/>
            <a:ext cx="3752850" cy="3838575"/>
          </a:xfrm>
          <a:prstGeom xmlns:a="http://schemas.openxmlformats.org/drawingml/2006/main" prst="roundRect">
            <a:avLst>
              <a:gd name="adj" fmla="val 3046"/>
            </a:avLst>
          </a:prstGeom>
          <a:solidFill xmlns:a="http://schemas.openxmlformats.org/drawingml/2006/main">
            <a:srgbClr val="FFFFFF"/>
          </a:solidFill>
          <a:ln xmlns:a="http://schemas.openxmlformats.org/drawingml/2006/main" w="11430">
            <a:solidFill>
              <a:srgbClr val="C8D3E0"/>
            </a:solidFill>
            <a:prstDash val="solid"/>
          </a:ln>
        </p:spPr>
      </p:sp>
      <p:sp>
        <p:nvSpPr>
          <p:cNvPr id="26" name="">
            <a:extLst xmlns:a="http://schemas.openxmlformats.org/drawingml/2006/main">
              <a:ext uri="{FF2B5EF4-FFF2-40B4-BE49-F238E27FC236}">
                <a16:creationId xmlns:a16="http://schemas.microsoft.com/office/drawing/2014/main" id="{763DCF1B-B1A5-4045-8CA1-FE159C94CF0B}"/>
              </a:ext>
            </a:extLst>
          </p:cNvPr>
          <p:cNvSpPr>
            <a:spLocks xmlns:a="http://schemas.openxmlformats.org/drawingml/2006/main" noGrp="1"/>
          </p:cNvSpPr>
          <p:nvPr/>
        </p:nvSpPr>
        <p:spPr>
          <a:xfrm xmlns:a="http://schemas.openxmlformats.org/drawingml/2006/main">
            <a:off x="8058150" y="2009775"/>
            <a:ext cx="3238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250" b="1">
                <a:solidFill>
                  <a:srgbClr val="2B6DE9"/>
                </a:solidFill>
              </a:defRPr>
            </a:pPr>
            <a:r>
              <a:rPr sz="2250" b="1">
                <a:solidFill>
                  <a:srgbClr val="2B6DE9"/>
                </a:solidFill>
              </a:rPr>
              <a:t>aiDAPTIVLink 2</a:t>
            </a:r>
          </a:p>
        </p:txBody>
      </p:sp>
      <p:sp>
        <p:nvSpPr>
          <p:cNvPr id="27" name="">
            <a:extLst xmlns:a="http://schemas.openxmlformats.org/drawingml/2006/main">
              <a:ext uri="{FF2B5EF4-FFF2-40B4-BE49-F238E27FC236}">
                <a16:creationId xmlns:a16="http://schemas.microsoft.com/office/drawing/2014/main" id="{2693479A-882C-4E5F-BEB2-345D305DEC78}"/>
              </a:ext>
            </a:extLst>
          </p:cNvPr>
          <p:cNvSpPr>
            <a:spLocks xmlns:a="http://schemas.openxmlformats.org/drawingml/2006/main" noGrp="1"/>
          </p:cNvSpPr>
          <p:nvPr/>
        </p:nvSpPr>
        <p:spPr>
          <a:xfrm xmlns:a="http://schemas.openxmlformats.org/drawingml/2006/main">
            <a:off x="8058150" y="2600325"/>
            <a:ext cx="76200" cy="76200"/>
          </a:xfrm>
          <a:prstGeom xmlns:a="http://schemas.openxmlformats.org/drawingml/2006/main" prst="roundRect">
            <a:avLst>
              <a:gd name="adj" fmla="val 50000"/>
            </a:avLst>
          </a:prstGeom>
          <a:solidFill xmlns:a="http://schemas.openxmlformats.org/drawingml/2006/main">
            <a:srgbClr val="2B6DE9"/>
          </a:solidFill>
          <a:ln xmlns:a="http://schemas.openxmlformats.org/drawingml/2006/main" w="11430">
            <a:solidFill>
              <a:srgbClr val="2B6DE9"/>
            </a:solidFill>
            <a:prstDash val="solid"/>
          </a:ln>
        </p:spPr>
      </p:sp>
      <p:sp>
        <p:nvSpPr>
          <p:cNvPr id="28" name="">
            <a:extLst xmlns:a="http://schemas.openxmlformats.org/drawingml/2006/main">
              <a:ext uri="{FF2B5EF4-FFF2-40B4-BE49-F238E27FC236}">
                <a16:creationId xmlns:a16="http://schemas.microsoft.com/office/drawing/2014/main" id="{CB51A651-79C3-4933-8348-614A6E705E8E}"/>
              </a:ext>
            </a:extLst>
          </p:cNvPr>
          <p:cNvSpPr>
            <a:spLocks xmlns:a="http://schemas.openxmlformats.org/drawingml/2006/main" noGrp="1"/>
          </p:cNvSpPr>
          <p:nvPr/>
        </p:nvSpPr>
        <p:spPr>
          <a:xfrm xmlns:a="http://schemas.openxmlformats.org/drawingml/2006/main">
            <a:off x="8267700" y="2514600"/>
            <a:ext cx="302895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0">
                <a:solidFill>
                  <a:srgbClr val="0A1628"/>
                </a:solidFill>
              </a:defRPr>
            </a:pPr>
            <a:r>
              <a:rPr sz="1425" b="0">
                <a:solidFill>
                  <a:srgbClr val="0A1628"/>
                </a:solidFill>
              </a:rPr>
              <a:t>LoRA and full-parameter fine-tuning</a:t>
            </a:r>
          </a:p>
        </p:txBody>
      </p:sp>
      <p:sp>
        <p:nvSpPr>
          <p:cNvPr id="29" name="">
            <a:extLst xmlns:a="http://schemas.openxmlformats.org/drawingml/2006/main">
              <a:ext uri="{FF2B5EF4-FFF2-40B4-BE49-F238E27FC236}">
                <a16:creationId xmlns:a16="http://schemas.microsoft.com/office/drawing/2014/main" id="{B14AE02B-BF91-44EC-850D-674E7EEE6EEF}"/>
              </a:ext>
            </a:extLst>
          </p:cNvPr>
          <p:cNvSpPr>
            <a:spLocks xmlns:a="http://schemas.openxmlformats.org/drawingml/2006/main" noGrp="1"/>
          </p:cNvSpPr>
          <p:nvPr/>
        </p:nvSpPr>
        <p:spPr>
          <a:xfrm xmlns:a="http://schemas.openxmlformats.org/drawingml/2006/main">
            <a:off x="8058150" y="3067050"/>
            <a:ext cx="76200" cy="76200"/>
          </a:xfrm>
          <a:prstGeom xmlns:a="http://schemas.openxmlformats.org/drawingml/2006/main" prst="roundRect">
            <a:avLst>
              <a:gd name="adj" fmla="val 50000"/>
            </a:avLst>
          </a:prstGeom>
          <a:solidFill xmlns:a="http://schemas.openxmlformats.org/drawingml/2006/main">
            <a:srgbClr val="2B6DE9"/>
          </a:solidFill>
          <a:ln xmlns:a="http://schemas.openxmlformats.org/drawingml/2006/main" w="11430">
            <a:solidFill>
              <a:srgbClr val="2B6DE9"/>
            </a:solidFill>
            <a:prstDash val="solid"/>
          </a:ln>
        </p:spPr>
      </p:sp>
      <p:sp>
        <p:nvSpPr>
          <p:cNvPr id="30" name="">
            <a:extLst xmlns:a="http://schemas.openxmlformats.org/drawingml/2006/main">
              <a:ext uri="{FF2B5EF4-FFF2-40B4-BE49-F238E27FC236}">
                <a16:creationId xmlns:a16="http://schemas.microsoft.com/office/drawing/2014/main" id="{EFC0FA29-F451-403A-9F40-C2D57F8AFC1F}"/>
              </a:ext>
            </a:extLst>
          </p:cNvPr>
          <p:cNvSpPr>
            <a:spLocks xmlns:a="http://schemas.openxmlformats.org/drawingml/2006/main" noGrp="1"/>
          </p:cNvSpPr>
          <p:nvPr/>
        </p:nvSpPr>
        <p:spPr>
          <a:xfrm xmlns:a="http://schemas.openxmlformats.org/drawingml/2006/main">
            <a:off x="8267700" y="2981325"/>
            <a:ext cx="302895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0">
                <a:solidFill>
                  <a:srgbClr val="0A1628"/>
                </a:solidFill>
              </a:defRPr>
            </a:pPr>
            <a:r>
              <a:rPr sz="1425" b="0">
                <a:solidFill>
                  <a:srgbClr val="0A1628"/>
                </a:solidFill>
              </a:rPr>
              <a:t>CPU Adam optimizer support</a:t>
            </a:r>
          </a:p>
        </p:txBody>
      </p:sp>
      <p:sp>
        <p:nvSpPr>
          <p:cNvPr id="31" name="">
            <a:extLst xmlns:a="http://schemas.openxmlformats.org/drawingml/2006/main">
              <a:ext uri="{FF2B5EF4-FFF2-40B4-BE49-F238E27FC236}">
                <a16:creationId xmlns:a16="http://schemas.microsoft.com/office/drawing/2014/main" id="{D586B9BC-3F57-4877-BBF8-81AA9D03E8B8}"/>
              </a:ext>
            </a:extLst>
          </p:cNvPr>
          <p:cNvSpPr>
            <a:spLocks xmlns:a="http://schemas.openxmlformats.org/drawingml/2006/main" noGrp="1"/>
          </p:cNvSpPr>
          <p:nvPr/>
        </p:nvSpPr>
        <p:spPr>
          <a:xfrm xmlns:a="http://schemas.openxmlformats.org/drawingml/2006/main">
            <a:off x="8058150" y="3533775"/>
            <a:ext cx="76200" cy="76200"/>
          </a:xfrm>
          <a:prstGeom xmlns:a="http://schemas.openxmlformats.org/drawingml/2006/main" prst="roundRect">
            <a:avLst>
              <a:gd name="adj" fmla="val 50000"/>
            </a:avLst>
          </a:prstGeom>
          <a:solidFill xmlns:a="http://schemas.openxmlformats.org/drawingml/2006/main">
            <a:srgbClr val="2B6DE9"/>
          </a:solidFill>
          <a:ln xmlns:a="http://schemas.openxmlformats.org/drawingml/2006/main" w="11430">
            <a:solidFill>
              <a:srgbClr val="2B6DE9"/>
            </a:solidFill>
            <a:prstDash val="solid"/>
          </a:ln>
        </p:spPr>
      </p:sp>
      <p:sp>
        <p:nvSpPr>
          <p:cNvPr id="32" name="">
            <a:extLst xmlns:a="http://schemas.openxmlformats.org/drawingml/2006/main">
              <a:ext uri="{FF2B5EF4-FFF2-40B4-BE49-F238E27FC236}">
                <a16:creationId xmlns:a16="http://schemas.microsoft.com/office/drawing/2014/main" id="{630F7C75-DE8F-4712-8EEC-C92C8465025A}"/>
              </a:ext>
            </a:extLst>
          </p:cNvPr>
          <p:cNvSpPr>
            <a:spLocks xmlns:a="http://schemas.openxmlformats.org/drawingml/2006/main" noGrp="1"/>
          </p:cNvSpPr>
          <p:nvPr/>
        </p:nvSpPr>
        <p:spPr>
          <a:xfrm xmlns:a="http://schemas.openxmlformats.org/drawingml/2006/main">
            <a:off x="8267700" y="3448050"/>
            <a:ext cx="302895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0">
                <a:solidFill>
                  <a:srgbClr val="0A1628"/>
                </a:solidFill>
              </a:defRPr>
            </a:pPr>
            <a:r>
              <a:rPr sz="1425" b="0">
                <a:solidFill>
                  <a:srgbClr val="0A1628"/>
                </a:solidFill>
              </a:rPr>
              <a:t>1 / 2 / 4 / 8 GPUs and multi-node</a:t>
            </a:r>
          </a:p>
        </p:txBody>
      </p:sp>
      <p:sp>
        <p:nvSpPr>
          <p:cNvPr id="33" name="">
            <a:extLst xmlns:a="http://schemas.openxmlformats.org/drawingml/2006/main">
              <a:ext uri="{FF2B5EF4-FFF2-40B4-BE49-F238E27FC236}">
                <a16:creationId xmlns:a16="http://schemas.microsoft.com/office/drawing/2014/main" id="{69A28584-5E2A-42F2-84E7-184A7D7A3B88}"/>
              </a:ext>
            </a:extLst>
          </p:cNvPr>
          <p:cNvSpPr>
            <a:spLocks xmlns:a="http://schemas.openxmlformats.org/drawingml/2006/main" noGrp="1"/>
          </p:cNvSpPr>
          <p:nvPr/>
        </p:nvSpPr>
        <p:spPr>
          <a:xfrm xmlns:a="http://schemas.openxmlformats.org/drawingml/2006/main">
            <a:off x="8058150" y="4000500"/>
            <a:ext cx="76200" cy="76200"/>
          </a:xfrm>
          <a:prstGeom xmlns:a="http://schemas.openxmlformats.org/drawingml/2006/main" prst="roundRect">
            <a:avLst>
              <a:gd name="adj" fmla="val 50000"/>
            </a:avLst>
          </a:prstGeom>
          <a:solidFill xmlns:a="http://schemas.openxmlformats.org/drawingml/2006/main">
            <a:srgbClr val="2B6DE9"/>
          </a:solidFill>
          <a:ln xmlns:a="http://schemas.openxmlformats.org/drawingml/2006/main" w="11430">
            <a:solidFill>
              <a:srgbClr val="2B6DE9"/>
            </a:solidFill>
            <a:prstDash val="solid"/>
          </a:ln>
        </p:spPr>
      </p:sp>
      <p:sp>
        <p:nvSpPr>
          <p:cNvPr id="34" name="">
            <a:extLst xmlns:a="http://schemas.openxmlformats.org/drawingml/2006/main">
              <a:ext uri="{FF2B5EF4-FFF2-40B4-BE49-F238E27FC236}">
                <a16:creationId xmlns:a16="http://schemas.microsoft.com/office/drawing/2014/main" id="{0E30BAE3-E865-40A8-93DC-7E79C3BA9537}"/>
              </a:ext>
            </a:extLst>
          </p:cNvPr>
          <p:cNvSpPr>
            <a:spLocks xmlns:a="http://schemas.openxmlformats.org/drawingml/2006/main" noGrp="1"/>
          </p:cNvSpPr>
          <p:nvPr/>
        </p:nvSpPr>
        <p:spPr>
          <a:xfrm xmlns:a="http://schemas.openxmlformats.org/drawingml/2006/main">
            <a:off x="8267700" y="3914775"/>
            <a:ext cx="302895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0">
                <a:solidFill>
                  <a:srgbClr val="0A1628"/>
                </a:solidFill>
              </a:defRPr>
            </a:pPr>
            <a:r>
              <a:rPr sz="1425" b="0">
                <a:solidFill>
                  <a:srgbClr val="0A1628"/>
                </a:solidFill>
              </a:rPr>
              <a:t>Vision-language model support</a:t>
            </a:r>
          </a:p>
        </p:txBody>
      </p:sp>
      <p:sp>
        <p:nvSpPr>
          <p:cNvPr id="35" name="">
            <a:extLst xmlns:a="http://schemas.openxmlformats.org/drawingml/2006/main">
              <a:ext uri="{FF2B5EF4-FFF2-40B4-BE49-F238E27FC236}">
                <a16:creationId xmlns:a16="http://schemas.microsoft.com/office/drawing/2014/main" id="{3A170DD5-3157-4914-9141-A73C5C9C810B}"/>
              </a:ext>
            </a:extLst>
          </p:cNvPr>
          <p:cNvSpPr>
            <a:spLocks xmlns:a="http://schemas.openxmlformats.org/drawingml/2006/main" noGrp="1"/>
          </p:cNvSpPr>
          <p:nvPr/>
        </p:nvSpPr>
        <p:spPr>
          <a:xfrm xmlns:a="http://schemas.openxmlformats.org/drawingml/2006/main">
            <a:off x="8058150" y="4467225"/>
            <a:ext cx="76200" cy="76200"/>
          </a:xfrm>
          <a:prstGeom xmlns:a="http://schemas.openxmlformats.org/drawingml/2006/main" prst="roundRect">
            <a:avLst>
              <a:gd name="adj" fmla="val 50000"/>
            </a:avLst>
          </a:prstGeom>
          <a:solidFill xmlns:a="http://schemas.openxmlformats.org/drawingml/2006/main">
            <a:srgbClr val="2B6DE9"/>
          </a:solidFill>
          <a:ln xmlns:a="http://schemas.openxmlformats.org/drawingml/2006/main" w="11430">
            <a:solidFill>
              <a:srgbClr val="2B6DE9"/>
            </a:solidFill>
            <a:prstDash val="solid"/>
          </a:ln>
        </p:spPr>
      </p:sp>
      <p:sp>
        <p:nvSpPr>
          <p:cNvPr id="36" name="">
            <a:extLst xmlns:a="http://schemas.openxmlformats.org/drawingml/2006/main">
              <a:ext uri="{FF2B5EF4-FFF2-40B4-BE49-F238E27FC236}">
                <a16:creationId xmlns:a16="http://schemas.microsoft.com/office/drawing/2014/main" id="{3CB4853A-8DAB-4033-9AA4-2BC4D4DF2467}"/>
              </a:ext>
            </a:extLst>
          </p:cNvPr>
          <p:cNvSpPr>
            <a:spLocks xmlns:a="http://schemas.openxmlformats.org/drawingml/2006/main" noGrp="1"/>
          </p:cNvSpPr>
          <p:nvPr/>
        </p:nvSpPr>
        <p:spPr>
          <a:xfrm xmlns:a="http://schemas.openxmlformats.org/drawingml/2006/main">
            <a:off x="8267700" y="4381500"/>
            <a:ext cx="302895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0">
                <a:solidFill>
                  <a:srgbClr val="0A1628"/>
                </a:solidFill>
              </a:defRPr>
            </a:pPr>
            <a:r>
              <a:rPr sz="1425" b="0">
                <a:solidFill>
                  <a:srgbClr val="0A1628"/>
                </a:solidFill>
              </a:rPr>
              <a:t>SSD-based GPU-memory offload</a:t>
            </a:r>
          </a:p>
        </p:txBody>
      </p:sp>
      <p:sp>
        <p:nvSpPr>
          <p:cNvPr id="37" name="">
            <a:extLst xmlns:a="http://schemas.openxmlformats.org/drawingml/2006/main">
              <a:ext uri="{FF2B5EF4-FFF2-40B4-BE49-F238E27FC236}">
                <a16:creationId xmlns:a16="http://schemas.microsoft.com/office/drawing/2014/main" id="{36683167-C5C5-463C-86EF-36FD3F8B2157}"/>
              </a:ext>
            </a:extLst>
          </p:cNvPr>
          <p:cNvSpPr>
            <a:spLocks xmlns:a="http://schemas.openxmlformats.org/drawingml/2006/main" noGrp="1"/>
          </p:cNvSpPr>
          <p:nvPr/>
        </p:nvSpPr>
        <p:spPr>
          <a:xfrm xmlns:a="http://schemas.openxmlformats.org/drawingml/2006/main">
            <a:off x="8058150" y="4933950"/>
            <a:ext cx="76200" cy="76200"/>
          </a:xfrm>
          <a:prstGeom xmlns:a="http://schemas.openxmlformats.org/drawingml/2006/main" prst="roundRect">
            <a:avLst>
              <a:gd name="adj" fmla="val 50000"/>
            </a:avLst>
          </a:prstGeom>
          <a:solidFill xmlns:a="http://schemas.openxmlformats.org/drawingml/2006/main">
            <a:srgbClr val="2B6DE9"/>
          </a:solidFill>
          <a:ln xmlns:a="http://schemas.openxmlformats.org/drawingml/2006/main" w="11430">
            <a:solidFill>
              <a:srgbClr val="2B6DE9"/>
            </a:solidFill>
            <a:prstDash val="solid"/>
          </a:ln>
        </p:spPr>
      </p:sp>
      <p:sp>
        <p:nvSpPr>
          <p:cNvPr id="38" name="">
            <a:extLst xmlns:a="http://schemas.openxmlformats.org/drawingml/2006/main">
              <a:ext uri="{FF2B5EF4-FFF2-40B4-BE49-F238E27FC236}">
                <a16:creationId xmlns:a16="http://schemas.microsoft.com/office/drawing/2014/main" id="{3F34B42A-F7C3-4AE5-A70B-F36A37BFE6A0}"/>
              </a:ext>
            </a:extLst>
          </p:cNvPr>
          <p:cNvSpPr>
            <a:spLocks xmlns:a="http://schemas.openxmlformats.org/drawingml/2006/main" noGrp="1"/>
          </p:cNvSpPr>
          <p:nvPr/>
        </p:nvSpPr>
        <p:spPr>
          <a:xfrm xmlns:a="http://schemas.openxmlformats.org/drawingml/2006/main">
            <a:off x="8267700" y="4848225"/>
            <a:ext cx="302895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0">
                <a:solidFill>
                  <a:srgbClr val="0A1628"/>
                </a:solidFill>
              </a:defRPr>
            </a:pPr>
            <a:r>
              <a:rPr sz="1425" b="0">
                <a:solidFill>
                  <a:srgbClr val="0A1628"/>
                </a:solidFill>
              </a:rPr>
              <a:t>Linux runtime; PCIe topology matters</a:t>
            </a:r>
          </a:p>
        </p:txBody>
      </p:sp>
      <p:sp>
        <p:nvSpPr>
          <p:cNvPr id="39" name="">
            <a:extLst xmlns:a="http://schemas.openxmlformats.org/drawingml/2006/main">
              <a:ext uri="{FF2B5EF4-FFF2-40B4-BE49-F238E27FC236}">
                <a16:creationId xmlns:a16="http://schemas.microsoft.com/office/drawing/2014/main" id="{1260EE72-4965-4B3D-884B-CBA8A34578E6}"/>
              </a:ext>
            </a:extLst>
          </p:cNvPr>
          <p:cNvSpPr>
            <a:spLocks xmlns:a="http://schemas.openxmlformats.org/drawingml/2006/main" noGrp="1"/>
          </p:cNvSpPr>
          <p:nvPr/>
        </p:nvSpPr>
        <p:spPr>
          <a:xfrm xmlns:a="http://schemas.openxmlformats.org/drawingml/2006/main">
            <a:off x="7810500" y="5876925"/>
            <a:ext cx="47625" cy="228600"/>
          </a:xfrm>
          <a:prstGeom xmlns:a="http://schemas.openxmlformats.org/drawingml/2006/main" prst="rect">
            <a:avLst/>
          </a:prstGeom>
          <a:solidFill xmlns:a="http://schemas.openxmlformats.org/drawingml/2006/main">
            <a:srgbClr val="E98A15"/>
          </a:solidFill>
          <a:ln xmlns:a="http://schemas.openxmlformats.org/drawingml/2006/main" w="11430">
            <a:solidFill>
              <a:srgbClr val="E98A15"/>
            </a:solidFill>
            <a:prstDash val="solid"/>
          </a:ln>
        </p:spPr>
      </p:sp>
      <p:sp>
        <p:nvSpPr>
          <p:cNvPr id="40" name="">
            <a:extLst xmlns:a="http://schemas.openxmlformats.org/drawingml/2006/main">
              <a:ext uri="{FF2B5EF4-FFF2-40B4-BE49-F238E27FC236}">
                <a16:creationId xmlns:a16="http://schemas.microsoft.com/office/drawing/2014/main" id="{1E020AEA-B205-4532-B999-343D72F62331}"/>
              </a:ext>
            </a:extLst>
          </p:cNvPr>
          <p:cNvSpPr>
            <a:spLocks xmlns:a="http://schemas.openxmlformats.org/drawingml/2006/main" noGrp="1"/>
          </p:cNvSpPr>
          <p:nvPr/>
        </p:nvSpPr>
        <p:spPr>
          <a:xfrm xmlns:a="http://schemas.openxmlformats.org/drawingml/2006/main">
            <a:off x="7943850" y="5857875"/>
            <a:ext cx="1485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E98A15"/>
                </a:solidFill>
              </a:defRPr>
            </a:pPr>
            <a:r>
              <a:rPr sz="1050" b="1">
                <a:solidFill>
                  <a:srgbClr val="E98A15"/>
                </a:solidFill>
              </a:rPr>
              <a:t>CLAIM BOUNDARY</a:t>
            </a:r>
          </a:p>
        </p:txBody>
      </p:sp>
      <p:sp>
        <p:nvSpPr>
          <p:cNvPr id="41" name="">
            <a:extLst xmlns:a="http://schemas.openxmlformats.org/drawingml/2006/main">
              <a:ext uri="{FF2B5EF4-FFF2-40B4-BE49-F238E27FC236}">
                <a16:creationId xmlns:a16="http://schemas.microsoft.com/office/drawing/2014/main" id="{1D0D965A-CD45-41B7-ADD5-73A3E4324D40}"/>
              </a:ext>
            </a:extLst>
          </p:cNvPr>
          <p:cNvSpPr>
            <a:spLocks xmlns:a="http://schemas.openxmlformats.org/drawingml/2006/main" noGrp="1"/>
          </p:cNvSpPr>
          <p:nvPr/>
        </p:nvSpPr>
        <p:spPr>
          <a:xfrm xmlns:a="http://schemas.openxmlformats.org/drawingml/2006/main">
            <a:off x="9477375" y="5838825"/>
            <a:ext cx="2095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37475B"/>
                </a:solidFill>
              </a:defRPr>
            </a:pPr>
            <a:r>
              <a:rPr sz="1050" b="0">
                <a:solidFill>
                  <a:srgbClr val="37475B"/>
                </a:solidFill>
              </a:rPr>
              <a:t>*Training-state staging is confirmed; exact tensor placement is runtime-specific.</a:t>
            </a:r>
          </a:p>
        </p:txBody>
      </p:sp>
    </p:spTree>
    <p:extLst>
      <p:ext uri="{BB962C8B-B14F-4D97-AF65-F5344CB8AC3E}">
        <p14:creationId xmlns:p14="http://schemas.microsoft.com/office/powerpoint/2010/main" val="473253706"/>
      </p:ext>
    </p:extLst>
  </p:cSld>
</p:sld>
</file>

<file path=ppt/slides/slide6.xml><?xml version="1.0" encoding="utf-8"?>
<p:sld xmlns:p="http://schemas.openxmlformats.org/presentationml/2006/main">
  <p:cSld>
    <p:bg>
      <p:bgPr>
        <a:solidFill xmlns:a="http://schemas.openxmlformats.org/drawingml/2006/main">
          <a:srgbClr val="F4F7FB"/>
        </a:solidFill>
      </p:bgPr>
    </p:bg>
    <p:spTree>
      <p:nvGrpSpPr>
        <p:cNvPr id="1" name=""/>
        <p:cNvGrpSpPr/>
        <p:nvPr/>
      </p:nvGrpSpPr>
      <p:grpSpPr>
        <a:xfrm xmlns:a="http://schemas.openxmlformats.org/drawingml/2006/main"/>
      </p:grpSpPr>
      <p:sp>
        <p:nvSpPr>
          <p:cNvPr id="40" name="">
            <a:extLst xmlns:a="http://schemas.openxmlformats.org/drawingml/2006/main">
              <a:ext uri="{FF2B5EF4-FFF2-40B4-BE49-F238E27FC236}">
                <a16:creationId xmlns:a16="http://schemas.microsoft.com/office/drawing/2014/main" id="{5F0EA4AD-DB51-45A2-8B10-98863A93B2CD}"/>
              </a:ext>
            </a:extLst>
          </p:cNvPr>
          <p:cNvSpPr>
            <a:spLocks xmlns:a="http://schemas.openxmlformats.org/drawingml/2006/main" noGrp="1"/>
          </p:cNvSpPr>
          <p:nvPr/>
        </p:nvSpPr>
        <p:spPr>
          <a:xfrm xmlns:a="http://schemas.openxmlformats.org/drawingml/2006/main">
            <a:off x="609600" y="257175"/>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2B6DE9"/>
                </a:solidFill>
              </a:defRPr>
            </a:pPr>
            <a:r>
              <a:rPr sz="1050" b="1">
                <a:solidFill>
                  <a:srgbClr val="2B6DE9"/>
                </a:solidFill>
              </a:rPr>
              <a:t>FINE-TUNING EXAMPLE</a:t>
            </a:r>
          </a:p>
        </p:txBody>
      </p:sp>
      <p:sp>
        <p:nvSpPr>
          <p:cNvPr id="2" name="">
            <a:extLst xmlns:a="http://schemas.openxmlformats.org/drawingml/2006/main">
              <a:ext uri="{FF2B5EF4-FFF2-40B4-BE49-F238E27FC236}">
                <a16:creationId xmlns:a16="http://schemas.microsoft.com/office/drawing/2014/main" id="{F945E2C0-3B6E-413E-8642-627B1C8FDA42}"/>
              </a:ext>
            </a:extLst>
          </p:cNvPr>
          <p:cNvSpPr>
            <a:spLocks xmlns:a="http://schemas.openxmlformats.org/drawingml/2006/main" noGrp="1"/>
          </p:cNvSpPr>
          <p:nvPr/>
        </p:nvSpPr>
        <p:spPr>
          <a:xfrm xmlns:a="http://schemas.openxmlformats.org/drawingml/2006/main">
            <a:off x="11191875" y="219075"/>
            <a:ext cx="476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200" b="1">
                <a:solidFill>
                  <a:srgbClr val="53657A"/>
                </a:solidFill>
              </a:defRPr>
            </a:pPr>
            <a:r>
              <a:rPr sz="1200" b="1">
                <a:solidFill>
                  <a:srgbClr val="53657A"/>
                </a:solidFill>
              </a:rPr>
              <a:t>06</a:t>
            </a:r>
          </a:p>
        </p:txBody>
      </p:sp>
      <p:sp>
        <p:nvSpPr>
          <p:cNvPr id="3" name="">
            <a:extLst xmlns:a="http://schemas.openxmlformats.org/drawingml/2006/main">
              <a:ext uri="{FF2B5EF4-FFF2-40B4-BE49-F238E27FC236}">
                <a16:creationId xmlns:a16="http://schemas.microsoft.com/office/drawing/2014/main" id="{1C2F91E5-7596-44EB-9F44-43D0608038B0}"/>
              </a:ext>
            </a:extLst>
          </p:cNvPr>
          <p:cNvSpPr>
            <a:spLocks xmlns:a="http://schemas.openxmlformats.org/drawingml/2006/main" noGrp="1"/>
          </p:cNvSpPr>
          <p:nvPr/>
        </p:nvSpPr>
        <p:spPr>
          <a:xfrm xmlns:a="http://schemas.openxmlformats.org/drawingml/2006/main">
            <a:off x="609600" y="552450"/>
            <a:ext cx="109061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600" b="1">
                <a:solidFill>
                  <a:srgbClr val="0A1628"/>
                </a:solidFill>
              </a:defRPr>
            </a:pPr>
            <a:r>
              <a:rPr sz="3600" b="1">
                <a:solidFill>
                  <a:srgbClr val="0A1628"/>
                </a:solidFill>
              </a:rPr>
              <a:t>70B fine-tuning exposes the memory wall</a:t>
            </a:r>
          </a:p>
        </p:txBody>
      </p:sp>
      <p:sp>
        <p:nvSpPr>
          <p:cNvPr id="4" name="">
            <a:extLst xmlns:a="http://schemas.openxmlformats.org/drawingml/2006/main">
              <a:ext uri="{FF2B5EF4-FFF2-40B4-BE49-F238E27FC236}">
                <a16:creationId xmlns:a16="http://schemas.microsoft.com/office/drawing/2014/main" id="{C0703CB4-E996-484D-8AAF-935D8BAAD47E}"/>
              </a:ext>
            </a:extLst>
          </p:cNvPr>
          <p:cNvSpPr>
            <a:spLocks xmlns:a="http://schemas.openxmlformats.org/drawingml/2006/main" noGrp="1"/>
          </p:cNvSpPr>
          <p:nvPr/>
        </p:nvSpPr>
        <p:spPr>
          <a:xfrm xmlns:a="http://schemas.openxmlformats.org/drawingml/2006/main">
            <a:off x="609600" y="1200150"/>
            <a:ext cx="10972800" cy="0"/>
          </a:xfrm>
          <a:prstGeom xmlns:a="http://schemas.openxmlformats.org/drawingml/2006/main" prst="line">
            <a:avLst/>
          </a:prstGeom>
          <a:noFill xmlns:a="http://schemas.openxmlformats.org/drawingml/2006/main"/>
          <a:ln xmlns:a="http://schemas.openxmlformats.org/drawingml/2006/main" w="11430">
            <a:solidFill>
              <a:srgbClr val="C8D3E0"/>
            </a:solidFill>
            <a:prstDash val="solid"/>
          </a:ln>
        </p:spPr>
      </p:sp>
      <p:sp>
        <p:nvSpPr>
          <p:cNvPr id="5" name="">
            <a:extLst xmlns:a="http://schemas.openxmlformats.org/drawingml/2006/main">
              <a:ext uri="{FF2B5EF4-FFF2-40B4-BE49-F238E27FC236}">
                <a16:creationId xmlns:a16="http://schemas.microsoft.com/office/drawing/2014/main" id="{E5C2B8E1-B30F-43AD-9330-1FECA340FFD2}"/>
              </a:ext>
            </a:extLst>
          </p:cNvPr>
          <p:cNvSpPr>
            <a:spLocks xmlns:a="http://schemas.openxmlformats.org/drawingml/2006/main" noGrp="1"/>
          </p:cNvSpPr>
          <p:nvPr/>
        </p:nvSpPr>
        <p:spPr>
          <a:xfrm xmlns:a="http://schemas.openxmlformats.org/drawingml/2006/main">
            <a:off x="609600" y="6543675"/>
            <a:ext cx="10096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7B8796"/>
                </a:solidFill>
              </a:defRPr>
            </a:pPr>
            <a:r>
              <a:rPr sz="900" b="0">
                <a:solidFill>
                  <a:srgbClr val="7B8796"/>
                </a:solidFill>
              </a:rPr>
              <a:t>Phison aiDAPTIV technical architecture  •  Sources and claim boundaries in speaker notes</a:t>
            </a:r>
          </a:p>
        </p:txBody>
      </p:sp>
      <p:sp>
        <p:nvSpPr>
          <p:cNvPr id="6" name="">
            <a:extLst xmlns:a="http://schemas.openxmlformats.org/drawingml/2006/main">
              <a:ext uri="{FF2B5EF4-FFF2-40B4-BE49-F238E27FC236}">
                <a16:creationId xmlns:a16="http://schemas.microsoft.com/office/drawing/2014/main" id="{E7B5C73E-7A1D-482D-A3E2-966966DCF853}"/>
              </a:ext>
            </a:extLst>
          </p:cNvPr>
          <p:cNvSpPr>
            <a:spLocks xmlns:a="http://schemas.openxmlformats.org/drawingml/2006/main" noGrp="1"/>
          </p:cNvSpPr>
          <p:nvPr/>
        </p:nvSpPr>
        <p:spPr>
          <a:xfrm xmlns:a="http://schemas.openxmlformats.org/drawingml/2006/main">
            <a:off x="609600" y="1381125"/>
            <a:ext cx="10953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a:solidFill>
                  <a:srgbClr val="37475B"/>
                </a:solidFill>
              </a:defRPr>
            </a:pPr>
            <a:r>
              <a:rPr sz="1500" b="0">
                <a:solidFill>
                  <a:srgbClr val="37475B"/>
                </a:solidFill>
              </a:rPr>
              <a:t>FP16 weights alone: 70B parameters × 2 bytes ≈ 140 GB. Gradients, optimizer state, activations, and temporary buffers increase the live footprint.</a:t>
            </a:r>
          </a:p>
        </p:txBody>
      </p:sp>
      <p:sp>
        <p:nvSpPr>
          <p:cNvPr id="7" name="">
            <a:extLst xmlns:a="http://schemas.openxmlformats.org/drawingml/2006/main">
              <a:ext uri="{FF2B5EF4-FFF2-40B4-BE49-F238E27FC236}">
                <a16:creationId xmlns:a16="http://schemas.microsoft.com/office/drawing/2014/main" id="{1F89996C-0A0E-459C-A6E8-2489073D1A32}"/>
              </a:ext>
            </a:extLst>
          </p:cNvPr>
          <p:cNvSpPr>
            <a:spLocks xmlns:a="http://schemas.openxmlformats.org/drawingml/2006/main" noGrp="1"/>
          </p:cNvSpPr>
          <p:nvPr/>
        </p:nvSpPr>
        <p:spPr>
          <a:xfrm xmlns:a="http://schemas.openxmlformats.org/drawingml/2006/main">
            <a:off x="609600" y="2009775"/>
            <a:ext cx="5010150" cy="3371850"/>
          </a:xfrm>
          <a:prstGeom xmlns:a="http://schemas.openxmlformats.org/drawingml/2006/main" prst="roundRect">
            <a:avLst>
              <a:gd name="adj" fmla="val 3955"/>
            </a:avLst>
          </a:prstGeom>
          <a:solidFill xmlns:a="http://schemas.openxmlformats.org/drawingml/2006/main">
            <a:srgbClr val="FFFFFF"/>
          </a:solidFill>
          <a:ln xmlns:a="http://schemas.openxmlformats.org/drawingml/2006/main" w="11430">
            <a:solidFill>
              <a:srgbClr val="C8D3E0"/>
            </a:solidFill>
            <a:prstDash val="solid"/>
          </a:ln>
        </p:spPr>
      </p:sp>
      <p:sp>
        <p:nvSpPr>
          <p:cNvPr id="8" name="">
            <a:extLst xmlns:a="http://schemas.openxmlformats.org/drawingml/2006/main">
              <a:ext uri="{FF2B5EF4-FFF2-40B4-BE49-F238E27FC236}">
                <a16:creationId xmlns:a16="http://schemas.microsoft.com/office/drawing/2014/main" id="{DAE42B0F-6A24-4268-87A1-4796F1694569}"/>
              </a:ext>
            </a:extLst>
          </p:cNvPr>
          <p:cNvSpPr>
            <a:spLocks xmlns:a="http://schemas.openxmlformats.org/drawingml/2006/main" noGrp="1"/>
          </p:cNvSpPr>
          <p:nvPr/>
        </p:nvSpPr>
        <p:spPr>
          <a:xfrm xmlns:a="http://schemas.openxmlformats.org/drawingml/2006/main">
            <a:off x="866775" y="2219325"/>
            <a:ext cx="4095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250" b="1">
                <a:solidFill>
                  <a:srgbClr val="C74B50"/>
                </a:solidFill>
              </a:defRPr>
            </a:pPr>
            <a:r>
              <a:rPr sz="2250" b="1">
                <a:solidFill>
                  <a:srgbClr val="C74B50"/>
                </a:solidFill>
              </a:rPr>
              <a:t>Traditional fit strategy</a:t>
            </a:r>
          </a:p>
        </p:txBody>
      </p:sp>
      <p:sp>
        <p:nvSpPr>
          <p:cNvPr id="9" name="">
            <a:extLst xmlns:a="http://schemas.openxmlformats.org/drawingml/2006/main">
              <a:ext uri="{FF2B5EF4-FFF2-40B4-BE49-F238E27FC236}">
                <a16:creationId xmlns:a16="http://schemas.microsoft.com/office/drawing/2014/main" id="{A1A832FD-C6D6-4581-B37C-5B8DE5AA2316}"/>
              </a:ext>
            </a:extLst>
          </p:cNvPr>
          <p:cNvSpPr>
            <a:spLocks xmlns:a="http://schemas.openxmlformats.org/drawingml/2006/main" noGrp="1"/>
          </p:cNvSpPr>
          <p:nvPr/>
        </p:nvSpPr>
        <p:spPr>
          <a:xfrm xmlns:a="http://schemas.openxmlformats.org/drawingml/2006/main">
            <a:off x="866775" y="2638425"/>
            <a:ext cx="419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0">
                <a:solidFill>
                  <a:srgbClr val="53657A"/>
                </a:solidFill>
              </a:defRPr>
            </a:pPr>
            <a:r>
              <a:rPr sz="1425" b="0">
                <a:solidFill>
                  <a:srgbClr val="53657A"/>
                </a:solidFill>
              </a:rPr>
              <a:t>Keep most training state in accelerator memory</a:t>
            </a:r>
          </a:p>
        </p:txBody>
      </p:sp>
      <p:sp>
        <p:nvSpPr>
          <p:cNvPr id="10" name="">
            <a:extLst xmlns:a="http://schemas.openxmlformats.org/drawingml/2006/main">
              <a:ext uri="{FF2B5EF4-FFF2-40B4-BE49-F238E27FC236}">
                <a16:creationId xmlns:a16="http://schemas.microsoft.com/office/drawing/2014/main" id="{069A2381-3FE0-4AF2-A235-FC5C89BEB05F}"/>
              </a:ext>
            </a:extLst>
          </p:cNvPr>
          <p:cNvSpPr>
            <a:spLocks xmlns:a="http://schemas.openxmlformats.org/drawingml/2006/main" noGrp="1"/>
          </p:cNvSpPr>
          <p:nvPr/>
        </p:nvSpPr>
        <p:spPr>
          <a:xfrm xmlns:a="http://schemas.openxmlformats.org/drawingml/2006/main">
            <a:off x="866775" y="3105150"/>
            <a:ext cx="1619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A1628"/>
                </a:solidFill>
              </a:defRPr>
            </a:pPr>
            <a:r>
              <a:rPr sz="1350" b="1">
                <a:solidFill>
                  <a:srgbClr val="0A1628"/>
                </a:solidFill>
              </a:rPr>
              <a:t>Model weights</a:t>
            </a:r>
          </a:p>
        </p:txBody>
      </p:sp>
      <p:sp>
        <p:nvSpPr>
          <p:cNvPr id="11" name="">
            <a:extLst xmlns:a="http://schemas.openxmlformats.org/drawingml/2006/main">
              <a:ext uri="{FF2B5EF4-FFF2-40B4-BE49-F238E27FC236}">
                <a16:creationId xmlns:a16="http://schemas.microsoft.com/office/drawing/2014/main" id="{24035B1C-211B-4AB4-98A4-F5F36D3C93AB}"/>
              </a:ext>
            </a:extLst>
          </p:cNvPr>
          <p:cNvSpPr>
            <a:spLocks xmlns:a="http://schemas.openxmlformats.org/drawingml/2006/main" noGrp="1"/>
          </p:cNvSpPr>
          <p:nvPr/>
        </p:nvSpPr>
        <p:spPr>
          <a:xfrm xmlns:a="http://schemas.openxmlformats.org/drawingml/2006/main">
            <a:off x="2571750" y="3133725"/>
            <a:ext cx="2476500" cy="171450"/>
          </a:xfrm>
          <a:prstGeom xmlns:a="http://schemas.openxmlformats.org/drawingml/2006/main" prst="roundRect">
            <a:avLst>
              <a:gd name="adj" fmla="val 22222"/>
            </a:avLst>
          </a:prstGeom>
          <a:solidFill xmlns:a="http://schemas.openxmlformats.org/drawingml/2006/main">
            <a:srgbClr val="E7EDF4"/>
          </a:solidFill>
          <a:ln xmlns:a="http://schemas.openxmlformats.org/drawingml/2006/main" w="11430">
            <a:solidFill>
              <a:srgbClr val="E7EDF4"/>
            </a:solidFill>
            <a:prstDash val="solid"/>
          </a:ln>
        </p:spPr>
      </p:sp>
      <p:sp>
        <p:nvSpPr>
          <p:cNvPr id="12" name="">
            <a:extLst xmlns:a="http://schemas.openxmlformats.org/drawingml/2006/main">
              <a:ext uri="{FF2B5EF4-FFF2-40B4-BE49-F238E27FC236}">
                <a16:creationId xmlns:a16="http://schemas.microsoft.com/office/drawing/2014/main" id="{0EDC1F71-2A4D-4101-8178-8C7444655527}"/>
              </a:ext>
            </a:extLst>
          </p:cNvPr>
          <p:cNvSpPr>
            <a:spLocks xmlns:a="http://schemas.openxmlformats.org/drawingml/2006/main" noGrp="1"/>
          </p:cNvSpPr>
          <p:nvPr/>
        </p:nvSpPr>
        <p:spPr>
          <a:xfrm xmlns:a="http://schemas.openxmlformats.org/drawingml/2006/main">
            <a:off x="2571750" y="3133725"/>
            <a:ext cx="2377440" cy="171450"/>
          </a:xfrm>
          <a:prstGeom xmlns:a="http://schemas.openxmlformats.org/drawingml/2006/main" prst="roundRect">
            <a:avLst>
              <a:gd name="adj" fmla="val 22222"/>
            </a:avLst>
          </a:prstGeom>
          <a:solidFill xmlns:a="http://schemas.openxmlformats.org/drawingml/2006/main">
            <a:srgbClr val="7157D9"/>
          </a:solidFill>
          <a:ln xmlns:a="http://schemas.openxmlformats.org/drawingml/2006/main" w="11430">
            <a:solidFill>
              <a:srgbClr val="7157D9"/>
            </a:solidFill>
            <a:prstDash val="solid"/>
          </a:ln>
        </p:spPr>
      </p:sp>
      <p:sp>
        <p:nvSpPr>
          <p:cNvPr id="13" name="">
            <a:extLst xmlns:a="http://schemas.openxmlformats.org/drawingml/2006/main">
              <a:ext uri="{FF2B5EF4-FFF2-40B4-BE49-F238E27FC236}">
                <a16:creationId xmlns:a16="http://schemas.microsoft.com/office/drawing/2014/main" id="{A0EA3540-7E76-48F7-93D1-4A7512E8C46C}"/>
              </a:ext>
            </a:extLst>
          </p:cNvPr>
          <p:cNvSpPr>
            <a:spLocks xmlns:a="http://schemas.openxmlformats.org/drawingml/2006/main" noGrp="1"/>
          </p:cNvSpPr>
          <p:nvPr/>
        </p:nvSpPr>
        <p:spPr>
          <a:xfrm xmlns:a="http://schemas.openxmlformats.org/drawingml/2006/main">
            <a:off x="866775" y="3533775"/>
            <a:ext cx="1619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A1628"/>
                </a:solidFill>
              </a:defRPr>
            </a:pPr>
            <a:r>
              <a:rPr sz="1350" b="1">
                <a:solidFill>
                  <a:srgbClr val="0A1628"/>
                </a:solidFill>
              </a:rPr>
              <a:t>Gradients</a:t>
            </a:r>
          </a:p>
        </p:txBody>
      </p:sp>
      <p:sp>
        <p:nvSpPr>
          <p:cNvPr id="14" name="">
            <a:extLst xmlns:a="http://schemas.openxmlformats.org/drawingml/2006/main">
              <a:ext uri="{FF2B5EF4-FFF2-40B4-BE49-F238E27FC236}">
                <a16:creationId xmlns:a16="http://schemas.microsoft.com/office/drawing/2014/main" id="{6BD68D80-15D6-4273-889B-6F44C962C37C}"/>
              </a:ext>
            </a:extLst>
          </p:cNvPr>
          <p:cNvSpPr>
            <a:spLocks xmlns:a="http://schemas.openxmlformats.org/drawingml/2006/main" noGrp="1"/>
          </p:cNvSpPr>
          <p:nvPr/>
        </p:nvSpPr>
        <p:spPr>
          <a:xfrm xmlns:a="http://schemas.openxmlformats.org/drawingml/2006/main">
            <a:off x="2571750" y="3562350"/>
            <a:ext cx="2476500" cy="171450"/>
          </a:xfrm>
          <a:prstGeom xmlns:a="http://schemas.openxmlformats.org/drawingml/2006/main" prst="roundRect">
            <a:avLst>
              <a:gd name="adj" fmla="val 22222"/>
            </a:avLst>
          </a:prstGeom>
          <a:solidFill xmlns:a="http://schemas.openxmlformats.org/drawingml/2006/main">
            <a:srgbClr val="E7EDF4"/>
          </a:solidFill>
          <a:ln xmlns:a="http://schemas.openxmlformats.org/drawingml/2006/main" w="11430">
            <a:solidFill>
              <a:srgbClr val="E7EDF4"/>
            </a:solidFill>
            <a:prstDash val="solid"/>
          </a:ln>
        </p:spPr>
      </p:sp>
      <p:sp>
        <p:nvSpPr>
          <p:cNvPr id="15" name="">
            <a:extLst xmlns:a="http://schemas.openxmlformats.org/drawingml/2006/main">
              <a:ext uri="{FF2B5EF4-FFF2-40B4-BE49-F238E27FC236}">
                <a16:creationId xmlns:a16="http://schemas.microsoft.com/office/drawing/2014/main" id="{EC604969-BEEB-4649-B24F-1E6D69BF2156}"/>
              </a:ext>
            </a:extLst>
          </p:cNvPr>
          <p:cNvSpPr>
            <a:spLocks xmlns:a="http://schemas.openxmlformats.org/drawingml/2006/main" noGrp="1"/>
          </p:cNvSpPr>
          <p:nvPr/>
        </p:nvSpPr>
        <p:spPr>
          <a:xfrm xmlns:a="http://schemas.openxmlformats.org/drawingml/2006/main">
            <a:off x="2571750" y="3562350"/>
            <a:ext cx="1931670" cy="171450"/>
          </a:xfrm>
          <a:prstGeom xmlns:a="http://schemas.openxmlformats.org/drawingml/2006/main" prst="roundRect">
            <a:avLst>
              <a:gd name="adj" fmla="val 22222"/>
            </a:avLst>
          </a:prstGeom>
          <a:solidFill xmlns:a="http://schemas.openxmlformats.org/drawingml/2006/main">
            <a:srgbClr val="7157D9"/>
          </a:solidFill>
          <a:ln xmlns:a="http://schemas.openxmlformats.org/drawingml/2006/main" w="11430">
            <a:solidFill>
              <a:srgbClr val="7157D9"/>
            </a:solidFill>
            <a:prstDash val="solid"/>
          </a:ln>
        </p:spPr>
      </p:sp>
      <p:sp>
        <p:nvSpPr>
          <p:cNvPr id="16" name="">
            <a:extLst xmlns:a="http://schemas.openxmlformats.org/drawingml/2006/main">
              <a:ext uri="{FF2B5EF4-FFF2-40B4-BE49-F238E27FC236}">
                <a16:creationId xmlns:a16="http://schemas.microsoft.com/office/drawing/2014/main" id="{FAB2C4DB-F193-46B5-B063-349C90FF0E73}"/>
              </a:ext>
            </a:extLst>
          </p:cNvPr>
          <p:cNvSpPr>
            <a:spLocks xmlns:a="http://schemas.openxmlformats.org/drawingml/2006/main" noGrp="1"/>
          </p:cNvSpPr>
          <p:nvPr/>
        </p:nvSpPr>
        <p:spPr>
          <a:xfrm xmlns:a="http://schemas.openxmlformats.org/drawingml/2006/main">
            <a:off x="866775" y="3962400"/>
            <a:ext cx="1619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A1628"/>
                </a:solidFill>
              </a:defRPr>
            </a:pPr>
            <a:r>
              <a:rPr sz="1350" b="1">
                <a:solidFill>
                  <a:srgbClr val="0A1628"/>
                </a:solidFill>
              </a:rPr>
              <a:t>Optimizer state</a:t>
            </a:r>
          </a:p>
        </p:txBody>
      </p:sp>
      <p:sp>
        <p:nvSpPr>
          <p:cNvPr id="17" name="">
            <a:extLst xmlns:a="http://schemas.openxmlformats.org/drawingml/2006/main">
              <a:ext uri="{FF2B5EF4-FFF2-40B4-BE49-F238E27FC236}">
                <a16:creationId xmlns:a16="http://schemas.microsoft.com/office/drawing/2014/main" id="{3CAB7A5E-EF2A-456D-9791-DAFDAFC3AEBB}"/>
              </a:ext>
            </a:extLst>
          </p:cNvPr>
          <p:cNvSpPr>
            <a:spLocks xmlns:a="http://schemas.openxmlformats.org/drawingml/2006/main" noGrp="1"/>
          </p:cNvSpPr>
          <p:nvPr/>
        </p:nvSpPr>
        <p:spPr>
          <a:xfrm xmlns:a="http://schemas.openxmlformats.org/drawingml/2006/main">
            <a:off x="2571750" y="3990975"/>
            <a:ext cx="2476500" cy="171450"/>
          </a:xfrm>
          <a:prstGeom xmlns:a="http://schemas.openxmlformats.org/drawingml/2006/main" prst="roundRect">
            <a:avLst>
              <a:gd name="adj" fmla="val 22222"/>
            </a:avLst>
          </a:prstGeom>
          <a:solidFill xmlns:a="http://schemas.openxmlformats.org/drawingml/2006/main">
            <a:srgbClr val="E7EDF4"/>
          </a:solidFill>
          <a:ln xmlns:a="http://schemas.openxmlformats.org/drawingml/2006/main" w="11430">
            <a:solidFill>
              <a:srgbClr val="E7EDF4"/>
            </a:solidFill>
            <a:prstDash val="solid"/>
          </a:ln>
        </p:spPr>
      </p:sp>
      <p:sp>
        <p:nvSpPr>
          <p:cNvPr id="18" name="">
            <a:extLst xmlns:a="http://schemas.openxmlformats.org/drawingml/2006/main">
              <a:ext uri="{FF2B5EF4-FFF2-40B4-BE49-F238E27FC236}">
                <a16:creationId xmlns:a16="http://schemas.microsoft.com/office/drawing/2014/main" id="{C46FEFAA-4EDB-4636-A4B4-E8171E8B8820}"/>
              </a:ext>
            </a:extLst>
          </p:cNvPr>
          <p:cNvSpPr>
            <a:spLocks xmlns:a="http://schemas.openxmlformats.org/drawingml/2006/main" noGrp="1"/>
          </p:cNvSpPr>
          <p:nvPr/>
        </p:nvSpPr>
        <p:spPr>
          <a:xfrm xmlns:a="http://schemas.openxmlformats.org/drawingml/2006/main">
            <a:off x="2571750" y="3990975"/>
            <a:ext cx="2278380" cy="171450"/>
          </a:xfrm>
          <a:prstGeom xmlns:a="http://schemas.openxmlformats.org/drawingml/2006/main" prst="roundRect">
            <a:avLst>
              <a:gd name="adj" fmla="val 22222"/>
            </a:avLst>
          </a:prstGeom>
          <a:solidFill xmlns:a="http://schemas.openxmlformats.org/drawingml/2006/main">
            <a:srgbClr val="7157D9"/>
          </a:solidFill>
          <a:ln xmlns:a="http://schemas.openxmlformats.org/drawingml/2006/main" w="11430">
            <a:solidFill>
              <a:srgbClr val="7157D9"/>
            </a:solidFill>
            <a:prstDash val="solid"/>
          </a:ln>
        </p:spPr>
      </p:sp>
      <p:sp>
        <p:nvSpPr>
          <p:cNvPr id="19" name="">
            <a:extLst xmlns:a="http://schemas.openxmlformats.org/drawingml/2006/main">
              <a:ext uri="{FF2B5EF4-FFF2-40B4-BE49-F238E27FC236}">
                <a16:creationId xmlns:a16="http://schemas.microsoft.com/office/drawing/2014/main" id="{46EBD203-C84E-4A08-A5F6-EE642B05EEBA}"/>
              </a:ext>
            </a:extLst>
          </p:cNvPr>
          <p:cNvSpPr>
            <a:spLocks xmlns:a="http://schemas.openxmlformats.org/drawingml/2006/main" noGrp="1"/>
          </p:cNvSpPr>
          <p:nvPr/>
        </p:nvSpPr>
        <p:spPr>
          <a:xfrm xmlns:a="http://schemas.openxmlformats.org/drawingml/2006/main">
            <a:off x="866775" y="4391025"/>
            <a:ext cx="1619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A1628"/>
                </a:solidFill>
              </a:defRPr>
            </a:pPr>
            <a:r>
              <a:rPr sz="1350" b="1">
                <a:solidFill>
                  <a:srgbClr val="0A1628"/>
                </a:solidFill>
              </a:rPr>
              <a:t>Activations / buffers</a:t>
            </a:r>
          </a:p>
        </p:txBody>
      </p:sp>
      <p:sp>
        <p:nvSpPr>
          <p:cNvPr id="20" name="">
            <a:extLst xmlns:a="http://schemas.openxmlformats.org/drawingml/2006/main">
              <a:ext uri="{FF2B5EF4-FFF2-40B4-BE49-F238E27FC236}">
                <a16:creationId xmlns:a16="http://schemas.microsoft.com/office/drawing/2014/main" id="{875BB7D0-BA51-4A56-A056-71E1953263C8}"/>
              </a:ext>
            </a:extLst>
          </p:cNvPr>
          <p:cNvSpPr>
            <a:spLocks xmlns:a="http://schemas.openxmlformats.org/drawingml/2006/main" noGrp="1"/>
          </p:cNvSpPr>
          <p:nvPr/>
        </p:nvSpPr>
        <p:spPr>
          <a:xfrm xmlns:a="http://schemas.openxmlformats.org/drawingml/2006/main">
            <a:off x="2571750" y="4419600"/>
            <a:ext cx="2476500" cy="171450"/>
          </a:xfrm>
          <a:prstGeom xmlns:a="http://schemas.openxmlformats.org/drawingml/2006/main" prst="roundRect">
            <a:avLst>
              <a:gd name="adj" fmla="val 22222"/>
            </a:avLst>
          </a:prstGeom>
          <a:solidFill xmlns:a="http://schemas.openxmlformats.org/drawingml/2006/main">
            <a:srgbClr val="E7EDF4"/>
          </a:solidFill>
          <a:ln xmlns:a="http://schemas.openxmlformats.org/drawingml/2006/main" w="11430">
            <a:solidFill>
              <a:srgbClr val="E7EDF4"/>
            </a:solidFill>
            <a:prstDash val="solid"/>
          </a:ln>
        </p:spPr>
      </p:sp>
      <p:sp>
        <p:nvSpPr>
          <p:cNvPr id="21" name="">
            <a:extLst xmlns:a="http://schemas.openxmlformats.org/drawingml/2006/main">
              <a:ext uri="{FF2B5EF4-FFF2-40B4-BE49-F238E27FC236}">
                <a16:creationId xmlns:a16="http://schemas.microsoft.com/office/drawing/2014/main" id="{2E547F3D-AB06-4DBC-B576-220D4BE2C6B4}"/>
              </a:ext>
            </a:extLst>
          </p:cNvPr>
          <p:cNvSpPr>
            <a:spLocks xmlns:a="http://schemas.openxmlformats.org/drawingml/2006/main" noGrp="1"/>
          </p:cNvSpPr>
          <p:nvPr/>
        </p:nvSpPr>
        <p:spPr>
          <a:xfrm xmlns:a="http://schemas.openxmlformats.org/drawingml/2006/main">
            <a:off x="2571750" y="4419600"/>
            <a:ext cx="1510665" cy="171450"/>
          </a:xfrm>
          <a:prstGeom xmlns:a="http://schemas.openxmlformats.org/drawingml/2006/main" prst="roundRect">
            <a:avLst>
              <a:gd name="adj" fmla="val 22222"/>
            </a:avLst>
          </a:prstGeom>
          <a:solidFill xmlns:a="http://schemas.openxmlformats.org/drawingml/2006/main">
            <a:srgbClr val="7157D9"/>
          </a:solidFill>
          <a:ln xmlns:a="http://schemas.openxmlformats.org/drawingml/2006/main" w="11430">
            <a:solidFill>
              <a:srgbClr val="7157D9"/>
            </a:solidFill>
            <a:prstDash val="solid"/>
          </a:ln>
        </p:spPr>
      </p:sp>
      <p:sp>
        <p:nvSpPr>
          <p:cNvPr id="22" name="">
            <a:extLst xmlns:a="http://schemas.openxmlformats.org/drawingml/2006/main">
              <a:ext uri="{FF2B5EF4-FFF2-40B4-BE49-F238E27FC236}">
                <a16:creationId xmlns:a16="http://schemas.microsoft.com/office/drawing/2014/main" id="{A49371C2-1240-4DD8-8B2A-598EDF2FF855}"/>
              </a:ext>
            </a:extLst>
          </p:cNvPr>
          <p:cNvSpPr>
            <a:spLocks xmlns:a="http://schemas.openxmlformats.org/drawingml/2006/main" noGrp="1"/>
          </p:cNvSpPr>
          <p:nvPr/>
        </p:nvSpPr>
        <p:spPr>
          <a:xfrm xmlns:a="http://schemas.openxmlformats.org/drawingml/2006/main">
            <a:off x="866775" y="4857750"/>
            <a:ext cx="4191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1">
                <a:solidFill>
                  <a:srgbClr val="C74B50"/>
                </a:solidFill>
              </a:defRPr>
            </a:pPr>
            <a:r>
              <a:rPr sz="1425" b="1">
                <a:solidFill>
                  <a:srgbClr val="C74B50"/>
                </a:solidFill>
              </a:rPr>
              <a:t>Result: multiple high-memory GPUs or OOM</a:t>
            </a:r>
          </a:p>
        </p:txBody>
      </p:sp>
      <p:sp>
        <p:nvSpPr>
          <p:cNvPr id="23" name="">
            <a:extLst xmlns:a="http://schemas.openxmlformats.org/drawingml/2006/main">
              <a:ext uri="{FF2B5EF4-FFF2-40B4-BE49-F238E27FC236}">
                <a16:creationId xmlns:a16="http://schemas.microsoft.com/office/drawing/2014/main" id="{C3B85915-0E06-4613-A39E-875A353AA9D0}"/>
              </a:ext>
            </a:extLst>
          </p:cNvPr>
          <p:cNvSpPr>
            <a:spLocks xmlns:a="http://schemas.openxmlformats.org/drawingml/2006/main" noGrp="1"/>
          </p:cNvSpPr>
          <p:nvPr/>
        </p:nvSpPr>
        <p:spPr>
          <a:xfrm xmlns:a="http://schemas.openxmlformats.org/drawingml/2006/main">
            <a:off x="5924550" y="2009775"/>
            <a:ext cx="5638800" cy="3371850"/>
          </a:xfrm>
          <a:prstGeom xmlns:a="http://schemas.openxmlformats.org/drawingml/2006/main" prst="roundRect">
            <a:avLst>
              <a:gd name="adj" fmla="val 3955"/>
            </a:avLst>
          </a:prstGeom>
          <a:solidFill xmlns:a="http://schemas.openxmlformats.org/drawingml/2006/main">
            <a:srgbClr val="FFFFFF"/>
          </a:solidFill>
          <a:ln xmlns:a="http://schemas.openxmlformats.org/drawingml/2006/main" w="11430">
            <a:solidFill>
              <a:srgbClr val="C8D3E0"/>
            </a:solidFill>
            <a:prstDash val="solid"/>
          </a:ln>
        </p:spPr>
      </p:sp>
      <p:sp>
        <p:nvSpPr>
          <p:cNvPr id="24" name="">
            <a:extLst xmlns:a="http://schemas.openxmlformats.org/drawingml/2006/main">
              <a:ext uri="{FF2B5EF4-FFF2-40B4-BE49-F238E27FC236}">
                <a16:creationId xmlns:a16="http://schemas.microsoft.com/office/drawing/2014/main" id="{1B1FDC93-81B2-4A5B-9A60-58E014B4D89E}"/>
              </a:ext>
            </a:extLst>
          </p:cNvPr>
          <p:cNvSpPr>
            <a:spLocks xmlns:a="http://schemas.openxmlformats.org/drawingml/2006/main" noGrp="1"/>
          </p:cNvSpPr>
          <p:nvPr/>
        </p:nvSpPr>
        <p:spPr>
          <a:xfrm xmlns:a="http://schemas.openxmlformats.org/drawingml/2006/main">
            <a:off x="6181725" y="2219325"/>
            <a:ext cx="4857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250" b="1">
                <a:solidFill>
                  <a:srgbClr val="09866A"/>
                </a:solidFill>
              </a:defRPr>
            </a:pPr>
            <a:r>
              <a:rPr sz="2250" b="1">
                <a:solidFill>
                  <a:srgbClr val="09866A"/>
                </a:solidFill>
              </a:rPr>
              <a:t>aiDAPTIV placement strategy</a:t>
            </a:r>
          </a:p>
        </p:txBody>
      </p:sp>
      <p:sp>
        <p:nvSpPr>
          <p:cNvPr id="25" name="">
            <a:extLst xmlns:a="http://schemas.openxmlformats.org/drawingml/2006/main">
              <a:ext uri="{FF2B5EF4-FFF2-40B4-BE49-F238E27FC236}">
                <a16:creationId xmlns:a16="http://schemas.microsoft.com/office/drawing/2014/main" id="{C636E89D-BE91-4F08-9FFC-0A522F0006AE}"/>
              </a:ext>
            </a:extLst>
          </p:cNvPr>
          <p:cNvSpPr>
            <a:spLocks xmlns:a="http://schemas.openxmlformats.org/drawingml/2006/main" noGrp="1"/>
          </p:cNvSpPr>
          <p:nvPr/>
        </p:nvSpPr>
        <p:spPr>
          <a:xfrm xmlns:a="http://schemas.openxmlformats.org/drawingml/2006/main">
            <a:off x="6181725" y="2638425"/>
            <a:ext cx="495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0">
                <a:solidFill>
                  <a:srgbClr val="53657A"/>
                </a:solidFill>
              </a:defRPr>
            </a:pPr>
            <a:r>
              <a:rPr sz="1425" b="0">
                <a:solidFill>
                  <a:srgbClr val="53657A"/>
                </a:solidFill>
              </a:rPr>
              <a:t>Reserve fast memory for the current training working set</a:t>
            </a:r>
          </a:p>
        </p:txBody>
      </p:sp>
      <p:sp>
        <p:nvSpPr>
          <p:cNvPr id="26" name="">
            <a:extLst xmlns:a="http://schemas.openxmlformats.org/drawingml/2006/main">
              <a:ext uri="{FF2B5EF4-FFF2-40B4-BE49-F238E27FC236}">
                <a16:creationId xmlns:a16="http://schemas.microsoft.com/office/drawing/2014/main" id="{6C7F6698-8F14-4509-B87F-210D470FFB54}"/>
              </a:ext>
            </a:extLst>
          </p:cNvPr>
          <p:cNvSpPr>
            <a:spLocks xmlns:a="http://schemas.openxmlformats.org/drawingml/2006/main" noGrp="1"/>
          </p:cNvSpPr>
          <p:nvPr/>
        </p:nvSpPr>
        <p:spPr>
          <a:xfrm xmlns:a="http://schemas.openxmlformats.org/drawingml/2006/main">
            <a:off x="6181725" y="3086100"/>
            <a:ext cx="5048250" cy="457200"/>
          </a:xfrm>
          <a:prstGeom xmlns:a="http://schemas.openxmlformats.org/drawingml/2006/main" prst="roundRect">
            <a:avLst>
              <a:gd name="adj" fmla="val 16667"/>
            </a:avLst>
          </a:prstGeom>
          <a:solidFill xmlns:a="http://schemas.openxmlformats.org/drawingml/2006/main">
            <a:srgbClr val="EEEAFE"/>
          </a:solidFill>
          <a:ln xmlns:a="http://schemas.openxmlformats.org/drawingml/2006/main" w="11430">
            <a:solidFill>
              <a:srgbClr val="7157D9"/>
            </a:solidFill>
            <a:prstDash val="solid"/>
          </a:ln>
        </p:spPr>
      </p:sp>
      <p:sp>
        <p:nvSpPr>
          <p:cNvPr id="27" name="">
            <a:extLst xmlns:a="http://schemas.openxmlformats.org/drawingml/2006/main">
              <a:ext uri="{FF2B5EF4-FFF2-40B4-BE49-F238E27FC236}">
                <a16:creationId xmlns:a16="http://schemas.microsoft.com/office/drawing/2014/main" id="{5B1940B4-C513-4E25-943E-8AFF1D9429FF}"/>
              </a:ext>
            </a:extLst>
          </p:cNvPr>
          <p:cNvSpPr>
            <a:spLocks xmlns:a="http://schemas.openxmlformats.org/drawingml/2006/main" noGrp="1"/>
          </p:cNvSpPr>
          <p:nvPr/>
        </p:nvSpPr>
        <p:spPr>
          <a:xfrm xmlns:a="http://schemas.openxmlformats.org/drawingml/2006/main">
            <a:off x="6334125" y="3181350"/>
            <a:ext cx="1952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7157D9"/>
                </a:solidFill>
              </a:defRPr>
            </a:pPr>
            <a:r>
              <a:rPr sz="1500" b="1">
                <a:solidFill>
                  <a:srgbClr val="7157D9"/>
                </a:solidFill>
              </a:rPr>
              <a:t>Hot — VRAM</a:t>
            </a:r>
          </a:p>
        </p:txBody>
      </p:sp>
      <p:sp>
        <p:nvSpPr>
          <p:cNvPr id="28" name="">
            <a:extLst xmlns:a="http://schemas.openxmlformats.org/drawingml/2006/main">
              <a:ext uri="{FF2B5EF4-FFF2-40B4-BE49-F238E27FC236}">
                <a16:creationId xmlns:a16="http://schemas.microsoft.com/office/drawing/2014/main" id="{D63CA2ED-5AE6-491C-B2C8-DABC5127E413}"/>
              </a:ext>
            </a:extLst>
          </p:cNvPr>
          <p:cNvSpPr>
            <a:spLocks xmlns:a="http://schemas.openxmlformats.org/drawingml/2006/main" noGrp="1"/>
          </p:cNvSpPr>
          <p:nvPr/>
        </p:nvSpPr>
        <p:spPr>
          <a:xfrm xmlns:a="http://schemas.openxmlformats.org/drawingml/2006/main">
            <a:off x="8305800" y="3181350"/>
            <a:ext cx="2743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0A1628"/>
                </a:solidFill>
              </a:defRPr>
            </a:pPr>
            <a:r>
              <a:rPr sz="1200" b="0">
                <a:solidFill>
                  <a:srgbClr val="0A1628"/>
                </a:solidFill>
              </a:rPr>
              <a:t>layers / grads / activations</a:t>
            </a:r>
          </a:p>
        </p:txBody>
      </p:sp>
      <p:sp>
        <p:nvSpPr>
          <p:cNvPr id="29" name="">
            <a:extLst xmlns:a="http://schemas.openxmlformats.org/drawingml/2006/main">
              <a:ext uri="{FF2B5EF4-FFF2-40B4-BE49-F238E27FC236}">
                <a16:creationId xmlns:a16="http://schemas.microsoft.com/office/drawing/2014/main" id="{D77040A3-62AB-4353-BB70-9C1E72492987}"/>
              </a:ext>
            </a:extLst>
          </p:cNvPr>
          <p:cNvSpPr>
            <a:spLocks xmlns:a="http://schemas.openxmlformats.org/drawingml/2006/main" noGrp="1"/>
          </p:cNvSpPr>
          <p:nvPr/>
        </p:nvSpPr>
        <p:spPr>
          <a:xfrm xmlns:a="http://schemas.openxmlformats.org/drawingml/2006/main">
            <a:off x="6181725" y="3676650"/>
            <a:ext cx="5048250" cy="457200"/>
          </a:xfrm>
          <a:prstGeom xmlns:a="http://schemas.openxmlformats.org/drawingml/2006/main" prst="roundRect">
            <a:avLst>
              <a:gd name="adj" fmla="val 16667"/>
            </a:avLst>
          </a:prstGeom>
          <a:solidFill xmlns:a="http://schemas.openxmlformats.org/drawingml/2006/main">
            <a:srgbClr val="E4F7FA"/>
          </a:solidFill>
          <a:ln xmlns:a="http://schemas.openxmlformats.org/drawingml/2006/main" w="11430">
            <a:solidFill>
              <a:srgbClr val="0A9DB5"/>
            </a:solidFill>
            <a:prstDash val="solid"/>
          </a:ln>
        </p:spPr>
      </p:sp>
      <p:sp>
        <p:nvSpPr>
          <p:cNvPr id="30" name="">
            <a:extLst xmlns:a="http://schemas.openxmlformats.org/drawingml/2006/main">
              <a:ext uri="{FF2B5EF4-FFF2-40B4-BE49-F238E27FC236}">
                <a16:creationId xmlns:a16="http://schemas.microsoft.com/office/drawing/2014/main" id="{CB49AD87-7952-46C0-AEB0-6B7D3A4B07D7}"/>
              </a:ext>
            </a:extLst>
          </p:cNvPr>
          <p:cNvSpPr>
            <a:spLocks xmlns:a="http://schemas.openxmlformats.org/drawingml/2006/main" noGrp="1"/>
          </p:cNvSpPr>
          <p:nvPr/>
        </p:nvSpPr>
        <p:spPr>
          <a:xfrm xmlns:a="http://schemas.openxmlformats.org/drawingml/2006/main">
            <a:off x="6334125" y="3771900"/>
            <a:ext cx="1952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0A9DB5"/>
                </a:solidFill>
              </a:defRPr>
            </a:pPr>
            <a:r>
              <a:rPr sz="1500" b="1">
                <a:solidFill>
                  <a:srgbClr val="0A9DB5"/>
                </a:solidFill>
              </a:rPr>
              <a:t>Warm — DRAM</a:t>
            </a:r>
          </a:p>
        </p:txBody>
      </p:sp>
      <p:sp>
        <p:nvSpPr>
          <p:cNvPr id="31" name="">
            <a:extLst xmlns:a="http://schemas.openxmlformats.org/drawingml/2006/main">
              <a:ext uri="{FF2B5EF4-FFF2-40B4-BE49-F238E27FC236}">
                <a16:creationId xmlns:a16="http://schemas.microsoft.com/office/drawing/2014/main" id="{480CF21E-A955-4BBE-90D5-13676A5AB813}"/>
              </a:ext>
            </a:extLst>
          </p:cNvPr>
          <p:cNvSpPr>
            <a:spLocks xmlns:a="http://schemas.openxmlformats.org/drawingml/2006/main" noGrp="1"/>
          </p:cNvSpPr>
          <p:nvPr/>
        </p:nvSpPr>
        <p:spPr>
          <a:xfrm xmlns:a="http://schemas.openxmlformats.org/drawingml/2006/main">
            <a:off x="8305800" y="3771900"/>
            <a:ext cx="2743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0A1628"/>
                </a:solidFill>
              </a:defRPr>
            </a:pPr>
            <a:r>
              <a:rPr sz="1200" b="0">
                <a:solidFill>
                  <a:srgbClr val="0A1628"/>
                </a:solidFill>
              </a:rPr>
              <a:t>prefetched / CPU-managed state</a:t>
            </a:r>
          </a:p>
        </p:txBody>
      </p:sp>
      <p:sp>
        <p:nvSpPr>
          <p:cNvPr id="32" name="">
            <a:extLst xmlns:a="http://schemas.openxmlformats.org/drawingml/2006/main">
              <a:ext uri="{FF2B5EF4-FFF2-40B4-BE49-F238E27FC236}">
                <a16:creationId xmlns:a16="http://schemas.microsoft.com/office/drawing/2014/main" id="{FB12BC8F-14EE-4136-9E08-CD969D13F8CE}"/>
              </a:ext>
            </a:extLst>
          </p:cNvPr>
          <p:cNvSpPr>
            <a:spLocks xmlns:a="http://schemas.openxmlformats.org/drawingml/2006/main" noGrp="1"/>
          </p:cNvSpPr>
          <p:nvPr/>
        </p:nvSpPr>
        <p:spPr>
          <a:xfrm xmlns:a="http://schemas.openxmlformats.org/drawingml/2006/main">
            <a:off x="6181725" y="4267200"/>
            <a:ext cx="5048250" cy="457200"/>
          </a:xfrm>
          <a:prstGeom xmlns:a="http://schemas.openxmlformats.org/drawingml/2006/main" prst="roundRect">
            <a:avLst>
              <a:gd name="adj" fmla="val 16667"/>
            </a:avLst>
          </a:prstGeom>
          <a:solidFill xmlns:a="http://schemas.openxmlformats.org/drawingml/2006/main">
            <a:srgbClr val="FFF2DF"/>
          </a:solidFill>
          <a:ln xmlns:a="http://schemas.openxmlformats.org/drawingml/2006/main" w="11430">
            <a:solidFill>
              <a:srgbClr val="E98A15"/>
            </a:solidFill>
            <a:prstDash val="solid"/>
          </a:ln>
        </p:spPr>
      </p:sp>
      <p:sp>
        <p:nvSpPr>
          <p:cNvPr id="33" name="">
            <a:extLst xmlns:a="http://schemas.openxmlformats.org/drawingml/2006/main">
              <a:ext uri="{FF2B5EF4-FFF2-40B4-BE49-F238E27FC236}">
                <a16:creationId xmlns:a16="http://schemas.microsoft.com/office/drawing/2014/main" id="{B4D65E87-0FA9-4EE0-8EA4-7F0895D4278A}"/>
              </a:ext>
            </a:extLst>
          </p:cNvPr>
          <p:cNvSpPr>
            <a:spLocks xmlns:a="http://schemas.openxmlformats.org/drawingml/2006/main" noGrp="1"/>
          </p:cNvSpPr>
          <p:nvPr/>
        </p:nvSpPr>
        <p:spPr>
          <a:xfrm xmlns:a="http://schemas.openxmlformats.org/drawingml/2006/main">
            <a:off x="6334125" y="4362450"/>
            <a:ext cx="1952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E98A15"/>
                </a:solidFill>
              </a:defRPr>
            </a:pPr>
            <a:r>
              <a:rPr sz="1500" b="1">
                <a:solidFill>
                  <a:srgbClr val="E98A15"/>
                </a:solidFill>
              </a:rPr>
              <a:t>Cold — SSD cache</a:t>
            </a:r>
          </a:p>
        </p:txBody>
      </p:sp>
      <p:sp>
        <p:nvSpPr>
          <p:cNvPr id="34" name="">
            <a:extLst xmlns:a="http://schemas.openxmlformats.org/drawingml/2006/main">
              <a:ext uri="{FF2B5EF4-FFF2-40B4-BE49-F238E27FC236}">
                <a16:creationId xmlns:a16="http://schemas.microsoft.com/office/drawing/2014/main" id="{AECD1CBF-2FFA-4501-BD63-97CE45A195BA}"/>
              </a:ext>
            </a:extLst>
          </p:cNvPr>
          <p:cNvSpPr>
            <a:spLocks xmlns:a="http://schemas.openxmlformats.org/drawingml/2006/main" noGrp="1"/>
          </p:cNvSpPr>
          <p:nvPr/>
        </p:nvSpPr>
        <p:spPr>
          <a:xfrm xmlns:a="http://schemas.openxmlformats.org/drawingml/2006/main">
            <a:off x="8305800" y="4362450"/>
            <a:ext cx="2743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0A1628"/>
                </a:solidFill>
              </a:defRPr>
            </a:pPr>
            <a:r>
              <a:rPr sz="1200" b="0">
                <a:solidFill>
                  <a:srgbClr val="0A1628"/>
                </a:solidFill>
              </a:rPr>
              <a:t>staged model or training state</a:t>
            </a:r>
          </a:p>
        </p:txBody>
      </p:sp>
      <p:sp>
        <p:nvSpPr>
          <p:cNvPr id="35" name="">
            <a:extLst xmlns:a="http://schemas.openxmlformats.org/drawingml/2006/main">
              <a:ext uri="{FF2B5EF4-FFF2-40B4-BE49-F238E27FC236}">
                <a16:creationId xmlns:a16="http://schemas.microsoft.com/office/drawing/2014/main" id="{ACCCCE84-7163-4921-AA6F-09D6F9365C0B}"/>
              </a:ext>
            </a:extLst>
          </p:cNvPr>
          <p:cNvSpPr>
            <a:spLocks xmlns:a="http://schemas.openxmlformats.org/drawingml/2006/main" noGrp="1"/>
          </p:cNvSpPr>
          <p:nvPr/>
        </p:nvSpPr>
        <p:spPr>
          <a:xfrm xmlns:a="http://schemas.openxmlformats.org/drawingml/2006/main">
            <a:off x="6181725" y="4857750"/>
            <a:ext cx="5048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9866A"/>
                </a:solidFill>
              </a:defRPr>
            </a:pPr>
            <a:r>
              <a:rPr sz="1200" b="1">
                <a:solidFill>
                  <a:srgbClr val="09866A"/>
                </a:solidFill>
              </a:rPr>
              <a:t>Vendor guidance: 2 TB cache → up to 70B, 128 GB RAM. Validate per model/method.</a:t>
            </a:r>
          </a:p>
        </p:txBody>
      </p:sp>
      <p:sp>
        <p:nvSpPr>
          <p:cNvPr id="36" name="">
            <a:extLst xmlns:a="http://schemas.openxmlformats.org/drawingml/2006/main">
              <a:ext uri="{FF2B5EF4-FFF2-40B4-BE49-F238E27FC236}">
                <a16:creationId xmlns:a16="http://schemas.microsoft.com/office/drawing/2014/main" id="{3F13C78F-B532-4D85-B219-7F42C7AA3346}"/>
              </a:ext>
            </a:extLst>
          </p:cNvPr>
          <p:cNvSpPr>
            <a:spLocks xmlns:a="http://schemas.openxmlformats.org/drawingml/2006/main" noGrp="1"/>
          </p:cNvSpPr>
          <p:nvPr/>
        </p:nvSpPr>
        <p:spPr>
          <a:xfrm xmlns:a="http://schemas.openxmlformats.org/drawingml/2006/main">
            <a:off x="609600" y="5457825"/>
            <a:ext cx="10953750" cy="762000"/>
          </a:xfrm>
          <a:prstGeom xmlns:a="http://schemas.openxmlformats.org/drawingml/2006/main" prst="roundRect">
            <a:avLst>
              <a:gd name="adj" fmla="val 12500"/>
            </a:avLst>
          </a:prstGeom>
          <a:solidFill xmlns:a="http://schemas.openxmlformats.org/drawingml/2006/main">
            <a:srgbClr val="10253F"/>
          </a:solidFill>
          <a:ln xmlns:a="http://schemas.openxmlformats.org/drawingml/2006/main" w="11430">
            <a:solidFill>
              <a:srgbClr val="10253F"/>
            </a:solidFill>
            <a:prstDash val="solid"/>
          </a:ln>
        </p:spPr>
      </p:sp>
      <p:sp>
        <p:nvSpPr>
          <p:cNvPr id="37" name="">
            <a:extLst xmlns:a="http://schemas.openxmlformats.org/drawingml/2006/main">
              <a:ext uri="{FF2B5EF4-FFF2-40B4-BE49-F238E27FC236}">
                <a16:creationId xmlns:a16="http://schemas.microsoft.com/office/drawing/2014/main" id="{F7ABFF0A-BDBC-4824-8FE8-A4EF464BBC11}"/>
              </a:ext>
            </a:extLst>
          </p:cNvPr>
          <p:cNvSpPr>
            <a:spLocks xmlns:a="http://schemas.openxmlformats.org/drawingml/2006/main" noGrp="1"/>
          </p:cNvSpPr>
          <p:nvPr/>
        </p:nvSpPr>
        <p:spPr>
          <a:xfrm xmlns:a="http://schemas.openxmlformats.org/drawingml/2006/main">
            <a:off x="819150" y="5638800"/>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1">
                <a:solidFill>
                  <a:srgbClr val="FFFFFF"/>
                </a:solidFill>
              </a:defRPr>
            </a:pPr>
            <a:r>
              <a:rPr sz="1425" b="1">
                <a:solidFill>
                  <a:srgbClr val="FFFFFF"/>
                </a:solidFill>
              </a:rPr>
              <a:t>Phison internal result</a:t>
            </a:r>
          </a:p>
        </p:txBody>
      </p:sp>
      <p:sp>
        <p:nvSpPr>
          <p:cNvPr id="38" name="">
            <a:extLst xmlns:a="http://schemas.openxmlformats.org/drawingml/2006/main">
              <a:ext uri="{FF2B5EF4-FFF2-40B4-BE49-F238E27FC236}">
                <a16:creationId xmlns:a16="http://schemas.microsoft.com/office/drawing/2014/main" id="{C9B40287-EF3F-4056-9276-D9AC19A83CE8}"/>
              </a:ext>
            </a:extLst>
          </p:cNvPr>
          <p:cNvSpPr>
            <a:spLocks xmlns:a="http://schemas.openxmlformats.org/drawingml/2006/main" noGrp="1"/>
          </p:cNvSpPr>
          <p:nvPr/>
        </p:nvSpPr>
        <p:spPr>
          <a:xfrm xmlns:a="http://schemas.openxmlformats.org/drawingml/2006/main">
            <a:off x="3105150" y="5591175"/>
            <a:ext cx="79533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FFFFFF"/>
                </a:solidFill>
              </a:defRPr>
            </a:pPr>
            <a:r>
              <a:rPr sz="1500" b="1">
                <a:solidFill>
                  <a:srgbClr val="FFFFFF"/>
                </a:solidFill>
              </a:rPr>
              <a:t>4× RTX 4090 • Llama 2 70B • 519→971 tokens/s (1.0→2.0/E28)</a:t>
            </a:r>
          </a:p>
        </p:txBody>
      </p:sp>
      <p:sp>
        <p:nvSpPr>
          <p:cNvPr id="39" name="">
            <a:extLst xmlns:a="http://schemas.openxmlformats.org/drawingml/2006/main">
              <a:ext uri="{FF2B5EF4-FFF2-40B4-BE49-F238E27FC236}">
                <a16:creationId xmlns:a16="http://schemas.microsoft.com/office/drawing/2014/main" id="{2314B723-CA2A-4C18-B41B-452C88BBE162}"/>
              </a:ext>
            </a:extLst>
          </p:cNvPr>
          <p:cNvSpPr>
            <a:spLocks xmlns:a="http://schemas.openxmlformats.org/drawingml/2006/main" noGrp="1"/>
          </p:cNvSpPr>
          <p:nvPr/>
        </p:nvSpPr>
        <p:spPr>
          <a:xfrm xmlns:a="http://schemas.openxmlformats.org/drawingml/2006/main">
            <a:off x="3105150" y="5895975"/>
            <a:ext cx="79533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BDD0E7"/>
                </a:solidFill>
              </a:defRPr>
            </a:pPr>
            <a:r>
              <a:rPr sz="1050" b="0">
                <a:solidFill>
                  <a:srgbClr val="BDD0E7"/>
                </a:solidFill>
              </a:rPr>
              <a:t>Vendor-reported; public methodology is incomplete—do not generalize.</a:t>
            </a:r>
          </a:p>
        </p:txBody>
      </p:sp>
    </p:spTree>
    <p:extLst>
      <p:ext uri="{BB962C8B-B14F-4D97-AF65-F5344CB8AC3E}">
        <p14:creationId xmlns:p14="http://schemas.microsoft.com/office/powerpoint/2010/main" val="379444865"/>
      </p:ext>
    </p:extLst>
  </p:cSld>
</p:sld>
</file>

<file path=ppt/slides/slide7.xml><?xml version="1.0" encoding="utf-8"?>
<p:sld xmlns:p="http://schemas.openxmlformats.org/presentationml/2006/main">
  <p:cSld>
    <p:bg>
      <p:bgPr>
        <a:solidFill xmlns:a="http://schemas.openxmlformats.org/drawingml/2006/main">
          <a:srgbClr val="F4F7FB"/>
        </a:solidFill>
      </p:bgPr>
    </p:bg>
    <p:spTree>
      <p:nvGrpSpPr>
        <p:cNvPr id="1" name=""/>
        <p:cNvGrpSpPr/>
        <p:nvPr/>
      </p:nvGrpSpPr>
      <p:grpSpPr>
        <a:xfrm xmlns:a="http://schemas.openxmlformats.org/drawingml/2006/main"/>
      </p:grpSpPr>
      <p:sp>
        <p:nvSpPr>
          <p:cNvPr id="56" name="">
            <a:extLst xmlns:a="http://schemas.openxmlformats.org/drawingml/2006/main">
              <a:ext uri="{FF2B5EF4-FFF2-40B4-BE49-F238E27FC236}">
                <a16:creationId xmlns:a16="http://schemas.microsoft.com/office/drawing/2014/main" id="{3AC5DB79-0A7E-46FC-9070-A91979DDB8CC}"/>
              </a:ext>
            </a:extLst>
          </p:cNvPr>
          <p:cNvSpPr>
            <a:spLocks xmlns:a="http://schemas.openxmlformats.org/drawingml/2006/main" noGrp="1"/>
          </p:cNvSpPr>
          <p:nvPr/>
        </p:nvSpPr>
        <p:spPr>
          <a:xfrm xmlns:a="http://schemas.openxmlformats.org/drawingml/2006/main">
            <a:off x="609600" y="257175"/>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2B6DE9"/>
                </a:solidFill>
              </a:defRPr>
            </a:pPr>
            <a:r>
              <a:rPr sz="1050" b="1">
                <a:solidFill>
                  <a:srgbClr val="2B6DE9"/>
                </a:solidFill>
              </a:rPr>
              <a:t>AIDAPTIV VS DEEPSPEED ZERO</a:t>
            </a:r>
          </a:p>
        </p:txBody>
      </p:sp>
      <p:sp>
        <p:nvSpPr>
          <p:cNvPr id="2" name="">
            <a:extLst xmlns:a="http://schemas.openxmlformats.org/drawingml/2006/main">
              <a:ext uri="{FF2B5EF4-FFF2-40B4-BE49-F238E27FC236}">
                <a16:creationId xmlns:a16="http://schemas.microsoft.com/office/drawing/2014/main" id="{2D5300A2-7C94-4965-BAFE-901EE9193D76}"/>
              </a:ext>
            </a:extLst>
          </p:cNvPr>
          <p:cNvSpPr>
            <a:spLocks xmlns:a="http://schemas.openxmlformats.org/drawingml/2006/main" noGrp="1"/>
          </p:cNvSpPr>
          <p:nvPr/>
        </p:nvSpPr>
        <p:spPr>
          <a:xfrm xmlns:a="http://schemas.openxmlformats.org/drawingml/2006/main">
            <a:off x="11191875" y="219075"/>
            <a:ext cx="476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200" b="1">
                <a:solidFill>
                  <a:srgbClr val="53657A"/>
                </a:solidFill>
              </a:defRPr>
            </a:pPr>
            <a:r>
              <a:rPr sz="1200" b="1">
                <a:solidFill>
                  <a:srgbClr val="53657A"/>
                </a:solidFill>
              </a:rPr>
              <a:t>07</a:t>
            </a:r>
          </a:p>
        </p:txBody>
      </p:sp>
      <p:sp>
        <p:nvSpPr>
          <p:cNvPr id="3" name="">
            <a:extLst xmlns:a="http://schemas.openxmlformats.org/drawingml/2006/main">
              <a:ext uri="{FF2B5EF4-FFF2-40B4-BE49-F238E27FC236}">
                <a16:creationId xmlns:a16="http://schemas.microsoft.com/office/drawing/2014/main" id="{6DD925F9-1977-4142-9FF5-FC2E968142A7}"/>
              </a:ext>
            </a:extLst>
          </p:cNvPr>
          <p:cNvSpPr>
            <a:spLocks xmlns:a="http://schemas.openxmlformats.org/drawingml/2006/main" noGrp="1"/>
          </p:cNvSpPr>
          <p:nvPr/>
        </p:nvSpPr>
        <p:spPr>
          <a:xfrm xmlns:a="http://schemas.openxmlformats.org/drawingml/2006/main">
            <a:off x="609600" y="552450"/>
            <a:ext cx="109061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600" b="1">
                <a:solidFill>
                  <a:srgbClr val="0A1628"/>
                </a:solidFill>
              </a:defRPr>
            </a:pPr>
            <a:r>
              <a:rPr sz="3600" b="1">
                <a:solidFill>
                  <a:srgbClr val="0A1628"/>
                </a:solidFill>
              </a:rPr>
              <a:t>ZeRO schedules; aiDAPTIV engineers storage</a:t>
            </a:r>
          </a:p>
        </p:txBody>
      </p:sp>
      <p:sp>
        <p:nvSpPr>
          <p:cNvPr id="4" name="">
            <a:extLst xmlns:a="http://schemas.openxmlformats.org/drawingml/2006/main">
              <a:ext uri="{FF2B5EF4-FFF2-40B4-BE49-F238E27FC236}">
                <a16:creationId xmlns:a16="http://schemas.microsoft.com/office/drawing/2014/main" id="{903B2D24-463D-4A18-9ACF-24D7C50B7A6E}"/>
              </a:ext>
            </a:extLst>
          </p:cNvPr>
          <p:cNvSpPr>
            <a:spLocks xmlns:a="http://schemas.openxmlformats.org/drawingml/2006/main" noGrp="1"/>
          </p:cNvSpPr>
          <p:nvPr/>
        </p:nvSpPr>
        <p:spPr>
          <a:xfrm xmlns:a="http://schemas.openxmlformats.org/drawingml/2006/main">
            <a:off x="609600" y="1200150"/>
            <a:ext cx="10972800" cy="0"/>
          </a:xfrm>
          <a:prstGeom xmlns:a="http://schemas.openxmlformats.org/drawingml/2006/main" prst="line">
            <a:avLst/>
          </a:prstGeom>
          <a:noFill xmlns:a="http://schemas.openxmlformats.org/drawingml/2006/main"/>
          <a:ln xmlns:a="http://schemas.openxmlformats.org/drawingml/2006/main" w="11430">
            <a:solidFill>
              <a:srgbClr val="C8D3E0"/>
            </a:solidFill>
            <a:prstDash val="solid"/>
          </a:ln>
        </p:spPr>
      </p:sp>
      <p:sp>
        <p:nvSpPr>
          <p:cNvPr id="5" name="">
            <a:extLst xmlns:a="http://schemas.openxmlformats.org/drawingml/2006/main">
              <a:ext uri="{FF2B5EF4-FFF2-40B4-BE49-F238E27FC236}">
                <a16:creationId xmlns:a16="http://schemas.microsoft.com/office/drawing/2014/main" id="{602E423D-7C5D-42B1-B16F-58FEF7B47F24}"/>
              </a:ext>
            </a:extLst>
          </p:cNvPr>
          <p:cNvSpPr>
            <a:spLocks xmlns:a="http://schemas.openxmlformats.org/drawingml/2006/main" noGrp="1"/>
          </p:cNvSpPr>
          <p:nvPr/>
        </p:nvSpPr>
        <p:spPr>
          <a:xfrm xmlns:a="http://schemas.openxmlformats.org/drawingml/2006/main">
            <a:off x="609600" y="6543675"/>
            <a:ext cx="10096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7B8796"/>
                </a:solidFill>
              </a:defRPr>
            </a:pPr>
            <a:r>
              <a:rPr sz="900" b="0">
                <a:solidFill>
                  <a:srgbClr val="7B8796"/>
                </a:solidFill>
              </a:rPr>
              <a:t>Phison aiDAPTIV technical architecture  •  Sources and claim boundaries in speaker notes</a:t>
            </a:r>
          </a:p>
        </p:txBody>
      </p:sp>
      <p:sp>
        <p:nvSpPr>
          <p:cNvPr id="6" name="">
            <a:extLst xmlns:a="http://schemas.openxmlformats.org/drawingml/2006/main">
              <a:ext uri="{FF2B5EF4-FFF2-40B4-BE49-F238E27FC236}">
                <a16:creationId xmlns:a16="http://schemas.microsoft.com/office/drawing/2014/main" id="{76F36723-FAF2-4BE5-BC12-F99CD2325C0C}"/>
              </a:ext>
            </a:extLst>
          </p:cNvPr>
          <p:cNvSpPr>
            <a:spLocks xmlns:a="http://schemas.openxmlformats.org/drawingml/2006/main" noGrp="1"/>
          </p:cNvSpPr>
          <p:nvPr/>
        </p:nvSpPr>
        <p:spPr>
          <a:xfrm xmlns:a="http://schemas.openxmlformats.org/drawingml/2006/main">
            <a:off x="609600" y="1466850"/>
            <a:ext cx="2238375" cy="457200"/>
          </a:xfrm>
          <a:prstGeom xmlns:a="http://schemas.openxmlformats.org/drawingml/2006/main" prst="rect">
            <a:avLst/>
          </a:prstGeom>
          <a:solidFill xmlns:a="http://schemas.openxmlformats.org/drawingml/2006/main">
            <a:srgbClr val="10253F"/>
          </a:solidFill>
          <a:ln xmlns:a="http://schemas.openxmlformats.org/drawingml/2006/main" w="11430">
            <a:solidFill>
              <a:srgbClr val="C8D3E0"/>
            </a:solidFill>
            <a:prstDash val="solid"/>
          </a:ln>
        </p:spPr>
      </p:sp>
      <p:sp>
        <p:nvSpPr>
          <p:cNvPr id="7" name="">
            <a:extLst xmlns:a="http://schemas.openxmlformats.org/drawingml/2006/main">
              <a:ext uri="{FF2B5EF4-FFF2-40B4-BE49-F238E27FC236}">
                <a16:creationId xmlns:a16="http://schemas.microsoft.com/office/drawing/2014/main" id="{843EE2D4-ACF0-4850-97AC-459BC6882EC4}"/>
              </a:ext>
            </a:extLst>
          </p:cNvPr>
          <p:cNvSpPr>
            <a:spLocks xmlns:a="http://schemas.openxmlformats.org/drawingml/2006/main" noGrp="1"/>
          </p:cNvSpPr>
          <p:nvPr/>
        </p:nvSpPr>
        <p:spPr>
          <a:xfrm xmlns:a="http://schemas.openxmlformats.org/drawingml/2006/main">
            <a:off x="704850" y="1543050"/>
            <a:ext cx="20478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FFFFFF"/>
                </a:solidFill>
              </a:defRPr>
            </a:pPr>
            <a:r>
              <a:rPr sz="1500" b="1">
                <a:solidFill>
                  <a:srgbClr val="FFFFFF"/>
                </a:solidFill>
              </a:rPr>
              <a:t>AREA</a:t>
            </a:r>
          </a:p>
        </p:txBody>
      </p:sp>
      <p:sp>
        <p:nvSpPr>
          <p:cNvPr id="8" name="">
            <a:extLst xmlns:a="http://schemas.openxmlformats.org/drawingml/2006/main">
              <a:ext uri="{FF2B5EF4-FFF2-40B4-BE49-F238E27FC236}">
                <a16:creationId xmlns:a16="http://schemas.microsoft.com/office/drawing/2014/main" id="{4114222D-22B5-4A9A-93F9-C77D9035436A}"/>
              </a:ext>
            </a:extLst>
          </p:cNvPr>
          <p:cNvSpPr>
            <a:spLocks xmlns:a="http://schemas.openxmlformats.org/drawingml/2006/main" noGrp="1"/>
          </p:cNvSpPr>
          <p:nvPr/>
        </p:nvSpPr>
        <p:spPr>
          <a:xfrm xmlns:a="http://schemas.openxmlformats.org/drawingml/2006/main">
            <a:off x="2847975" y="1466850"/>
            <a:ext cx="3905250" cy="457200"/>
          </a:xfrm>
          <a:prstGeom xmlns:a="http://schemas.openxmlformats.org/drawingml/2006/main" prst="rect">
            <a:avLst/>
          </a:prstGeom>
          <a:solidFill xmlns:a="http://schemas.openxmlformats.org/drawingml/2006/main">
            <a:srgbClr val="10253F"/>
          </a:solidFill>
          <a:ln xmlns:a="http://schemas.openxmlformats.org/drawingml/2006/main" w="11430">
            <a:solidFill>
              <a:srgbClr val="C8D3E0"/>
            </a:solidFill>
            <a:prstDash val="solid"/>
          </a:ln>
        </p:spPr>
      </p:sp>
      <p:sp>
        <p:nvSpPr>
          <p:cNvPr id="9" name="">
            <a:extLst xmlns:a="http://schemas.openxmlformats.org/drawingml/2006/main">
              <a:ext uri="{FF2B5EF4-FFF2-40B4-BE49-F238E27FC236}">
                <a16:creationId xmlns:a16="http://schemas.microsoft.com/office/drawing/2014/main" id="{2BDB0685-A215-48A0-B2AB-DDCEEAFA26BC}"/>
              </a:ext>
            </a:extLst>
          </p:cNvPr>
          <p:cNvSpPr>
            <a:spLocks xmlns:a="http://schemas.openxmlformats.org/drawingml/2006/main" noGrp="1"/>
          </p:cNvSpPr>
          <p:nvPr/>
        </p:nvSpPr>
        <p:spPr>
          <a:xfrm xmlns:a="http://schemas.openxmlformats.org/drawingml/2006/main">
            <a:off x="2943225" y="1543050"/>
            <a:ext cx="3714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FFFFFF"/>
                </a:solidFill>
              </a:defRPr>
            </a:pPr>
            <a:r>
              <a:rPr sz="1500" b="1">
                <a:solidFill>
                  <a:srgbClr val="FFFFFF"/>
                </a:solidFill>
              </a:rPr>
              <a:t>DEEPSPEED ZERO</a:t>
            </a:r>
          </a:p>
        </p:txBody>
      </p:sp>
      <p:sp>
        <p:nvSpPr>
          <p:cNvPr id="10" name="">
            <a:extLst xmlns:a="http://schemas.openxmlformats.org/drawingml/2006/main">
              <a:ext uri="{FF2B5EF4-FFF2-40B4-BE49-F238E27FC236}">
                <a16:creationId xmlns:a16="http://schemas.microsoft.com/office/drawing/2014/main" id="{AA3D3BCA-519F-47E9-B519-6BB7418EB853}"/>
              </a:ext>
            </a:extLst>
          </p:cNvPr>
          <p:cNvSpPr>
            <a:spLocks xmlns:a="http://schemas.openxmlformats.org/drawingml/2006/main" noGrp="1"/>
          </p:cNvSpPr>
          <p:nvPr/>
        </p:nvSpPr>
        <p:spPr>
          <a:xfrm xmlns:a="http://schemas.openxmlformats.org/drawingml/2006/main">
            <a:off x="6753225" y="1466850"/>
            <a:ext cx="4810125" cy="457200"/>
          </a:xfrm>
          <a:prstGeom xmlns:a="http://schemas.openxmlformats.org/drawingml/2006/main" prst="rect">
            <a:avLst/>
          </a:prstGeom>
          <a:solidFill xmlns:a="http://schemas.openxmlformats.org/drawingml/2006/main">
            <a:srgbClr val="10253F"/>
          </a:solidFill>
          <a:ln xmlns:a="http://schemas.openxmlformats.org/drawingml/2006/main" w="11430">
            <a:solidFill>
              <a:srgbClr val="C8D3E0"/>
            </a:solidFill>
            <a:prstDash val="solid"/>
          </a:ln>
        </p:spPr>
      </p:sp>
      <p:sp>
        <p:nvSpPr>
          <p:cNvPr id="11" name="">
            <a:extLst xmlns:a="http://schemas.openxmlformats.org/drawingml/2006/main">
              <a:ext uri="{FF2B5EF4-FFF2-40B4-BE49-F238E27FC236}">
                <a16:creationId xmlns:a16="http://schemas.microsoft.com/office/drawing/2014/main" id="{611DBF17-AB3B-4521-8AF9-3FF5FF3454B5}"/>
              </a:ext>
            </a:extLst>
          </p:cNvPr>
          <p:cNvSpPr>
            <a:spLocks xmlns:a="http://schemas.openxmlformats.org/drawingml/2006/main" noGrp="1"/>
          </p:cNvSpPr>
          <p:nvPr/>
        </p:nvSpPr>
        <p:spPr>
          <a:xfrm xmlns:a="http://schemas.openxmlformats.org/drawingml/2006/main">
            <a:off x="6848475" y="1543050"/>
            <a:ext cx="46196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FFFFFF"/>
                </a:solidFill>
              </a:defRPr>
            </a:pPr>
            <a:r>
              <a:rPr sz="1500" b="1">
                <a:solidFill>
                  <a:srgbClr val="FFFFFF"/>
                </a:solidFill>
              </a:rPr>
              <a:t>PASCARI aiDAPTIV</a:t>
            </a:r>
          </a:p>
        </p:txBody>
      </p:sp>
      <p:sp>
        <p:nvSpPr>
          <p:cNvPr id="12" name="">
            <a:extLst xmlns:a="http://schemas.openxmlformats.org/drawingml/2006/main">
              <a:ext uri="{FF2B5EF4-FFF2-40B4-BE49-F238E27FC236}">
                <a16:creationId xmlns:a16="http://schemas.microsoft.com/office/drawing/2014/main" id="{C827FC76-DE06-4299-A2CE-0AE921C6D0AB}"/>
              </a:ext>
            </a:extLst>
          </p:cNvPr>
          <p:cNvSpPr>
            <a:spLocks xmlns:a="http://schemas.openxmlformats.org/drawingml/2006/main" noGrp="1"/>
          </p:cNvSpPr>
          <p:nvPr/>
        </p:nvSpPr>
        <p:spPr>
          <a:xfrm xmlns:a="http://schemas.openxmlformats.org/drawingml/2006/main">
            <a:off x="609600" y="1924050"/>
            <a:ext cx="2238375" cy="581025"/>
          </a:xfrm>
          <a:prstGeom xmlns:a="http://schemas.openxmlformats.org/drawingml/2006/main" prst="rect">
            <a:avLst/>
          </a:prstGeom>
          <a:solidFill xmlns:a="http://schemas.openxmlformats.org/drawingml/2006/main">
            <a:srgbClr val="E7EDF4"/>
          </a:solidFill>
          <a:ln xmlns:a="http://schemas.openxmlformats.org/drawingml/2006/main" w="11430">
            <a:solidFill>
              <a:srgbClr val="C8D3E0"/>
            </a:solidFill>
            <a:prstDash val="solid"/>
          </a:ln>
        </p:spPr>
      </p:sp>
      <p:sp>
        <p:nvSpPr>
          <p:cNvPr id="13" name="">
            <a:extLst xmlns:a="http://schemas.openxmlformats.org/drawingml/2006/main">
              <a:ext uri="{FF2B5EF4-FFF2-40B4-BE49-F238E27FC236}">
                <a16:creationId xmlns:a16="http://schemas.microsoft.com/office/drawing/2014/main" id="{4497D4F7-6405-4EC8-8B65-AD9BFA84836E}"/>
              </a:ext>
            </a:extLst>
          </p:cNvPr>
          <p:cNvSpPr>
            <a:spLocks xmlns:a="http://schemas.openxmlformats.org/drawingml/2006/main" noGrp="1"/>
          </p:cNvSpPr>
          <p:nvPr/>
        </p:nvSpPr>
        <p:spPr>
          <a:xfrm xmlns:a="http://schemas.openxmlformats.org/drawingml/2006/main">
            <a:off x="704850" y="2000250"/>
            <a:ext cx="2047875"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37475B"/>
                </a:solidFill>
              </a:defRPr>
            </a:pPr>
            <a:r>
              <a:rPr sz="1500" b="1">
                <a:solidFill>
                  <a:srgbClr val="37475B"/>
                </a:solidFill>
              </a:rPr>
              <a:t>Primary unit</a:t>
            </a:r>
          </a:p>
        </p:txBody>
      </p:sp>
      <p:sp>
        <p:nvSpPr>
          <p:cNvPr id="14" name="">
            <a:extLst xmlns:a="http://schemas.openxmlformats.org/drawingml/2006/main">
              <a:ext uri="{FF2B5EF4-FFF2-40B4-BE49-F238E27FC236}">
                <a16:creationId xmlns:a16="http://schemas.microsoft.com/office/drawing/2014/main" id="{C8C0B07A-0F5F-4C46-AE90-4497284F5780}"/>
              </a:ext>
            </a:extLst>
          </p:cNvPr>
          <p:cNvSpPr>
            <a:spLocks xmlns:a="http://schemas.openxmlformats.org/drawingml/2006/main" noGrp="1"/>
          </p:cNvSpPr>
          <p:nvPr/>
        </p:nvSpPr>
        <p:spPr>
          <a:xfrm xmlns:a="http://schemas.openxmlformats.org/drawingml/2006/main">
            <a:off x="2847975" y="1924050"/>
            <a:ext cx="3905250" cy="581025"/>
          </a:xfrm>
          <a:prstGeom xmlns:a="http://schemas.openxmlformats.org/drawingml/2006/main" prst="rect">
            <a:avLst/>
          </a:prstGeom>
          <a:solidFill xmlns:a="http://schemas.openxmlformats.org/drawingml/2006/main">
            <a:srgbClr val="EAF1FE"/>
          </a:solidFill>
          <a:ln xmlns:a="http://schemas.openxmlformats.org/drawingml/2006/main" w="11430">
            <a:solidFill>
              <a:srgbClr val="C8D3E0"/>
            </a:solidFill>
            <a:prstDash val="solid"/>
          </a:ln>
        </p:spPr>
      </p:sp>
      <p:sp>
        <p:nvSpPr>
          <p:cNvPr id="15" name="">
            <a:extLst xmlns:a="http://schemas.openxmlformats.org/drawingml/2006/main">
              <a:ext uri="{FF2B5EF4-FFF2-40B4-BE49-F238E27FC236}">
                <a16:creationId xmlns:a16="http://schemas.microsoft.com/office/drawing/2014/main" id="{9AD87489-8995-4D71-A43A-62E28D6BD975}"/>
              </a:ext>
            </a:extLst>
          </p:cNvPr>
          <p:cNvSpPr>
            <a:spLocks xmlns:a="http://schemas.openxmlformats.org/drawingml/2006/main" noGrp="1"/>
          </p:cNvSpPr>
          <p:nvPr/>
        </p:nvSpPr>
        <p:spPr>
          <a:xfrm xmlns:a="http://schemas.openxmlformats.org/drawingml/2006/main">
            <a:off x="2943225" y="2000250"/>
            <a:ext cx="371475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a:solidFill>
                  <a:srgbClr val="2B6DE9"/>
                </a:solidFill>
              </a:defRPr>
            </a:pPr>
            <a:r>
              <a:rPr sz="1500" b="0">
                <a:solidFill>
                  <a:srgbClr val="2B6DE9"/>
                </a:solidFill>
              </a:rPr>
              <a:t>Software framework / runtime</a:t>
            </a:r>
          </a:p>
        </p:txBody>
      </p:sp>
      <p:sp>
        <p:nvSpPr>
          <p:cNvPr id="16" name="">
            <a:extLst xmlns:a="http://schemas.openxmlformats.org/drawingml/2006/main">
              <a:ext uri="{FF2B5EF4-FFF2-40B4-BE49-F238E27FC236}">
                <a16:creationId xmlns:a16="http://schemas.microsoft.com/office/drawing/2014/main" id="{60F1F4D0-41C5-4F5C-A24F-F46F6E037419}"/>
              </a:ext>
            </a:extLst>
          </p:cNvPr>
          <p:cNvSpPr>
            <a:spLocks xmlns:a="http://schemas.openxmlformats.org/drawingml/2006/main" noGrp="1"/>
          </p:cNvSpPr>
          <p:nvPr/>
        </p:nvSpPr>
        <p:spPr>
          <a:xfrm xmlns:a="http://schemas.openxmlformats.org/drawingml/2006/main">
            <a:off x="6753225" y="1924050"/>
            <a:ext cx="4810125" cy="581025"/>
          </a:xfrm>
          <a:prstGeom xmlns:a="http://schemas.openxmlformats.org/drawingml/2006/main" prst="rect">
            <a:avLst/>
          </a:prstGeom>
          <a:solidFill xmlns:a="http://schemas.openxmlformats.org/drawingml/2006/main">
            <a:srgbClr val="FFF2DF"/>
          </a:solidFill>
          <a:ln xmlns:a="http://schemas.openxmlformats.org/drawingml/2006/main" w="11430">
            <a:solidFill>
              <a:srgbClr val="C8D3E0"/>
            </a:solidFill>
            <a:prstDash val="solid"/>
          </a:ln>
        </p:spPr>
      </p:sp>
      <p:sp>
        <p:nvSpPr>
          <p:cNvPr id="17" name="">
            <a:extLst xmlns:a="http://schemas.openxmlformats.org/drawingml/2006/main">
              <a:ext uri="{FF2B5EF4-FFF2-40B4-BE49-F238E27FC236}">
                <a16:creationId xmlns:a16="http://schemas.microsoft.com/office/drawing/2014/main" id="{BF664ED6-23D2-4BA3-A2BE-CB74A6080130}"/>
              </a:ext>
            </a:extLst>
          </p:cNvPr>
          <p:cNvSpPr>
            <a:spLocks xmlns:a="http://schemas.openxmlformats.org/drawingml/2006/main" noGrp="1"/>
          </p:cNvSpPr>
          <p:nvPr/>
        </p:nvSpPr>
        <p:spPr>
          <a:xfrm xmlns:a="http://schemas.openxmlformats.org/drawingml/2006/main">
            <a:off x="6848475" y="2000250"/>
            <a:ext cx="4619625"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a:solidFill>
                  <a:srgbClr val="E98A15"/>
                </a:solidFill>
              </a:defRPr>
            </a:pPr>
            <a:r>
              <a:rPr sz="1500" b="0">
                <a:solidFill>
                  <a:srgbClr val="E98A15"/>
                </a:solidFill>
              </a:rPr>
              <a:t>Hardware + firmware + middleware platform</a:t>
            </a:r>
          </a:p>
        </p:txBody>
      </p:sp>
      <p:sp>
        <p:nvSpPr>
          <p:cNvPr id="18" name="">
            <a:extLst xmlns:a="http://schemas.openxmlformats.org/drawingml/2006/main">
              <a:ext uri="{FF2B5EF4-FFF2-40B4-BE49-F238E27FC236}">
                <a16:creationId xmlns:a16="http://schemas.microsoft.com/office/drawing/2014/main" id="{2036872E-C595-4E33-8520-4B16312C2F09}"/>
              </a:ext>
            </a:extLst>
          </p:cNvPr>
          <p:cNvSpPr>
            <a:spLocks xmlns:a="http://schemas.openxmlformats.org/drawingml/2006/main" noGrp="1"/>
          </p:cNvSpPr>
          <p:nvPr/>
        </p:nvSpPr>
        <p:spPr>
          <a:xfrm xmlns:a="http://schemas.openxmlformats.org/drawingml/2006/main">
            <a:off x="609600" y="2505075"/>
            <a:ext cx="2238375" cy="581025"/>
          </a:xfrm>
          <a:prstGeom xmlns:a="http://schemas.openxmlformats.org/drawingml/2006/main" prst="rect">
            <a:avLst/>
          </a:prstGeom>
          <a:solidFill xmlns:a="http://schemas.openxmlformats.org/drawingml/2006/main">
            <a:srgbClr val="E7EDF4"/>
          </a:solidFill>
          <a:ln xmlns:a="http://schemas.openxmlformats.org/drawingml/2006/main" w="11430">
            <a:solidFill>
              <a:srgbClr val="C8D3E0"/>
            </a:solidFill>
            <a:prstDash val="solid"/>
          </a:ln>
        </p:spPr>
      </p:sp>
      <p:sp>
        <p:nvSpPr>
          <p:cNvPr id="19" name="">
            <a:extLst xmlns:a="http://schemas.openxmlformats.org/drawingml/2006/main">
              <a:ext uri="{FF2B5EF4-FFF2-40B4-BE49-F238E27FC236}">
                <a16:creationId xmlns:a16="http://schemas.microsoft.com/office/drawing/2014/main" id="{35DD4512-A977-49DE-89D3-92EA89B149FF}"/>
              </a:ext>
            </a:extLst>
          </p:cNvPr>
          <p:cNvSpPr>
            <a:spLocks xmlns:a="http://schemas.openxmlformats.org/drawingml/2006/main" noGrp="1"/>
          </p:cNvSpPr>
          <p:nvPr/>
        </p:nvSpPr>
        <p:spPr>
          <a:xfrm xmlns:a="http://schemas.openxmlformats.org/drawingml/2006/main">
            <a:off x="704850" y="2581275"/>
            <a:ext cx="2047875"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37475B"/>
                </a:solidFill>
              </a:defRPr>
            </a:pPr>
            <a:r>
              <a:rPr sz="1500" b="1">
                <a:solidFill>
                  <a:srgbClr val="37475B"/>
                </a:solidFill>
              </a:rPr>
              <a:t>VRAM reduction</a:t>
            </a:r>
          </a:p>
        </p:txBody>
      </p:sp>
      <p:sp>
        <p:nvSpPr>
          <p:cNvPr id="20" name="">
            <a:extLst xmlns:a="http://schemas.openxmlformats.org/drawingml/2006/main">
              <a:ext uri="{FF2B5EF4-FFF2-40B4-BE49-F238E27FC236}">
                <a16:creationId xmlns:a16="http://schemas.microsoft.com/office/drawing/2014/main" id="{9665605C-7C67-4D6A-91D6-EB03E36EBD2D}"/>
              </a:ext>
            </a:extLst>
          </p:cNvPr>
          <p:cNvSpPr>
            <a:spLocks xmlns:a="http://schemas.openxmlformats.org/drawingml/2006/main" noGrp="1"/>
          </p:cNvSpPr>
          <p:nvPr/>
        </p:nvSpPr>
        <p:spPr>
          <a:xfrm xmlns:a="http://schemas.openxmlformats.org/drawingml/2006/main">
            <a:off x="2847975" y="2505075"/>
            <a:ext cx="3905250" cy="581025"/>
          </a:xfrm>
          <a:prstGeom xmlns:a="http://schemas.openxmlformats.org/drawingml/2006/main" prst="rect">
            <a:avLst/>
          </a:prstGeom>
          <a:solidFill xmlns:a="http://schemas.openxmlformats.org/drawingml/2006/main">
            <a:srgbClr val="FFFFFF"/>
          </a:solidFill>
          <a:ln xmlns:a="http://schemas.openxmlformats.org/drawingml/2006/main" w="11430">
            <a:solidFill>
              <a:srgbClr val="C8D3E0"/>
            </a:solidFill>
            <a:prstDash val="solid"/>
          </a:ln>
        </p:spPr>
      </p:sp>
      <p:sp>
        <p:nvSpPr>
          <p:cNvPr id="21" name="">
            <a:extLst xmlns:a="http://schemas.openxmlformats.org/drawingml/2006/main">
              <a:ext uri="{FF2B5EF4-FFF2-40B4-BE49-F238E27FC236}">
                <a16:creationId xmlns:a16="http://schemas.microsoft.com/office/drawing/2014/main" id="{AADF02E4-916F-4972-96CF-987E19142978}"/>
              </a:ext>
            </a:extLst>
          </p:cNvPr>
          <p:cNvSpPr>
            <a:spLocks xmlns:a="http://schemas.openxmlformats.org/drawingml/2006/main" noGrp="1"/>
          </p:cNvSpPr>
          <p:nvPr/>
        </p:nvSpPr>
        <p:spPr>
          <a:xfrm xmlns:a="http://schemas.openxmlformats.org/drawingml/2006/main">
            <a:off x="2943225" y="2581275"/>
            <a:ext cx="371475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a:solidFill>
                  <a:srgbClr val="2B6DE9"/>
                </a:solidFill>
              </a:defRPr>
            </a:pPr>
            <a:r>
              <a:rPr sz="1500" b="0">
                <a:solidFill>
                  <a:srgbClr val="2B6DE9"/>
                </a:solidFill>
              </a:rPr>
              <a:t>Sharding and offload</a:t>
            </a:r>
          </a:p>
        </p:txBody>
      </p:sp>
      <p:sp>
        <p:nvSpPr>
          <p:cNvPr id="22" name="">
            <a:extLst xmlns:a="http://schemas.openxmlformats.org/drawingml/2006/main">
              <a:ext uri="{FF2B5EF4-FFF2-40B4-BE49-F238E27FC236}">
                <a16:creationId xmlns:a16="http://schemas.microsoft.com/office/drawing/2014/main" id="{A62C2467-A667-4558-9CF5-761AA978AD69}"/>
              </a:ext>
            </a:extLst>
          </p:cNvPr>
          <p:cNvSpPr>
            <a:spLocks xmlns:a="http://schemas.openxmlformats.org/drawingml/2006/main" noGrp="1"/>
          </p:cNvSpPr>
          <p:nvPr/>
        </p:nvSpPr>
        <p:spPr>
          <a:xfrm xmlns:a="http://schemas.openxmlformats.org/drawingml/2006/main">
            <a:off x="6753225" y="2505075"/>
            <a:ext cx="4810125" cy="581025"/>
          </a:xfrm>
          <a:prstGeom xmlns:a="http://schemas.openxmlformats.org/drawingml/2006/main" prst="rect">
            <a:avLst/>
          </a:prstGeom>
          <a:solidFill xmlns:a="http://schemas.openxmlformats.org/drawingml/2006/main">
            <a:srgbClr val="FFFFFF"/>
          </a:solidFill>
          <a:ln xmlns:a="http://schemas.openxmlformats.org/drawingml/2006/main" w="11430">
            <a:solidFill>
              <a:srgbClr val="C8D3E0"/>
            </a:solidFill>
            <a:prstDash val="solid"/>
          </a:ln>
        </p:spPr>
      </p:sp>
      <p:sp>
        <p:nvSpPr>
          <p:cNvPr id="23" name="">
            <a:extLst xmlns:a="http://schemas.openxmlformats.org/drawingml/2006/main">
              <a:ext uri="{FF2B5EF4-FFF2-40B4-BE49-F238E27FC236}">
                <a16:creationId xmlns:a16="http://schemas.microsoft.com/office/drawing/2014/main" id="{96A5FBE0-CAE6-4724-8516-CF1908378750}"/>
              </a:ext>
            </a:extLst>
          </p:cNvPr>
          <p:cNvSpPr>
            <a:spLocks xmlns:a="http://schemas.openxmlformats.org/drawingml/2006/main" noGrp="1"/>
          </p:cNvSpPr>
          <p:nvPr/>
        </p:nvSpPr>
        <p:spPr>
          <a:xfrm xmlns:a="http://schemas.openxmlformats.org/drawingml/2006/main">
            <a:off x="6848475" y="2581275"/>
            <a:ext cx="4619625"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a:solidFill>
                  <a:srgbClr val="E98A15"/>
                </a:solidFill>
              </a:defRPr>
            </a:pPr>
            <a:r>
              <a:rPr sz="1500" b="0">
                <a:solidFill>
                  <a:srgbClr val="E98A15"/>
                </a:solidFill>
              </a:rPr>
              <a:t>Workload-dependent tiering / retention</a:t>
            </a:r>
          </a:p>
        </p:txBody>
      </p:sp>
      <p:sp>
        <p:nvSpPr>
          <p:cNvPr id="24" name="">
            <a:extLst xmlns:a="http://schemas.openxmlformats.org/drawingml/2006/main">
              <a:ext uri="{FF2B5EF4-FFF2-40B4-BE49-F238E27FC236}">
                <a16:creationId xmlns:a16="http://schemas.microsoft.com/office/drawing/2014/main" id="{EFC89822-BB0E-49FE-9BD2-6BE1D8A35315}"/>
              </a:ext>
            </a:extLst>
          </p:cNvPr>
          <p:cNvSpPr>
            <a:spLocks xmlns:a="http://schemas.openxmlformats.org/drawingml/2006/main" noGrp="1"/>
          </p:cNvSpPr>
          <p:nvPr/>
        </p:nvSpPr>
        <p:spPr>
          <a:xfrm xmlns:a="http://schemas.openxmlformats.org/drawingml/2006/main">
            <a:off x="609600" y="3086100"/>
            <a:ext cx="2238375" cy="581025"/>
          </a:xfrm>
          <a:prstGeom xmlns:a="http://schemas.openxmlformats.org/drawingml/2006/main" prst="rect">
            <a:avLst/>
          </a:prstGeom>
          <a:solidFill xmlns:a="http://schemas.openxmlformats.org/drawingml/2006/main">
            <a:srgbClr val="E7EDF4"/>
          </a:solidFill>
          <a:ln xmlns:a="http://schemas.openxmlformats.org/drawingml/2006/main" w="11430">
            <a:solidFill>
              <a:srgbClr val="C8D3E0"/>
            </a:solidFill>
            <a:prstDash val="solid"/>
          </a:ln>
        </p:spPr>
      </p:sp>
      <p:sp>
        <p:nvSpPr>
          <p:cNvPr id="25" name="">
            <a:extLst xmlns:a="http://schemas.openxmlformats.org/drawingml/2006/main">
              <a:ext uri="{FF2B5EF4-FFF2-40B4-BE49-F238E27FC236}">
                <a16:creationId xmlns:a16="http://schemas.microsoft.com/office/drawing/2014/main" id="{9BD40AFC-E6F1-451B-855A-FCD70BD555E8}"/>
              </a:ext>
            </a:extLst>
          </p:cNvPr>
          <p:cNvSpPr>
            <a:spLocks xmlns:a="http://schemas.openxmlformats.org/drawingml/2006/main" noGrp="1"/>
          </p:cNvSpPr>
          <p:nvPr/>
        </p:nvSpPr>
        <p:spPr>
          <a:xfrm xmlns:a="http://schemas.openxmlformats.org/drawingml/2006/main">
            <a:off x="704850" y="3162300"/>
            <a:ext cx="2047875"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37475B"/>
                </a:solidFill>
              </a:defRPr>
            </a:pPr>
            <a:r>
              <a:rPr sz="1500" b="1">
                <a:solidFill>
                  <a:srgbClr val="37475B"/>
                </a:solidFill>
              </a:rPr>
              <a:t>CPU / NVMe</a:t>
            </a:r>
          </a:p>
        </p:txBody>
      </p:sp>
      <p:sp>
        <p:nvSpPr>
          <p:cNvPr id="26" name="">
            <a:extLst xmlns:a="http://schemas.openxmlformats.org/drawingml/2006/main">
              <a:ext uri="{FF2B5EF4-FFF2-40B4-BE49-F238E27FC236}">
                <a16:creationId xmlns:a16="http://schemas.microsoft.com/office/drawing/2014/main" id="{92180100-FCBB-49B2-B656-828EEE657AD0}"/>
              </a:ext>
            </a:extLst>
          </p:cNvPr>
          <p:cNvSpPr>
            <a:spLocks xmlns:a="http://schemas.openxmlformats.org/drawingml/2006/main" noGrp="1"/>
          </p:cNvSpPr>
          <p:nvPr/>
        </p:nvSpPr>
        <p:spPr>
          <a:xfrm xmlns:a="http://schemas.openxmlformats.org/drawingml/2006/main">
            <a:off x="2847975" y="3086100"/>
            <a:ext cx="3905250" cy="581025"/>
          </a:xfrm>
          <a:prstGeom xmlns:a="http://schemas.openxmlformats.org/drawingml/2006/main" prst="rect">
            <a:avLst/>
          </a:prstGeom>
          <a:solidFill xmlns:a="http://schemas.openxmlformats.org/drawingml/2006/main">
            <a:srgbClr val="EAF1FE"/>
          </a:solidFill>
          <a:ln xmlns:a="http://schemas.openxmlformats.org/drawingml/2006/main" w="11430">
            <a:solidFill>
              <a:srgbClr val="C8D3E0"/>
            </a:solidFill>
            <a:prstDash val="solid"/>
          </a:ln>
        </p:spPr>
      </p:sp>
      <p:sp>
        <p:nvSpPr>
          <p:cNvPr id="27" name="">
            <a:extLst xmlns:a="http://schemas.openxmlformats.org/drawingml/2006/main">
              <a:ext uri="{FF2B5EF4-FFF2-40B4-BE49-F238E27FC236}">
                <a16:creationId xmlns:a16="http://schemas.microsoft.com/office/drawing/2014/main" id="{2E489F03-DD9C-4804-B43D-1A3F36159C5F}"/>
              </a:ext>
            </a:extLst>
          </p:cNvPr>
          <p:cNvSpPr>
            <a:spLocks xmlns:a="http://schemas.openxmlformats.org/drawingml/2006/main" noGrp="1"/>
          </p:cNvSpPr>
          <p:nvPr/>
        </p:nvSpPr>
        <p:spPr>
          <a:xfrm xmlns:a="http://schemas.openxmlformats.org/drawingml/2006/main">
            <a:off x="2943225" y="3162300"/>
            <a:ext cx="371475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a:solidFill>
                  <a:srgbClr val="2B6DE9"/>
                </a:solidFill>
              </a:defRPr>
            </a:pPr>
            <a:r>
              <a:rPr sz="1500" b="0">
                <a:solidFill>
                  <a:srgbClr val="2B6DE9"/>
                </a:solidFill>
              </a:rPr>
              <a:t>CPU: Offload; NVMe: Infinity / Inference</a:t>
            </a:r>
          </a:p>
        </p:txBody>
      </p:sp>
      <p:sp>
        <p:nvSpPr>
          <p:cNvPr id="28" name="">
            <a:extLst xmlns:a="http://schemas.openxmlformats.org/drawingml/2006/main">
              <a:ext uri="{FF2B5EF4-FFF2-40B4-BE49-F238E27FC236}">
                <a16:creationId xmlns:a16="http://schemas.microsoft.com/office/drawing/2014/main" id="{E27E2855-7F69-43EA-A173-DB9A2BB498B9}"/>
              </a:ext>
            </a:extLst>
          </p:cNvPr>
          <p:cNvSpPr>
            <a:spLocks xmlns:a="http://schemas.openxmlformats.org/drawingml/2006/main" noGrp="1"/>
          </p:cNvSpPr>
          <p:nvPr/>
        </p:nvSpPr>
        <p:spPr>
          <a:xfrm xmlns:a="http://schemas.openxmlformats.org/drawingml/2006/main">
            <a:off x="6753225" y="3086100"/>
            <a:ext cx="4810125" cy="581025"/>
          </a:xfrm>
          <a:prstGeom xmlns:a="http://schemas.openxmlformats.org/drawingml/2006/main" prst="rect">
            <a:avLst/>
          </a:prstGeom>
          <a:solidFill xmlns:a="http://schemas.openxmlformats.org/drawingml/2006/main">
            <a:srgbClr val="FFF2DF"/>
          </a:solidFill>
          <a:ln xmlns:a="http://schemas.openxmlformats.org/drawingml/2006/main" w="11430">
            <a:solidFill>
              <a:srgbClr val="C8D3E0"/>
            </a:solidFill>
            <a:prstDash val="solid"/>
          </a:ln>
        </p:spPr>
      </p:sp>
      <p:sp>
        <p:nvSpPr>
          <p:cNvPr id="29" name="">
            <a:extLst xmlns:a="http://schemas.openxmlformats.org/drawingml/2006/main">
              <a:ext uri="{FF2B5EF4-FFF2-40B4-BE49-F238E27FC236}">
                <a16:creationId xmlns:a16="http://schemas.microsoft.com/office/drawing/2014/main" id="{7E8901EB-8ECF-4DFB-94C8-AF7EB7135168}"/>
              </a:ext>
            </a:extLst>
          </p:cNvPr>
          <p:cNvSpPr>
            <a:spLocks xmlns:a="http://schemas.openxmlformats.org/drawingml/2006/main" noGrp="1"/>
          </p:cNvSpPr>
          <p:nvPr/>
        </p:nvSpPr>
        <p:spPr>
          <a:xfrm xmlns:a="http://schemas.openxmlformats.org/drawingml/2006/main">
            <a:off x="6848475" y="3162300"/>
            <a:ext cx="4619625"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a:solidFill>
                  <a:srgbClr val="E98A15"/>
                </a:solidFill>
              </a:defRPr>
            </a:pPr>
            <a:r>
              <a:rPr sz="1500" b="0">
                <a:solidFill>
                  <a:srgbClr val="E98A15"/>
                </a:solidFill>
              </a:rPr>
              <a:t>DRAM + dedicated flash capacity tier</a:t>
            </a:r>
          </a:p>
        </p:txBody>
      </p:sp>
      <p:sp>
        <p:nvSpPr>
          <p:cNvPr id="30" name="">
            <a:extLst xmlns:a="http://schemas.openxmlformats.org/drawingml/2006/main">
              <a:ext uri="{FF2B5EF4-FFF2-40B4-BE49-F238E27FC236}">
                <a16:creationId xmlns:a16="http://schemas.microsoft.com/office/drawing/2014/main" id="{3A74D5E8-EB8C-402E-953B-5B56F67B68D8}"/>
              </a:ext>
            </a:extLst>
          </p:cNvPr>
          <p:cNvSpPr>
            <a:spLocks xmlns:a="http://schemas.openxmlformats.org/drawingml/2006/main" noGrp="1"/>
          </p:cNvSpPr>
          <p:nvPr/>
        </p:nvSpPr>
        <p:spPr>
          <a:xfrm xmlns:a="http://schemas.openxmlformats.org/drawingml/2006/main">
            <a:off x="609600" y="3667125"/>
            <a:ext cx="2238375" cy="581025"/>
          </a:xfrm>
          <a:prstGeom xmlns:a="http://schemas.openxmlformats.org/drawingml/2006/main" prst="rect">
            <a:avLst/>
          </a:prstGeom>
          <a:solidFill xmlns:a="http://schemas.openxmlformats.org/drawingml/2006/main">
            <a:srgbClr val="E7EDF4"/>
          </a:solidFill>
          <a:ln xmlns:a="http://schemas.openxmlformats.org/drawingml/2006/main" w="11430">
            <a:solidFill>
              <a:srgbClr val="C8D3E0"/>
            </a:solidFill>
            <a:prstDash val="solid"/>
          </a:ln>
        </p:spPr>
      </p:sp>
      <p:sp>
        <p:nvSpPr>
          <p:cNvPr id="31" name="">
            <a:extLst xmlns:a="http://schemas.openxmlformats.org/drawingml/2006/main">
              <a:ext uri="{FF2B5EF4-FFF2-40B4-BE49-F238E27FC236}">
                <a16:creationId xmlns:a16="http://schemas.microsoft.com/office/drawing/2014/main" id="{E45FC606-891E-40DA-B2E9-25C9FC6CB1C8}"/>
              </a:ext>
            </a:extLst>
          </p:cNvPr>
          <p:cNvSpPr>
            <a:spLocks xmlns:a="http://schemas.openxmlformats.org/drawingml/2006/main" noGrp="1"/>
          </p:cNvSpPr>
          <p:nvPr/>
        </p:nvSpPr>
        <p:spPr>
          <a:xfrm xmlns:a="http://schemas.openxmlformats.org/drawingml/2006/main">
            <a:off x="704850" y="3743325"/>
            <a:ext cx="2047875"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37475B"/>
                </a:solidFill>
              </a:defRPr>
            </a:pPr>
            <a:r>
              <a:rPr sz="1500" b="1">
                <a:solidFill>
                  <a:srgbClr val="37475B"/>
                </a:solidFill>
              </a:rPr>
              <a:t>Inference</a:t>
            </a:r>
          </a:p>
        </p:txBody>
      </p:sp>
      <p:sp>
        <p:nvSpPr>
          <p:cNvPr id="32" name="">
            <a:extLst xmlns:a="http://schemas.openxmlformats.org/drawingml/2006/main">
              <a:ext uri="{FF2B5EF4-FFF2-40B4-BE49-F238E27FC236}">
                <a16:creationId xmlns:a16="http://schemas.microsoft.com/office/drawing/2014/main" id="{C0E93125-A95E-48D1-912E-B0BF3C9BD760}"/>
              </a:ext>
            </a:extLst>
          </p:cNvPr>
          <p:cNvSpPr>
            <a:spLocks xmlns:a="http://schemas.openxmlformats.org/drawingml/2006/main" noGrp="1"/>
          </p:cNvSpPr>
          <p:nvPr/>
        </p:nvSpPr>
        <p:spPr>
          <a:xfrm xmlns:a="http://schemas.openxmlformats.org/drawingml/2006/main">
            <a:off x="2847975" y="3667125"/>
            <a:ext cx="3905250" cy="581025"/>
          </a:xfrm>
          <a:prstGeom xmlns:a="http://schemas.openxmlformats.org/drawingml/2006/main" prst="rect">
            <a:avLst/>
          </a:prstGeom>
          <a:solidFill xmlns:a="http://schemas.openxmlformats.org/drawingml/2006/main">
            <a:srgbClr val="FFFFFF"/>
          </a:solidFill>
          <a:ln xmlns:a="http://schemas.openxmlformats.org/drawingml/2006/main" w="11430">
            <a:solidFill>
              <a:srgbClr val="C8D3E0"/>
            </a:solidFill>
            <a:prstDash val="solid"/>
          </a:ln>
        </p:spPr>
      </p:sp>
      <p:sp>
        <p:nvSpPr>
          <p:cNvPr id="33" name="">
            <a:extLst xmlns:a="http://schemas.openxmlformats.org/drawingml/2006/main">
              <a:ext uri="{FF2B5EF4-FFF2-40B4-BE49-F238E27FC236}">
                <a16:creationId xmlns:a16="http://schemas.microsoft.com/office/drawing/2014/main" id="{48BE44A6-496B-4AB3-8116-B6EC177410BB}"/>
              </a:ext>
            </a:extLst>
          </p:cNvPr>
          <p:cNvSpPr>
            <a:spLocks xmlns:a="http://schemas.openxmlformats.org/drawingml/2006/main" noGrp="1"/>
          </p:cNvSpPr>
          <p:nvPr/>
        </p:nvSpPr>
        <p:spPr>
          <a:xfrm xmlns:a="http://schemas.openxmlformats.org/drawingml/2006/main">
            <a:off x="2943225" y="3743325"/>
            <a:ext cx="371475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a:solidFill>
                  <a:srgbClr val="2B6DE9"/>
                </a:solidFill>
              </a:defRPr>
            </a:pPr>
            <a:r>
              <a:rPr sz="1500" b="0">
                <a:solidFill>
                  <a:srgbClr val="2B6DE9"/>
                </a:solidFill>
              </a:rPr>
              <a:t>Layer streaming in ZeRO-Inference</a:t>
            </a:r>
          </a:p>
        </p:txBody>
      </p:sp>
      <p:sp>
        <p:nvSpPr>
          <p:cNvPr id="34" name="">
            <a:extLst xmlns:a="http://schemas.openxmlformats.org/drawingml/2006/main">
              <a:ext uri="{FF2B5EF4-FFF2-40B4-BE49-F238E27FC236}">
                <a16:creationId xmlns:a16="http://schemas.microsoft.com/office/drawing/2014/main" id="{BE346F68-D0B7-45B0-9859-60F3977D12AE}"/>
              </a:ext>
            </a:extLst>
          </p:cNvPr>
          <p:cNvSpPr>
            <a:spLocks xmlns:a="http://schemas.openxmlformats.org/drawingml/2006/main" noGrp="1"/>
          </p:cNvSpPr>
          <p:nvPr/>
        </p:nvSpPr>
        <p:spPr>
          <a:xfrm xmlns:a="http://schemas.openxmlformats.org/drawingml/2006/main">
            <a:off x="6753225" y="3667125"/>
            <a:ext cx="4810125" cy="581025"/>
          </a:xfrm>
          <a:prstGeom xmlns:a="http://schemas.openxmlformats.org/drawingml/2006/main" prst="rect">
            <a:avLst/>
          </a:prstGeom>
          <a:solidFill xmlns:a="http://schemas.openxmlformats.org/drawingml/2006/main">
            <a:srgbClr val="FFFFFF"/>
          </a:solidFill>
          <a:ln xmlns:a="http://schemas.openxmlformats.org/drawingml/2006/main" w="11430">
            <a:solidFill>
              <a:srgbClr val="C8D3E0"/>
            </a:solidFill>
            <a:prstDash val="solid"/>
          </a:ln>
        </p:spPr>
      </p:sp>
      <p:sp>
        <p:nvSpPr>
          <p:cNvPr id="35" name="">
            <a:extLst xmlns:a="http://schemas.openxmlformats.org/drawingml/2006/main">
              <a:ext uri="{FF2B5EF4-FFF2-40B4-BE49-F238E27FC236}">
                <a16:creationId xmlns:a16="http://schemas.microsoft.com/office/drawing/2014/main" id="{0D07FCC4-1CCF-4C44-BD09-AB29B1E7F0BD}"/>
              </a:ext>
            </a:extLst>
          </p:cNvPr>
          <p:cNvSpPr>
            <a:spLocks xmlns:a="http://schemas.openxmlformats.org/drawingml/2006/main" noGrp="1"/>
          </p:cNvSpPr>
          <p:nvPr/>
        </p:nvSpPr>
        <p:spPr>
          <a:xfrm xmlns:a="http://schemas.openxmlformats.org/drawingml/2006/main">
            <a:off x="6848475" y="3743325"/>
            <a:ext cx="4619625"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a:solidFill>
                  <a:srgbClr val="E98A15"/>
                </a:solidFill>
              </a:defRPr>
            </a:pPr>
            <a:r>
              <a:rPr sz="1500" b="0">
                <a:solidFill>
                  <a:srgbClr val="E98A15"/>
                </a:solidFill>
              </a:rPr>
              <a:t>KV reuse, Dynamic MoE; Link 3 inference</a:t>
            </a:r>
          </a:p>
        </p:txBody>
      </p:sp>
      <p:sp>
        <p:nvSpPr>
          <p:cNvPr id="36" name="">
            <a:extLst xmlns:a="http://schemas.openxmlformats.org/drawingml/2006/main">
              <a:ext uri="{FF2B5EF4-FFF2-40B4-BE49-F238E27FC236}">
                <a16:creationId xmlns:a16="http://schemas.microsoft.com/office/drawing/2014/main" id="{59B97FB4-3923-42CC-81C3-6EAEC0A49A2C}"/>
              </a:ext>
            </a:extLst>
          </p:cNvPr>
          <p:cNvSpPr>
            <a:spLocks xmlns:a="http://schemas.openxmlformats.org/drawingml/2006/main" noGrp="1"/>
          </p:cNvSpPr>
          <p:nvPr/>
        </p:nvSpPr>
        <p:spPr>
          <a:xfrm xmlns:a="http://schemas.openxmlformats.org/drawingml/2006/main">
            <a:off x="609600" y="4248150"/>
            <a:ext cx="2238375" cy="581025"/>
          </a:xfrm>
          <a:prstGeom xmlns:a="http://schemas.openxmlformats.org/drawingml/2006/main" prst="rect">
            <a:avLst/>
          </a:prstGeom>
          <a:solidFill xmlns:a="http://schemas.openxmlformats.org/drawingml/2006/main">
            <a:srgbClr val="E7EDF4"/>
          </a:solidFill>
          <a:ln xmlns:a="http://schemas.openxmlformats.org/drawingml/2006/main" w="11430">
            <a:solidFill>
              <a:srgbClr val="C8D3E0"/>
            </a:solidFill>
            <a:prstDash val="solid"/>
          </a:ln>
        </p:spPr>
      </p:sp>
      <p:sp>
        <p:nvSpPr>
          <p:cNvPr id="37" name="">
            <a:extLst xmlns:a="http://schemas.openxmlformats.org/drawingml/2006/main">
              <a:ext uri="{FF2B5EF4-FFF2-40B4-BE49-F238E27FC236}">
                <a16:creationId xmlns:a16="http://schemas.microsoft.com/office/drawing/2014/main" id="{0DF319FD-71D9-4A82-B43E-6AA5933D4D0C}"/>
              </a:ext>
            </a:extLst>
          </p:cNvPr>
          <p:cNvSpPr>
            <a:spLocks xmlns:a="http://schemas.openxmlformats.org/drawingml/2006/main" noGrp="1"/>
          </p:cNvSpPr>
          <p:nvPr/>
        </p:nvSpPr>
        <p:spPr>
          <a:xfrm xmlns:a="http://schemas.openxmlformats.org/drawingml/2006/main">
            <a:off x="704850" y="4324350"/>
            <a:ext cx="2047875"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37475B"/>
                </a:solidFill>
              </a:defRPr>
            </a:pPr>
            <a:r>
              <a:rPr sz="1500" b="1">
                <a:solidFill>
                  <a:srgbClr val="37475B"/>
                </a:solidFill>
              </a:rPr>
              <a:t>Fine-tuning</a:t>
            </a:r>
          </a:p>
        </p:txBody>
      </p:sp>
      <p:sp>
        <p:nvSpPr>
          <p:cNvPr id="38" name="">
            <a:extLst xmlns:a="http://schemas.openxmlformats.org/drawingml/2006/main">
              <a:ext uri="{FF2B5EF4-FFF2-40B4-BE49-F238E27FC236}">
                <a16:creationId xmlns:a16="http://schemas.microsoft.com/office/drawing/2014/main" id="{C54038E7-3AB3-4D2A-8547-0FCBB0D25D7B}"/>
              </a:ext>
            </a:extLst>
          </p:cNvPr>
          <p:cNvSpPr>
            <a:spLocks xmlns:a="http://schemas.openxmlformats.org/drawingml/2006/main" noGrp="1"/>
          </p:cNvSpPr>
          <p:nvPr/>
        </p:nvSpPr>
        <p:spPr>
          <a:xfrm xmlns:a="http://schemas.openxmlformats.org/drawingml/2006/main">
            <a:off x="2847975" y="4248150"/>
            <a:ext cx="3905250" cy="581025"/>
          </a:xfrm>
          <a:prstGeom xmlns:a="http://schemas.openxmlformats.org/drawingml/2006/main" prst="rect">
            <a:avLst/>
          </a:prstGeom>
          <a:solidFill xmlns:a="http://schemas.openxmlformats.org/drawingml/2006/main">
            <a:srgbClr val="EAF1FE"/>
          </a:solidFill>
          <a:ln xmlns:a="http://schemas.openxmlformats.org/drawingml/2006/main" w="11430">
            <a:solidFill>
              <a:srgbClr val="C8D3E0"/>
            </a:solidFill>
            <a:prstDash val="solid"/>
          </a:ln>
        </p:spPr>
      </p:sp>
      <p:sp>
        <p:nvSpPr>
          <p:cNvPr id="39" name="">
            <a:extLst xmlns:a="http://schemas.openxmlformats.org/drawingml/2006/main">
              <a:ext uri="{FF2B5EF4-FFF2-40B4-BE49-F238E27FC236}">
                <a16:creationId xmlns:a16="http://schemas.microsoft.com/office/drawing/2014/main" id="{2AF3368E-CA0C-44A5-938F-CAD95D2D4323}"/>
              </a:ext>
            </a:extLst>
          </p:cNvPr>
          <p:cNvSpPr>
            <a:spLocks xmlns:a="http://schemas.openxmlformats.org/drawingml/2006/main" noGrp="1"/>
          </p:cNvSpPr>
          <p:nvPr/>
        </p:nvSpPr>
        <p:spPr>
          <a:xfrm xmlns:a="http://schemas.openxmlformats.org/drawingml/2006/main">
            <a:off x="2943225" y="4324350"/>
            <a:ext cx="371475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a:solidFill>
                  <a:srgbClr val="2B6DE9"/>
                </a:solidFill>
              </a:defRPr>
            </a:pPr>
            <a:r>
              <a:rPr sz="1500" b="0">
                <a:solidFill>
                  <a:srgbClr val="2B6DE9"/>
                </a:solidFill>
              </a:rPr>
              <a:t>ZeRO-2/3, Offload, Infinity</a:t>
            </a:r>
          </a:p>
        </p:txBody>
      </p:sp>
      <p:sp>
        <p:nvSpPr>
          <p:cNvPr id="40" name="">
            <a:extLst xmlns:a="http://schemas.openxmlformats.org/drawingml/2006/main">
              <a:ext uri="{FF2B5EF4-FFF2-40B4-BE49-F238E27FC236}">
                <a16:creationId xmlns:a16="http://schemas.microsoft.com/office/drawing/2014/main" id="{77136726-069B-4C48-9F39-9FC9845BDAB9}"/>
              </a:ext>
            </a:extLst>
          </p:cNvPr>
          <p:cNvSpPr>
            <a:spLocks xmlns:a="http://schemas.openxmlformats.org/drawingml/2006/main" noGrp="1"/>
          </p:cNvSpPr>
          <p:nvPr/>
        </p:nvSpPr>
        <p:spPr>
          <a:xfrm xmlns:a="http://schemas.openxmlformats.org/drawingml/2006/main">
            <a:off x="6753225" y="4248150"/>
            <a:ext cx="4810125" cy="581025"/>
          </a:xfrm>
          <a:prstGeom xmlns:a="http://schemas.openxmlformats.org/drawingml/2006/main" prst="rect">
            <a:avLst/>
          </a:prstGeom>
          <a:solidFill xmlns:a="http://schemas.openxmlformats.org/drawingml/2006/main">
            <a:srgbClr val="FFF2DF"/>
          </a:solidFill>
          <a:ln xmlns:a="http://schemas.openxmlformats.org/drawingml/2006/main" w="11430">
            <a:solidFill>
              <a:srgbClr val="C8D3E0"/>
            </a:solidFill>
            <a:prstDash val="solid"/>
          </a:ln>
        </p:spPr>
      </p:sp>
      <p:sp>
        <p:nvSpPr>
          <p:cNvPr id="41" name="">
            <a:extLst xmlns:a="http://schemas.openxmlformats.org/drawingml/2006/main">
              <a:ext uri="{FF2B5EF4-FFF2-40B4-BE49-F238E27FC236}">
                <a16:creationId xmlns:a16="http://schemas.microsoft.com/office/drawing/2014/main" id="{B68A3B98-A245-4840-97F9-DB2ACA9E64D3}"/>
              </a:ext>
            </a:extLst>
          </p:cNvPr>
          <p:cNvSpPr>
            <a:spLocks xmlns:a="http://schemas.openxmlformats.org/drawingml/2006/main" noGrp="1"/>
          </p:cNvSpPr>
          <p:nvPr/>
        </p:nvSpPr>
        <p:spPr>
          <a:xfrm xmlns:a="http://schemas.openxmlformats.org/drawingml/2006/main">
            <a:off x="6848475" y="4324350"/>
            <a:ext cx="4619625"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a:solidFill>
                  <a:srgbClr val="E98A15"/>
                </a:solidFill>
              </a:defRPr>
            </a:pPr>
            <a:r>
              <a:rPr sz="1500" b="0">
                <a:solidFill>
                  <a:srgbClr val="E98A15"/>
                </a:solidFill>
              </a:rPr>
              <a:t>Elastic FT; Link 2 LoRA/full FT/CPU Adam</a:t>
            </a:r>
          </a:p>
        </p:txBody>
      </p:sp>
      <p:sp>
        <p:nvSpPr>
          <p:cNvPr id="42" name="">
            <a:extLst xmlns:a="http://schemas.openxmlformats.org/drawingml/2006/main">
              <a:ext uri="{FF2B5EF4-FFF2-40B4-BE49-F238E27FC236}">
                <a16:creationId xmlns:a16="http://schemas.microsoft.com/office/drawing/2014/main" id="{2628532B-41DE-428E-AD5D-2B05B25A4EE5}"/>
              </a:ext>
            </a:extLst>
          </p:cNvPr>
          <p:cNvSpPr>
            <a:spLocks xmlns:a="http://schemas.openxmlformats.org/drawingml/2006/main" noGrp="1"/>
          </p:cNvSpPr>
          <p:nvPr/>
        </p:nvSpPr>
        <p:spPr>
          <a:xfrm xmlns:a="http://schemas.openxmlformats.org/drawingml/2006/main">
            <a:off x="609600" y="4829175"/>
            <a:ext cx="2238375" cy="581025"/>
          </a:xfrm>
          <a:prstGeom xmlns:a="http://schemas.openxmlformats.org/drawingml/2006/main" prst="rect">
            <a:avLst/>
          </a:prstGeom>
          <a:solidFill xmlns:a="http://schemas.openxmlformats.org/drawingml/2006/main">
            <a:srgbClr val="E7EDF4"/>
          </a:solidFill>
          <a:ln xmlns:a="http://schemas.openxmlformats.org/drawingml/2006/main" w="11430">
            <a:solidFill>
              <a:srgbClr val="C8D3E0"/>
            </a:solidFill>
            <a:prstDash val="solid"/>
          </a:ln>
        </p:spPr>
      </p:sp>
      <p:sp>
        <p:nvSpPr>
          <p:cNvPr id="43" name="">
            <a:extLst xmlns:a="http://schemas.openxmlformats.org/drawingml/2006/main">
              <a:ext uri="{FF2B5EF4-FFF2-40B4-BE49-F238E27FC236}">
                <a16:creationId xmlns:a16="http://schemas.microsoft.com/office/drawing/2014/main" id="{B238FD05-0998-4ED7-8F7E-9C57495594C1}"/>
              </a:ext>
            </a:extLst>
          </p:cNvPr>
          <p:cNvSpPr>
            <a:spLocks xmlns:a="http://schemas.openxmlformats.org/drawingml/2006/main" noGrp="1"/>
          </p:cNvSpPr>
          <p:nvPr/>
        </p:nvSpPr>
        <p:spPr>
          <a:xfrm xmlns:a="http://schemas.openxmlformats.org/drawingml/2006/main">
            <a:off x="704850" y="4905375"/>
            <a:ext cx="2047875"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37475B"/>
                </a:solidFill>
              </a:defRPr>
            </a:pPr>
            <a:r>
              <a:rPr sz="1500" b="1">
                <a:solidFill>
                  <a:srgbClr val="37475B"/>
                </a:solidFill>
              </a:rPr>
              <a:t>Storage scope</a:t>
            </a:r>
          </a:p>
        </p:txBody>
      </p:sp>
      <p:sp>
        <p:nvSpPr>
          <p:cNvPr id="44" name="">
            <a:extLst xmlns:a="http://schemas.openxmlformats.org/drawingml/2006/main">
              <a:ext uri="{FF2B5EF4-FFF2-40B4-BE49-F238E27FC236}">
                <a16:creationId xmlns:a16="http://schemas.microsoft.com/office/drawing/2014/main" id="{8F6482CB-4C4D-47B0-BDE9-87AA5034CF29}"/>
              </a:ext>
            </a:extLst>
          </p:cNvPr>
          <p:cNvSpPr>
            <a:spLocks xmlns:a="http://schemas.openxmlformats.org/drawingml/2006/main" noGrp="1"/>
          </p:cNvSpPr>
          <p:nvPr/>
        </p:nvSpPr>
        <p:spPr>
          <a:xfrm xmlns:a="http://schemas.openxmlformats.org/drawingml/2006/main">
            <a:off x="2847975" y="4829175"/>
            <a:ext cx="3905250" cy="581025"/>
          </a:xfrm>
          <a:prstGeom xmlns:a="http://schemas.openxmlformats.org/drawingml/2006/main" prst="rect">
            <a:avLst/>
          </a:prstGeom>
          <a:solidFill xmlns:a="http://schemas.openxmlformats.org/drawingml/2006/main">
            <a:srgbClr val="FFFFFF"/>
          </a:solidFill>
          <a:ln xmlns:a="http://schemas.openxmlformats.org/drawingml/2006/main" w="11430">
            <a:solidFill>
              <a:srgbClr val="C8D3E0"/>
            </a:solidFill>
            <a:prstDash val="solid"/>
          </a:ln>
        </p:spPr>
      </p:sp>
      <p:sp>
        <p:nvSpPr>
          <p:cNvPr id="45" name="">
            <a:extLst xmlns:a="http://schemas.openxmlformats.org/drawingml/2006/main">
              <a:ext uri="{FF2B5EF4-FFF2-40B4-BE49-F238E27FC236}">
                <a16:creationId xmlns:a16="http://schemas.microsoft.com/office/drawing/2014/main" id="{0CEB548C-0AC7-411A-BAFC-6670495A1BF3}"/>
              </a:ext>
            </a:extLst>
          </p:cNvPr>
          <p:cNvSpPr>
            <a:spLocks xmlns:a="http://schemas.openxmlformats.org/drawingml/2006/main" noGrp="1"/>
          </p:cNvSpPr>
          <p:nvPr/>
        </p:nvSpPr>
        <p:spPr>
          <a:xfrm xmlns:a="http://schemas.openxmlformats.org/drawingml/2006/main">
            <a:off x="2943225" y="4905375"/>
            <a:ext cx="371475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a:solidFill>
                  <a:srgbClr val="2B6DE9"/>
                </a:solidFill>
              </a:defRPr>
            </a:pPr>
            <a:r>
              <a:rPr sz="1500" b="0">
                <a:solidFill>
                  <a:srgbClr val="2B6DE9"/>
                </a:solidFill>
              </a:rPr>
              <a:t>Generic NVMe device and I/O stack</a:t>
            </a:r>
          </a:p>
        </p:txBody>
      </p:sp>
      <p:sp>
        <p:nvSpPr>
          <p:cNvPr id="46" name="">
            <a:extLst xmlns:a="http://schemas.openxmlformats.org/drawingml/2006/main">
              <a:ext uri="{FF2B5EF4-FFF2-40B4-BE49-F238E27FC236}">
                <a16:creationId xmlns:a16="http://schemas.microsoft.com/office/drawing/2014/main" id="{ACC8E3BC-23FA-4B9D-81B8-1B0C60637271}"/>
              </a:ext>
            </a:extLst>
          </p:cNvPr>
          <p:cNvSpPr>
            <a:spLocks xmlns:a="http://schemas.openxmlformats.org/drawingml/2006/main" noGrp="1"/>
          </p:cNvSpPr>
          <p:nvPr/>
        </p:nvSpPr>
        <p:spPr>
          <a:xfrm xmlns:a="http://schemas.openxmlformats.org/drawingml/2006/main">
            <a:off x="6753225" y="4829175"/>
            <a:ext cx="4810125" cy="581025"/>
          </a:xfrm>
          <a:prstGeom xmlns:a="http://schemas.openxmlformats.org/drawingml/2006/main" prst="rect">
            <a:avLst/>
          </a:prstGeom>
          <a:solidFill xmlns:a="http://schemas.openxmlformats.org/drawingml/2006/main">
            <a:srgbClr val="FFFFFF"/>
          </a:solidFill>
          <a:ln xmlns:a="http://schemas.openxmlformats.org/drawingml/2006/main" w="11430">
            <a:solidFill>
              <a:srgbClr val="C8D3E0"/>
            </a:solidFill>
            <a:prstDash val="solid"/>
          </a:ln>
        </p:spPr>
      </p:sp>
      <p:sp>
        <p:nvSpPr>
          <p:cNvPr id="47" name="">
            <a:extLst xmlns:a="http://schemas.openxmlformats.org/drawingml/2006/main">
              <a:ext uri="{FF2B5EF4-FFF2-40B4-BE49-F238E27FC236}">
                <a16:creationId xmlns:a16="http://schemas.microsoft.com/office/drawing/2014/main" id="{D812E9ED-46B3-4D2B-8487-C74EEE29010D}"/>
              </a:ext>
            </a:extLst>
          </p:cNvPr>
          <p:cNvSpPr>
            <a:spLocks xmlns:a="http://schemas.openxmlformats.org/drawingml/2006/main" noGrp="1"/>
          </p:cNvSpPr>
          <p:nvPr/>
        </p:nvSpPr>
        <p:spPr>
          <a:xfrm xmlns:a="http://schemas.openxmlformats.org/drawingml/2006/main">
            <a:off x="6848475" y="4905375"/>
            <a:ext cx="4619625"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a:solidFill>
                  <a:srgbClr val="E98A15"/>
                </a:solidFill>
              </a:defRPr>
            </a:pPr>
            <a:r>
              <a:rPr sz="1500" b="0">
                <a:solidFill>
                  <a:srgbClr val="E98A15"/>
                </a:solidFill>
              </a:rPr>
              <a:t>Controller + firmware + NAND + cache SSD</a:t>
            </a:r>
          </a:p>
        </p:txBody>
      </p:sp>
      <p:sp>
        <p:nvSpPr>
          <p:cNvPr id="48" name="">
            <a:extLst xmlns:a="http://schemas.openxmlformats.org/drawingml/2006/main">
              <a:ext uri="{FF2B5EF4-FFF2-40B4-BE49-F238E27FC236}">
                <a16:creationId xmlns:a16="http://schemas.microsoft.com/office/drawing/2014/main" id="{8DA37F7C-6F76-43D7-873F-9DA618EBB7C8}"/>
              </a:ext>
            </a:extLst>
          </p:cNvPr>
          <p:cNvSpPr>
            <a:spLocks xmlns:a="http://schemas.openxmlformats.org/drawingml/2006/main" noGrp="1"/>
          </p:cNvSpPr>
          <p:nvPr/>
        </p:nvSpPr>
        <p:spPr>
          <a:xfrm xmlns:a="http://schemas.openxmlformats.org/drawingml/2006/main">
            <a:off x="609600" y="5410200"/>
            <a:ext cx="2238375" cy="581025"/>
          </a:xfrm>
          <a:prstGeom xmlns:a="http://schemas.openxmlformats.org/drawingml/2006/main" prst="rect">
            <a:avLst/>
          </a:prstGeom>
          <a:solidFill xmlns:a="http://schemas.openxmlformats.org/drawingml/2006/main">
            <a:srgbClr val="E7EDF4"/>
          </a:solidFill>
          <a:ln xmlns:a="http://schemas.openxmlformats.org/drawingml/2006/main" w="11430">
            <a:solidFill>
              <a:srgbClr val="C8D3E0"/>
            </a:solidFill>
            <a:prstDash val="solid"/>
          </a:ln>
        </p:spPr>
      </p:sp>
      <p:sp>
        <p:nvSpPr>
          <p:cNvPr id="49" name="">
            <a:extLst xmlns:a="http://schemas.openxmlformats.org/drawingml/2006/main">
              <a:ext uri="{FF2B5EF4-FFF2-40B4-BE49-F238E27FC236}">
                <a16:creationId xmlns:a16="http://schemas.microsoft.com/office/drawing/2014/main" id="{506405C0-2D46-4AE2-9BBE-DE53C1DF1CAC}"/>
              </a:ext>
            </a:extLst>
          </p:cNvPr>
          <p:cNvSpPr>
            <a:spLocks xmlns:a="http://schemas.openxmlformats.org/drawingml/2006/main" noGrp="1"/>
          </p:cNvSpPr>
          <p:nvPr/>
        </p:nvSpPr>
        <p:spPr>
          <a:xfrm xmlns:a="http://schemas.openxmlformats.org/drawingml/2006/main">
            <a:off x="704850" y="5486400"/>
            <a:ext cx="2047875"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37475B"/>
                </a:solidFill>
              </a:defRPr>
            </a:pPr>
            <a:r>
              <a:rPr sz="1500" b="1">
                <a:solidFill>
                  <a:srgbClr val="37475B"/>
                </a:solidFill>
              </a:rPr>
              <a:t>Relationship</a:t>
            </a:r>
          </a:p>
        </p:txBody>
      </p:sp>
      <p:sp>
        <p:nvSpPr>
          <p:cNvPr id="50" name="">
            <a:extLst xmlns:a="http://schemas.openxmlformats.org/drawingml/2006/main">
              <a:ext uri="{FF2B5EF4-FFF2-40B4-BE49-F238E27FC236}">
                <a16:creationId xmlns:a16="http://schemas.microsoft.com/office/drawing/2014/main" id="{F89B1F4B-D2EE-4E3C-9717-8BE8BDC198B8}"/>
              </a:ext>
            </a:extLst>
          </p:cNvPr>
          <p:cNvSpPr>
            <a:spLocks xmlns:a="http://schemas.openxmlformats.org/drawingml/2006/main" noGrp="1"/>
          </p:cNvSpPr>
          <p:nvPr/>
        </p:nvSpPr>
        <p:spPr>
          <a:xfrm xmlns:a="http://schemas.openxmlformats.org/drawingml/2006/main">
            <a:off x="2847975" y="5410200"/>
            <a:ext cx="3905250" cy="581025"/>
          </a:xfrm>
          <a:prstGeom xmlns:a="http://schemas.openxmlformats.org/drawingml/2006/main" prst="rect">
            <a:avLst/>
          </a:prstGeom>
          <a:solidFill xmlns:a="http://schemas.openxmlformats.org/drawingml/2006/main">
            <a:srgbClr val="EAF1FE"/>
          </a:solidFill>
          <a:ln xmlns:a="http://schemas.openxmlformats.org/drawingml/2006/main" w="11430">
            <a:solidFill>
              <a:srgbClr val="C8D3E0"/>
            </a:solidFill>
            <a:prstDash val="solid"/>
          </a:ln>
        </p:spPr>
      </p:sp>
      <p:sp>
        <p:nvSpPr>
          <p:cNvPr id="51" name="">
            <a:extLst xmlns:a="http://schemas.openxmlformats.org/drawingml/2006/main">
              <a:ext uri="{FF2B5EF4-FFF2-40B4-BE49-F238E27FC236}">
                <a16:creationId xmlns:a16="http://schemas.microsoft.com/office/drawing/2014/main" id="{1CF793DE-D226-4F7B-B51C-F2C3AEEAB66E}"/>
              </a:ext>
            </a:extLst>
          </p:cNvPr>
          <p:cNvSpPr>
            <a:spLocks xmlns:a="http://schemas.openxmlformats.org/drawingml/2006/main" noGrp="1"/>
          </p:cNvSpPr>
          <p:nvPr/>
        </p:nvSpPr>
        <p:spPr>
          <a:xfrm xmlns:a="http://schemas.openxmlformats.org/drawingml/2006/main">
            <a:off x="2943225" y="5486400"/>
            <a:ext cx="371475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a:solidFill>
                  <a:srgbClr val="2B6DE9"/>
                </a:solidFill>
              </a:defRPr>
            </a:pPr>
            <a:r>
              <a:rPr sz="1500" b="0">
                <a:solidFill>
                  <a:srgbClr val="2B6DE9"/>
                </a:solidFill>
              </a:rPr>
              <a:t>Strategy can consume an NVMe tier</a:t>
            </a:r>
          </a:p>
        </p:txBody>
      </p:sp>
      <p:sp>
        <p:nvSpPr>
          <p:cNvPr id="52" name="">
            <a:extLst xmlns:a="http://schemas.openxmlformats.org/drawingml/2006/main">
              <a:ext uri="{FF2B5EF4-FFF2-40B4-BE49-F238E27FC236}">
                <a16:creationId xmlns:a16="http://schemas.microsoft.com/office/drawing/2014/main" id="{85D9E649-06A3-4926-ABAB-5906A9A02789}"/>
              </a:ext>
            </a:extLst>
          </p:cNvPr>
          <p:cNvSpPr>
            <a:spLocks xmlns:a="http://schemas.openxmlformats.org/drawingml/2006/main" noGrp="1"/>
          </p:cNvSpPr>
          <p:nvPr/>
        </p:nvSpPr>
        <p:spPr>
          <a:xfrm xmlns:a="http://schemas.openxmlformats.org/drawingml/2006/main">
            <a:off x="6753225" y="5410200"/>
            <a:ext cx="4810125" cy="581025"/>
          </a:xfrm>
          <a:prstGeom xmlns:a="http://schemas.openxmlformats.org/drawingml/2006/main" prst="rect">
            <a:avLst/>
          </a:prstGeom>
          <a:solidFill xmlns:a="http://schemas.openxmlformats.org/drawingml/2006/main">
            <a:srgbClr val="FFF2DF"/>
          </a:solidFill>
          <a:ln xmlns:a="http://schemas.openxmlformats.org/drawingml/2006/main" w="11430">
            <a:solidFill>
              <a:srgbClr val="C8D3E0"/>
            </a:solidFill>
            <a:prstDash val="solid"/>
          </a:ln>
        </p:spPr>
      </p:sp>
      <p:sp>
        <p:nvSpPr>
          <p:cNvPr id="53" name="">
            <a:extLst xmlns:a="http://schemas.openxmlformats.org/drawingml/2006/main">
              <a:ext uri="{FF2B5EF4-FFF2-40B4-BE49-F238E27FC236}">
                <a16:creationId xmlns:a16="http://schemas.microsoft.com/office/drawing/2014/main" id="{6653B9FD-F55F-4D28-8ADF-A7A30668BBE1}"/>
              </a:ext>
            </a:extLst>
          </p:cNvPr>
          <p:cNvSpPr>
            <a:spLocks xmlns:a="http://schemas.openxmlformats.org/drawingml/2006/main" noGrp="1"/>
          </p:cNvSpPr>
          <p:nvPr/>
        </p:nvSpPr>
        <p:spPr>
          <a:xfrm xmlns:a="http://schemas.openxmlformats.org/drawingml/2006/main">
            <a:off x="6848475" y="5486400"/>
            <a:ext cx="4619625"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a:solidFill>
                  <a:srgbClr val="E98A15"/>
                </a:solidFill>
              </a:defRPr>
            </a:pPr>
            <a:r>
              <a:rPr sz="1500" b="0">
                <a:solidFill>
                  <a:srgbClr val="E98A15"/>
                </a:solidFill>
              </a:rPr>
              <a:t>Optimized tier can make offload practical</a:t>
            </a:r>
          </a:p>
        </p:txBody>
      </p:sp>
      <p:sp>
        <p:nvSpPr>
          <p:cNvPr id="54" name="">
            <a:extLst xmlns:a="http://schemas.openxmlformats.org/drawingml/2006/main">
              <a:ext uri="{FF2B5EF4-FFF2-40B4-BE49-F238E27FC236}">
                <a16:creationId xmlns:a16="http://schemas.microsoft.com/office/drawing/2014/main" id="{4E1866B4-3290-4A77-95C6-7EECFAC378CC}"/>
              </a:ext>
            </a:extLst>
          </p:cNvPr>
          <p:cNvSpPr>
            <a:spLocks xmlns:a="http://schemas.openxmlformats.org/drawingml/2006/main" noGrp="1"/>
          </p:cNvSpPr>
          <p:nvPr/>
        </p:nvSpPr>
        <p:spPr>
          <a:xfrm xmlns:a="http://schemas.openxmlformats.org/drawingml/2006/main">
            <a:off x="609600" y="6181725"/>
            <a:ext cx="10953750" cy="266700"/>
          </a:xfrm>
          <a:prstGeom xmlns:a="http://schemas.openxmlformats.org/drawingml/2006/main" prst="roundRect">
            <a:avLst>
              <a:gd name="adj" fmla="val 21429"/>
            </a:avLst>
          </a:prstGeom>
          <a:solidFill xmlns:a="http://schemas.openxmlformats.org/drawingml/2006/main">
            <a:srgbClr val="E4F5F0"/>
          </a:solidFill>
          <a:ln xmlns:a="http://schemas.openxmlformats.org/drawingml/2006/main" w="11430">
            <a:solidFill>
              <a:srgbClr val="09866A"/>
            </a:solidFill>
            <a:prstDash val="solid"/>
          </a:ln>
        </p:spPr>
      </p:sp>
      <p:sp>
        <p:nvSpPr>
          <p:cNvPr id="55" name="">
            <a:extLst xmlns:a="http://schemas.openxmlformats.org/drawingml/2006/main">
              <a:ext uri="{FF2B5EF4-FFF2-40B4-BE49-F238E27FC236}">
                <a16:creationId xmlns:a16="http://schemas.microsoft.com/office/drawing/2014/main" id="{5FBE3590-5894-4383-837D-F206B2A61887}"/>
              </a:ext>
            </a:extLst>
          </p:cNvPr>
          <p:cNvSpPr>
            <a:spLocks xmlns:a="http://schemas.openxmlformats.org/drawingml/2006/main" noGrp="1"/>
          </p:cNvSpPr>
          <p:nvPr/>
        </p:nvSpPr>
        <p:spPr>
          <a:xfrm xmlns:a="http://schemas.openxmlformats.org/drawingml/2006/main">
            <a:off x="742950" y="6210300"/>
            <a:ext cx="1066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b="1">
                <a:solidFill>
                  <a:srgbClr val="09866A"/>
                </a:solidFill>
              </a:defRPr>
            </a:pPr>
            <a:r>
              <a:rPr sz="1125" b="1">
                <a:solidFill>
                  <a:srgbClr val="09866A"/>
                </a:solidFill>
              </a:rPr>
              <a:t>Not necessarily competitors: no public official Phison–DeepSpeed integration was found; this is a conceptual layer comparison.</a:t>
            </a:r>
          </a:p>
        </p:txBody>
      </p:sp>
    </p:spTree>
    <p:extLst>
      <p:ext uri="{BB962C8B-B14F-4D97-AF65-F5344CB8AC3E}">
        <p14:creationId xmlns:p14="http://schemas.microsoft.com/office/powerpoint/2010/main" val="123294747"/>
      </p:ext>
    </p:extLst>
  </p:cSld>
</p:sld>
</file>

<file path=ppt/slides/slide8.xml><?xml version="1.0" encoding="utf-8"?>
<p:sld xmlns:p="http://schemas.openxmlformats.org/presentationml/2006/main">
  <p:cSld>
    <p:bg>
      <p:bgPr>
        <a:solidFill xmlns:a="http://schemas.openxmlformats.org/drawingml/2006/main">
          <a:srgbClr val="F4F7FB"/>
        </a:solidFill>
      </p:bgPr>
    </p:bg>
    <p:spTree>
      <p:nvGrpSpPr>
        <p:cNvPr id="1" name=""/>
        <p:cNvGrpSpPr/>
        <p:nvPr/>
      </p:nvGrpSpPr>
      <p:grpSpPr>
        <a:xfrm xmlns:a="http://schemas.openxmlformats.org/drawingml/2006/main"/>
      </p:grpSpPr>
      <p:sp>
        <p:nvSpPr>
          <p:cNvPr id="40" name="">
            <a:extLst xmlns:a="http://schemas.openxmlformats.org/drawingml/2006/main">
              <a:ext uri="{FF2B5EF4-FFF2-40B4-BE49-F238E27FC236}">
                <a16:creationId xmlns:a16="http://schemas.microsoft.com/office/drawing/2014/main" id="{054EA666-CDCB-4F2A-A721-108EEAAB6198}"/>
              </a:ext>
            </a:extLst>
          </p:cNvPr>
          <p:cNvSpPr>
            <a:spLocks xmlns:a="http://schemas.openxmlformats.org/drawingml/2006/main" noGrp="1"/>
          </p:cNvSpPr>
          <p:nvPr/>
        </p:nvSpPr>
        <p:spPr>
          <a:xfrm xmlns:a="http://schemas.openxmlformats.org/drawingml/2006/main">
            <a:off x="609600" y="257175"/>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2B6DE9"/>
                </a:solidFill>
              </a:defRPr>
            </a:pPr>
            <a:r>
              <a:rPr sz="1050" b="1">
                <a:solidFill>
                  <a:srgbClr val="2B6DE9"/>
                </a:solidFill>
              </a:rPr>
              <a:t>ZERO TECHNICAL COMPARISON</a:t>
            </a:r>
          </a:p>
        </p:txBody>
      </p:sp>
      <p:sp>
        <p:nvSpPr>
          <p:cNvPr id="2" name="">
            <a:extLst xmlns:a="http://schemas.openxmlformats.org/drawingml/2006/main">
              <a:ext uri="{FF2B5EF4-FFF2-40B4-BE49-F238E27FC236}">
                <a16:creationId xmlns:a16="http://schemas.microsoft.com/office/drawing/2014/main" id="{1445630D-2F12-4611-AD4B-604D3BAFA5C2}"/>
              </a:ext>
            </a:extLst>
          </p:cNvPr>
          <p:cNvSpPr>
            <a:spLocks xmlns:a="http://schemas.openxmlformats.org/drawingml/2006/main" noGrp="1"/>
          </p:cNvSpPr>
          <p:nvPr/>
        </p:nvSpPr>
        <p:spPr>
          <a:xfrm xmlns:a="http://schemas.openxmlformats.org/drawingml/2006/main">
            <a:off x="11191875" y="219075"/>
            <a:ext cx="476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200" b="1">
                <a:solidFill>
                  <a:srgbClr val="53657A"/>
                </a:solidFill>
              </a:defRPr>
            </a:pPr>
            <a:r>
              <a:rPr sz="1200" b="1">
                <a:solidFill>
                  <a:srgbClr val="53657A"/>
                </a:solidFill>
              </a:rPr>
              <a:t>08</a:t>
            </a:r>
          </a:p>
        </p:txBody>
      </p:sp>
      <p:sp>
        <p:nvSpPr>
          <p:cNvPr id="3" name="">
            <a:extLst xmlns:a="http://schemas.openxmlformats.org/drawingml/2006/main">
              <a:ext uri="{FF2B5EF4-FFF2-40B4-BE49-F238E27FC236}">
                <a16:creationId xmlns:a16="http://schemas.microsoft.com/office/drawing/2014/main" id="{CE899C51-A8DE-4B6C-A231-525E873F8815}"/>
              </a:ext>
            </a:extLst>
          </p:cNvPr>
          <p:cNvSpPr>
            <a:spLocks xmlns:a="http://schemas.openxmlformats.org/drawingml/2006/main" noGrp="1"/>
          </p:cNvSpPr>
          <p:nvPr/>
        </p:nvSpPr>
        <p:spPr>
          <a:xfrm xmlns:a="http://schemas.openxmlformats.org/drawingml/2006/main">
            <a:off x="609600" y="552450"/>
            <a:ext cx="109061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600" b="1">
                <a:solidFill>
                  <a:srgbClr val="0A1628"/>
                </a:solidFill>
              </a:defRPr>
            </a:pPr>
            <a:r>
              <a:rPr sz="3600" b="1">
                <a:solidFill>
                  <a:srgbClr val="0A1628"/>
                </a:solidFill>
              </a:rPr>
              <a:t>ZeRO separates sharding from offload</a:t>
            </a:r>
          </a:p>
        </p:txBody>
      </p:sp>
      <p:sp>
        <p:nvSpPr>
          <p:cNvPr id="4" name="">
            <a:extLst xmlns:a="http://schemas.openxmlformats.org/drawingml/2006/main">
              <a:ext uri="{FF2B5EF4-FFF2-40B4-BE49-F238E27FC236}">
                <a16:creationId xmlns:a16="http://schemas.microsoft.com/office/drawing/2014/main" id="{F4C0E4B9-F209-409F-98CD-4D0921D1A9BF}"/>
              </a:ext>
            </a:extLst>
          </p:cNvPr>
          <p:cNvSpPr>
            <a:spLocks xmlns:a="http://schemas.openxmlformats.org/drawingml/2006/main" noGrp="1"/>
          </p:cNvSpPr>
          <p:nvPr/>
        </p:nvSpPr>
        <p:spPr>
          <a:xfrm xmlns:a="http://schemas.openxmlformats.org/drawingml/2006/main">
            <a:off x="609600" y="1200150"/>
            <a:ext cx="10972800" cy="0"/>
          </a:xfrm>
          <a:prstGeom xmlns:a="http://schemas.openxmlformats.org/drawingml/2006/main" prst="line">
            <a:avLst/>
          </a:prstGeom>
          <a:noFill xmlns:a="http://schemas.openxmlformats.org/drawingml/2006/main"/>
          <a:ln xmlns:a="http://schemas.openxmlformats.org/drawingml/2006/main" w="11430">
            <a:solidFill>
              <a:srgbClr val="C8D3E0"/>
            </a:solidFill>
            <a:prstDash val="solid"/>
          </a:ln>
        </p:spPr>
      </p:sp>
      <p:sp>
        <p:nvSpPr>
          <p:cNvPr id="5" name="">
            <a:extLst xmlns:a="http://schemas.openxmlformats.org/drawingml/2006/main">
              <a:ext uri="{FF2B5EF4-FFF2-40B4-BE49-F238E27FC236}">
                <a16:creationId xmlns:a16="http://schemas.microsoft.com/office/drawing/2014/main" id="{9283E93A-89BB-454F-9329-D0D7CF370B7F}"/>
              </a:ext>
            </a:extLst>
          </p:cNvPr>
          <p:cNvSpPr>
            <a:spLocks xmlns:a="http://schemas.openxmlformats.org/drawingml/2006/main" noGrp="1"/>
          </p:cNvSpPr>
          <p:nvPr/>
        </p:nvSpPr>
        <p:spPr>
          <a:xfrm xmlns:a="http://schemas.openxmlformats.org/drawingml/2006/main">
            <a:off x="609600" y="6543675"/>
            <a:ext cx="10096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7B8796"/>
                </a:solidFill>
              </a:defRPr>
            </a:pPr>
            <a:r>
              <a:rPr sz="900" b="0">
                <a:solidFill>
                  <a:srgbClr val="7B8796"/>
                </a:solidFill>
              </a:rPr>
              <a:t>Phison aiDAPTIV technical architecture  •  Sources and claim boundaries in speaker notes</a:t>
            </a:r>
          </a:p>
        </p:txBody>
      </p:sp>
      <p:sp>
        <p:nvSpPr>
          <p:cNvPr id="6" name="">
            <a:extLst xmlns:a="http://schemas.openxmlformats.org/drawingml/2006/main">
              <a:ext uri="{FF2B5EF4-FFF2-40B4-BE49-F238E27FC236}">
                <a16:creationId xmlns:a16="http://schemas.microsoft.com/office/drawing/2014/main" id="{DF401AAF-8D07-4C36-9D41-59FF9F33B524}"/>
              </a:ext>
            </a:extLst>
          </p:cNvPr>
          <p:cNvSpPr>
            <a:spLocks xmlns:a="http://schemas.openxmlformats.org/drawingml/2006/main" noGrp="1"/>
          </p:cNvSpPr>
          <p:nvPr/>
        </p:nvSpPr>
        <p:spPr>
          <a:xfrm xmlns:a="http://schemas.openxmlformats.org/drawingml/2006/main">
            <a:off x="609600" y="1447800"/>
            <a:ext cx="47625" cy="228600"/>
          </a:xfrm>
          <a:prstGeom xmlns:a="http://schemas.openxmlformats.org/drawingml/2006/main" prst="rect">
            <a:avLst/>
          </a:prstGeom>
          <a:solidFill xmlns:a="http://schemas.openxmlformats.org/drawingml/2006/main">
            <a:srgbClr val="2B6DE9"/>
          </a:solidFill>
          <a:ln xmlns:a="http://schemas.openxmlformats.org/drawingml/2006/main" w="11430">
            <a:solidFill>
              <a:srgbClr val="2B6DE9"/>
            </a:solidFill>
            <a:prstDash val="solid"/>
          </a:ln>
        </p:spPr>
      </p:sp>
      <p:sp>
        <p:nvSpPr>
          <p:cNvPr id="7" name="">
            <a:extLst xmlns:a="http://schemas.openxmlformats.org/drawingml/2006/main">
              <a:ext uri="{FF2B5EF4-FFF2-40B4-BE49-F238E27FC236}">
                <a16:creationId xmlns:a16="http://schemas.microsoft.com/office/drawing/2014/main" id="{7325CB34-D328-4237-B0A4-D59481BE53BB}"/>
              </a:ext>
            </a:extLst>
          </p:cNvPr>
          <p:cNvSpPr>
            <a:spLocks xmlns:a="http://schemas.openxmlformats.org/drawingml/2006/main" noGrp="1"/>
          </p:cNvSpPr>
          <p:nvPr/>
        </p:nvSpPr>
        <p:spPr>
          <a:xfrm xmlns:a="http://schemas.openxmlformats.org/drawingml/2006/main">
            <a:off x="742950" y="1428750"/>
            <a:ext cx="19621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2B6DE9"/>
                </a:solidFill>
              </a:defRPr>
            </a:pPr>
            <a:r>
              <a:rPr sz="1050" b="1">
                <a:solidFill>
                  <a:srgbClr val="2B6DE9"/>
                </a:solidFill>
              </a:rPr>
              <a:t>TRAINING MEMORY STATES</a:t>
            </a:r>
          </a:p>
        </p:txBody>
      </p:sp>
      <p:sp>
        <p:nvSpPr>
          <p:cNvPr id="8" name="">
            <a:extLst xmlns:a="http://schemas.openxmlformats.org/drawingml/2006/main">
              <a:ext uri="{FF2B5EF4-FFF2-40B4-BE49-F238E27FC236}">
                <a16:creationId xmlns:a16="http://schemas.microsoft.com/office/drawing/2014/main" id="{0D4CAB53-82BB-4E3F-B104-3BDD927C7C77}"/>
              </a:ext>
            </a:extLst>
          </p:cNvPr>
          <p:cNvSpPr>
            <a:spLocks xmlns:a="http://schemas.openxmlformats.org/drawingml/2006/main" noGrp="1"/>
          </p:cNvSpPr>
          <p:nvPr/>
        </p:nvSpPr>
        <p:spPr>
          <a:xfrm xmlns:a="http://schemas.openxmlformats.org/drawingml/2006/main">
            <a:off x="609600" y="1819275"/>
            <a:ext cx="2343150" cy="1257300"/>
          </a:xfrm>
          <a:prstGeom xmlns:a="http://schemas.openxmlformats.org/drawingml/2006/main" prst="roundRect">
            <a:avLst>
              <a:gd name="adj" fmla="val 7576"/>
            </a:avLst>
          </a:prstGeom>
          <a:solidFill xmlns:a="http://schemas.openxmlformats.org/drawingml/2006/main">
            <a:srgbClr val="EAF1FE"/>
          </a:solidFill>
          <a:ln xmlns:a="http://schemas.openxmlformats.org/drawingml/2006/main" w="11430">
            <a:solidFill>
              <a:srgbClr val="2B6DE9"/>
            </a:solidFill>
            <a:prstDash val="solid"/>
          </a:ln>
        </p:spPr>
      </p:sp>
      <p:sp>
        <p:nvSpPr>
          <p:cNvPr id="9" name="">
            <a:extLst xmlns:a="http://schemas.openxmlformats.org/drawingml/2006/main">
              <a:ext uri="{FF2B5EF4-FFF2-40B4-BE49-F238E27FC236}">
                <a16:creationId xmlns:a16="http://schemas.microsoft.com/office/drawing/2014/main" id="{B6E542B1-1203-4784-9E45-9664C3499590}"/>
              </a:ext>
            </a:extLst>
          </p:cNvPr>
          <p:cNvSpPr>
            <a:spLocks xmlns:a="http://schemas.openxmlformats.org/drawingml/2006/main" noGrp="1"/>
          </p:cNvSpPr>
          <p:nvPr/>
        </p:nvSpPr>
        <p:spPr>
          <a:xfrm xmlns:a="http://schemas.openxmlformats.org/drawingml/2006/main">
            <a:off x="781050" y="2000250"/>
            <a:ext cx="2000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175" b="1">
                <a:solidFill>
                  <a:srgbClr val="2B6DE9"/>
                </a:solidFill>
              </a:defRPr>
            </a:pPr>
            <a:r>
              <a:rPr sz="2175" b="1">
                <a:solidFill>
                  <a:srgbClr val="2B6DE9"/>
                </a:solidFill>
              </a:rPr>
              <a:t>Stage 1</a:t>
            </a:r>
          </a:p>
        </p:txBody>
      </p:sp>
      <p:sp>
        <p:nvSpPr>
          <p:cNvPr id="10" name="">
            <a:extLst xmlns:a="http://schemas.openxmlformats.org/drawingml/2006/main">
              <a:ext uri="{FF2B5EF4-FFF2-40B4-BE49-F238E27FC236}">
                <a16:creationId xmlns:a16="http://schemas.microsoft.com/office/drawing/2014/main" id="{8D33337D-3918-4D27-9CB3-A38D5B37CD21}"/>
              </a:ext>
            </a:extLst>
          </p:cNvPr>
          <p:cNvSpPr>
            <a:spLocks xmlns:a="http://schemas.openxmlformats.org/drawingml/2006/main" noGrp="1"/>
          </p:cNvSpPr>
          <p:nvPr/>
        </p:nvSpPr>
        <p:spPr>
          <a:xfrm xmlns:a="http://schemas.openxmlformats.org/drawingml/2006/main">
            <a:off x="781050" y="2457450"/>
            <a:ext cx="2000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A1628"/>
                </a:solidFill>
              </a:defRPr>
            </a:pPr>
            <a:r>
              <a:rPr sz="1575" b="1">
                <a:solidFill>
                  <a:srgbClr val="0A1628"/>
                </a:solidFill>
              </a:rPr>
              <a:t>optimizer states</a:t>
            </a:r>
          </a:p>
        </p:txBody>
      </p:sp>
      <p:sp>
        <p:nvSpPr>
          <p:cNvPr id="11" name="">
            <a:extLst xmlns:a="http://schemas.openxmlformats.org/drawingml/2006/main">
              <a:ext uri="{FF2B5EF4-FFF2-40B4-BE49-F238E27FC236}">
                <a16:creationId xmlns:a16="http://schemas.microsoft.com/office/drawing/2014/main" id="{79FD9080-54BB-4FC7-96BC-5B2593284726}"/>
              </a:ext>
            </a:extLst>
          </p:cNvPr>
          <p:cNvSpPr>
            <a:spLocks xmlns:a="http://schemas.openxmlformats.org/drawingml/2006/main" noGrp="1"/>
          </p:cNvSpPr>
          <p:nvPr/>
        </p:nvSpPr>
        <p:spPr>
          <a:xfrm xmlns:a="http://schemas.openxmlformats.org/drawingml/2006/main">
            <a:off x="3219450" y="1819275"/>
            <a:ext cx="2343150" cy="1257300"/>
          </a:xfrm>
          <a:prstGeom xmlns:a="http://schemas.openxmlformats.org/drawingml/2006/main" prst="roundRect">
            <a:avLst>
              <a:gd name="adj" fmla="val 7576"/>
            </a:avLst>
          </a:prstGeom>
          <a:solidFill xmlns:a="http://schemas.openxmlformats.org/drawingml/2006/main">
            <a:srgbClr val="DCE8FD"/>
          </a:solidFill>
          <a:ln xmlns:a="http://schemas.openxmlformats.org/drawingml/2006/main" w="11430">
            <a:solidFill>
              <a:srgbClr val="2B6DE9"/>
            </a:solidFill>
            <a:prstDash val="solid"/>
          </a:ln>
        </p:spPr>
      </p:sp>
      <p:sp>
        <p:nvSpPr>
          <p:cNvPr id="12" name="">
            <a:extLst xmlns:a="http://schemas.openxmlformats.org/drawingml/2006/main">
              <a:ext uri="{FF2B5EF4-FFF2-40B4-BE49-F238E27FC236}">
                <a16:creationId xmlns:a16="http://schemas.microsoft.com/office/drawing/2014/main" id="{51B32D48-4C09-4D45-A269-B42D05879C30}"/>
              </a:ext>
            </a:extLst>
          </p:cNvPr>
          <p:cNvSpPr>
            <a:spLocks xmlns:a="http://schemas.openxmlformats.org/drawingml/2006/main" noGrp="1"/>
          </p:cNvSpPr>
          <p:nvPr/>
        </p:nvSpPr>
        <p:spPr>
          <a:xfrm xmlns:a="http://schemas.openxmlformats.org/drawingml/2006/main">
            <a:off x="3390900" y="2000250"/>
            <a:ext cx="2000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175" b="1">
                <a:solidFill>
                  <a:srgbClr val="2B6DE9"/>
                </a:solidFill>
              </a:defRPr>
            </a:pPr>
            <a:r>
              <a:rPr sz="2175" b="1">
                <a:solidFill>
                  <a:srgbClr val="2B6DE9"/>
                </a:solidFill>
              </a:rPr>
              <a:t>Stage 2</a:t>
            </a:r>
          </a:p>
        </p:txBody>
      </p:sp>
      <p:sp>
        <p:nvSpPr>
          <p:cNvPr id="13" name="">
            <a:extLst xmlns:a="http://schemas.openxmlformats.org/drawingml/2006/main">
              <a:ext uri="{FF2B5EF4-FFF2-40B4-BE49-F238E27FC236}">
                <a16:creationId xmlns:a16="http://schemas.microsoft.com/office/drawing/2014/main" id="{05D304B7-CA5D-4434-86A5-6376D4B37C04}"/>
              </a:ext>
            </a:extLst>
          </p:cNvPr>
          <p:cNvSpPr>
            <a:spLocks xmlns:a="http://schemas.openxmlformats.org/drawingml/2006/main" noGrp="1"/>
          </p:cNvSpPr>
          <p:nvPr/>
        </p:nvSpPr>
        <p:spPr>
          <a:xfrm xmlns:a="http://schemas.openxmlformats.org/drawingml/2006/main">
            <a:off x="3390900" y="2457450"/>
            <a:ext cx="2000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A1628"/>
                </a:solidFill>
              </a:defRPr>
            </a:pPr>
            <a:r>
              <a:rPr sz="1575" b="1">
                <a:solidFill>
                  <a:srgbClr val="0A1628"/>
                </a:solidFill>
              </a:rPr>
              <a:t>+ gradients</a:t>
            </a:r>
          </a:p>
        </p:txBody>
      </p:sp>
      <p:sp>
        <p:nvSpPr>
          <p:cNvPr id="14" name="">
            <a:extLst xmlns:a="http://schemas.openxmlformats.org/drawingml/2006/main">
              <a:ext uri="{FF2B5EF4-FFF2-40B4-BE49-F238E27FC236}">
                <a16:creationId xmlns:a16="http://schemas.microsoft.com/office/drawing/2014/main" id="{BB8284DC-9580-4E31-AF68-714554AC7B3A}"/>
              </a:ext>
            </a:extLst>
          </p:cNvPr>
          <p:cNvSpPr>
            <a:spLocks xmlns:a="http://schemas.openxmlformats.org/drawingml/2006/main" noGrp="1"/>
          </p:cNvSpPr>
          <p:nvPr/>
        </p:nvSpPr>
        <p:spPr>
          <a:xfrm xmlns:a="http://schemas.openxmlformats.org/drawingml/2006/main">
            <a:off x="5829300" y="1819275"/>
            <a:ext cx="2343150" cy="1257300"/>
          </a:xfrm>
          <a:prstGeom xmlns:a="http://schemas.openxmlformats.org/drawingml/2006/main" prst="roundRect">
            <a:avLst>
              <a:gd name="adj" fmla="val 7576"/>
            </a:avLst>
          </a:prstGeom>
          <a:solidFill xmlns:a="http://schemas.openxmlformats.org/drawingml/2006/main">
            <a:srgbClr val="C8DAFB"/>
          </a:solidFill>
          <a:ln xmlns:a="http://schemas.openxmlformats.org/drawingml/2006/main" w="11430">
            <a:solidFill>
              <a:srgbClr val="2B6DE9"/>
            </a:solidFill>
            <a:prstDash val="solid"/>
          </a:ln>
        </p:spPr>
      </p:sp>
      <p:sp>
        <p:nvSpPr>
          <p:cNvPr id="15" name="">
            <a:extLst xmlns:a="http://schemas.openxmlformats.org/drawingml/2006/main">
              <a:ext uri="{FF2B5EF4-FFF2-40B4-BE49-F238E27FC236}">
                <a16:creationId xmlns:a16="http://schemas.microsoft.com/office/drawing/2014/main" id="{917A48A5-9E64-4185-9F88-FFEB2E3ED208}"/>
              </a:ext>
            </a:extLst>
          </p:cNvPr>
          <p:cNvSpPr>
            <a:spLocks xmlns:a="http://schemas.openxmlformats.org/drawingml/2006/main" noGrp="1"/>
          </p:cNvSpPr>
          <p:nvPr/>
        </p:nvSpPr>
        <p:spPr>
          <a:xfrm xmlns:a="http://schemas.openxmlformats.org/drawingml/2006/main">
            <a:off x="6000750" y="2000250"/>
            <a:ext cx="2000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175" b="1">
                <a:solidFill>
                  <a:srgbClr val="2B6DE9"/>
                </a:solidFill>
              </a:defRPr>
            </a:pPr>
            <a:r>
              <a:rPr sz="2175" b="1">
                <a:solidFill>
                  <a:srgbClr val="2B6DE9"/>
                </a:solidFill>
              </a:rPr>
              <a:t>Stage 3</a:t>
            </a:r>
          </a:p>
        </p:txBody>
      </p:sp>
      <p:sp>
        <p:nvSpPr>
          <p:cNvPr id="16" name="">
            <a:extLst xmlns:a="http://schemas.openxmlformats.org/drawingml/2006/main">
              <a:ext uri="{FF2B5EF4-FFF2-40B4-BE49-F238E27FC236}">
                <a16:creationId xmlns:a16="http://schemas.microsoft.com/office/drawing/2014/main" id="{5D28A057-BE66-4744-B5F8-3120BA67E90A}"/>
              </a:ext>
            </a:extLst>
          </p:cNvPr>
          <p:cNvSpPr>
            <a:spLocks xmlns:a="http://schemas.openxmlformats.org/drawingml/2006/main" noGrp="1"/>
          </p:cNvSpPr>
          <p:nvPr/>
        </p:nvSpPr>
        <p:spPr>
          <a:xfrm xmlns:a="http://schemas.openxmlformats.org/drawingml/2006/main">
            <a:off x="6000750" y="2457450"/>
            <a:ext cx="2000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A1628"/>
                </a:solidFill>
              </a:defRPr>
            </a:pPr>
            <a:r>
              <a:rPr sz="1575" b="1">
                <a:solidFill>
                  <a:srgbClr val="0A1628"/>
                </a:solidFill>
              </a:rPr>
              <a:t>+ parameters</a:t>
            </a:r>
          </a:p>
        </p:txBody>
      </p:sp>
      <p:sp>
        <p:nvSpPr>
          <p:cNvPr id="17" name="">
            <a:extLst xmlns:a="http://schemas.openxmlformats.org/drawingml/2006/main">
              <a:ext uri="{FF2B5EF4-FFF2-40B4-BE49-F238E27FC236}">
                <a16:creationId xmlns:a16="http://schemas.microsoft.com/office/drawing/2014/main" id="{E62BE283-B0FE-4243-9D97-65394B8E1488}"/>
              </a:ext>
            </a:extLst>
          </p:cNvPr>
          <p:cNvSpPr>
            <a:spLocks xmlns:a="http://schemas.openxmlformats.org/drawingml/2006/main" noGrp="1"/>
          </p:cNvSpPr>
          <p:nvPr/>
        </p:nvSpPr>
        <p:spPr>
          <a:xfrm xmlns:a="http://schemas.openxmlformats.org/drawingml/2006/main">
            <a:off x="8686800" y="1819275"/>
            <a:ext cx="2876550" cy="1257300"/>
          </a:xfrm>
          <a:prstGeom xmlns:a="http://schemas.openxmlformats.org/drawingml/2006/main" prst="roundRect">
            <a:avLst>
              <a:gd name="adj" fmla="val 7576"/>
            </a:avLst>
          </a:prstGeom>
          <a:solidFill xmlns:a="http://schemas.openxmlformats.org/drawingml/2006/main">
            <a:srgbClr val="E4F5F0"/>
          </a:solidFill>
          <a:ln xmlns:a="http://schemas.openxmlformats.org/drawingml/2006/main" w="11430">
            <a:solidFill>
              <a:srgbClr val="09866A"/>
            </a:solidFill>
            <a:prstDash val="solid"/>
          </a:ln>
        </p:spPr>
      </p:sp>
      <p:sp>
        <p:nvSpPr>
          <p:cNvPr id="18" name="">
            <a:extLst xmlns:a="http://schemas.openxmlformats.org/drawingml/2006/main">
              <a:ext uri="{FF2B5EF4-FFF2-40B4-BE49-F238E27FC236}">
                <a16:creationId xmlns:a16="http://schemas.microsoft.com/office/drawing/2014/main" id="{650BB65E-D2F2-40A6-8B15-CC06A265706B}"/>
              </a:ext>
            </a:extLst>
          </p:cNvPr>
          <p:cNvSpPr>
            <a:spLocks xmlns:a="http://schemas.openxmlformats.org/drawingml/2006/main" noGrp="1"/>
          </p:cNvSpPr>
          <p:nvPr/>
        </p:nvSpPr>
        <p:spPr>
          <a:xfrm xmlns:a="http://schemas.openxmlformats.org/drawingml/2006/main">
            <a:off x="8877300" y="2000250"/>
            <a:ext cx="2476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175" b="1">
                <a:solidFill>
                  <a:srgbClr val="09866A"/>
                </a:solidFill>
              </a:defRPr>
            </a:pPr>
            <a:r>
              <a:rPr sz="2175" b="1">
                <a:solidFill>
                  <a:srgbClr val="09866A"/>
                </a:solidFill>
              </a:rPr>
              <a:t>ZeRO-Offload</a:t>
            </a:r>
          </a:p>
        </p:txBody>
      </p:sp>
      <p:sp>
        <p:nvSpPr>
          <p:cNvPr id="19" name="">
            <a:extLst xmlns:a="http://schemas.openxmlformats.org/drawingml/2006/main">
              <a:ext uri="{FF2B5EF4-FFF2-40B4-BE49-F238E27FC236}">
                <a16:creationId xmlns:a16="http://schemas.microsoft.com/office/drawing/2014/main" id="{C16A556C-9876-497E-91BE-530182E23FCB}"/>
              </a:ext>
            </a:extLst>
          </p:cNvPr>
          <p:cNvSpPr>
            <a:spLocks xmlns:a="http://schemas.openxmlformats.org/drawingml/2006/main" noGrp="1"/>
          </p:cNvSpPr>
          <p:nvPr/>
        </p:nvSpPr>
        <p:spPr>
          <a:xfrm xmlns:a="http://schemas.openxmlformats.org/drawingml/2006/main">
            <a:off x="8877300" y="2409825"/>
            <a:ext cx="2476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0A1628"/>
                </a:solidFill>
              </a:defRPr>
            </a:pPr>
            <a:r>
              <a:rPr sz="1500" b="1">
                <a:solidFill>
                  <a:srgbClr val="0A1628"/>
                </a:solidFill>
              </a:rPr>
              <a:t>optimizer + compute</a:t>
            </a:r>
          </a:p>
          <a:p xmlns:a="http://schemas.openxmlformats.org/drawingml/2006/main">
            <a:pPr algn="l">
              <a:defRPr sz="1500" b="1">
                <a:solidFill>
                  <a:srgbClr val="0A1628"/>
                </a:solidFill>
              </a:defRPr>
            </a:pPr>
            <a:r>
              <a:rPr sz="1500" b="1">
                <a:solidFill>
                  <a:srgbClr val="0A1628"/>
                </a:solidFill>
              </a:rPr>
              <a:t>→ CPU DRAM</a:t>
            </a:r>
          </a:p>
        </p:txBody>
      </p:sp>
      <p:sp>
        <p:nvSpPr>
          <p:cNvPr id="20" name="">
            <a:extLst xmlns:a="http://schemas.openxmlformats.org/drawingml/2006/main">
              <a:ext uri="{FF2B5EF4-FFF2-40B4-BE49-F238E27FC236}">
                <a16:creationId xmlns:a16="http://schemas.microsoft.com/office/drawing/2014/main" id="{FBB6EF5D-0D16-40F8-A42C-07A67D9EA7E3}"/>
              </a:ext>
            </a:extLst>
          </p:cNvPr>
          <p:cNvSpPr>
            <a:spLocks xmlns:a="http://schemas.openxmlformats.org/drawingml/2006/main" noGrp="1"/>
          </p:cNvSpPr>
          <p:nvPr/>
        </p:nvSpPr>
        <p:spPr>
          <a:xfrm xmlns:a="http://schemas.openxmlformats.org/drawingml/2006/main">
            <a:off x="609600" y="3438525"/>
            <a:ext cx="47625" cy="228600"/>
          </a:xfrm>
          <a:prstGeom xmlns:a="http://schemas.openxmlformats.org/drawingml/2006/main" prst="rect">
            <a:avLst/>
          </a:prstGeom>
          <a:solidFill xmlns:a="http://schemas.openxmlformats.org/drawingml/2006/main">
            <a:srgbClr val="E98A15"/>
          </a:solidFill>
          <a:ln xmlns:a="http://schemas.openxmlformats.org/drawingml/2006/main" w="11430">
            <a:solidFill>
              <a:srgbClr val="E98A15"/>
            </a:solidFill>
            <a:prstDash val="solid"/>
          </a:ln>
        </p:spPr>
      </p:sp>
      <p:sp>
        <p:nvSpPr>
          <p:cNvPr id="21" name="">
            <a:extLst xmlns:a="http://schemas.openxmlformats.org/drawingml/2006/main">
              <a:ext uri="{FF2B5EF4-FFF2-40B4-BE49-F238E27FC236}">
                <a16:creationId xmlns:a16="http://schemas.microsoft.com/office/drawing/2014/main" id="{C06EE24F-CE99-453A-A911-66DE34CA0511}"/>
              </a:ext>
            </a:extLst>
          </p:cNvPr>
          <p:cNvSpPr>
            <a:spLocks xmlns:a="http://schemas.openxmlformats.org/drawingml/2006/main" noGrp="1"/>
          </p:cNvSpPr>
          <p:nvPr/>
        </p:nvSpPr>
        <p:spPr>
          <a:xfrm xmlns:a="http://schemas.openxmlformats.org/drawingml/2006/main">
            <a:off x="742950" y="3419475"/>
            <a:ext cx="18192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E98A15"/>
                </a:solidFill>
              </a:defRPr>
            </a:pPr>
            <a:r>
              <a:rPr sz="1050" b="1">
                <a:solidFill>
                  <a:srgbClr val="E98A15"/>
                </a:solidFill>
              </a:rPr>
              <a:t>NVME EXTENSIONS</a:t>
            </a:r>
          </a:p>
        </p:txBody>
      </p:sp>
      <p:sp>
        <p:nvSpPr>
          <p:cNvPr id="22" name="">
            <a:extLst xmlns:a="http://schemas.openxmlformats.org/drawingml/2006/main">
              <a:ext uri="{FF2B5EF4-FFF2-40B4-BE49-F238E27FC236}">
                <a16:creationId xmlns:a16="http://schemas.microsoft.com/office/drawing/2014/main" id="{CF4655F0-0544-4C68-9099-44518D562934}"/>
              </a:ext>
            </a:extLst>
          </p:cNvPr>
          <p:cNvSpPr>
            <a:spLocks xmlns:a="http://schemas.openxmlformats.org/drawingml/2006/main" noGrp="1"/>
          </p:cNvSpPr>
          <p:nvPr/>
        </p:nvSpPr>
        <p:spPr>
          <a:xfrm xmlns:a="http://schemas.openxmlformats.org/drawingml/2006/main">
            <a:off x="609600" y="3790950"/>
            <a:ext cx="5095875" cy="1809750"/>
          </a:xfrm>
          <a:prstGeom xmlns:a="http://schemas.openxmlformats.org/drawingml/2006/main" prst="roundRect">
            <a:avLst>
              <a:gd name="adj" fmla="val 6316"/>
            </a:avLst>
          </a:prstGeom>
          <a:solidFill xmlns:a="http://schemas.openxmlformats.org/drawingml/2006/main">
            <a:srgbClr val="FFF2DF"/>
          </a:solidFill>
          <a:ln xmlns:a="http://schemas.openxmlformats.org/drawingml/2006/main" w="11430">
            <a:solidFill>
              <a:srgbClr val="E98A15"/>
            </a:solidFill>
            <a:prstDash val="solid"/>
          </a:ln>
        </p:spPr>
      </p:sp>
      <p:sp>
        <p:nvSpPr>
          <p:cNvPr id="23" name="">
            <a:extLst xmlns:a="http://schemas.openxmlformats.org/drawingml/2006/main">
              <a:ext uri="{FF2B5EF4-FFF2-40B4-BE49-F238E27FC236}">
                <a16:creationId xmlns:a16="http://schemas.microsoft.com/office/drawing/2014/main" id="{0AB38233-FE73-42CB-BB43-5D4C422C58ED}"/>
              </a:ext>
            </a:extLst>
          </p:cNvPr>
          <p:cNvSpPr>
            <a:spLocks xmlns:a="http://schemas.openxmlformats.org/drawingml/2006/main" noGrp="1"/>
          </p:cNvSpPr>
          <p:nvPr/>
        </p:nvSpPr>
        <p:spPr>
          <a:xfrm xmlns:a="http://schemas.openxmlformats.org/drawingml/2006/main">
            <a:off x="847725" y="3981450"/>
            <a:ext cx="4572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100" b="1">
                <a:solidFill>
                  <a:srgbClr val="E98A15"/>
                </a:solidFill>
              </a:defRPr>
            </a:pPr>
            <a:r>
              <a:rPr sz="2100" b="1">
                <a:solidFill>
                  <a:srgbClr val="E98A15"/>
                </a:solidFill>
              </a:rPr>
              <a:t>ZeRO-Infinity — training</a:t>
            </a:r>
          </a:p>
        </p:txBody>
      </p:sp>
      <p:sp>
        <p:nvSpPr>
          <p:cNvPr id="24" name="">
            <a:extLst xmlns:a="http://schemas.openxmlformats.org/drawingml/2006/main">
              <a:ext uri="{FF2B5EF4-FFF2-40B4-BE49-F238E27FC236}">
                <a16:creationId xmlns:a16="http://schemas.microsoft.com/office/drawing/2014/main" id="{3E2B335D-46DC-45C9-90D1-A6FA4D84BC5B}"/>
              </a:ext>
            </a:extLst>
          </p:cNvPr>
          <p:cNvSpPr>
            <a:spLocks xmlns:a="http://schemas.openxmlformats.org/drawingml/2006/main" noGrp="1"/>
          </p:cNvSpPr>
          <p:nvPr/>
        </p:nvSpPr>
        <p:spPr>
          <a:xfrm xmlns:a="http://schemas.openxmlformats.org/drawingml/2006/main">
            <a:off x="847725" y="4495800"/>
            <a:ext cx="76200" cy="76200"/>
          </a:xfrm>
          <a:prstGeom xmlns:a="http://schemas.openxmlformats.org/drawingml/2006/main" prst="roundRect">
            <a:avLst>
              <a:gd name="adj" fmla="val 50000"/>
            </a:avLst>
          </a:prstGeom>
          <a:solidFill xmlns:a="http://schemas.openxmlformats.org/drawingml/2006/main">
            <a:srgbClr val="2B6DE9"/>
          </a:solidFill>
          <a:ln xmlns:a="http://schemas.openxmlformats.org/drawingml/2006/main" w="11430">
            <a:solidFill>
              <a:srgbClr val="2B6DE9"/>
            </a:solidFill>
            <a:prstDash val="solid"/>
          </a:ln>
        </p:spPr>
      </p:sp>
      <p:sp>
        <p:nvSpPr>
          <p:cNvPr id="25" name="">
            <a:extLst xmlns:a="http://schemas.openxmlformats.org/drawingml/2006/main">
              <a:ext uri="{FF2B5EF4-FFF2-40B4-BE49-F238E27FC236}">
                <a16:creationId xmlns:a16="http://schemas.microsoft.com/office/drawing/2014/main" id="{26955178-A6DD-484E-9471-EF883F2DAA57}"/>
              </a:ext>
            </a:extLst>
          </p:cNvPr>
          <p:cNvSpPr>
            <a:spLocks xmlns:a="http://schemas.openxmlformats.org/drawingml/2006/main" noGrp="1"/>
          </p:cNvSpPr>
          <p:nvPr/>
        </p:nvSpPr>
        <p:spPr>
          <a:xfrm xmlns:a="http://schemas.openxmlformats.org/drawingml/2006/main">
            <a:off x="1057275" y="4410075"/>
            <a:ext cx="43624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0A1628"/>
                </a:solidFill>
              </a:defRPr>
            </a:pPr>
            <a:r>
              <a:rPr sz="1350" b="0">
                <a:solidFill>
                  <a:srgbClr val="0A1628"/>
                </a:solidFill>
              </a:rPr>
              <a:t>ZeRO-3 + CPU/NVMe offload engine</a:t>
            </a:r>
          </a:p>
        </p:txBody>
      </p:sp>
      <p:sp>
        <p:nvSpPr>
          <p:cNvPr id="26" name="">
            <a:extLst xmlns:a="http://schemas.openxmlformats.org/drawingml/2006/main">
              <a:ext uri="{FF2B5EF4-FFF2-40B4-BE49-F238E27FC236}">
                <a16:creationId xmlns:a16="http://schemas.microsoft.com/office/drawing/2014/main" id="{F1827874-50AA-4101-B5B0-1403933D279C}"/>
              </a:ext>
            </a:extLst>
          </p:cNvPr>
          <p:cNvSpPr>
            <a:spLocks xmlns:a="http://schemas.openxmlformats.org/drawingml/2006/main" noGrp="1"/>
          </p:cNvSpPr>
          <p:nvPr/>
        </p:nvSpPr>
        <p:spPr>
          <a:xfrm xmlns:a="http://schemas.openxmlformats.org/drawingml/2006/main">
            <a:off x="847725" y="4867275"/>
            <a:ext cx="76200" cy="76200"/>
          </a:xfrm>
          <a:prstGeom xmlns:a="http://schemas.openxmlformats.org/drawingml/2006/main" prst="roundRect">
            <a:avLst>
              <a:gd name="adj" fmla="val 50000"/>
            </a:avLst>
          </a:prstGeom>
          <a:solidFill xmlns:a="http://schemas.openxmlformats.org/drawingml/2006/main">
            <a:srgbClr val="2B6DE9"/>
          </a:solidFill>
          <a:ln xmlns:a="http://schemas.openxmlformats.org/drawingml/2006/main" w="11430">
            <a:solidFill>
              <a:srgbClr val="2B6DE9"/>
            </a:solidFill>
            <a:prstDash val="solid"/>
          </a:ln>
        </p:spPr>
      </p:sp>
      <p:sp>
        <p:nvSpPr>
          <p:cNvPr id="27" name="">
            <a:extLst xmlns:a="http://schemas.openxmlformats.org/drawingml/2006/main">
              <a:ext uri="{FF2B5EF4-FFF2-40B4-BE49-F238E27FC236}">
                <a16:creationId xmlns:a16="http://schemas.microsoft.com/office/drawing/2014/main" id="{50E60067-E092-408F-9EE8-7E3E78A35D40}"/>
              </a:ext>
            </a:extLst>
          </p:cNvPr>
          <p:cNvSpPr>
            <a:spLocks xmlns:a="http://schemas.openxmlformats.org/drawingml/2006/main" noGrp="1"/>
          </p:cNvSpPr>
          <p:nvPr/>
        </p:nvSpPr>
        <p:spPr>
          <a:xfrm xmlns:a="http://schemas.openxmlformats.org/drawingml/2006/main">
            <a:off x="1057275" y="4781550"/>
            <a:ext cx="43624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0A1628"/>
                </a:solidFill>
              </a:defRPr>
            </a:pPr>
            <a:r>
              <a:rPr sz="1350" b="0">
                <a:solidFill>
                  <a:srgbClr val="0A1628"/>
                </a:solidFill>
              </a:rPr>
              <a:t>model states and activations can leave GPU memory</a:t>
            </a:r>
          </a:p>
        </p:txBody>
      </p:sp>
      <p:sp>
        <p:nvSpPr>
          <p:cNvPr id="28" name="">
            <a:extLst xmlns:a="http://schemas.openxmlformats.org/drawingml/2006/main">
              <a:ext uri="{FF2B5EF4-FFF2-40B4-BE49-F238E27FC236}">
                <a16:creationId xmlns:a16="http://schemas.microsoft.com/office/drawing/2014/main" id="{38A75E18-3966-4DB5-B928-A8003DBE5E12}"/>
              </a:ext>
            </a:extLst>
          </p:cNvPr>
          <p:cNvSpPr>
            <a:spLocks xmlns:a="http://schemas.openxmlformats.org/drawingml/2006/main" noGrp="1"/>
          </p:cNvSpPr>
          <p:nvPr/>
        </p:nvSpPr>
        <p:spPr>
          <a:xfrm xmlns:a="http://schemas.openxmlformats.org/drawingml/2006/main">
            <a:off x="847725" y="5238750"/>
            <a:ext cx="76200" cy="76200"/>
          </a:xfrm>
          <a:prstGeom xmlns:a="http://schemas.openxmlformats.org/drawingml/2006/main" prst="roundRect">
            <a:avLst>
              <a:gd name="adj" fmla="val 50000"/>
            </a:avLst>
          </a:prstGeom>
          <a:solidFill xmlns:a="http://schemas.openxmlformats.org/drawingml/2006/main">
            <a:srgbClr val="2B6DE9"/>
          </a:solidFill>
          <a:ln xmlns:a="http://schemas.openxmlformats.org/drawingml/2006/main" w="11430">
            <a:solidFill>
              <a:srgbClr val="2B6DE9"/>
            </a:solidFill>
            <a:prstDash val="solid"/>
          </a:ln>
        </p:spPr>
      </p:sp>
      <p:sp>
        <p:nvSpPr>
          <p:cNvPr id="29" name="">
            <a:extLst xmlns:a="http://schemas.openxmlformats.org/drawingml/2006/main">
              <a:ext uri="{FF2B5EF4-FFF2-40B4-BE49-F238E27FC236}">
                <a16:creationId xmlns:a16="http://schemas.microsoft.com/office/drawing/2014/main" id="{E9F34BBD-2734-4DFF-BDD5-CC285BED1F10}"/>
              </a:ext>
            </a:extLst>
          </p:cNvPr>
          <p:cNvSpPr>
            <a:spLocks xmlns:a="http://schemas.openxmlformats.org/drawingml/2006/main" noGrp="1"/>
          </p:cNvSpPr>
          <p:nvPr/>
        </p:nvSpPr>
        <p:spPr>
          <a:xfrm xmlns:a="http://schemas.openxmlformats.org/drawingml/2006/main">
            <a:off x="1057275" y="5153025"/>
            <a:ext cx="43624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0A1628"/>
                </a:solidFill>
              </a:defRPr>
            </a:pPr>
            <a:r>
              <a:rPr sz="1350" b="0">
                <a:solidFill>
                  <a:srgbClr val="0A1628"/>
                </a:solidFill>
              </a:rPr>
              <a:t>bandwidth-centric partitioning and overlap are essential</a:t>
            </a:r>
          </a:p>
        </p:txBody>
      </p:sp>
      <p:sp>
        <p:nvSpPr>
          <p:cNvPr id="30" name="">
            <a:extLst xmlns:a="http://schemas.openxmlformats.org/drawingml/2006/main">
              <a:ext uri="{FF2B5EF4-FFF2-40B4-BE49-F238E27FC236}">
                <a16:creationId xmlns:a16="http://schemas.microsoft.com/office/drawing/2014/main" id="{7F789292-192A-4C59-A57B-57199ED4CC22}"/>
              </a:ext>
            </a:extLst>
          </p:cNvPr>
          <p:cNvSpPr>
            <a:spLocks xmlns:a="http://schemas.openxmlformats.org/drawingml/2006/main" noGrp="1"/>
          </p:cNvSpPr>
          <p:nvPr/>
        </p:nvSpPr>
        <p:spPr>
          <a:xfrm xmlns:a="http://schemas.openxmlformats.org/drawingml/2006/main">
            <a:off x="5962650" y="3790950"/>
            <a:ext cx="5600700" cy="1809750"/>
          </a:xfrm>
          <a:prstGeom xmlns:a="http://schemas.openxmlformats.org/drawingml/2006/main" prst="roundRect">
            <a:avLst>
              <a:gd name="adj" fmla="val 6316"/>
            </a:avLst>
          </a:prstGeom>
          <a:solidFill xmlns:a="http://schemas.openxmlformats.org/drawingml/2006/main">
            <a:srgbClr val="FFF2DF"/>
          </a:solidFill>
          <a:ln xmlns:a="http://schemas.openxmlformats.org/drawingml/2006/main" w="11430">
            <a:solidFill>
              <a:srgbClr val="E98A15"/>
            </a:solidFill>
            <a:prstDash val="solid"/>
          </a:ln>
        </p:spPr>
      </p:sp>
      <p:sp>
        <p:nvSpPr>
          <p:cNvPr id="31" name="">
            <a:extLst xmlns:a="http://schemas.openxmlformats.org/drawingml/2006/main">
              <a:ext uri="{FF2B5EF4-FFF2-40B4-BE49-F238E27FC236}">
                <a16:creationId xmlns:a16="http://schemas.microsoft.com/office/drawing/2014/main" id="{195C77D3-110A-479F-8BED-1F5C583909F9}"/>
              </a:ext>
            </a:extLst>
          </p:cNvPr>
          <p:cNvSpPr>
            <a:spLocks xmlns:a="http://schemas.openxmlformats.org/drawingml/2006/main" noGrp="1"/>
          </p:cNvSpPr>
          <p:nvPr/>
        </p:nvSpPr>
        <p:spPr>
          <a:xfrm xmlns:a="http://schemas.openxmlformats.org/drawingml/2006/main">
            <a:off x="6200775" y="3981450"/>
            <a:ext cx="5048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100" b="1">
                <a:solidFill>
                  <a:srgbClr val="E98A15"/>
                </a:solidFill>
              </a:defRPr>
            </a:pPr>
            <a:r>
              <a:rPr sz="2100" b="1">
                <a:solidFill>
                  <a:srgbClr val="E98A15"/>
                </a:solidFill>
              </a:rPr>
              <a:t>ZeRO-Inference — inference</a:t>
            </a:r>
          </a:p>
        </p:txBody>
      </p:sp>
      <p:sp>
        <p:nvSpPr>
          <p:cNvPr id="32" name="">
            <a:extLst xmlns:a="http://schemas.openxmlformats.org/drawingml/2006/main">
              <a:ext uri="{FF2B5EF4-FFF2-40B4-BE49-F238E27FC236}">
                <a16:creationId xmlns:a16="http://schemas.microsoft.com/office/drawing/2014/main" id="{A6A00FC2-70AB-4B1F-ACBA-59BED3A214AF}"/>
              </a:ext>
            </a:extLst>
          </p:cNvPr>
          <p:cNvSpPr>
            <a:spLocks xmlns:a="http://schemas.openxmlformats.org/drawingml/2006/main" noGrp="1"/>
          </p:cNvSpPr>
          <p:nvPr/>
        </p:nvSpPr>
        <p:spPr>
          <a:xfrm xmlns:a="http://schemas.openxmlformats.org/drawingml/2006/main">
            <a:off x="6200775" y="4495800"/>
            <a:ext cx="76200" cy="76200"/>
          </a:xfrm>
          <a:prstGeom xmlns:a="http://schemas.openxmlformats.org/drawingml/2006/main" prst="roundRect">
            <a:avLst>
              <a:gd name="adj" fmla="val 50000"/>
            </a:avLst>
          </a:prstGeom>
          <a:solidFill xmlns:a="http://schemas.openxmlformats.org/drawingml/2006/main">
            <a:srgbClr val="2B6DE9"/>
          </a:solidFill>
          <a:ln xmlns:a="http://schemas.openxmlformats.org/drawingml/2006/main" w="11430">
            <a:solidFill>
              <a:srgbClr val="2B6DE9"/>
            </a:solidFill>
            <a:prstDash val="solid"/>
          </a:ln>
        </p:spPr>
      </p:sp>
      <p:sp>
        <p:nvSpPr>
          <p:cNvPr id="33" name="">
            <a:extLst xmlns:a="http://schemas.openxmlformats.org/drawingml/2006/main">
              <a:ext uri="{FF2B5EF4-FFF2-40B4-BE49-F238E27FC236}">
                <a16:creationId xmlns:a16="http://schemas.microsoft.com/office/drawing/2014/main" id="{48641867-C893-41F9-AFEB-B79F12DFF47B}"/>
              </a:ext>
            </a:extLst>
          </p:cNvPr>
          <p:cNvSpPr>
            <a:spLocks xmlns:a="http://schemas.openxmlformats.org/drawingml/2006/main" noGrp="1"/>
          </p:cNvSpPr>
          <p:nvPr/>
        </p:nvSpPr>
        <p:spPr>
          <a:xfrm xmlns:a="http://schemas.openxmlformats.org/drawingml/2006/main">
            <a:off x="6410325" y="4410075"/>
            <a:ext cx="48387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0A1628"/>
                </a:solidFill>
              </a:defRPr>
            </a:pPr>
            <a:r>
              <a:rPr sz="1350" b="0">
                <a:solidFill>
                  <a:srgbClr val="0A1628"/>
                </a:solidFill>
              </a:rPr>
              <a:t>host weights in CPU or NVMe</a:t>
            </a:r>
          </a:p>
        </p:txBody>
      </p:sp>
      <p:sp>
        <p:nvSpPr>
          <p:cNvPr id="34" name="">
            <a:extLst xmlns:a="http://schemas.openxmlformats.org/drawingml/2006/main">
              <a:ext uri="{FF2B5EF4-FFF2-40B4-BE49-F238E27FC236}">
                <a16:creationId xmlns:a16="http://schemas.microsoft.com/office/drawing/2014/main" id="{B7091FF5-3084-4E0D-9113-A8D6953990C6}"/>
              </a:ext>
            </a:extLst>
          </p:cNvPr>
          <p:cNvSpPr>
            <a:spLocks xmlns:a="http://schemas.openxmlformats.org/drawingml/2006/main" noGrp="1"/>
          </p:cNvSpPr>
          <p:nvPr/>
        </p:nvSpPr>
        <p:spPr>
          <a:xfrm xmlns:a="http://schemas.openxmlformats.org/drawingml/2006/main">
            <a:off x="6200775" y="4867275"/>
            <a:ext cx="76200" cy="76200"/>
          </a:xfrm>
          <a:prstGeom xmlns:a="http://schemas.openxmlformats.org/drawingml/2006/main" prst="roundRect">
            <a:avLst>
              <a:gd name="adj" fmla="val 50000"/>
            </a:avLst>
          </a:prstGeom>
          <a:solidFill xmlns:a="http://schemas.openxmlformats.org/drawingml/2006/main">
            <a:srgbClr val="2B6DE9"/>
          </a:solidFill>
          <a:ln xmlns:a="http://schemas.openxmlformats.org/drawingml/2006/main" w="11430">
            <a:solidFill>
              <a:srgbClr val="2B6DE9"/>
            </a:solidFill>
            <a:prstDash val="solid"/>
          </a:ln>
        </p:spPr>
      </p:sp>
      <p:sp>
        <p:nvSpPr>
          <p:cNvPr id="35" name="">
            <a:extLst xmlns:a="http://schemas.openxmlformats.org/drawingml/2006/main">
              <a:ext uri="{FF2B5EF4-FFF2-40B4-BE49-F238E27FC236}">
                <a16:creationId xmlns:a16="http://schemas.microsoft.com/office/drawing/2014/main" id="{37310755-E899-49B5-AED3-C4C2A4086E80}"/>
              </a:ext>
            </a:extLst>
          </p:cNvPr>
          <p:cNvSpPr>
            <a:spLocks xmlns:a="http://schemas.openxmlformats.org/drawingml/2006/main" noGrp="1"/>
          </p:cNvSpPr>
          <p:nvPr/>
        </p:nvSpPr>
        <p:spPr>
          <a:xfrm xmlns:a="http://schemas.openxmlformats.org/drawingml/2006/main">
            <a:off x="6410325" y="4781550"/>
            <a:ext cx="48387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0A1628"/>
                </a:solidFill>
              </a:defRPr>
            </a:pPr>
            <a:r>
              <a:rPr sz="1350" b="0">
                <a:solidFill>
                  <a:srgbClr val="0A1628"/>
                </a:solidFill>
              </a:rPr>
              <a:t>stream layer-by-layer into GPU</a:t>
            </a:r>
          </a:p>
        </p:txBody>
      </p:sp>
      <p:sp>
        <p:nvSpPr>
          <p:cNvPr id="36" name="">
            <a:extLst xmlns:a="http://schemas.openxmlformats.org/drawingml/2006/main">
              <a:ext uri="{FF2B5EF4-FFF2-40B4-BE49-F238E27FC236}">
                <a16:creationId xmlns:a16="http://schemas.microsoft.com/office/drawing/2014/main" id="{CD95F3B1-3B04-4979-87BE-C64C1EBB50C9}"/>
              </a:ext>
            </a:extLst>
          </p:cNvPr>
          <p:cNvSpPr>
            <a:spLocks xmlns:a="http://schemas.openxmlformats.org/drawingml/2006/main" noGrp="1"/>
          </p:cNvSpPr>
          <p:nvPr/>
        </p:nvSpPr>
        <p:spPr>
          <a:xfrm xmlns:a="http://schemas.openxmlformats.org/drawingml/2006/main">
            <a:off x="6200775" y="5238750"/>
            <a:ext cx="76200" cy="76200"/>
          </a:xfrm>
          <a:prstGeom xmlns:a="http://schemas.openxmlformats.org/drawingml/2006/main" prst="roundRect">
            <a:avLst>
              <a:gd name="adj" fmla="val 50000"/>
            </a:avLst>
          </a:prstGeom>
          <a:solidFill xmlns:a="http://schemas.openxmlformats.org/drawingml/2006/main">
            <a:srgbClr val="2B6DE9"/>
          </a:solidFill>
          <a:ln xmlns:a="http://schemas.openxmlformats.org/drawingml/2006/main" w="11430">
            <a:solidFill>
              <a:srgbClr val="2B6DE9"/>
            </a:solidFill>
            <a:prstDash val="solid"/>
          </a:ln>
        </p:spPr>
      </p:sp>
      <p:sp>
        <p:nvSpPr>
          <p:cNvPr id="37" name="">
            <a:extLst xmlns:a="http://schemas.openxmlformats.org/drawingml/2006/main">
              <a:ext uri="{FF2B5EF4-FFF2-40B4-BE49-F238E27FC236}">
                <a16:creationId xmlns:a16="http://schemas.microsoft.com/office/drawing/2014/main" id="{E6592FEE-02D2-4824-B500-EC4D1C6D3804}"/>
              </a:ext>
            </a:extLst>
          </p:cNvPr>
          <p:cNvSpPr>
            <a:spLocks xmlns:a="http://schemas.openxmlformats.org/drawingml/2006/main" noGrp="1"/>
          </p:cNvSpPr>
          <p:nvPr/>
        </p:nvSpPr>
        <p:spPr>
          <a:xfrm xmlns:a="http://schemas.openxmlformats.org/drawingml/2006/main">
            <a:off x="6410325" y="5153025"/>
            <a:ext cx="48387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0A1628"/>
                </a:solidFill>
              </a:defRPr>
            </a:pPr>
            <a:r>
              <a:rPr sz="1350" b="0">
                <a:solidFill>
                  <a:srgbClr val="0A1628"/>
                </a:solidFill>
              </a:rPr>
              <a:t>prefetch and overlap; optimized for throughput-oriented batches</a:t>
            </a:r>
          </a:p>
        </p:txBody>
      </p:sp>
      <p:sp>
        <p:nvSpPr>
          <p:cNvPr id="38" name="">
            <a:extLst xmlns:a="http://schemas.openxmlformats.org/drawingml/2006/main">
              <a:ext uri="{FF2B5EF4-FFF2-40B4-BE49-F238E27FC236}">
                <a16:creationId xmlns:a16="http://schemas.microsoft.com/office/drawing/2014/main" id="{2B7282F0-9E00-4FBC-82F5-71C09411BD4F}"/>
              </a:ext>
            </a:extLst>
          </p:cNvPr>
          <p:cNvSpPr>
            <a:spLocks xmlns:a="http://schemas.openxmlformats.org/drawingml/2006/main" noGrp="1"/>
          </p:cNvSpPr>
          <p:nvPr/>
        </p:nvSpPr>
        <p:spPr>
          <a:xfrm xmlns:a="http://schemas.openxmlformats.org/drawingml/2006/main">
            <a:off x="609600" y="5886450"/>
            <a:ext cx="10953750" cy="457200"/>
          </a:xfrm>
          <a:prstGeom xmlns:a="http://schemas.openxmlformats.org/drawingml/2006/main" prst="roundRect">
            <a:avLst>
              <a:gd name="adj" fmla="val 16667"/>
            </a:avLst>
          </a:prstGeom>
          <a:solidFill xmlns:a="http://schemas.openxmlformats.org/drawingml/2006/main">
            <a:srgbClr val="10253F"/>
          </a:solidFill>
          <a:ln xmlns:a="http://schemas.openxmlformats.org/drawingml/2006/main" w="11430">
            <a:solidFill>
              <a:srgbClr val="10253F"/>
            </a:solidFill>
            <a:prstDash val="solid"/>
          </a:ln>
        </p:spPr>
      </p:sp>
      <p:sp>
        <p:nvSpPr>
          <p:cNvPr id="39" name="">
            <a:extLst xmlns:a="http://schemas.openxmlformats.org/drawingml/2006/main">
              <a:ext uri="{FF2B5EF4-FFF2-40B4-BE49-F238E27FC236}">
                <a16:creationId xmlns:a16="http://schemas.microsoft.com/office/drawing/2014/main" id="{F3E73068-5B7D-4045-9922-B7E486EC6981}"/>
              </a:ext>
            </a:extLst>
          </p:cNvPr>
          <p:cNvSpPr>
            <a:spLocks xmlns:a="http://schemas.openxmlformats.org/drawingml/2006/main" noGrp="1"/>
          </p:cNvSpPr>
          <p:nvPr/>
        </p:nvSpPr>
        <p:spPr>
          <a:xfrm xmlns:a="http://schemas.openxmlformats.org/drawingml/2006/main">
            <a:off x="781050" y="5981700"/>
            <a:ext cx="106203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1">
                <a:solidFill>
                  <a:srgbClr val="FFFFFF"/>
                </a:solidFill>
              </a:defRPr>
            </a:pPr>
            <a:r>
              <a:rPr sz="1350" b="1">
                <a:solidFill>
                  <a:srgbClr val="FFFFFF"/>
                </a:solidFill>
              </a:rPr>
              <a:t>Conceptual fit: ZeRO schedules placement; aiDAPTIV engineers the flash tier. No official integration is claimed.</a:t>
            </a:r>
          </a:p>
        </p:txBody>
      </p:sp>
    </p:spTree>
    <p:extLst>
      <p:ext uri="{BB962C8B-B14F-4D97-AF65-F5344CB8AC3E}">
        <p14:creationId xmlns:p14="http://schemas.microsoft.com/office/powerpoint/2010/main" val="1818699514"/>
      </p:ext>
    </p:extLst>
  </p:cSld>
</p:sld>
</file>

<file path=ppt/slides/slide9.xml><?xml version="1.0" encoding="utf-8"?>
<p:sld xmlns:p="http://schemas.openxmlformats.org/presentationml/2006/main">
  <p:cSld>
    <p:bg>
      <p:bgPr>
        <a:solidFill xmlns:a="http://schemas.openxmlformats.org/drawingml/2006/main">
          <a:srgbClr val="F4F7FB"/>
        </a:solidFill>
      </p:bgPr>
    </p:bg>
    <p:spTree>
      <p:nvGrpSpPr>
        <p:cNvPr id="1" name=""/>
        <p:cNvGrpSpPr/>
        <p:nvPr/>
      </p:nvGrpSpPr>
      <p:grpSpPr>
        <a:xfrm xmlns:a="http://schemas.openxmlformats.org/drawingml/2006/main"/>
      </p:grpSpPr>
      <p:sp>
        <p:nvSpPr>
          <p:cNvPr id="46" name="">
            <a:extLst xmlns:a="http://schemas.openxmlformats.org/drawingml/2006/main">
              <a:ext uri="{FF2B5EF4-FFF2-40B4-BE49-F238E27FC236}">
                <a16:creationId xmlns:a16="http://schemas.microsoft.com/office/drawing/2014/main" id="{CCF0D01D-F5BC-4929-93A9-F6709D6A1F06}"/>
              </a:ext>
            </a:extLst>
          </p:cNvPr>
          <p:cNvSpPr>
            <a:spLocks xmlns:a="http://schemas.openxmlformats.org/drawingml/2006/main" noGrp="1"/>
          </p:cNvSpPr>
          <p:nvPr/>
        </p:nvSpPr>
        <p:spPr>
          <a:xfrm xmlns:a="http://schemas.openxmlformats.org/drawingml/2006/main">
            <a:off x="609600" y="257175"/>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2B6DE9"/>
                </a:solidFill>
              </a:defRPr>
            </a:pPr>
            <a:r>
              <a:rPr sz="1050" b="1">
                <a:solidFill>
                  <a:srgbClr val="2B6DE9"/>
                </a:solidFill>
              </a:rPr>
              <a:t>WHY SSD-STACK OWNERSHIP MATTERS</a:t>
            </a:r>
          </a:p>
        </p:txBody>
      </p:sp>
      <p:sp>
        <p:nvSpPr>
          <p:cNvPr id="2" name="">
            <a:extLst xmlns:a="http://schemas.openxmlformats.org/drawingml/2006/main">
              <a:ext uri="{FF2B5EF4-FFF2-40B4-BE49-F238E27FC236}">
                <a16:creationId xmlns:a16="http://schemas.microsoft.com/office/drawing/2014/main" id="{EDD155F5-E977-4621-A5EE-8E239ED26965}"/>
              </a:ext>
            </a:extLst>
          </p:cNvPr>
          <p:cNvSpPr>
            <a:spLocks xmlns:a="http://schemas.openxmlformats.org/drawingml/2006/main" noGrp="1"/>
          </p:cNvSpPr>
          <p:nvPr/>
        </p:nvSpPr>
        <p:spPr>
          <a:xfrm xmlns:a="http://schemas.openxmlformats.org/drawingml/2006/main">
            <a:off x="11191875" y="219075"/>
            <a:ext cx="476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200" b="1">
                <a:solidFill>
                  <a:srgbClr val="53657A"/>
                </a:solidFill>
              </a:defRPr>
            </a:pPr>
            <a:r>
              <a:rPr sz="1200" b="1">
                <a:solidFill>
                  <a:srgbClr val="53657A"/>
                </a:solidFill>
              </a:rPr>
              <a:t>09</a:t>
            </a:r>
          </a:p>
        </p:txBody>
      </p:sp>
      <p:sp>
        <p:nvSpPr>
          <p:cNvPr id="3" name="">
            <a:extLst xmlns:a="http://schemas.openxmlformats.org/drawingml/2006/main">
              <a:ext uri="{FF2B5EF4-FFF2-40B4-BE49-F238E27FC236}">
                <a16:creationId xmlns:a16="http://schemas.microsoft.com/office/drawing/2014/main" id="{548ED770-D67D-4EC5-B798-EC6AC48AA3E6}"/>
              </a:ext>
            </a:extLst>
          </p:cNvPr>
          <p:cNvSpPr>
            <a:spLocks xmlns:a="http://schemas.openxmlformats.org/drawingml/2006/main" noGrp="1"/>
          </p:cNvSpPr>
          <p:nvPr/>
        </p:nvSpPr>
        <p:spPr>
          <a:xfrm xmlns:a="http://schemas.openxmlformats.org/drawingml/2006/main">
            <a:off x="609600" y="552450"/>
            <a:ext cx="109061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600" b="1">
                <a:solidFill>
                  <a:srgbClr val="0A1628"/>
                </a:solidFill>
              </a:defRPr>
            </a:pPr>
            <a:r>
              <a:rPr sz="3600" b="1">
                <a:solidFill>
                  <a:srgbClr val="0A1628"/>
                </a:solidFill>
              </a:rPr>
              <a:t>SSDs need predictable behavior under AI load</a:t>
            </a:r>
          </a:p>
        </p:txBody>
      </p:sp>
      <p:sp>
        <p:nvSpPr>
          <p:cNvPr id="4" name="">
            <a:extLst xmlns:a="http://schemas.openxmlformats.org/drawingml/2006/main">
              <a:ext uri="{FF2B5EF4-FFF2-40B4-BE49-F238E27FC236}">
                <a16:creationId xmlns:a16="http://schemas.microsoft.com/office/drawing/2014/main" id="{D95E2C5C-7839-4055-839F-629B67BBD4FB}"/>
              </a:ext>
            </a:extLst>
          </p:cNvPr>
          <p:cNvSpPr>
            <a:spLocks xmlns:a="http://schemas.openxmlformats.org/drawingml/2006/main" noGrp="1"/>
          </p:cNvSpPr>
          <p:nvPr/>
        </p:nvSpPr>
        <p:spPr>
          <a:xfrm xmlns:a="http://schemas.openxmlformats.org/drawingml/2006/main">
            <a:off x="609600" y="1200150"/>
            <a:ext cx="10972800" cy="0"/>
          </a:xfrm>
          <a:prstGeom xmlns:a="http://schemas.openxmlformats.org/drawingml/2006/main" prst="line">
            <a:avLst/>
          </a:prstGeom>
          <a:noFill xmlns:a="http://schemas.openxmlformats.org/drawingml/2006/main"/>
          <a:ln xmlns:a="http://schemas.openxmlformats.org/drawingml/2006/main" w="11430">
            <a:solidFill>
              <a:srgbClr val="C8D3E0"/>
            </a:solidFill>
            <a:prstDash val="solid"/>
          </a:ln>
        </p:spPr>
      </p:sp>
      <p:sp>
        <p:nvSpPr>
          <p:cNvPr id="5" name="">
            <a:extLst xmlns:a="http://schemas.openxmlformats.org/drawingml/2006/main">
              <a:ext uri="{FF2B5EF4-FFF2-40B4-BE49-F238E27FC236}">
                <a16:creationId xmlns:a16="http://schemas.microsoft.com/office/drawing/2014/main" id="{BFA7D04E-F060-401B-A188-8DFD75FDB9DB}"/>
              </a:ext>
            </a:extLst>
          </p:cNvPr>
          <p:cNvSpPr>
            <a:spLocks xmlns:a="http://schemas.openxmlformats.org/drawingml/2006/main" noGrp="1"/>
          </p:cNvSpPr>
          <p:nvPr/>
        </p:nvSpPr>
        <p:spPr>
          <a:xfrm xmlns:a="http://schemas.openxmlformats.org/drawingml/2006/main">
            <a:off x="609600" y="6543675"/>
            <a:ext cx="10096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7B8796"/>
                </a:solidFill>
              </a:defRPr>
            </a:pPr>
            <a:r>
              <a:rPr sz="900" b="0">
                <a:solidFill>
                  <a:srgbClr val="7B8796"/>
                </a:solidFill>
              </a:rPr>
              <a:t>Phison aiDAPTIV technical architecture  •  Sources and claim boundaries in speaker notes</a:t>
            </a:r>
          </a:p>
        </p:txBody>
      </p:sp>
      <p:sp>
        <p:nvSpPr>
          <p:cNvPr id="6" name="">
            <a:extLst xmlns:a="http://schemas.openxmlformats.org/drawingml/2006/main">
              <a:ext uri="{FF2B5EF4-FFF2-40B4-BE49-F238E27FC236}">
                <a16:creationId xmlns:a16="http://schemas.microsoft.com/office/drawing/2014/main" id="{5DEADD5C-47F9-4F2E-8ADC-C9F58887A69B}"/>
              </a:ext>
            </a:extLst>
          </p:cNvPr>
          <p:cNvSpPr>
            <a:spLocks xmlns:a="http://schemas.openxmlformats.org/drawingml/2006/main" noGrp="1"/>
          </p:cNvSpPr>
          <p:nvPr/>
        </p:nvSpPr>
        <p:spPr>
          <a:xfrm xmlns:a="http://schemas.openxmlformats.org/drawingml/2006/main">
            <a:off x="609600" y="1381125"/>
            <a:ext cx="10668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a:solidFill>
                  <a:srgbClr val="37475B"/>
                </a:solidFill>
              </a:defRPr>
            </a:pPr>
            <a:r>
              <a:rPr sz="1500" b="0">
                <a:solidFill>
                  <a:srgbClr val="37475B"/>
                </a:solidFill>
              </a:rPr>
              <a:t>AI tiering repeatedly retains, updates, evicts, restores, and overwrites state—unlike bursty desktop storage.</a:t>
            </a:r>
          </a:p>
        </p:txBody>
      </p:sp>
      <p:sp>
        <p:nvSpPr>
          <p:cNvPr id="7" name="">
            <a:extLst xmlns:a="http://schemas.openxmlformats.org/drawingml/2006/main">
              <a:ext uri="{FF2B5EF4-FFF2-40B4-BE49-F238E27FC236}">
                <a16:creationId xmlns:a16="http://schemas.microsoft.com/office/drawing/2014/main" id="{CA2EBB41-5981-4B53-8B43-5C34CC62B82A}"/>
              </a:ext>
            </a:extLst>
          </p:cNvPr>
          <p:cNvSpPr>
            <a:spLocks xmlns:a="http://schemas.openxmlformats.org/drawingml/2006/main" noGrp="1"/>
          </p:cNvSpPr>
          <p:nvPr/>
        </p:nvSpPr>
        <p:spPr>
          <a:xfrm xmlns:a="http://schemas.openxmlformats.org/drawingml/2006/main">
            <a:off x="609600" y="1790700"/>
            <a:ext cx="3000375" cy="438150"/>
          </a:xfrm>
          <a:prstGeom xmlns:a="http://schemas.openxmlformats.org/drawingml/2006/main" prst="rect">
            <a:avLst/>
          </a:prstGeom>
          <a:solidFill xmlns:a="http://schemas.openxmlformats.org/drawingml/2006/main">
            <a:srgbClr val="10253F"/>
          </a:solidFill>
          <a:ln xmlns:a="http://schemas.openxmlformats.org/drawingml/2006/main" w="11430">
            <a:solidFill>
              <a:srgbClr val="C8D3E0"/>
            </a:solidFill>
            <a:prstDash val="solid"/>
          </a:ln>
        </p:spPr>
      </p:sp>
      <p:sp>
        <p:nvSpPr>
          <p:cNvPr id="8" name="">
            <a:extLst xmlns:a="http://schemas.openxmlformats.org/drawingml/2006/main">
              <a:ext uri="{FF2B5EF4-FFF2-40B4-BE49-F238E27FC236}">
                <a16:creationId xmlns:a16="http://schemas.microsoft.com/office/drawing/2014/main" id="{57E168D4-7406-44CF-B635-4D4690C964E5}"/>
              </a:ext>
            </a:extLst>
          </p:cNvPr>
          <p:cNvSpPr>
            <a:spLocks xmlns:a="http://schemas.openxmlformats.org/drawingml/2006/main" noGrp="1"/>
          </p:cNvSpPr>
          <p:nvPr/>
        </p:nvSpPr>
        <p:spPr>
          <a:xfrm xmlns:a="http://schemas.openxmlformats.org/drawingml/2006/main">
            <a:off x="704850" y="1866900"/>
            <a:ext cx="28098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1">
                <a:solidFill>
                  <a:srgbClr val="FFFFFF"/>
                </a:solidFill>
              </a:defRPr>
            </a:pPr>
            <a:r>
              <a:rPr sz="1425" b="1">
                <a:solidFill>
                  <a:srgbClr val="FFFFFF"/>
                </a:solidFill>
              </a:rPr>
              <a:t>Workload pressure</a:t>
            </a:r>
          </a:p>
        </p:txBody>
      </p:sp>
      <p:sp>
        <p:nvSpPr>
          <p:cNvPr id="9" name="">
            <a:extLst xmlns:a="http://schemas.openxmlformats.org/drawingml/2006/main">
              <a:ext uri="{FF2B5EF4-FFF2-40B4-BE49-F238E27FC236}">
                <a16:creationId xmlns:a16="http://schemas.microsoft.com/office/drawing/2014/main" id="{BDF09C13-B225-4AB2-B883-4334BE374E4F}"/>
              </a:ext>
            </a:extLst>
          </p:cNvPr>
          <p:cNvSpPr>
            <a:spLocks xmlns:a="http://schemas.openxmlformats.org/drawingml/2006/main" noGrp="1"/>
          </p:cNvSpPr>
          <p:nvPr/>
        </p:nvSpPr>
        <p:spPr>
          <a:xfrm xmlns:a="http://schemas.openxmlformats.org/drawingml/2006/main">
            <a:off x="3609975" y="1790700"/>
            <a:ext cx="4095750" cy="438150"/>
          </a:xfrm>
          <a:prstGeom xmlns:a="http://schemas.openxmlformats.org/drawingml/2006/main" prst="rect">
            <a:avLst/>
          </a:prstGeom>
          <a:solidFill xmlns:a="http://schemas.openxmlformats.org/drawingml/2006/main">
            <a:srgbClr val="10253F"/>
          </a:solidFill>
          <a:ln xmlns:a="http://schemas.openxmlformats.org/drawingml/2006/main" w="11430">
            <a:solidFill>
              <a:srgbClr val="C8D3E0"/>
            </a:solidFill>
            <a:prstDash val="solid"/>
          </a:ln>
        </p:spPr>
      </p:sp>
      <p:sp>
        <p:nvSpPr>
          <p:cNvPr id="10" name="">
            <a:extLst xmlns:a="http://schemas.openxmlformats.org/drawingml/2006/main">
              <a:ext uri="{FF2B5EF4-FFF2-40B4-BE49-F238E27FC236}">
                <a16:creationId xmlns:a16="http://schemas.microsoft.com/office/drawing/2014/main" id="{A14A36BA-8D00-4FF8-A43D-B708C25C773B}"/>
              </a:ext>
            </a:extLst>
          </p:cNvPr>
          <p:cNvSpPr>
            <a:spLocks xmlns:a="http://schemas.openxmlformats.org/drawingml/2006/main" noGrp="1"/>
          </p:cNvSpPr>
          <p:nvPr/>
        </p:nvSpPr>
        <p:spPr>
          <a:xfrm xmlns:a="http://schemas.openxmlformats.org/drawingml/2006/main">
            <a:off x="3705225" y="1866900"/>
            <a:ext cx="3905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1">
                <a:solidFill>
                  <a:srgbClr val="FFFFFF"/>
                </a:solidFill>
              </a:defRPr>
            </a:pPr>
            <a:r>
              <a:rPr sz="1425" b="1">
                <a:solidFill>
                  <a:srgbClr val="FFFFFF"/>
                </a:solidFill>
              </a:rPr>
              <a:t>Controller / firmware lever</a:t>
            </a:r>
          </a:p>
        </p:txBody>
      </p:sp>
      <p:sp>
        <p:nvSpPr>
          <p:cNvPr id="11" name="">
            <a:extLst xmlns:a="http://schemas.openxmlformats.org/drawingml/2006/main">
              <a:ext uri="{FF2B5EF4-FFF2-40B4-BE49-F238E27FC236}">
                <a16:creationId xmlns:a16="http://schemas.microsoft.com/office/drawing/2014/main" id="{BC61E84D-633D-4F5E-AE8D-741F295CD0BF}"/>
              </a:ext>
            </a:extLst>
          </p:cNvPr>
          <p:cNvSpPr>
            <a:spLocks xmlns:a="http://schemas.openxmlformats.org/drawingml/2006/main" noGrp="1"/>
          </p:cNvSpPr>
          <p:nvPr/>
        </p:nvSpPr>
        <p:spPr>
          <a:xfrm xmlns:a="http://schemas.openxmlformats.org/drawingml/2006/main">
            <a:off x="7705725" y="1790700"/>
            <a:ext cx="3857625" cy="438150"/>
          </a:xfrm>
          <a:prstGeom xmlns:a="http://schemas.openxmlformats.org/drawingml/2006/main" prst="rect">
            <a:avLst/>
          </a:prstGeom>
          <a:solidFill xmlns:a="http://schemas.openxmlformats.org/drawingml/2006/main">
            <a:srgbClr val="10253F"/>
          </a:solidFill>
          <a:ln xmlns:a="http://schemas.openxmlformats.org/drawingml/2006/main" w="11430">
            <a:solidFill>
              <a:srgbClr val="C8D3E0"/>
            </a:solidFill>
            <a:prstDash val="solid"/>
          </a:ln>
        </p:spPr>
      </p:sp>
      <p:sp>
        <p:nvSpPr>
          <p:cNvPr id="12" name="">
            <a:extLst xmlns:a="http://schemas.openxmlformats.org/drawingml/2006/main">
              <a:ext uri="{FF2B5EF4-FFF2-40B4-BE49-F238E27FC236}">
                <a16:creationId xmlns:a16="http://schemas.microsoft.com/office/drawing/2014/main" id="{EE2FF24E-B471-48E4-A95C-4020DA54D586}"/>
              </a:ext>
            </a:extLst>
          </p:cNvPr>
          <p:cNvSpPr>
            <a:spLocks xmlns:a="http://schemas.openxmlformats.org/drawingml/2006/main" noGrp="1"/>
          </p:cNvSpPr>
          <p:nvPr/>
        </p:nvSpPr>
        <p:spPr>
          <a:xfrm xmlns:a="http://schemas.openxmlformats.org/drawingml/2006/main">
            <a:off x="7800975" y="1866900"/>
            <a:ext cx="36671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1">
                <a:solidFill>
                  <a:srgbClr val="FFFFFF"/>
                </a:solidFill>
              </a:defRPr>
            </a:pPr>
            <a:r>
              <a:rPr sz="1425" b="1">
                <a:solidFill>
                  <a:srgbClr val="FFFFFF"/>
                </a:solidFill>
              </a:rPr>
              <a:t>System effect</a:t>
            </a:r>
          </a:p>
        </p:txBody>
      </p:sp>
      <p:sp>
        <p:nvSpPr>
          <p:cNvPr id="13" name="">
            <a:extLst xmlns:a="http://schemas.openxmlformats.org/drawingml/2006/main">
              <a:ext uri="{FF2B5EF4-FFF2-40B4-BE49-F238E27FC236}">
                <a16:creationId xmlns:a16="http://schemas.microsoft.com/office/drawing/2014/main" id="{A9BDFA9E-BB8B-4F86-98D2-ADE178EC2D8D}"/>
              </a:ext>
            </a:extLst>
          </p:cNvPr>
          <p:cNvSpPr>
            <a:spLocks xmlns:a="http://schemas.openxmlformats.org/drawingml/2006/main" noGrp="1"/>
          </p:cNvSpPr>
          <p:nvPr/>
        </p:nvSpPr>
        <p:spPr>
          <a:xfrm xmlns:a="http://schemas.openxmlformats.org/drawingml/2006/main">
            <a:off x="609600" y="2228850"/>
            <a:ext cx="3000375" cy="638175"/>
          </a:xfrm>
          <a:prstGeom xmlns:a="http://schemas.openxmlformats.org/drawingml/2006/main" prst="rect">
            <a:avLst/>
          </a:prstGeom>
          <a:solidFill xmlns:a="http://schemas.openxmlformats.org/drawingml/2006/main">
            <a:srgbClr val="E7EDF4"/>
          </a:solidFill>
          <a:ln xmlns:a="http://schemas.openxmlformats.org/drawingml/2006/main" w="11430">
            <a:solidFill>
              <a:srgbClr val="C8D3E0"/>
            </a:solidFill>
            <a:prstDash val="solid"/>
          </a:ln>
        </p:spPr>
      </p:sp>
      <p:sp>
        <p:nvSpPr>
          <p:cNvPr id="14" name="">
            <a:extLst xmlns:a="http://schemas.openxmlformats.org/drawingml/2006/main">
              <a:ext uri="{FF2B5EF4-FFF2-40B4-BE49-F238E27FC236}">
                <a16:creationId xmlns:a16="http://schemas.microsoft.com/office/drawing/2014/main" id="{43CA5390-DEB3-45ED-9DD6-67D42BBA3347}"/>
              </a:ext>
            </a:extLst>
          </p:cNvPr>
          <p:cNvSpPr>
            <a:spLocks xmlns:a="http://schemas.openxmlformats.org/drawingml/2006/main" noGrp="1"/>
          </p:cNvSpPr>
          <p:nvPr/>
        </p:nvSpPr>
        <p:spPr>
          <a:xfrm xmlns:a="http://schemas.openxmlformats.org/drawingml/2006/main">
            <a:off x="704850" y="2305050"/>
            <a:ext cx="280987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1">
                <a:solidFill>
                  <a:srgbClr val="37475B"/>
                </a:solidFill>
              </a:defRPr>
            </a:pPr>
            <a:r>
              <a:rPr sz="1425" b="1">
                <a:solidFill>
                  <a:srgbClr val="37475B"/>
                </a:solidFill>
              </a:rPr>
              <a:t>large sequential tensor reads</a:t>
            </a:r>
          </a:p>
        </p:txBody>
      </p:sp>
      <p:sp>
        <p:nvSpPr>
          <p:cNvPr id="15" name="">
            <a:extLst xmlns:a="http://schemas.openxmlformats.org/drawingml/2006/main">
              <a:ext uri="{FF2B5EF4-FFF2-40B4-BE49-F238E27FC236}">
                <a16:creationId xmlns:a16="http://schemas.microsoft.com/office/drawing/2014/main" id="{F0E238BD-2D25-4D2D-B0B6-F788892B2087}"/>
              </a:ext>
            </a:extLst>
          </p:cNvPr>
          <p:cNvSpPr>
            <a:spLocks xmlns:a="http://schemas.openxmlformats.org/drawingml/2006/main" noGrp="1"/>
          </p:cNvSpPr>
          <p:nvPr/>
        </p:nvSpPr>
        <p:spPr>
          <a:xfrm xmlns:a="http://schemas.openxmlformats.org/drawingml/2006/main">
            <a:off x="3609975" y="2228850"/>
            <a:ext cx="4095750" cy="638175"/>
          </a:xfrm>
          <a:prstGeom xmlns:a="http://schemas.openxmlformats.org/drawingml/2006/main" prst="rect">
            <a:avLst/>
          </a:prstGeom>
          <a:solidFill xmlns:a="http://schemas.openxmlformats.org/drawingml/2006/main">
            <a:srgbClr val="FFF2DF"/>
          </a:solidFill>
          <a:ln xmlns:a="http://schemas.openxmlformats.org/drawingml/2006/main" w="11430">
            <a:solidFill>
              <a:srgbClr val="C8D3E0"/>
            </a:solidFill>
            <a:prstDash val="solid"/>
          </a:ln>
        </p:spPr>
      </p:sp>
      <p:sp>
        <p:nvSpPr>
          <p:cNvPr id="16" name="">
            <a:extLst xmlns:a="http://schemas.openxmlformats.org/drawingml/2006/main">
              <a:ext uri="{FF2B5EF4-FFF2-40B4-BE49-F238E27FC236}">
                <a16:creationId xmlns:a16="http://schemas.microsoft.com/office/drawing/2014/main" id="{6947C58F-20CD-4E60-A25D-71402B02908E}"/>
              </a:ext>
            </a:extLst>
          </p:cNvPr>
          <p:cNvSpPr>
            <a:spLocks xmlns:a="http://schemas.openxmlformats.org/drawingml/2006/main" noGrp="1"/>
          </p:cNvSpPr>
          <p:nvPr/>
        </p:nvSpPr>
        <p:spPr>
          <a:xfrm xmlns:a="http://schemas.openxmlformats.org/drawingml/2006/main">
            <a:off x="3705225" y="2305050"/>
            <a:ext cx="3905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0">
                <a:solidFill>
                  <a:srgbClr val="E98A15"/>
                </a:solidFill>
              </a:defRPr>
            </a:pPr>
            <a:r>
              <a:rPr sz="1425" b="0">
                <a:solidFill>
                  <a:srgbClr val="E98A15"/>
                </a:solidFill>
              </a:rPr>
              <a:t>channels, queueing, prefetch friendliness</a:t>
            </a:r>
          </a:p>
        </p:txBody>
      </p:sp>
      <p:sp>
        <p:nvSpPr>
          <p:cNvPr id="17" name="">
            <a:extLst xmlns:a="http://schemas.openxmlformats.org/drawingml/2006/main">
              <a:ext uri="{FF2B5EF4-FFF2-40B4-BE49-F238E27FC236}">
                <a16:creationId xmlns:a16="http://schemas.microsoft.com/office/drawing/2014/main" id="{D5A56347-612E-4ACD-BE6D-66C9515F42AB}"/>
              </a:ext>
            </a:extLst>
          </p:cNvPr>
          <p:cNvSpPr>
            <a:spLocks xmlns:a="http://schemas.openxmlformats.org/drawingml/2006/main" noGrp="1"/>
          </p:cNvSpPr>
          <p:nvPr/>
        </p:nvSpPr>
        <p:spPr>
          <a:xfrm xmlns:a="http://schemas.openxmlformats.org/drawingml/2006/main">
            <a:off x="7705725" y="2228850"/>
            <a:ext cx="3857625" cy="638175"/>
          </a:xfrm>
          <a:prstGeom xmlns:a="http://schemas.openxmlformats.org/drawingml/2006/main" prst="rect">
            <a:avLst/>
          </a:prstGeom>
          <a:solidFill xmlns:a="http://schemas.openxmlformats.org/drawingml/2006/main">
            <a:srgbClr val="E4F5F0"/>
          </a:solidFill>
          <a:ln xmlns:a="http://schemas.openxmlformats.org/drawingml/2006/main" w="11430">
            <a:solidFill>
              <a:srgbClr val="C8D3E0"/>
            </a:solidFill>
            <a:prstDash val="solid"/>
          </a:ln>
        </p:spPr>
      </p:sp>
      <p:sp>
        <p:nvSpPr>
          <p:cNvPr id="18" name="">
            <a:extLst xmlns:a="http://schemas.openxmlformats.org/drawingml/2006/main">
              <a:ext uri="{FF2B5EF4-FFF2-40B4-BE49-F238E27FC236}">
                <a16:creationId xmlns:a16="http://schemas.microsoft.com/office/drawing/2014/main" id="{EF319A3B-BA08-4C9C-89B8-B092A8A077DA}"/>
              </a:ext>
            </a:extLst>
          </p:cNvPr>
          <p:cNvSpPr>
            <a:spLocks xmlns:a="http://schemas.openxmlformats.org/drawingml/2006/main" noGrp="1"/>
          </p:cNvSpPr>
          <p:nvPr/>
        </p:nvSpPr>
        <p:spPr>
          <a:xfrm xmlns:a="http://schemas.openxmlformats.org/drawingml/2006/main">
            <a:off x="7800975" y="2305050"/>
            <a:ext cx="366712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0">
                <a:solidFill>
                  <a:srgbClr val="09866A"/>
                </a:solidFill>
              </a:defRPr>
            </a:pPr>
            <a:r>
              <a:rPr sz="1425" b="0">
                <a:solidFill>
                  <a:srgbClr val="09866A"/>
                </a:solidFill>
              </a:rPr>
              <a:t>sustained feed rate</a:t>
            </a:r>
          </a:p>
        </p:txBody>
      </p:sp>
      <p:sp>
        <p:nvSpPr>
          <p:cNvPr id="19" name="">
            <a:extLst xmlns:a="http://schemas.openxmlformats.org/drawingml/2006/main">
              <a:ext uri="{FF2B5EF4-FFF2-40B4-BE49-F238E27FC236}">
                <a16:creationId xmlns:a16="http://schemas.microsoft.com/office/drawing/2014/main" id="{B8065593-3BA6-4AC6-AE57-2FA2C4D70BB6}"/>
              </a:ext>
            </a:extLst>
          </p:cNvPr>
          <p:cNvSpPr>
            <a:spLocks xmlns:a="http://schemas.openxmlformats.org/drawingml/2006/main" noGrp="1"/>
          </p:cNvSpPr>
          <p:nvPr/>
        </p:nvSpPr>
        <p:spPr>
          <a:xfrm xmlns:a="http://schemas.openxmlformats.org/drawingml/2006/main">
            <a:off x="609600" y="2867025"/>
            <a:ext cx="3000375" cy="638175"/>
          </a:xfrm>
          <a:prstGeom xmlns:a="http://schemas.openxmlformats.org/drawingml/2006/main" prst="rect">
            <a:avLst/>
          </a:prstGeom>
          <a:solidFill xmlns:a="http://schemas.openxmlformats.org/drawingml/2006/main">
            <a:srgbClr val="E7EDF4"/>
          </a:solidFill>
          <a:ln xmlns:a="http://schemas.openxmlformats.org/drawingml/2006/main" w="11430">
            <a:solidFill>
              <a:srgbClr val="C8D3E0"/>
            </a:solidFill>
            <a:prstDash val="solid"/>
          </a:ln>
        </p:spPr>
      </p:sp>
      <p:sp>
        <p:nvSpPr>
          <p:cNvPr id="20" name="">
            <a:extLst xmlns:a="http://schemas.openxmlformats.org/drawingml/2006/main">
              <a:ext uri="{FF2B5EF4-FFF2-40B4-BE49-F238E27FC236}">
                <a16:creationId xmlns:a16="http://schemas.microsoft.com/office/drawing/2014/main" id="{8308E27F-6BF1-45A2-ADBD-43EFBA9F7AC1}"/>
              </a:ext>
            </a:extLst>
          </p:cNvPr>
          <p:cNvSpPr>
            <a:spLocks xmlns:a="http://schemas.openxmlformats.org/drawingml/2006/main" noGrp="1"/>
          </p:cNvSpPr>
          <p:nvPr/>
        </p:nvSpPr>
        <p:spPr>
          <a:xfrm xmlns:a="http://schemas.openxmlformats.org/drawingml/2006/main">
            <a:off x="704850" y="2943225"/>
            <a:ext cx="280987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1">
                <a:solidFill>
                  <a:srgbClr val="37475B"/>
                </a:solidFill>
              </a:defRPr>
            </a:pPr>
            <a:r>
              <a:rPr sz="1425" b="1">
                <a:solidFill>
                  <a:srgbClr val="37475B"/>
                </a:solidFill>
              </a:rPr>
              <a:t>concurrent reads + writes</a:t>
            </a:r>
          </a:p>
        </p:txBody>
      </p:sp>
      <p:sp>
        <p:nvSpPr>
          <p:cNvPr id="21" name="">
            <a:extLst xmlns:a="http://schemas.openxmlformats.org/drawingml/2006/main">
              <a:ext uri="{FF2B5EF4-FFF2-40B4-BE49-F238E27FC236}">
                <a16:creationId xmlns:a16="http://schemas.microsoft.com/office/drawing/2014/main" id="{DC1B55C3-B3B1-4F95-8474-A290C53AABE3}"/>
              </a:ext>
            </a:extLst>
          </p:cNvPr>
          <p:cNvSpPr>
            <a:spLocks xmlns:a="http://schemas.openxmlformats.org/drawingml/2006/main" noGrp="1"/>
          </p:cNvSpPr>
          <p:nvPr/>
        </p:nvSpPr>
        <p:spPr>
          <a:xfrm xmlns:a="http://schemas.openxmlformats.org/drawingml/2006/main">
            <a:off x="3609975" y="2867025"/>
            <a:ext cx="4095750" cy="638175"/>
          </a:xfrm>
          <a:prstGeom xmlns:a="http://schemas.openxmlformats.org/drawingml/2006/main" prst="rect">
            <a:avLst/>
          </a:prstGeom>
          <a:solidFill xmlns:a="http://schemas.openxmlformats.org/drawingml/2006/main">
            <a:srgbClr val="FFFFFF"/>
          </a:solidFill>
          <a:ln xmlns:a="http://schemas.openxmlformats.org/drawingml/2006/main" w="11430">
            <a:solidFill>
              <a:srgbClr val="C8D3E0"/>
            </a:solidFill>
            <a:prstDash val="solid"/>
          </a:ln>
        </p:spPr>
      </p:sp>
      <p:sp>
        <p:nvSpPr>
          <p:cNvPr id="22" name="">
            <a:extLst xmlns:a="http://schemas.openxmlformats.org/drawingml/2006/main">
              <a:ext uri="{FF2B5EF4-FFF2-40B4-BE49-F238E27FC236}">
                <a16:creationId xmlns:a16="http://schemas.microsoft.com/office/drawing/2014/main" id="{67575FF0-21B4-43B7-A857-F2C6A78CC8DB}"/>
              </a:ext>
            </a:extLst>
          </p:cNvPr>
          <p:cNvSpPr>
            <a:spLocks xmlns:a="http://schemas.openxmlformats.org/drawingml/2006/main" noGrp="1"/>
          </p:cNvSpPr>
          <p:nvPr/>
        </p:nvSpPr>
        <p:spPr>
          <a:xfrm xmlns:a="http://schemas.openxmlformats.org/drawingml/2006/main">
            <a:off x="3705225" y="2943225"/>
            <a:ext cx="3905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0">
                <a:solidFill>
                  <a:srgbClr val="E98A15"/>
                </a:solidFill>
              </a:defRPr>
            </a:pPr>
            <a:r>
              <a:rPr sz="1425" b="0">
                <a:solidFill>
                  <a:srgbClr val="E98A15"/>
                </a:solidFill>
              </a:rPr>
              <a:t>QoS and workload contention</a:t>
            </a:r>
          </a:p>
        </p:txBody>
      </p:sp>
      <p:sp>
        <p:nvSpPr>
          <p:cNvPr id="23" name="">
            <a:extLst xmlns:a="http://schemas.openxmlformats.org/drawingml/2006/main">
              <a:ext uri="{FF2B5EF4-FFF2-40B4-BE49-F238E27FC236}">
                <a16:creationId xmlns:a16="http://schemas.microsoft.com/office/drawing/2014/main" id="{2C2DFE0F-10A8-4169-B44D-F2BE04614049}"/>
              </a:ext>
            </a:extLst>
          </p:cNvPr>
          <p:cNvSpPr>
            <a:spLocks xmlns:a="http://schemas.openxmlformats.org/drawingml/2006/main" noGrp="1"/>
          </p:cNvSpPr>
          <p:nvPr/>
        </p:nvSpPr>
        <p:spPr>
          <a:xfrm xmlns:a="http://schemas.openxmlformats.org/drawingml/2006/main">
            <a:off x="7705725" y="2867025"/>
            <a:ext cx="3857625" cy="638175"/>
          </a:xfrm>
          <a:prstGeom xmlns:a="http://schemas.openxmlformats.org/drawingml/2006/main" prst="rect">
            <a:avLst/>
          </a:prstGeom>
          <a:solidFill xmlns:a="http://schemas.openxmlformats.org/drawingml/2006/main">
            <a:srgbClr val="FFFFFF"/>
          </a:solidFill>
          <a:ln xmlns:a="http://schemas.openxmlformats.org/drawingml/2006/main" w="11430">
            <a:solidFill>
              <a:srgbClr val="C8D3E0"/>
            </a:solidFill>
            <a:prstDash val="solid"/>
          </a:ln>
        </p:spPr>
      </p:sp>
      <p:sp>
        <p:nvSpPr>
          <p:cNvPr id="24" name="">
            <a:extLst xmlns:a="http://schemas.openxmlformats.org/drawingml/2006/main">
              <a:ext uri="{FF2B5EF4-FFF2-40B4-BE49-F238E27FC236}">
                <a16:creationId xmlns:a16="http://schemas.microsoft.com/office/drawing/2014/main" id="{29E8C9C0-D2B5-48B5-B943-0CAFB2FE766F}"/>
              </a:ext>
            </a:extLst>
          </p:cNvPr>
          <p:cNvSpPr>
            <a:spLocks xmlns:a="http://schemas.openxmlformats.org/drawingml/2006/main" noGrp="1"/>
          </p:cNvSpPr>
          <p:nvPr/>
        </p:nvSpPr>
        <p:spPr>
          <a:xfrm xmlns:a="http://schemas.openxmlformats.org/drawingml/2006/main">
            <a:off x="7800975" y="2943225"/>
            <a:ext cx="366712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0">
                <a:solidFill>
                  <a:srgbClr val="09866A"/>
                </a:solidFill>
              </a:defRPr>
            </a:pPr>
            <a:r>
              <a:rPr sz="1425" b="0">
                <a:solidFill>
                  <a:srgbClr val="09866A"/>
                </a:solidFill>
              </a:rPr>
              <a:t>tail-latency consistency</a:t>
            </a:r>
          </a:p>
        </p:txBody>
      </p:sp>
      <p:sp>
        <p:nvSpPr>
          <p:cNvPr id="25" name="">
            <a:extLst xmlns:a="http://schemas.openxmlformats.org/drawingml/2006/main">
              <a:ext uri="{FF2B5EF4-FFF2-40B4-BE49-F238E27FC236}">
                <a16:creationId xmlns:a16="http://schemas.microsoft.com/office/drawing/2014/main" id="{FE713EFA-7E99-4B32-8720-BC3FCC524AFD}"/>
              </a:ext>
            </a:extLst>
          </p:cNvPr>
          <p:cNvSpPr>
            <a:spLocks xmlns:a="http://schemas.openxmlformats.org/drawingml/2006/main" noGrp="1"/>
          </p:cNvSpPr>
          <p:nvPr/>
        </p:nvSpPr>
        <p:spPr>
          <a:xfrm xmlns:a="http://schemas.openxmlformats.org/drawingml/2006/main">
            <a:off x="609600" y="3505200"/>
            <a:ext cx="3000375" cy="638175"/>
          </a:xfrm>
          <a:prstGeom xmlns:a="http://schemas.openxmlformats.org/drawingml/2006/main" prst="rect">
            <a:avLst/>
          </a:prstGeom>
          <a:solidFill xmlns:a="http://schemas.openxmlformats.org/drawingml/2006/main">
            <a:srgbClr val="E7EDF4"/>
          </a:solidFill>
          <a:ln xmlns:a="http://schemas.openxmlformats.org/drawingml/2006/main" w="11430">
            <a:solidFill>
              <a:srgbClr val="C8D3E0"/>
            </a:solidFill>
            <a:prstDash val="solid"/>
          </a:ln>
        </p:spPr>
      </p:sp>
      <p:sp>
        <p:nvSpPr>
          <p:cNvPr id="26" name="">
            <a:extLst xmlns:a="http://schemas.openxmlformats.org/drawingml/2006/main">
              <a:ext uri="{FF2B5EF4-FFF2-40B4-BE49-F238E27FC236}">
                <a16:creationId xmlns:a16="http://schemas.microsoft.com/office/drawing/2014/main" id="{566F24E7-61FF-4C35-84B0-6BF114E20CEE}"/>
              </a:ext>
            </a:extLst>
          </p:cNvPr>
          <p:cNvSpPr>
            <a:spLocks xmlns:a="http://schemas.openxmlformats.org/drawingml/2006/main" noGrp="1"/>
          </p:cNvSpPr>
          <p:nvPr/>
        </p:nvSpPr>
        <p:spPr>
          <a:xfrm xmlns:a="http://schemas.openxmlformats.org/drawingml/2006/main">
            <a:off x="704850" y="3581400"/>
            <a:ext cx="280987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1">
                <a:solidFill>
                  <a:srgbClr val="37475B"/>
                </a:solidFill>
              </a:defRPr>
            </a:pPr>
            <a:r>
              <a:rPr sz="1425" b="1">
                <a:solidFill>
                  <a:srgbClr val="37475B"/>
                </a:solidFill>
              </a:rPr>
              <a:t>checkpoint / cache churn</a:t>
            </a:r>
          </a:p>
        </p:txBody>
      </p:sp>
      <p:sp>
        <p:nvSpPr>
          <p:cNvPr id="27" name="">
            <a:extLst xmlns:a="http://schemas.openxmlformats.org/drawingml/2006/main">
              <a:ext uri="{FF2B5EF4-FFF2-40B4-BE49-F238E27FC236}">
                <a16:creationId xmlns:a16="http://schemas.microsoft.com/office/drawing/2014/main" id="{7373F2CE-957B-4BA9-8C5B-0794F6E18E98}"/>
              </a:ext>
            </a:extLst>
          </p:cNvPr>
          <p:cNvSpPr>
            <a:spLocks xmlns:a="http://schemas.openxmlformats.org/drawingml/2006/main" noGrp="1"/>
          </p:cNvSpPr>
          <p:nvPr/>
        </p:nvSpPr>
        <p:spPr>
          <a:xfrm xmlns:a="http://schemas.openxmlformats.org/drawingml/2006/main">
            <a:off x="3609975" y="3505200"/>
            <a:ext cx="4095750" cy="638175"/>
          </a:xfrm>
          <a:prstGeom xmlns:a="http://schemas.openxmlformats.org/drawingml/2006/main" prst="rect">
            <a:avLst/>
          </a:prstGeom>
          <a:solidFill xmlns:a="http://schemas.openxmlformats.org/drawingml/2006/main">
            <a:srgbClr val="FFF2DF"/>
          </a:solidFill>
          <a:ln xmlns:a="http://schemas.openxmlformats.org/drawingml/2006/main" w="11430">
            <a:solidFill>
              <a:srgbClr val="C8D3E0"/>
            </a:solidFill>
            <a:prstDash val="solid"/>
          </a:ln>
        </p:spPr>
      </p:sp>
      <p:sp>
        <p:nvSpPr>
          <p:cNvPr id="28" name="">
            <a:extLst xmlns:a="http://schemas.openxmlformats.org/drawingml/2006/main">
              <a:ext uri="{FF2B5EF4-FFF2-40B4-BE49-F238E27FC236}">
                <a16:creationId xmlns:a16="http://schemas.microsoft.com/office/drawing/2014/main" id="{E90B86FB-C97C-4ED3-A1A0-1771C31FAFC4}"/>
              </a:ext>
            </a:extLst>
          </p:cNvPr>
          <p:cNvSpPr>
            <a:spLocks xmlns:a="http://schemas.openxmlformats.org/drawingml/2006/main" noGrp="1"/>
          </p:cNvSpPr>
          <p:nvPr/>
        </p:nvSpPr>
        <p:spPr>
          <a:xfrm xmlns:a="http://schemas.openxmlformats.org/drawingml/2006/main">
            <a:off x="3705225" y="3581400"/>
            <a:ext cx="3905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0">
                <a:solidFill>
                  <a:srgbClr val="E98A15"/>
                </a:solidFill>
              </a:defRPr>
            </a:pPr>
            <a:r>
              <a:rPr sz="1425" b="0">
                <a:solidFill>
                  <a:srgbClr val="E98A15"/>
                </a:solidFill>
              </a:rPr>
              <a:t>wear leveling, NAND correction, endurance</a:t>
            </a:r>
          </a:p>
        </p:txBody>
      </p:sp>
      <p:sp>
        <p:nvSpPr>
          <p:cNvPr id="29" name="">
            <a:extLst xmlns:a="http://schemas.openxmlformats.org/drawingml/2006/main">
              <a:ext uri="{FF2B5EF4-FFF2-40B4-BE49-F238E27FC236}">
                <a16:creationId xmlns:a16="http://schemas.microsoft.com/office/drawing/2014/main" id="{D0B452BF-C3B1-4767-98B1-230E30D4D7FF}"/>
              </a:ext>
            </a:extLst>
          </p:cNvPr>
          <p:cNvSpPr>
            <a:spLocks xmlns:a="http://schemas.openxmlformats.org/drawingml/2006/main" noGrp="1"/>
          </p:cNvSpPr>
          <p:nvPr/>
        </p:nvSpPr>
        <p:spPr>
          <a:xfrm xmlns:a="http://schemas.openxmlformats.org/drawingml/2006/main">
            <a:off x="7705725" y="3505200"/>
            <a:ext cx="3857625" cy="638175"/>
          </a:xfrm>
          <a:prstGeom xmlns:a="http://schemas.openxmlformats.org/drawingml/2006/main" prst="rect">
            <a:avLst/>
          </a:prstGeom>
          <a:solidFill xmlns:a="http://schemas.openxmlformats.org/drawingml/2006/main">
            <a:srgbClr val="E4F5F0"/>
          </a:solidFill>
          <a:ln xmlns:a="http://schemas.openxmlformats.org/drawingml/2006/main" w="11430">
            <a:solidFill>
              <a:srgbClr val="C8D3E0"/>
            </a:solidFill>
            <a:prstDash val="solid"/>
          </a:ln>
        </p:spPr>
      </p:sp>
      <p:sp>
        <p:nvSpPr>
          <p:cNvPr id="30" name="">
            <a:extLst xmlns:a="http://schemas.openxmlformats.org/drawingml/2006/main">
              <a:ext uri="{FF2B5EF4-FFF2-40B4-BE49-F238E27FC236}">
                <a16:creationId xmlns:a16="http://schemas.microsoft.com/office/drawing/2014/main" id="{8B59C1B0-DB04-43AD-B17A-59240D34FC16}"/>
              </a:ext>
            </a:extLst>
          </p:cNvPr>
          <p:cNvSpPr>
            <a:spLocks xmlns:a="http://schemas.openxmlformats.org/drawingml/2006/main" noGrp="1"/>
          </p:cNvSpPr>
          <p:nvPr/>
        </p:nvSpPr>
        <p:spPr>
          <a:xfrm xmlns:a="http://schemas.openxmlformats.org/drawingml/2006/main">
            <a:off x="7800975" y="3581400"/>
            <a:ext cx="366712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0">
                <a:solidFill>
                  <a:srgbClr val="09866A"/>
                </a:solidFill>
              </a:defRPr>
            </a:pPr>
            <a:r>
              <a:rPr sz="1425" b="0">
                <a:solidFill>
                  <a:srgbClr val="09866A"/>
                </a:solidFill>
              </a:rPr>
              <a:t>predictable service life</a:t>
            </a:r>
          </a:p>
        </p:txBody>
      </p:sp>
      <p:sp>
        <p:nvSpPr>
          <p:cNvPr id="31" name="">
            <a:extLst xmlns:a="http://schemas.openxmlformats.org/drawingml/2006/main">
              <a:ext uri="{FF2B5EF4-FFF2-40B4-BE49-F238E27FC236}">
                <a16:creationId xmlns:a16="http://schemas.microsoft.com/office/drawing/2014/main" id="{C155A6A0-019F-4E09-A7DD-A41203C6C9EF}"/>
              </a:ext>
            </a:extLst>
          </p:cNvPr>
          <p:cNvSpPr>
            <a:spLocks xmlns:a="http://schemas.openxmlformats.org/drawingml/2006/main" noGrp="1"/>
          </p:cNvSpPr>
          <p:nvPr/>
        </p:nvSpPr>
        <p:spPr>
          <a:xfrm xmlns:a="http://schemas.openxmlformats.org/drawingml/2006/main">
            <a:off x="609600" y="4143375"/>
            <a:ext cx="3000375" cy="638175"/>
          </a:xfrm>
          <a:prstGeom xmlns:a="http://schemas.openxmlformats.org/drawingml/2006/main" prst="rect">
            <a:avLst/>
          </a:prstGeom>
          <a:solidFill xmlns:a="http://schemas.openxmlformats.org/drawingml/2006/main">
            <a:srgbClr val="E7EDF4"/>
          </a:solidFill>
          <a:ln xmlns:a="http://schemas.openxmlformats.org/drawingml/2006/main" w="11430">
            <a:solidFill>
              <a:srgbClr val="C8D3E0"/>
            </a:solidFill>
            <a:prstDash val="solid"/>
          </a:ln>
        </p:spPr>
      </p:sp>
      <p:sp>
        <p:nvSpPr>
          <p:cNvPr id="32" name="">
            <a:extLst xmlns:a="http://schemas.openxmlformats.org/drawingml/2006/main">
              <a:ext uri="{FF2B5EF4-FFF2-40B4-BE49-F238E27FC236}">
                <a16:creationId xmlns:a16="http://schemas.microsoft.com/office/drawing/2014/main" id="{E942469A-4F14-400B-99B7-CA96BEE67D03}"/>
              </a:ext>
            </a:extLst>
          </p:cNvPr>
          <p:cNvSpPr>
            <a:spLocks xmlns:a="http://schemas.openxmlformats.org/drawingml/2006/main" noGrp="1"/>
          </p:cNvSpPr>
          <p:nvPr/>
        </p:nvSpPr>
        <p:spPr>
          <a:xfrm xmlns:a="http://schemas.openxmlformats.org/drawingml/2006/main">
            <a:off x="704850" y="4219575"/>
            <a:ext cx="280987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1">
                <a:solidFill>
                  <a:srgbClr val="37475B"/>
                </a:solidFill>
              </a:defRPr>
            </a:pPr>
            <a:r>
              <a:rPr sz="1425" b="1">
                <a:solidFill>
                  <a:srgbClr val="37475B"/>
                </a:solidFill>
              </a:rPr>
              <a:t>long transfers at Gen5 rates</a:t>
            </a:r>
          </a:p>
        </p:txBody>
      </p:sp>
      <p:sp>
        <p:nvSpPr>
          <p:cNvPr id="33" name="">
            <a:extLst xmlns:a="http://schemas.openxmlformats.org/drawingml/2006/main">
              <a:ext uri="{FF2B5EF4-FFF2-40B4-BE49-F238E27FC236}">
                <a16:creationId xmlns:a16="http://schemas.microsoft.com/office/drawing/2014/main" id="{F3205D24-3311-4FD3-868E-53BA31273D01}"/>
              </a:ext>
            </a:extLst>
          </p:cNvPr>
          <p:cNvSpPr>
            <a:spLocks xmlns:a="http://schemas.openxmlformats.org/drawingml/2006/main" noGrp="1"/>
          </p:cNvSpPr>
          <p:nvPr/>
        </p:nvSpPr>
        <p:spPr>
          <a:xfrm xmlns:a="http://schemas.openxmlformats.org/drawingml/2006/main">
            <a:off x="3609975" y="4143375"/>
            <a:ext cx="4095750" cy="638175"/>
          </a:xfrm>
          <a:prstGeom xmlns:a="http://schemas.openxmlformats.org/drawingml/2006/main" prst="rect">
            <a:avLst/>
          </a:prstGeom>
          <a:solidFill xmlns:a="http://schemas.openxmlformats.org/drawingml/2006/main">
            <a:srgbClr val="FFFFFF"/>
          </a:solidFill>
          <a:ln xmlns:a="http://schemas.openxmlformats.org/drawingml/2006/main" w="11430">
            <a:solidFill>
              <a:srgbClr val="C8D3E0"/>
            </a:solidFill>
            <a:prstDash val="solid"/>
          </a:ln>
        </p:spPr>
      </p:sp>
      <p:sp>
        <p:nvSpPr>
          <p:cNvPr id="34" name="">
            <a:extLst xmlns:a="http://schemas.openxmlformats.org/drawingml/2006/main">
              <a:ext uri="{FF2B5EF4-FFF2-40B4-BE49-F238E27FC236}">
                <a16:creationId xmlns:a16="http://schemas.microsoft.com/office/drawing/2014/main" id="{3009083B-472B-4896-9E62-61863AEB9BC5}"/>
              </a:ext>
            </a:extLst>
          </p:cNvPr>
          <p:cNvSpPr>
            <a:spLocks xmlns:a="http://schemas.openxmlformats.org/drawingml/2006/main" noGrp="1"/>
          </p:cNvSpPr>
          <p:nvPr/>
        </p:nvSpPr>
        <p:spPr>
          <a:xfrm xmlns:a="http://schemas.openxmlformats.org/drawingml/2006/main">
            <a:off x="3705225" y="4219575"/>
            <a:ext cx="3905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0">
                <a:solidFill>
                  <a:srgbClr val="E98A15"/>
                </a:solidFill>
              </a:defRPr>
            </a:pPr>
            <a:r>
              <a:rPr sz="1425" b="0">
                <a:solidFill>
                  <a:srgbClr val="E98A15"/>
                </a:solidFill>
              </a:rPr>
              <a:t>thermal and power management</a:t>
            </a:r>
          </a:p>
        </p:txBody>
      </p:sp>
      <p:sp>
        <p:nvSpPr>
          <p:cNvPr id="35" name="">
            <a:extLst xmlns:a="http://schemas.openxmlformats.org/drawingml/2006/main">
              <a:ext uri="{FF2B5EF4-FFF2-40B4-BE49-F238E27FC236}">
                <a16:creationId xmlns:a16="http://schemas.microsoft.com/office/drawing/2014/main" id="{3BAA0B0F-599D-4D1F-9D3A-8DA3DE8634B1}"/>
              </a:ext>
            </a:extLst>
          </p:cNvPr>
          <p:cNvSpPr>
            <a:spLocks xmlns:a="http://schemas.openxmlformats.org/drawingml/2006/main" noGrp="1"/>
          </p:cNvSpPr>
          <p:nvPr/>
        </p:nvSpPr>
        <p:spPr>
          <a:xfrm xmlns:a="http://schemas.openxmlformats.org/drawingml/2006/main">
            <a:off x="7705725" y="4143375"/>
            <a:ext cx="3857625" cy="638175"/>
          </a:xfrm>
          <a:prstGeom xmlns:a="http://schemas.openxmlformats.org/drawingml/2006/main" prst="rect">
            <a:avLst/>
          </a:prstGeom>
          <a:solidFill xmlns:a="http://schemas.openxmlformats.org/drawingml/2006/main">
            <a:srgbClr val="FFFFFF"/>
          </a:solidFill>
          <a:ln xmlns:a="http://schemas.openxmlformats.org/drawingml/2006/main" w="11430">
            <a:solidFill>
              <a:srgbClr val="C8D3E0"/>
            </a:solidFill>
            <a:prstDash val="solid"/>
          </a:ln>
        </p:spPr>
      </p:sp>
      <p:sp>
        <p:nvSpPr>
          <p:cNvPr id="36" name="">
            <a:extLst xmlns:a="http://schemas.openxmlformats.org/drawingml/2006/main">
              <a:ext uri="{FF2B5EF4-FFF2-40B4-BE49-F238E27FC236}">
                <a16:creationId xmlns:a16="http://schemas.microsoft.com/office/drawing/2014/main" id="{322913AB-12C1-4214-8168-8D113A319881}"/>
              </a:ext>
            </a:extLst>
          </p:cNvPr>
          <p:cNvSpPr>
            <a:spLocks xmlns:a="http://schemas.openxmlformats.org/drawingml/2006/main" noGrp="1"/>
          </p:cNvSpPr>
          <p:nvPr/>
        </p:nvSpPr>
        <p:spPr>
          <a:xfrm xmlns:a="http://schemas.openxmlformats.org/drawingml/2006/main">
            <a:off x="7800975" y="4219575"/>
            <a:ext cx="366712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0">
                <a:solidFill>
                  <a:srgbClr val="09866A"/>
                </a:solidFill>
              </a:defRPr>
            </a:pPr>
            <a:r>
              <a:rPr sz="1425" b="0">
                <a:solidFill>
                  <a:srgbClr val="09866A"/>
                </a:solidFill>
              </a:rPr>
              <a:t>avoid throttling cliffs</a:t>
            </a:r>
          </a:p>
        </p:txBody>
      </p:sp>
      <p:sp>
        <p:nvSpPr>
          <p:cNvPr id="37" name="">
            <a:extLst xmlns:a="http://schemas.openxmlformats.org/drawingml/2006/main">
              <a:ext uri="{FF2B5EF4-FFF2-40B4-BE49-F238E27FC236}">
                <a16:creationId xmlns:a16="http://schemas.microsoft.com/office/drawing/2014/main" id="{106F65F4-2334-4F15-A91F-CAFD296D2B66}"/>
              </a:ext>
            </a:extLst>
          </p:cNvPr>
          <p:cNvSpPr>
            <a:spLocks xmlns:a="http://schemas.openxmlformats.org/drawingml/2006/main" noGrp="1"/>
          </p:cNvSpPr>
          <p:nvPr/>
        </p:nvSpPr>
        <p:spPr>
          <a:xfrm xmlns:a="http://schemas.openxmlformats.org/drawingml/2006/main">
            <a:off x="609600" y="4781550"/>
            <a:ext cx="3000375" cy="638175"/>
          </a:xfrm>
          <a:prstGeom xmlns:a="http://schemas.openxmlformats.org/drawingml/2006/main" prst="rect">
            <a:avLst/>
          </a:prstGeom>
          <a:solidFill xmlns:a="http://schemas.openxmlformats.org/drawingml/2006/main">
            <a:srgbClr val="E7EDF4"/>
          </a:solidFill>
          <a:ln xmlns:a="http://schemas.openxmlformats.org/drawingml/2006/main" w="11430">
            <a:solidFill>
              <a:srgbClr val="C8D3E0"/>
            </a:solidFill>
            <a:prstDash val="solid"/>
          </a:ln>
        </p:spPr>
      </p:sp>
      <p:sp>
        <p:nvSpPr>
          <p:cNvPr id="38" name="">
            <a:extLst xmlns:a="http://schemas.openxmlformats.org/drawingml/2006/main">
              <a:ext uri="{FF2B5EF4-FFF2-40B4-BE49-F238E27FC236}">
                <a16:creationId xmlns:a16="http://schemas.microsoft.com/office/drawing/2014/main" id="{43C826E1-B558-45E0-A78B-F30E3AC7FC4D}"/>
              </a:ext>
            </a:extLst>
          </p:cNvPr>
          <p:cNvSpPr>
            <a:spLocks xmlns:a="http://schemas.openxmlformats.org/drawingml/2006/main" noGrp="1"/>
          </p:cNvSpPr>
          <p:nvPr/>
        </p:nvSpPr>
        <p:spPr>
          <a:xfrm xmlns:a="http://schemas.openxmlformats.org/drawingml/2006/main">
            <a:off x="704850" y="4857750"/>
            <a:ext cx="280987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1">
                <a:solidFill>
                  <a:srgbClr val="37475B"/>
                </a:solidFill>
              </a:defRPr>
            </a:pPr>
            <a:r>
              <a:rPr sz="1425" b="1">
                <a:solidFill>
                  <a:srgbClr val="37475B"/>
                </a:solidFill>
              </a:rPr>
              <a:t>recovery and data placement</a:t>
            </a:r>
          </a:p>
        </p:txBody>
      </p:sp>
      <p:sp>
        <p:nvSpPr>
          <p:cNvPr id="39" name="">
            <a:extLst xmlns:a="http://schemas.openxmlformats.org/drawingml/2006/main">
              <a:ext uri="{FF2B5EF4-FFF2-40B4-BE49-F238E27FC236}">
                <a16:creationId xmlns:a16="http://schemas.microsoft.com/office/drawing/2014/main" id="{E41EE041-18D9-4A14-B665-31FD8105EA4C}"/>
              </a:ext>
            </a:extLst>
          </p:cNvPr>
          <p:cNvSpPr>
            <a:spLocks xmlns:a="http://schemas.openxmlformats.org/drawingml/2006/main" noGrp="1"/>
          </p:cNvSpPr>
          <p:nvPr/>
        </p:nvSpPr>
        <p:spPr>
          <a:xfrm xmlns:a="http://schemas.openxmlformats.org/drawingml/2006/main">
            <a:off x="3609975" y="4781550"/>
            <a:ext cx="4095750" cy="638175"/>
          </a:xfrm>
          <a:prstGeom xmlns:a="http://schemas.openxmlformats.org/drawingml/2006/main" prst="rect">
            <a:avLst/>
          </a:prstGeom>
          <a:solidFill xmlns:a="http://schemas.openxmlformats.org/drawingml/2006/main">
            <a:srgbClr val="FFF2DF"/>
          </a:solidFill>
          <a:ln xmlns:a="http://schemas.openxmlformats.org/drawingml/2006/main" w="11430">
            <a:solidFill>
              <a:srgbClr val="C8D3E0"/>
            </a:solidFill>
            <a:prstDash val="solid"/>
          </a:ln>
        </p:spPr>
      </p:sp>
      <p:sp>
        <p:nvSpPr>
          <p:cNvPr id="40" name="">
            <a:extLst xmlns:a="http://schemas.openxmlformats.org/drawingml/2006/main">
              <a:ext uri="{FF2B5EF4-FFF2-40B4-BE49-F238E27FC236}">
                <a16:creationId xmlns:a16="http://schemas.microsoft.com/office/drawing/2014/main" id="{84A65EB6-5C3A-49B9-AAEA-6B299A3D49E1}"/>
              </a:ext>
            </a:extLst>
          </p:cNvPr>
          <p:cNvSpPr>
            <a:spLocks xmlns:a="http://schemas.openxmlformats.org/drawingml/2006/main" noGrp="1"/>
          </p:cNvSpPr>
          <p:nvPr/>
        </p:nvSpPr>
        <p:spPr>
          <a:xfrm xmlns:a="http://schemas.openxmlformats.org/drawingml/2006/main">
            <a:off x="3705225" y="4857750"/>
            <a:ext cx="3905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0">
                <a:solidFill>
                  <a:srgbClr val="E98A15"/>
                </a:solidFill>
              </a:defRPr>
            </a:pPr>
            <a:r>
              <a:rPr sz="1425" b="0">
                <a:solidFill>
                  <a:srgbClr val="E98A15"/>
                </a:solidFill>
              </a:rPr>
              <a:t>firmware policy + media management</a:t>
            </a:r>
          </a:p>
        </p:txBody>
      </p:sp>
      <p:sp>
        <p:nvSpPr>
          <p:cNvPr id="41" name="">
            <a:extLst xmlns:a="http://schemas.openxmlformats.org/drawingml/2006/main">
              <a:ext uri="{FF2B5EF4-FFF2-40B4-BE49-F238E27FC236}">
                <a16:creationId xmlns:a16="http://schemas.microsoft.com/office/drawing/2014/main" id="{92BEC905-E8E4-4C1A-B82B-25CB536B3122}"/>
              </a:ext>
            </a:extLst>
          </p:cNvPr>
          <p:cNvSpPr>
            <a:spLocks xmlns:a="http://schemas.openxmlformats.org/drawingml/2006/main" noGrp="1"/>
          </p:cNvSpPr>
          <p:nvPr/>
        </p:nvSpPr>
        <p:spPr>
          <a:xfrm xmlns:a="http://schemas.openxmlformats.org/drawingml/2006/main">
            <a:off x="7705725" y="4781550"/>
            <a:ext cx="3857625" cy="638175"/>
          </a:xfrm>
          <a:prstGeom xmlns:a="http://schemas.openxmlformats.org/drawingml/2006/main" prst="rect">
            <a:avLst/>
          </a:prstGeom>
          <a:solidFill xmlns:a="http://schemas.openxmlformats.org/drawingml/2006/main">
            <a:srgbClr val="E4F5F0"/>
          </a:solidFill>
          <a:ln xmlns:a="http://schemas.openxmlformats.org/drawingml/2006/main" w="11430">
            <a:solidFill>
              <a:srgbClr val="C8D3E0"/>
            </a:solidFill>
            <a:prstDash val="solid"/>
          </a:ln>
        </p:spPr>
      </p:sp>
      <p:sp>
        <p:nvSpPr>
          <p:cNvPr id="42" name="">
            <a:extLst xmlns:a="http://schemas.openxmlformats.org/drawingml/2006/main">
              <a:ext uri="{FF2B5EF4-FFF2-40B4-BE49-F238E27FC236}">
                <a16:creationId xmlns:a16="http://schemas.microsoft.com/office/drawing/2014/main" id="{630A9F93-95B9-48CC-8D60-4F724BE4E4C9}"/>
              </a:ext>
            </a:extLst>
          </p:cNvPr>
          <p:cNvSpPr>
            <a:spLocks xmlns:a="http://schemas.openxmlformats.org/drawingml/2006/main" noGrp="1"/>
          </p:cNvSpPr>
          <p:nvPr/>
        </p:nvSpPr>
        <p:spPr>
          <a:xfrm xmlns:a="http://schemas.openxmlformats.org/drawingml/2006/main">
            <a:off x="7800975" y="4857750"/>
            <a:ext cx="366712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0">
                <a:solidFill>
                  <a:srgbClr val="09866A"/>
                </a:solidFill>
              </a:defRPr>
            </a:pPr>
            <a:r>
              <a:rPr sz="1425" b="0">
                <a:solidFill>
                  <a:srgbClr val="09866A"/>
                </a:solidFill>
              </a:rPr>
              <a:t>durability and repeatability</a:t>
            </a:r>
          </a:p>
        </p:txBody>
      </p:sp>
      <p:sp>
        <p:nvSpPr>
          <p:cNvPr id="43" name="">
            <a:extLst xmlns:a="http://schemas.openxmlformats.org/drawingml/2006/main">
              <a:ext uri="{FF2B5EF4-FFF2-40B4-BE49-F238E27FC236}">
                <a16:creationId xmlns:a16="http://schemas.microsoft.com/office/drawing/2014/main" id="{36B05B71-91D5-4BE5-A680-0C99373C733E}"/>
              </a:ext>
            </a:extLst>
          </p:cNvPr>
          <p:cNvSpPr>
            <a:spLocks xmlns:a="http://schemas.openxmlformats.org/drawingml/2006/main" noGrp="1"/>
          </p:cNvSpPr>
          <p:nvPr/>
        </p:nvSpPr>
        <p:spPr>
          <a:xfrm xmlns:a="http://schemas.openxmlformats.org/drawingml/2006/main">
            <a:off x="609600" y="5715000"/>
            <a:ext cx="2857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A1628"/>
                </a:solidFill>
              </a:defRPr>
            </a:pPr>
            <a:r>
              <a:rPr sz="1575" b="1">
                <a:solidFill>
                  <a:srgbClr val="0A1628"/>
                </a:solidFill>
              </a:rPr>
              <a:t>Current Cache Memory roadmap</a:t>
            </a:r>
          </a:p>
        </p:txBody>
      </p:sp>
      <p:sp>
        <p:nvSpPr>
          <p:cNvPr id="44" name="">
            <a:extLst xmlns:a="http://schemas.openxmlformats.org/drawingml/2006/main">
              <a:ext uri="{FF2B5EF4-FFF2-40B4-BE49-F238E27FC236}">
                <a16:creationId xmlns:a16="http://schemas.microsoft.com/office/drawing/2014/main" id="{F370B728-0C74-49F3-B5DC-2284332B444A}"/>
              </a:ext>
            </a:extLst>
          </p:cNvPr>
          <p:cNvSpPr>
            <a:spLocks xmlns:a="http://schemas.openxmlformats.org/drawingml/2006/main" noGrp="1"/>
          </p:cNvSpPr>
          <p:nvPr/>
        </p:nvSpPr>
        <p:spPr>
          <a:xfrm xmlns:a="http://schemas.openxmlformats.org/drawingml/2006/main">
            <a:off x="3514725" y="5695950"/>
            <a:ext cx="8048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E98A15"/>
                </a:solidFill>
              </a:defRPr>
            </a:pPr>
            <a:r>
              <a:rPr sz="1350" b="1">
                <a:solidFill>
                  <a:srgbClr val="E98A15"/>
                </a:solidFill>
              </a:rPr>
              <a:t>AI100E PCIe 4.0  •  AI200E / AI250E / AI20E PCIe 5.0  •  AI20EH hybrid storage + cache</a:t>
            </a:r>
          </a:p>
        </p:txBody>
      </p:sp>
      <p:sp>
        <p:nvSpPr>
          <p:cNvPr id="45" name="">
            <a:extLst xmlns:a="http://schemas.openxmlformats.org/drawingml/2006/main">
              <a:ext uri="{FF2B5EF4-FFF2-40B4-BE49-F238E27FC236}">
                <a16:creationId xmlns:a16="http://schemas.microsoft.com/office/drawing/2014/main" id="{41450471-6306-419F-8E0E-57D314AB9042}"/>
              </a:ext>
            </a:extLst>
          </p:cNvPr>
          <p:cNvSpPr>
            <a:spLocks xmlns:a="http://schemas.openxmlformats.org/drawingml/2006/main" noGrp="1"/>
          </p:cNvSpPr>
          <p:nvPr/>
        </p:nvSpPr>
        <p:spPr>
          <a:xfrm xmlns:a="http://schemas.openxmlformats.org/drawingml/2006/main">
            <a:off x="3514725" y="5991225"/>
            <a:ext cx="80486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53657A"/>
                </a:solidFill>
              </a:defRPr>
            </a:pPr>
            <a:r>
              <a:rPr sz="1200" b="0">
                <a:solidFill>
                  <a:srgbClr val="53657A"/>
                </a:solidFill>
              </a:rPr>
              <a:t>Product-level endurance, capacity, and warranty vary by SKU; verify the deployed configuration.</a:t>
            </a:r>
          </a:p>
        </p:txBody>
      </p:sp>
    </p:spTree>
    <p:extLst>
      <p:ext uri="{BB962C8B-B14F-4D97-AF65-F5344CB8AC3E}">
        <p14:creationId xmlns:p14="http://schemas.microsoft.com/office/powerpoint/2010/main" val="620091039"/>
      </p:ext>
    </p:extLst>
  </p:cSld>
</p:sld>
</file>

<file path=ppt/slides/slide10.xml><?xml version="1.0" encoding="utf-8"?>
<p:sld xmlns:p="http://schemas.openxmlformats.org/presentationml/2006/main">
  <p:cSld>
    <p:bg>
      <p:bgPr>
        <a:solidFill xmlns:a="http://schemas.openxmlformats.org/drawingml/2006/main">
          <a:srgbClr val="F4F7FB"/>
        </a:solidFill>
      </p:bgPr>
    </p:bg>
    <p:spTree>
      <p:nvGrpSpPr>
        <p:cNvPr id="1" name=""/>
        <p:cNvGrpSpPr/>
        <p:nvPr/>
      </p:nvGrpSpPr>
      <p:grpSpPr>
        <a:xfrm xmlns:a="http://schemas.openxmlformats.org/drawingml/2006/main"/>
      </p:grpSpPr>
      <p:sp>
        <p:nvSpPr>
          <p:cNvPr id="65" name="">
            <a:extLst xmlns:a="http://schemas.openxmlformats.org/drawingml/2006/main">
              <a:ext uri="{FF2B5EF4-FFF2-40B4-BE49-F238E27FC236}">
                <a16:creationId xmlns:a16="http://schemas.microsoft.com/office/drawing/2014/main" id="{39AC8C0A-E52F-41F1-845D-5A761E44FD6B}"/>
              </a:ext>
            </a:extLst>
          </p:cNvPr>
          <p:cNvSpPr>
            <a:spLocks xmlns:a="http://schemas.openxmlformats.org/drawingml/2006/main" noGrp="1"/>
          </p:cNvSpPr>
          <p:nvPr/>
        </p:nvSpPr>
        <p:spPr>
          <a:xfrm xmlns:a="http://schemas.openxmlformats.org/drawingml/2006/main">
            <a:off x="609600" y="257175"/>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2B6DE9"/>
                </a:solidFill>
              </a:defRPr>
            </a:pPr>
            <a:r>
              <a:rPr sz="1050" b="1">
                <a:solidFill>
                  <a:srgbClr val="2B6DE9"/>
                </a:solidFill>
              </a:rPr>
              <a:t>END-TO-END EXECUTION EXAMPLE</a:t>
            </a:r>
          </a:p>
        </p:txBody>
      </p:sp>
      <p:sp>
        <p:nvSpPr>
          <p:cNvPr id="2" name="">
            <a:extLst xmlns:a="http://schemas.openxmlformats.org/drawingml/2006/main">
              <a:ext uri="{FF2B5EF4-FFF2-40B4-BE49-F238E27FC236}">
                <a16:creationId xmlns:a16="http://schemas.microsoft.com/office/drawing/2014/main" id="{8766B29C-15E2-4B80-BABD-2DAB299BFB3B}"/>
              </a:ext>
            </a:extLst>
          </p:cNvPr>
          <p:cNvSpPr>
            <a:spLocks xmlns:a="http://schemas.openxmlformats.org/drawingml/2006/main" noGrp="1"/>
          </p:cNvSpPr>
          <p:nvPr/>
        </p:nvSpPr>
        <p:spPr>
          <a:xfrm xmlns:a="http://schemas.openxmlformats.org/drawingml/2006/main">
            <a:off x="11191875" y="219075"/>
            <a:ext cx="476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200" b="1">
                <a:solidFill>
                  <a:srgbClr val="53657A"/>
                </a:solidFill>
              </a:defRPr>
            </a:pPr>
            <a:r>
              <a:rPr sz="1200" b="1">
                <a:solidFill>
                  <a:srgbClr val="53657A"/>
                </a:solidFill>
              </a:rPr>
              <a:t>10</a:t>
            </a:r>
          </a:p>
        </p:txBody>
      </p:sp>
      <p:sp>
        <p:nvSpPr>
          <p:cNvPr id="3" name="">
            <a:extLst xmlns:a="http://schemas.openxmlformats.org/drawingml/2006/main">
              <a:ext uri="{FF2B5EF4-FFF2-40B4-BE49-F238E27FC236}">
                <a16:creationId xmlns:a16="http://schemas.microsoft.com/office/drawing/2014/main" id="{A5DBFEDD-EB75-4255-AAAF-3E37DA0FCC8D}"/>
              </a:ext>
            </a:extLst>
          </p:cNvPr>
          <p:cNvSpPr>
            <a:spLocks xmlns:a="http://schemas.openxmlformats.org/drawingml/2006/main" noGrp="1"/>
          </p:cNvSpPr>
          <p:nvPr/>
        </p:nvSpPr>
        <p:spPr>
          <a:xfrm xmlns:a="http://schemas.openxmlformats.org/drawingml/2006/main">
            <a:off x="609600" y="552450"/>
            <a:ext cx="109061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600" b="1">
                <a:solidFill>
                  <a:srgbClr val="0A1628"/>
                </a:solidFill>
              </a:defRPr>
            </a:pPr>
            <a:r>
              <a:rPr sz="3600" b="1">
                <a:solidFill>
                  <a:srgbClr val="0A1628"/>
                </a:solidFill>
              </a:rPr>
              <a:t>The target is to hide I/O behind useful GPU work</a:t>
            </a:r>
          </a:p>
        </p:txBody>
      </p:sp>
      <p:sp>
        <p:nvSpPr>
          <p:cNvPr id="4" name="">
            <a:extLst xmlns:a="http://schemas.openxmlformats.org/drawingml/2006/main">
              <a:ext uri="{FF2B5EF4-FFF2-40B4-BE49-F238E27FC236}">
                <a16:creationId xmlns:a16="http://schemas.microsoft.com/office/drawing/2014/main" id="{AEAE131A-FA5D-4D99-A127-6AD8178B01C1}"/>
              </a:ext>
            </a:extLst>
          </p:cNvPr>
          <p:cNvSpPr>
            <a:spLocks xmlns:a="http://schemas.openxmlformats.org/drawingml/2006/main" noGrp="1"/>
          </p:cNvSpPr>
          <p:nvPr/>
        </p:nvSpPr>
        <p:spPr>
          <a:xfrm xmlns:a="http://schemas.openxmlformats.org/drawingml/2006/main">
            <a:off x="609600" y="1200150"/>
            <a:ext cx="10972800" cy="0"/>
          </a:xfrm>
          <a:prstGeom xmlns:a="http://schemas.openxmlformats.org/drawingml/2006/main" prst="line">
            <a:avLst/>
          </a:prstGeom>
          <a:noFill xmlns:a="http://schemas.openxmlformats.org/drawingml/2006/main"/>
          <a:ln xmlns:a="http://schemas.openxmlformats.org/drawingml/2006/main" w="11430">
            <a:solidFill>
              <a:srgbClr val="C8D3E0"/>
            </a:solidFill>
            <a:prstDash val="solid"/>
          </a:ln>
        </p:spPr>
      </p:sp>
      <p:sp>
        <p:nvSpPr>
          <p:cNvPr id="5" name="">
            <a:extLst xmlns:a="http://schemas.openxmlformats.org/drawingml/2006/main">
              <a:ext uri="{FF2B5EF4-FFF2-40B4-BE49-F238E27FC236}">
                <a16:creationId xmlns:a16="http://schemas.microsoft.com/office/drawing/2014/main" id="{B9E1F926-2573-4838-B35D-79146F189330}"/>
              </a:ext>
            </a:extLst>
          </p:cNvPr>
          <p:cNvSpPr>
            <a:spLocks xmlns:a="http://schemas.openxmlformats.org/drawingml/2006/main" noGrp="1"/>
          </p:cNvSpPr>
          <p:nvPr/>
        </p:nvSpPr>
        <p:spPr>
          <a:xfrm xmlns:a="http://schemas.openxmlformats.org/drawingml/2006/main">
            <a:off x="609600" y="6543675"/>
            <a:ext cx="10096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7B8796"/>
                </a:solidFill>
              </a:defRPr>
            </a:pPr>
            <a:r>
              <a:rPr sz="900" b="0">
                <a:solidFill>
                  <a:srgbClr val="7B8796"/>
                </a:solidFill>
              </a:rPr>
              <a:t>Phison aiDAPTIV technical architecture  •  Sources and claim boundaries in speaker notes</a:t>
            </a:r>
          </a:p>
        </p:txBody>
      </p:sp>
      <p:sp>
        <p:nvSpPr>
          <p:cNvPr id="6" name="">
            <a:extLst xmlns:a="http://schemas.openxmlformats.org/drawingml/2006/main">
              <a:ext uri="{FF2B5EF4-FFF2-40B4-BE49-F238E27FC236}">
                <a16:creationId xmlns:a16="http://schemas.microsoft.com/office/drawing/2014/main" id="{58EF43E6-1BB3-4E65-A54E-6D9A011286C7}"/>
              </a:ext>
            </a:extLst>
          </p:cNvPr>
          <p:cNvSpPr>
            <a:spLocks xmlns:a="http://schemas.openxmlformats.org/drawingml/2006/main" noGrp="1"/>
          </p:cNvSpPr>
          <p:nvPr/>
        </p:nvSpPr>
        <p:spPr>
          <a:xfrm xmlns:a="http://schemas.openxmlformats.org/drawingml/2006/main">
            <a:off x="609600" y="1447800"/>
            <a:ext cx="47625" cy="228600"/>
          </a:xfrm>
          <a:prstGeom xmlns:a="http://schemas.openxmlformats.org/drawingml/2006/main" prst="rect">
            <a:avLst/>
          </a:prstGeom>
          <a:solidFill xmlns:a="http://schemas.openxmlformats.org/drawingml/2006/main">
            <a:srgbClr val="E98A15"/>
          </a:solidFill>
          <a:ln xmlns:a="http://schemas.openxmlformats.org/drawingml/2006/main" w="11430">
            <a:solidFill>
              <a:srgbClr val="E98A15"/>
            </a:solidFill>
            <a:prstDash val="solid"/>
          </a:ln>
        </p:spPr>
      </p:sp>
      <p:sp>
        <p:nvSpPr>
          <p:cNvPr id="7" name="">
            <a:extLst xmlns:a="http://schemas.openxmlformats.org/drawingml/2006/main">
              <a:ext uri="{FF2B5EF4-FFF2-40B4-BE49-F238E27FC236}">
                <a16:creationId xmlns:a16="http://schemas.microsoft.com/office/drawing/2014/main" id="{4CB62EF7-1D37-4C3B-9FAC-B5A974800402}"/>
              </a:ext>
            </a:extLst>
          </p:cNvPr>
          <p:cNvSpPr>
            <a:spLocks xmlns:a="http://schemas.openxmlformats.org/drawingml/2006/main" noGrp="1"/>
          </p:cNvSpPr>
          <p:nvPr/>
        </p:nvSpPr>
        <p:spPr>
          <a:xfrm xmlns:a="http://schemas.openxmlformats.org/drawingml/2006/main">
            <a:off x="742950" y="1428750"/>
            <a:ext cx="2438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E98A15"/>
                </a:solidFill>
              </a:defRPr>
            </a:pPr>
            <a:r>
              <a:rPr sz="1050" b="1">
                <a:solidFill>
                  <a:srgbClr val="E98A15"/>
                </a:solidFill>
              </a:rPr>
              <a:t>GENERAL IMPLEMENTATION PATTERN</a:t>
            </a:r>
          </a:p>
        </p:txBody>
      </p:sp>
      <p:sp>
        <p:nvSpPr>
          <p:cNvPr id="8" name="">
            <a:extLst xmlns:a="http://schemas.openxmlformats.org/drawingml/2006/main">
              <a:ext uri="{FF2B5EF4-FFF2-40B4-BE49-F238E27FC236}">
                <a16:creationId xmlns:a16="http://schemas.microsoft.com/office/drawing/2014/main" id="{C61D3ADD-ADEE-46AA-B409-ACA8EB18719E}"/>
              </a:ext>
            </a:extLst>
          </p:cNvPr>
          <p:cNvSpPr>
            <a:spLocks xmlns:a="http://schemas.openxmlformats.org/drawingml/2006/main" noGrp="1"/>
          </p:cNvSpPr>
          <p:nvPr/>
        </p:nvSpPr>
        <p:spPr>
          <a:xfrm xmlns:a="http://schemas.openxmlformats.org/drawingml/2006/main">
            <a:off x="3305175" y="1400175"/>
            <a:ext cx="8096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37475B"/>
                </a:solidFill>
              </a:defRPr>
            </a:pPr>
            <a:r>
              <a:rPr sz="1350" b="0">
                <a:solidFill>
                  <a:srgbClr val="37475B"/>
                </a:solidFill>
              </a:rPr>
              <a:t>The tiering principle is confirmed; the exact scheduler and timing below are illustrative, not a published Phison contract.</a:t>
            </a:r>
          </a:p>
        </p:txBody>
      </p:sp>
      <p:sp>
        <p:nvSpPr>
          <p:cNvPr id="9" name="">
            <a:extLst xmlns:a="http://schemas.openxmlformats.org/drawingml/2006/main">
              <a:ext uri="{FF2B5EF4-FFF2-40B4-BE49-F238E27FC236}">
                <a16:creationId xmlns:a16="http://schemas.microsoft.com/office/drawing/2014/main" id="{98EE5958-79E8-4D6B-93A6-6D54DAA8D87A}"/>
              </a:ext>
            </a:extLst>
          </p:cNvPr>
          <p:cNvSpPr>
            <a:spLocks xmlns:a="http://schemas.openxmlformats.org/drawingml/2006/main" noGrp="1"/>
          </p:cNvSpPr>
          <p:nvPr/>
        </p:nvSpPr>
        <p:spPr>
          <a:xfrm xmlns:a="http://schemas.openxmlformats.org/drawingml/2006/main">
            <a:off x="2028825" y="2438400"/>
            <a:ext cx="361950" cy="228600"/>
          </a:xfrm>
          <a:prstGeom xmlns:a="http://schemas.openxmlformats.org/drawingml/2006/main" prst="rightArrow">
            <a:avLst/>
          </a:prstGeom>
          <a:solidFill xmlns:a="http://schemas.openxmlformats.org/drawingml/2006/main">
            <a:srgbClr val="C8D3E0"/>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2C06EC37-F6CF-47E4-81D2-F940328A3135}"/>
              </a:ext>
            </a:extLst>
          </p:cNvPr>
          <p:cNvSpPr>
            <a:spLocks xmlns:a="http://schemas.openxmlformats.org/drawingml/2006/main" noGrp="1"/>
          </p:cNvSpPr>
          <p:nvPr/>
        </p:nvSpPr>
        <p:spPr>
          <a:xfrm xmlns:a="http://schemas.openxmlformats.org/drawingml/2006/main">
            <a:off x="609600" y="2019300"/>
            <a:ext cx="1466850" cy="1200150"/>
          </a:xfrm>
          <a:prstGeom xmlns:a="http://schemas.openxmlformats.org/drawingml/2006/main" prst="roundRect">
            <a:avLst>
              <a:gd name="adj" fmla="val 7937"/>
            </a:avLst>
          </a:prstGeom>
          <a:solidFill xmlns:a="http://schemas.openxmlformats.org/drawingml/2006/main">
            <a:srgbClr val="FFF2DF"/>
          </a:solidFill>
          <a:ln xmlns:a="http://schemas.openxmlformats.org/drawingml/2006/main" w="11430">
            <a:solidFill>
              <a:srgbClr val="E98A15"/>
            </a:solidFill>
            <a:prstDash val="solid"/>
          </a:ln>
        </p:spPr>
      </p:sp>
      <p:sp>
        <p:nvSpPr>
          <p:cNvPr id="11" name="">
            <a:extLst xmlns:a="http://schemas.openxmlformats.org/drawingml/2006/main">
              <a:ext uri="{FF2B5EF4-FFF2-40B4-BE49-F238E27FC236}">
                <a16:creationId xmlns:a16="http://schemas.microsoft.com/office/drawing/2014/main" id="{FC79DD5A-1AC1-4A67-B56B-16612EFB324C}"/>
              </a:ext>
            </a:extLst>
          </p:cNvPr>
          <p:cNvSpPr>
            <a:spLocks xmlns:a="http://schemas.openxmlformats.org/drawingml/2006/main" noGrp="1"/>
          </p:cNvSpPr>
          <p:nvPr/>
        </p:nvSpPr>
        <p:spPr>
          <a:xfrm xmlns:a="http://schemas.openxmlformats.org/drawingml/2006/main">
            <a:off x="742950" y="2152650"/>
            <a:ext cx="28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FFFFFF"/>
                </a:solidFill>
              </a:defRPr>
            </a:pPr>
            <a:r>
              <a:rPr sz="1500" b="1">
                <a:solidFill>
                  <a:srgbClr val="FFFFFF"/>
                </a:solidFill>
              </a:rPr>
              <a:t>1</a:t>
            </a:r>
          </a:p>
        </p:txBody>
      </p:sp>
      <p:sp>
        <p:nvSpPr>
          <p:cNvPr id="12" name="">
            <a:extLst xmlns:a="http://schemas.openxmlformats.org/drawingml/2006/main">
              <a:ext uri="{FF2B5EF4-FFF2-40B4-BE49-F238E27FC236}">
                <a16:creationId xmlns:a16="http://schemas.microsoft.com/office/drawing/2014/main" id="{2E4CB22A-C70D-44A0-9C50-C179C4E1016C}"/>
              </a:ext>
            </a:extLst>
          </p:cNvPr>
          <p:cNvSpPr>
            <a:spLocks xmlns:a="http://schemas.openxmlformats.org/drawingml/2006/main" noGrp="1"/>
          </p:cNvSpPr>
          <p:nvPr/>
        </p:nvSpPr>
        <p:spPr>
          <a:xfrm xmlns:a="http://schemas.openxmlformats.org/drawingml/2006/main">
            <a:off x="723900" y="2133600"/>
            <a:ext cx="323850" cy="323850"/>
          </a:xfrm>
          <a:prstGeom xmlns:a="http://schemas.openxmlformats.org/drawingml/2006/main" prst="roundRect">
            <a:avLst>
              <a:gd name="adj" fmla="val 50000"/>
            </a:avLst>
          </a:prstGeom>
          <a:solidFill xmlns:a="http://schemas.openxmlformats.org/drawingml/2006/main">
            <a:srgbClr val="E98A15"/>
          </a:solidFill>
          <a:ln xmlns:a="http://schemas.openxmlformats.org/drawingml/2006/main" w="11430">
            <a:solidFill>
              <a:srgbClr val="E98A15"/>
            </a:solidFill>
            <a:prstDash val="solid"/>
          </a:ln>
        </p:spPr>
      </p:sp>
      <p:sp>
        <p:nvSpPr>
          <p:cNvPr id="13" name="">
            <a:extLst xmlns:a="http://schemas.openxmlformats.org/drawingml/2006/main">
              <a:ext uri="{FF2B5EF4-FFF2-40B4-BE49-F238E27FC236}">
                <a16:creationId xmlns:a16="http://schemas.microsoft.com/office/drawing/2014/main" id="{EEAF6D15-80C3-4B92-B734-A59AD67B9F59}"/>
              </a:ext>
            </a:extLst>
          </p:cNvPr>
          <p:cNvSpPr>
            <a:spLocks xmlns:a="http://schemas.openxmlformats.org/drawingml/2006/main" noGrp="1"/>
          </p:cNvSpPr>
          <p:nvPr/>
        </p:nvSpPr>
        <p:spPr>
          <a:xfrm xmlns:a="http://schemas.openxmlformats.org/drawingml/2006/main">
            <a:off x="762000" y="2571750"/>
            <a:ext cx="1181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0A1628"/>
                </a:solidFill>
              </a:defRPr>
            </a:pPr>
            <a:r>
              <a:rPr sz="1575" b="1">
                <a:solidFill>
                  <a:srgbClr val="0A1628"/>
                </a:solidFill>
              </a:rPr>
              <a:t>retain</a:t>
            </a:r>
          </a:p>
        </p:txBody>
      </p:sp>
      <p:sp>
        <p:nvSpPr>
          <p:cNvPr id="14" name="">
            <a:extLst xmlns:a="http://schemas.openxmlformats.org/drawingml/2006/main">
              <a:ext uri="{FF2B5EF4-FFF2-40B4-BE49-F238E27FC236}">
                <a16:creationId xmlns:a16="http://schemas.microsoft.com/office/drawing/2014/main" id="{40361C19-4096-461D-95BE-AACDEA283780}"/>
              </a:ext>
            </a:extLst>
          </p:cNvPr>
          <p:cNvSpPr>
            <a:spLocks xmlns:a="http://schemas.openxmlformats.org/drawingml/2006/main" noGrp="1"/>
          </p:cNvSpPr>
          <p:nvPr/>
        </p:nvSpPr>
        <p:spPr>
          <a:xfrm xmlns:a="http://schemas.openxmlformats.org/drawingml/2006/main">
            <a:off x="723900" y="2867025"/>
            <a:ext cx="1238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0">
                <a:solidFill>
                  <a:srgbClr val="53657A"/>
                </a:solidFill>
              </a:defRPr>
            </a:pPr>
            <a:r>
              <a:rPr sz="1050" b="0">
                <a:solidFill>
                  <a:srgbClr val="53657A"/>
                </a:solidFill>
              </a:rPr>
              <a:t>state on SSD</a:t>
            </a:r>
          </a:p>
        </p:txBody>
      </p:sp>
      <p:sp>
        <p:nvSpPr>
          <p:cNvPr id="15" name="">
            <a:extLst xmlns:a="http://schemas.openxmlformats.org/drawingml/2006/main">
              <a:ext uri="{FF2B5EF4-FFF2-40B4-BE49-F238E27FC236}">
                <a16:creationId xmlns:a16="http://schemas.microsoft.com/office/drawing/2014/main" id="{72A7DDB6-A28D-4B48-A65D-8EB9031E6B8E}"/>
              </a:ext>
            </a:extLst>
          </p:cNvPr>
          <p:cNvSpPr>
            <a:spLocks xmlns:a="http://schemas.openxmlformats.org/drawingml/2006/main" noGrp="1"/>
          </p:cNvSpPr>
          <p:nvPr/>
        </p:nvSpPr>
        <p:spPr>
          <a:xfrm xmlns:a="http://schemas.openxmlformats.org/drawingml/2006/main">
            <a:off x="3857625" y="2438400"/>
            <a:ext cx="361950" cy="228600"/>
          </a:xfrm>
          <a:prstGeom xmlns:a="http://schemas.openxmlformats.org/drawingml/2006/main" prst="rightArrow">
            <a:avLst/>
          </a:prstGeom>
          <a:solidFill xmlns:a="http://schemas.openxmlformats.org/drawingml/2006/main">
            <a:srgbClr val="C8D3E0"/>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D5180EF9-7902-4363-BF08-7A828296E4BE}"/>
              </a:ext>
            </a:extLst>
          </p:cNvPr>
          <p:cNvSpPr>
            <a:spLocks xmlns:a="http://schemas.openxmlformats.org/drawingml/2006/main" noGrp="1"/>
          </p:cNvSpPr>
          <p:nvPr/>
        </p:nvSpPr>
        <p:spPr>
          <a:xfrm xmlns:a="http://schemas.openxmlformats.org/drawingml/2006/main">
            <a:off x="2438400" y="2019300"/>
            <a:ext cx="1466850" cy="1200150"/>
          </a:xfrm>
          <a:prstGeom xmlns:a="http://schemas.openxmlformats.org/drawingml/2006/main" prst="roundRect">
            <a:avLst>
              <a:gd name="adj" fmla="val 7937"/>
            </a:avLst>
          </a:prstGeom>
          <a:solidFill xmlns:a="http://schemas.openxmlformats.org/drawingml/2006/main">
            <a:srgbClr val="FFF2DF"/>
          </a:solidFill>
          <a:ln xmlns:a="http://schemas.openxmlformats.org/drawingml/2006/main" w="11430">
            <a:solidFill>
              <a:srgbClr val="E98A15"/>
            </a:solidFill>
            <a:prstDash val="solid"/>
          </a:ln>
        </p:spPr>
      </p:sp>
      <p:sp>
        <p:nvSpPr>
          <p:cNvPr id="17" name="">
            <a:extLst xmlns:a="http://schemas.openxmlformats.org/drawingml/2006/main">
              <a:ext uri="{FF2B5EF4-FFF2-40B4-BE49-F238E27FC236}">
                <a16:creationId xmlns:a16="http://schemas.microsoft.com/office/drawing/2014/main" id="{805E995F-584C-4AF3-83F2-0BEFA36E0361}"/>
              </a:ext>
            </a:extLst>
          </p:cNvPr>
          <p:cNvSpPr>
            <a:spLocks xmlns:a="http://schemas.openxmlformats.org/drawingml/2006/main" noGrp="1"/>
          </p:cNvSpPr>
          <p:nvPr/>
        </p:nvSpPr>
        <p:spPr>
          <a:xfrm xmlns:a="http://schemas.openxmlformats.org/drawingml/2006/main">
            <a:off x="2571750" y="2152650"/>
            <a:ext cx="28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FFFFFF"/>
                </a:solidFill>
              </a:defRPr>
            </a:pPr>
            <a:r>
              <a:rPr sz="1500" b="1">
                <a:solidFill>
                  <a:srgbClr val="FFFFFF"/>
                </a:solidFill>
              </a:rPr>
              <a:t>2</a:t>
            </a:r>
          </a:p>
        </p:txBody>
      </p:sp>
      <p:sp>
        <p:nvSpPr>
          <p:cNvPr id="18" name="">
            <a:extLst xmlns:a="http://schemas.openxmlformats.org/drawingml/2006/main">
              <a:ext uri="{FF2B5EF4-FFF2-40B4-BE49-F238E27FC236}">
                <a16:creationId xmlns:a16="http://schemas.microsoft.com/office/drawing/2014/main" id="{69A75363-3D94-4ED7-AD3D-4F6BC868C7B1}"/>
              </a:ext>
            </a:extLst>
          </p:cNvPr>
          <p:cNvSpPr>
            <a:spLocks xmlns:a="http://schemas.openxmlformats.org/drawingml/2006/main" noGrp="1"/>
          </p:cNvSpPr>
          <p:nvPr/>
        </p:nvSpPr>
        <p:spPr>
          <a:xfrm xmlns:a="http://schemas.openxmlformats.org/drawingml/2006/main">
            <a:off x="2552700" y="2133600"/>
            <a:ext cx="323850" cy="323850"/>
          </a:xfrm>
          <a:prstGeom xmlns:a="http://schemas.openxmlformats.org/drawingml/2006/main" prst="roundRect">
            <a:avLst>
              <a:gd name="adj" fmla="val 50000"/>
            </a:avLst>
          </a:prstGeom>
          <a:solidFill xmlns:a="http://schemas.openxmlformats.org/drawingml/2006/main">
            <a:srgbClr val="E98A15"/>
          </a:solidFill>
          <a:ln xmlns:a="http://schemas.openxmlformats.org/drawingml/2006/main" w="11430">
            <a:solidFill>
              <a:srgbClr val="E98A15"/>
            </a:solidFill>
            <a:prstDash val="solid"/>
          </a:ln>
        </p:spPr>
      </p:sp>
      <p:sp>
        <p:nvSpPr>
          <p:cNvPr id="19" name="">
            <a:extLst xmlns:a="http://schemas.openxmlformats.org/drawingml/2006/main">
              <a:ext uri="{FF2B5EF4-FFF2-40B4-BE49-F238E27FC236}">
                <a16:creationId xmlns:a16="http://schemas.microsoft.com/office/drawing/2014/main" id="{3C225266-5BD6-4FFE-8C42-B5A7FD88C005}"/>
              </a:ext>
            </a:extLst>
          </p:cNvPr>
          <p:cNvSpPr>
            <a:spLocks xmlns:a="http://schemas.openxmlformats.org/drawingml/2006/main" noGrp="1"/>
          </p:cNvSpPr>
          <p:nvPr/>
        </p:nvSpPr>
        <p:spPr>
          <a:xfrm xmlns:a="http://schemas.openxmlformats.org/drawingml/2006/main">
            <a:off x="2590800" y="2571750"/>
            <a:ext cx="1181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0A1628"/>
                </a:solidFill>
              </a:defRPr>
            </a:pPr>
            <a:r>
              <a:rPr sz="1575" b="1">
                <a:solidFill>
                  <a:srgbClr val="0A1628"/>
                </a:solidFill>
              </a:rPr>
              <a:t>prefetch</a:t>
            </a:r>
          </a:p>
        </p:txBody>
      </p:sp>
      <p:sp>
        <p:nvSpPr>
          <p:cNvPr id="20" name="">
            <a:extLst xmlns:a="http://schemas.openxmlformats.org/drawingml/2006/main">
              <a:ext uri="{FF2B5EF4-FFF2-40B4-BE49-F238E27FC236}">
                <a16:creationId xmlns:a16="http://schemas.microsoft.com/office/drawing/2014/main" id="{6322C8C8-BA84-4DD9-A268-C650747B91E9}"/>
              </a:ext>
            </a:extLst>
          </p:cNvPr>
          <p:cNvSpPr>
            <a:spLocks xmlns:a="http://schemas.openxmlformats.org/drawingml/2006/main" noGrp="1"/>
          </p:cNvSpPr>
          <p:nvPr/>
        </p:nvSpPr>
        <p:spPr>
          <a:xfrm xmlns:a="http://schemas.openxmlformats.org/drawingml/2006/main">
            <a:off x="2552700" y="2867025"/>
            <a:ext cx="1238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0">
                <a:solidFill>
                  <a:srgbClr val="53657A"/>
                </a:solidFill>
              </a:defRPr>
            </a:pPr>
            <a:r>
              <a:rPr sz="1050" b="0">
                <a:solidFill>
                  <a:srgbClr val="53657A"/>
                </a:solidFill>
              </a:rPr>
              <a:t>SSD → DRAM</a:t>
            </a:r>
          </a:p>
        </p:txBody>
      </p:sp>
      <p:sp>
        <p:nvSpPr>
          <p:cNvPr id="21" name="">
            <a:extLst xmlns:a="http://schemas.openxmlformats.org/drawingml/2006/main">
              <a:ext uri="{FF2B5EF4-FFF2-40B4-BE49-F238E27FC236}">
                <a16:creationId xmlns:a16="http://schemas.microsoft.com/office/drawing/2014/main" id="{604572D7-3854-4DCF-846E-753E49B09A87}"/>
              </a:ext>
            </a:extLst>
          </p:cNvPr>
          <p:cNvSpPr>
            <a:spLocks xmlns:a="http://schemas.openxmlformats.org/drawingml/2006/main" noGrp="1"/>
          </p:cNvSpPr>
          <p:nvPr/>
        </p:nvSpPr>
        <p:spPr>
          <a:xfrm xmlns:a="http://schemas.openxmlformats.org/drawingml/2006/main">
            <a:off x="5686425" y="2438400"/>
            <a:ext cx="361950" cy="228600"/>
          </a:xfrm>
          <a:prstGeom xmlns:a="http://schemas.openxmlformats.org/drawingml/2006/main" prst="rightArrow">
            <a:avLst/>
          </a:prstGeom>
          <a:solidFill xmlns:a="http://schemas.openxmlformats.org/drawingml/2006/main">
            <a:srgbClr val="C8D3E0"/>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C66B3FEB-CE56-4978-B627-705C7F7CAB4F}"/>
              </a:ext>
            </a:extLst>
          </p:cNvPr>
          <p:cNvSpPr>
            <a:spLocks xmlns:a="http://schemas.openxmlformats.org/drawingml/2006/main" noGrp="1"/>
          </p:cNvSpPr>
          <p:nvPr/>
        </p:nvSpPr>
        <p:spPr>
          <a:xfrm xmlns:a="http://schemas.openxmlformats.org/drawingml/2006/main">
            <a:off x="4267200" y="2019300"/>
            <a:ext cx="1466850" cy="1200150"/>
          </a:xfrm>
          <a:prstGeom xmlns:a="http://schemas.openxmlformats.org/drawingml/2006/main" prst="roundRect">
            <a:avLst>
              <a:gd name="adj" fmla="val 7937"/>
            </a:avLst>
          </a:prstGeom>
          <a:solidFill xmlns:a="http://schemas.openxmlformats.org/drawingml/2006/main">
            <a:srgbClr val="FFF2DF"/>
          </a:solidFill>
          <a:ln xmlns:a="http://schemas.openxmlformats.org/drawingml/2006/main" w="11430">
            <a:solidFill>
              <a:srgbClr val="E98A15"/>
            </a:solidFill>
            <a:prstDash val="solid"/>
          </a:ln>
        </p:spPr>
      </p:sp>
      <p:sp>
        <p:nvSpPr>
          <p:cNvPr id="23" name="">
            <a:extLst xmlns:a="http://schemas.openxmlformats.org/drawingml/2006/main">
              <a:ext uri="{FF2B5EF4-FFF2-40B4-BE49-F238E27FC236}">
                <a16:creationId xmlns:a16="http://schemas.microsoft.com/office/drawing/2014/main" id="{25D0E1AC-F28B-426A-B74E-AF2CF439B7D0}"/>
              </a:ext>
            </a:extLst>
          </p:cNvPr>
          <p:cNvSpPr>
            <a:spLocks xmlns:a="http://schemas.openxmlformats.org/drawingml/2006/main" noGrp="1"/>
          </p:cNvSpPr>
          <p:nvPr/>
        </p:nvSpPr>
        <p:spPr>
          <a:xfrm xmlns:a="http://schemas.openxmlformats.org/drawingml/2006/main">
            <a:off x="4400550" y="2152650"/>
            <a:ext cx="28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FFFFFF"/>
                </a:solidFill>
              </a:defRPr>
            </a:pPr>
            <a:r>
              <a:rPr sz="1500" b="1">
                <a:solidFill>
                  <a:srgbClr val="FFFFFF"/>
                </a:solidFill>
              </a:rPr>
              <a:t>3</a:t>
            </a:r>
          </a:p>
        </p:txBody>
      </p:sp>
      <p:sp>
        <p:nvSpPr>
          <p:cNvPr id="24" name="">
            <a:extLst xmlns:a="http://schemas.openxmlformats.org/drawingml/2006/main">
              <a:ext uri="{FF2B5EF4-FFF2-40B4-BE49-F238E27FC236}">
                <a16:creationId xmlns:a16="http://schemas.microsoft.com/office/drawing/2014/main" id="{33DA22BB-4590-4A54-8836-FCC3B88B3FEB}"/>
              </a:ext>
            </a:extLst>
          </p:cNvPr>
          <p:cNvSpPr>
            <a:spLocks xmlns:a="http://schemas.openxmlformats.org/drawingml/2006/main" noGrp="1"/>
          </p:cNvSpPr>
          <p:nvPr/>
        </p:nvSpPr>
        <p:spPr>
          <a:xfrm xmlns:a="http://schemas.openxmlformats.org/drawingml/2006/main">
            <a:off x="4381500" y="2133600"/>
            <a:ext cx="323850" cy="323850"/>
          </a:xfrm>
          <a:prstGeom xmlns:a="http://schemas.openxmlformats.org/drawingml/2006/main" prst="roundRect">
            <a:avLst>
              <a:gd name="adj" fmla="val 50000"/>
            </a:avLst>
          </a:prstGeom>
          <a:solidFill xmlns:a="http://schemas.openxmlformats.org/drawingml/2006/main">
            <a:srgbClr val="E98A15"/>
          </a:solidFill>
          <a:ln xmlns:a="http://schemas.openxmlformats.org/drawingml/2006/main" w="11430">
            <a:solidFill>
              <a:srgbClr val="E98A15"/>
            </a:solidFill>
            <a:prstDash val="solid"/>
          </a:ln>
        </p:spPr>
      </p:sp>
      <p:sp>
        <p:nvSpPr>
          <p:cNvPr id="25" name="">
            <a:extLst xmlns:a="http://schemas.openxmlformats.org/drawingml/2006/main">
              <a:ext uri="{FF2B5EF4-FFF2-40B4-BE49-F238E27FC236}">
                <a16:creationId xmlns:a16="http://schemas.microsoft.com/office/drawing/2014/main" id="{D4E41D55-FC42-4084-9DDE-95CD0CFE69B4}"/>
              </a:ext>
            </a:extLst>
          </p:cNvPr>
          <p:cNvSpPr>
            <a:spLocks xmlns:a="http://schemas.openxmlformats.org/drawingml/2006/main" noGrp="1"/>
          </p:cNvSpPr>
          <p:nvPr/>
        </p:nvSpPr>
        <p:spPr>
          <a:xfrm xmlns:a="http://schemas.openxmlformats.org/drawingml/2006/main">
            <a:off x="4419600" y="2571750"/>
            <a:ext cx="1181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0A1628"/>
                </a:solidFill>
              </a:defRPr>
            </a:pPr>
            <a:r>
              <a:rPr sz="1575" b="1">
                <a:solidFill>
                  <a:srgbClr val="0A1628"/>
                </a:solidFill>
              </a:rPr>
              <a:t>promote</a:t>
            </a:r>
          </a:p>
        </p:txBody>
      </p:sp>
      <p:sp>
        <p:nvSpPr>
          <p:cNvPr id="26" name="">
            <a:extLst xmlns:a="http://schemas.openxmlformats.org/drawingml/2006/main">
              <a:ext uri="{FF2B5EF4-FFF2-40B4-BE49-F238E27FC236}">
                <a16:creationId xmlns:a16="http://schemas.microsoft.com/office/drawing/2014/main" id="{4B4B3D4D-2643-4269-AE8F-C3A99883B05B}"/>
              </a:ext>
            </a:extLst>
          </p:cNvPr>
          <p:cNvSpPr>
            <a:spLocks xmlns:a="http://schemas.openxmlformats.org/drawingml/2006/main" noGrp="1"/>
          </p:cNvSpPr>
          <p:nvPr/>
        </p:nvSpPr>
        <p:spPr>
          <a:xfrm xmlns:a="http://schemas.openxmlformats.org/drawingml/2006/main">
            <a:off x="4381500" y="2867025"/>
            <a:ext cx="1238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0">
                <a:solidFill>
                  <a:srgbClr val="53657A"/>
                </a:solidFill>
              </a:defRPr>
            </a:pPr>
            <a:r>
              <a:rPr sz="1050" b="0">
                <a:solidFill>
                  <a:srgbClr val="53657A"/>
                </a:solidFill>
              </a:rPr>
              <a:t>DRAM → VRAM</a:t>
            </a:r>
          </a:p>
        </p:txBody>
      </p:sp>
      <p:sp>
        <p:nvSpPr>
          <p:cNvPr id="27" name="">
            <a:extLst xmlns:a="http://schemas.openxmlformats.org/drawingml/2006/main">
              <a:ext uri="{FF2B5EF4-FFF2-40B4-BE49-F238E27FC236}">
                <a16:creationId xmlns:a16="http://schemas.microsoft.com/office/drawing/2014/main" id="{C8865631-0DDD-45EA-85E2-715EACECAF08}"/>
              </a:ext>
            </a:extLst>
          </p:cNvPr>
          <p:cNvSpPr>
            <a:spLocks xmlns:a="http://schemas.openxmlformats.org/drawingml/2006/main" noGrp="1"/>
          </p:cNvSpPr>
          <p:nvPr/>
        </p:nvSpPr>
        <p:spPr>
          <a:xfrm xmlns:a="http://schemas.openxmlformats.org/drawingml/2006/main">
            <a:off x="7515225" y="2438400"/>
            <a:ext cx="361950" cy="228600"/>
          </a:xfrm>
          <a:prstGeom xmlns:a="http://schemas.openxmlformats.org/drawingml/2006/main" prst="rightArrow">
            <a:avLst/>
          </a:prstGeom>
          <a:solidFill xmlns:a="http://schemas.openxmlformats.org/drawingml/2006/main">
            <a:srgbClr val="C8D3E0"/>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721C2EF3-A507-4D48-A4FE-DADE3826E25B}"/>
              </a:ext>
            </a:extLst>
          </p:cNvPr>
          <p:cNvSpPr>
            <a:spLocks xmlns:a="http://schemas.openxmlformats.org/drawingml/2006/main" noGrp="1"/>
          </p:cNvSpPr>
          <p:nvPr/>
        </p:nvSpPr>
        <p:spPr>
          <a:xfrm xmlns:a="http://schemas.openxmlformats.org/drawingml/2006/main">
            <a:off x="6096000" y="2019300"/>
            <a:ext cx="1466850" cy="1200150"/>
          </a:xfrm>
          <a:prstGeom xmlns:a="http://schemas.openxmlformats.org/drawingml/2006/main" prst="roundRect">
            <a:avLst>
              <a:gd name="adj" fmla="val 7937"/>
            </a:avLst>
          </a:prstGeom>
          <a:solidFill xmlns:a="http://schemas.openxmlformats.org/drawingml/2006/main">
            <a:srgbClr val="EEEAFE"/>
          </a:solidFill>
          <a:ln xmlns:a="http://schemas.openxmlformats.org/drawingml/2006/main" w="11430">
            <a:solidFill>
              <a:srgbClr val="7157D9"/>
            </a:solidFill>
            <a:prstDash val="solid"/>
          </a:ln>
        </p:spPr>
      </p:sp>
      <p:sp>
        <p:nvSpPr>
          <p:cNvPr id="29" name="">
            <a:extLst xmlns:a="http://schemas.openxmlformats.org/drawingml/2006/main">
              <a:ext uri="{FF2B5EF4-FFF2-40B4-BE49-F238E27FC236}">
                <a16:creationId xmlns:a16="http://schemas.microsoft.com/office/drawing/2014/main" id="{2DF84D09-A6C2-4CA7-9579-B9B61AEF63F0}"/>
              </a:ext>
            </a:extLst>
          </p:cNvPr>
          <p:cNvSpPr>
            <a:spLocks xmlns:a="http://schemas.openxmlformats.org/drawingml/2006/main" noGrp="1"/>
          </p:cNvSpPr>
          <p:nvPr/>
        </p:nvSpPr>
        <p:spPr>
          <a:xfrm xmlns:a="http://schemas.openxmlformats.org/drawingml/2006/main">
            <a:off x="6229350" y="2152650"/>
            <a:ext cx="28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FFFFFF"/>
                </a:solidFill>
              </a:defRPr>
            </a:pPr>
            <a:r>
              <a:rPr sz="1500" b="1">
                <a:solidFill>
                  <a:srgbClr val="FFFFFF"/>
                </a:solidFill>
              </a:rPr>
              <a:t>4</a:t>
            </a:r>
          </a:p>
        </p:txBody>
      </p:sp>
      <p:sp>
        <p:nvSpPr>
          <p:cNvPr id="30" name="">
            <a:extLst xmlns:a="http://schemas.openxmlformats.org/drawingml/2006/main">
              <a:ext uri="{FF2B5EF4-FFF2-40B4-BE49-F238E27FC236}">
                <a16:creationId xmlns:a16="http://schemas.microsoft.com/office/drawing/2014/main" id="{3E232514-3C29-4A3A-B837-FF151C75B7EA}"/>
              </a:ext>
            </a:extLst>
          </p:cNvPr>
          <p:cNvSpPr>
            <a:spLocks xmlns:a="http://schemas.openxmlformats.org/drawingml/2006/main" noGrp="1"/>
          </p:cNvSpPr>
          <p:nvPr/>
        </p:nvSpPr>
        <p:spPr>
          <a:xfrm xmlns:a="http://schemas.openxmlformats.org/drawingml/2006/main">
            <a:off x="6210300" y="2133600"/>
            <a:ext cx="323850" cy="323850"/>
          </a:xfrm>
          <a:prstGeom xmlns:a="http://schemas.openxmlformats.org/drawingml/2006/main" prst="roundRect">
            <a:avLst>
              <a:gd name="adj" fmla="val 50000"/>
            </a:avLst>
          </a:prstGeom>
          <a:solidFill xmlns:a="http://schemas.openxmlformats.org/drawingml/2006/main">
            <a:srgbClr val="7157D9"/>
          </a:solidFill>
          <a:ln xmlns:a="http://schemas.openxmlformats.org/drawingml/2006/main" w="11430">
            <a:solidFill>
              <a:srgbClr val="7157D9"/>
            </a:solidFill>
            <a:prstDash val="solid"/>
          </a:ln>
        </p:spPr>
      </p:sp>
      <p:sp>
        <p:nvSpPr>
          <p:cNvPr id="31" name="">
            <a:extLst xmlns:a="http://schemas.openxmlformats.org/drawingml/2006/main">
              <a:ext uri="{FF2B5EF4-FFF2-40B4-BE49-F238E27FC236}">
                <a16:creationId xmlns:a16="http://schemas.microsoft.com/office/drawing/2014/main" id="{3BBCEA9F-82C0-419F-BFB3-A5D4D353FA3A}"/>
              </a:ext>
            </a:extLst>
          </p:cNvPr>
          <p:cNvSpPr>
            <a:spLocks xmlns:a="http://schemas.openxmlformats.org/drawingml/2006/main" noGrp="1"/>
          </p:cNvSpPr>
          <p:nvPr/>
        </p:nvSpPr>
        <p:spPr>
          <a:xfrm xmlns:a="http://schemas.openxmlformats.org/drawingml/2006/main">
            <a:off x="6248400" y="2571750"/>
            <a:ext cx="1181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0A1628"/>
                </a:solidFill>
              </a:defRPr>
            </a:pPr>
            <a:r>
              <a:rPr sz="1575" b="1">
                <a:solidFill>
                  <a:srgbClr val="0A1628"/>
                </a:solidFill>
              </a:rPr>
              <a:t>compute</a:t>
            </a:r>
          </a:p>
        </p:txBody>
      </p:sp>
      <p:sp>
        <p:nvSpPr>
          <p:cNvPr id="32" name="">
            <a:extLst xmlns:a="http://schemas.openxmlformats.org/drawingml/2006/main">
              <a:ext uri="{FF2B5EF4-FFF2-40B4-BE49-F238E27FC236}">
                <a16:creationId xmlns:a16="http://schemas.microsoft.com/office/drawing/2014/main" id="{32ACFCD9-F19A-485E-A53A-359477CA9364}"/>
              </a:ext>
            </a:extLst>
          </p:cNvPr>
          <p:cNvSpPr>
            <a:spLocks xmlns:a="http://schemas.openxmlformats.org/drawingml/2006/main" noGrp="1"/>
          </p:cNvSpPr>
          <p:nvPr/>
        </p:nvSpPr>
        <p:spPr>
          <a:xfrm xmlns:a="http://schemas.openxmlformats.org/drawingml/2006/main">
            <a:off x="6210300" y="2867025"/>
            <a:ext cx="1238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0">
                <a:solidFill>
                  <a:srgbClr val="53657A"/>
                </a:solidFill>
              </a:defRPr>
            </a:pPr>
            <a:r>
              <a:rPr sz="1050" b="0">
                <a:solidFill>
                  <a:srgbClr val="53657A"/>
                </a:solidFill>
              </a:rPr>
              <a:t>forward / backward</a:t>
            </a:r>
          </a:p>
        </p:txBody>
      </p:sp>
      <p:sp>
        <p:nvSpPr>
          <p:cNvPr id="33" name="">
            <a:extLst xmlns:a="http://schemas.openxmlformats.org/drawingml/2006/main">
              <a:ext uri="{FF2B5EF4-FFF2-40B4-BE49-F238E27FC236}">
                <a16:creationId xmlns:a16="http://schemas.microsoft.com/office/drawing/2014/main" id="{D5B78459-3FA7-4E1A-82CA-075C9B74C0A9}"/>
              </a:ext>
            </a:extLst>
          </p:cNvPr>
          <p:cNvSpPr>
            <a:spLocks xmlns:a="http://schemas.openxmlformats.org/drawingml/2006/main" noGrp="1"/>
          </p:cNvSpPr>
          <p:nvPr/>
        </p:nvSpPr>
        <p:spPr>
          <a:xfrm xmlns:a="http://schemas.openxmlformats.org/drawingml/2006/main">
            <a:off x="9344025" y="2438400"/>
            <a:ext cx="361950" cy="228600"/>
          </a:xfrm>
          <a:prstGeom xmlns:a="http://schemas.openxmlformats.org/drawingml/2006/main" prst="rightArrow">
            <a:avLst/>
          </a:prstGeom>
          <a:solidFill xmlns:a="http://schemas.openxmlformats.org/drawingml/2006/main">
            <a:srgbClr val="C8D3E0"/>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D6B68238-814C-4B92-93D4-0C7E6B2ECE86}"/>
              </a:ext>
            </a:extLst>
          </p:cNvPr>
          <p:cNvSpPr>
            <a:spLocks xmlns:a="http://schemas.openxmlformats.org/drawingml/2006/main" noGrp="1"/>
          </p:cNvSpPr>
          <p:nvPr/>
        </p:nvSpPr>
        <p:spPr>
          <a:xfrm xmlns:a="http://schemas.openxmlformats.org/drawingml/2006/main">
            <a:off x="7924800" y="2019300"/>
            <a:ext cx="1466850" cy="1200150"/>
          </a:xfrm>
          <a:prstGeom xmlns:a="http://schemas.openxmlformats.org/drawingml/2006/main" prst="roundRect">
            <a:avLst>
              <a:gd name="adj" fmla="val 7937"/>
            </a:avLst>
          </a:prstGeom>
          <a:solidFill xmlns:a="http://schemas.openxmlformats.org/drawingml/2006/main">
            <a:srgbClr val="E4F7FA"/>
          </a:solidFill>
          <a:ln xmlns:a="http://schemas.openxmlformats.org/drawingml/2006/main" w="11430">
            <a:solidFill>
              <a:srgbClr val="0A9DB5"/>
            </a:solidFill>
            <a:prstDash val="solid"/>
          </a:ln>
        </p:spPr>
      </p:sp>
      <p:sp>
        <p:nvSpPr>
          <p:cNvPr id="35" name="">
            <a:extLst xmlns:a="http://schemas.openxmlformats.org/drawingml/2006/main">
              <a:ext uri="{FF2B5EF4-FFF2-40B4-BE49-F238E27FC236}">
                <a16:creationId xmlns:a16="http://schemas.microsoft.com/office/drawing/2014/main" id="{08F0309C-3DD7-4863-BE05-CA55FFE75F88}"/>
              </a:ext>
            </a:extLst>
          </p:cNvPr>
          <p:cNvSpPr>
            <a:spLocks xmlns:a="http://schemas.openxmlformats.org/drawingml/2006/main" noGrp="1"/>
          </p:cNvSpPr>
          <p:nvPr/>
        </p:nvSpPr>
        <p:spPr>
          <a:xfrm xmlns:a="http://schemas.openxmlformats.org/drawingml/2006/main">
            <a:off x="8058150" y="2152650"/>
            <a:ext cx="28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FFFFFF"/>
                </a:solidFill>
              </a:defRPr>
            </a:pPr>
            <a:r>
              <a:rPr sz="1500" b="1">
                <a:solidFill>
                  <a:srgbClr val="FFFFFF"/>
                </a:solidFill>
              </a:rPr>
              <a:t>5</a:t>
            </a:r>
          </a:p>
        </p:txBody>
      </p:sp>
      <p:sp>
        <p:nvSpPr>
          <p:cNvPr id="36" name="">
            <a:extLst xmlns:a="http://schemas.openxmlformats.org/drawingml/2006/main">
              <a:ext uri="{FF2B5EF4-FFF2-40B4-BE49-F238E27FC236}">
                <a16:creationId xmlns:a16="http://schemas.microsoft.com/office/drawing/2014/main" id="{02863452-EC60-4B4A-A741-C8CFF16ACBAC}"/>
              </a:ext>
            </a:extLst>
          </p:cNvPr>
          <p:cNvSpPr>
            <a:spLocks xmlns:a="http://schemas.openxmlformats.org/drawingml/2006/main" noGrp="1"/>
          </p:cNvSpPr>
          <p:nvPr/>
        </p:nvSpPr>
        <p:spPr>
          <a:xfrm xmlns:a="http://schemas.openxmlformats.org/drawingml/2006/main">
            <a:off x="8039100" y="2133600"/>
            <a:ext cx="323850" cy="323850"/>
          </a:xfrm>
          <a:prstGeom xmlns:a="http://schemas.openxmlformats.org/drawingml/2006/main" prst="roundRect">
            <a:avLst>
              <a:gd name="adj" fmla="val 50000"/>
            </a:avLst>
          </a:prstGeom>
          <a:solidFill xmlns:a="http://schemas.openxmlformats.org/drawingml/2006/main">
            <a:srgbClr val="0A9DB5"/>
          </a:solidFill>
          <a:ln xmlns:a="http://schemas.openxmlformats.org/drawingml/2006/main" w="11430">
            <a:solidFill>
              <a:srgbClr val="0A9DB5"/>
            </a:solidFill>
            <a:prstDash val="solid"/>
          </a:ln>
        </p:spPr>
      </p:sp>
      <p:sp>
        <p:nvSpPr>
          <p:cNvPr id="37" name="">
            <a:extLst xmlns:a="http://schemas.openxmlformats.org/drawingml/2006/main">
              <a:ext uri="{FF2B5EF4-FFF2-40B4-BE49-F238E27FC236}">
                <a16:creationId xmlns:a16="http://schemas.microsoft.com/office/drawing/2014/main" id="{D84D0348-354E-4539-B5C4-971BDF993235}"/>
              </a:ext>
            </a:extLst>
          </p:cNvPr>
          <p:cNvSpPr>
            <a:spLocks xmlns:a="http://schemas.openxmlformats.org/drawingml/2006/main" noGrp="1"/>
          </p:cNvSpPr>
          <p:nvPr/>
        </p:nvSpPr>
        <p:spPr>
          <a:xfrm xmlns:a="http://schemas.openxmlformats.org/drawingml/2006/main">
            <a:off x="8077200" y="2571750"/>
            <a:ext cx="1181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0A1628"/>
                </a:solidFill>
              </a:defRPr>
            </a:pPr>
            <a:r>
              <a:rPr sz="1575" b="1">
                <a:solidFill>
                  <a:srgbClr val="0A1628"/>
                </a:solidFill>
              </a:rPr>
              <a:t>evict</a:t>
            </a:r>
          </a:p>
        </p:txBody>
      </p:sp>
      <p:sp>
        <p:nvSpPr>
          <p:cNvPr id="38" name="">
            <a:extLst xmlns:a="http://schemas.openxmlformats.org/drawingml/2006/main">
              <a:ext uri="{FF2B5EF4-FFF2-40B4-BE49-F238E27FC236}">
                <a16:creationId xmlns:a16="http://schemas.microsoft.com/office/drawing/2014/main" id="{7B391BCB-5BB5-4B38-93C2-6AF1C128DBEA}"/>
              </a:ext>
            </a:extLst>
          </p:cNvPr>
          <p:cNvSpPr>
            <a:spLocks xmlns:a="http://schemas.openxmlformats.org/drawingml/2006/main" noGrp="1"/>
          </p:cNvSpPr>
          <p:nvPr/>
        </p:nvSpPr>
        <p:spPr>
          <a:xfrm xmlns:a="http://schemas.openxmlformats.org/drawingml/2006/main">
            <a:off x="8039100" y="2867025"/>
            <a:ext cx="1238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0">
                <a:solidFill>
                  <a:srgbClr val="53657A"/>
                </a:solidFill>
              </a:defRPr>
            </a:pPr>
            <a:r>
              <a:rPr sz="1050" b="0">
                <a:solidFill>
                  <a:srgbClr val="53657A"/>
                </a:solidFill>
              </a:rPr>
              <a:t>state → lower tier</a:t>
            </a:r>
          </a:p>
        </p:txBody>
      </p:sp>
      <p:sp>
        <p:nvSpPr>
          <p:cNvPr id="39" name="">
            <a:extLst xmlns:a="http://schemas.openxmlformats.org/drawingml/2006/main">
              <a:ext uri="{FF2B5EF4-FFF2-40B4-BE49-F238E27FC236}">
                <a16:creationId xmlns:a16="http://schemas.microsoft.com/office/drawing/2014/main" id="{66B77E16-C90F-46A6-9052-4FF357982ADB}"/>
              </a:ext>
            </a:extLst>
          </p:cNvPr>
          <p:cNvSpPr>
            <a:spLocks xmlns:a="http://schemas.openxmlformats.org/drawingml/2006/main" noGrp="1"/>
          </p:cNvSpPr>
          <p:nvPr/>
        </p:nvSpPr>
        <p:spPr>
          <a:xfrm xmlns:a="http://schemas.openxmlformats.org/drawingml/2006/main">
            <a:off x="9753600" y="2019300"/>
            <a:ext cx="1466850" cy="1200150"/>
          </a:xfrm>
          <a:prstGeom xmlns:a="http://schemas.openxmlformats.org/drawingml/2006/main" prst="roundRect">
            <a:avLst>
              <a:gd name="adj" fmla="val 7937"/>
            </a:avLst>
          </a:prstGeom>
          <a:solidFill xmlns:a="http://schemas.openxmlformats.org/drawingml/2006/main">
            <a:srgbClr val="E4F7FA"/>
          </a:solidFill>
          <a:ln xmlns:a="http://schemas.openxmlformats.org/drawingml/2006/main" w="11430">
            <a:solidFill>
              <a:srgbClr val="0A9DB5"/>
            </a:solidFill>
            <a:prstDash val="solid"/>
          </a:ln>
        </p:spPr>
      </p:sp>
      <p:sp>
        <p:nvSpPr>
          <p:cNvPr id="40" name="">
            <a:extLst xmlns:a="http://schemas.openxmlformats.org/drawingml/2006/main">
              <a:ext uri="{FF2B5EF4-FFF2-40B4-BE49-F238E27FC236}">
                <a16:creationId xmlns:a16="http://schemas.microsoft.com/office/drawing/2014/main" id="{7A18EABA-E840-43CB-814C-CD7292350D59}"/>
              </a:ext>
            </a:extLst>
          </p:cNvPr>
          <p:cNvSpPr>
            <a:spLocks xmlns:a="http://schemas.openxmlformats.org/drawingml/2006/main" noGrp="1"/>
          </p:cNvSpPr>
          <p:nvPr/>
        </p:nvSpPr>
        <p:spPr>
          <a:xfrm xmlns:a="http://schemas.openxmlformats.org/drawingml/2006/main">
            <a:off x="9886950" y="2152650"/>
            <a:ext cx="28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FFFFFF"/>
                </a:solidFill>
              </a:defRPr>
            </a:pPr>
            <a:r>
              <a:rPr sz="1500" b="1">
                <a:solidFill>
                  <a:srgbClr val="FFFFFF"/>
                </a:solidFill>
              </a:rPr>
              <a:t>6</a:t>
            </a:r>
          </a:p>
        </p:txBody>
      </p:sp>
      <p:sp>
        <p:nvSpPr>
          <p:cNvPr id="41" name="">
            <a:extLst xmlns:a="http://schemas.openxmlformats.org/drawingml/2006/main">
              <a:ext uri="{FF2B5EF4-FFF2-40B4-BE49-F238E27FC236}">
                <a16:creationId xmlns:a16="http://schemas.microsoft.com/office/drawing/2014/main" id="{319E92DC-9855-4B15-871E-C152C036920D}"/>
              </a:ext>
            </a:extLst>
          </p:cNvPr>
          <p:cNvSpPr>
            <a:spLocks xmlns:a="http://schemas.openxmlformats.org/drawingml/2006/main" noGrp="1"/>
          </p:cNvSpPr>
          <p:nvPr/>
        </p:nvSpPr>
        <p:spPr>
          <a:xfrm xmlns:a="http://schemas.openxmlformats.org/drawingml/2006/main">
            <a:off x="9867900" y="2133600"/>
            <a:ext cx="323850" cy="323850"/>
          </a:xfrm>
          <a:prstGeom xmlns:a="http://schemas.openxmlformats.org/drawingml/2006/main" prst="roundRect">
            <a:avLst>
              <a:gd name="adj" fmla="val 50000"/>
            </a:avLst>
          </a:prstGeom>
          <a:solidFill xmlns:a="http://schemas.openxmlformats.org/drawingml/2006/main">
            <a:srgbClr val="0A9DB5"/>
          </a:solidFill>
          <a:ln xmlns:a="http://schemas.openxmlformats.org/drawingml/2006/main" w="11430">
            <a:solidFill>
              <a:srgbClr val="0A9DB5"/>
            </a:solidFill>
            <a:prstDash val="solid"/>
          </a:ln>
        </p:spPr>
      </p:sp>
      <p:sp>
        <p:nvSpPr>
          <p:cNvPr id="42" name="">
            <a:extLst xmlns:a="http://schemas.openxmlformats.org/drawingml/2006/main">
              <a:ext uri="{FF2B5EF4-FFF2-40B4-BE49-F238E27FC236}">
                <a16:creationId xmlns:a16="http://schemas.microsoft.com/office/drawing/2014/main" id="{504E8DD8-8D7F-44F8-A459-D2EAAA554897}"/>
              </a:ext>
            </a:extLst>
          </p:cNvPr>
          <p:cNvSpPr>
            <a:spLocks xmlns:a="http://schemas.openxmlformats.org/drawingml/2006/main" noGrp="1"/>
          </p:cNvSpPr>
          <p:nvPr/>
        </p:nvSpPr>
        <p:spPr>
          <a:xfrm xmlns:a="http://schemas.openxmlformats.org/drawingml/2006/main">
            <a:off x="9906000" y="2571750"/>
            <a:ext cx="1181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0A1628"/>
                </a:solidFill>
              </a:defRPr>
            </a:pPr>
            <a:r>
              <a:rPr sz="1575" b="1">
                <a:solidFill>
                  <a:srgbClr val="0A1628"/>
                </a:solidFill>
              </a:rPr>
              <a:t>overlap</a:t>
            </a:r>
          </a:p>
        </p:txBody>
      </p:sp>
      <p:sp>
        <p:nvSpPr>
          <p:cNvPr id="43" name="">
            <a:extLst xmlns:a="http://schemas.openxmlformats.org/drawingml/2006/main">
              <a:ext uri="{FF2B5EF4-FFF2-40B4-BE49-F238E27FC236}">
                <a16:creationId xmlns:a16="http://schemas.microsoft.com/office/drawing/2014/main" id="{2EBB5051-C626-44A5-952A-5B0874274F67}"/>
              </a:ext>
            </a:extLst>
          </p:cNvPr>
          <p:cNvSpPr>
            <a:spLocks xmlns:a="http://schemas.openxmlformats.org/drawingml/2006/main" noGrp="1"/>
          </p:cNvSpPr>
          <p:nvPr/>
        </p:nvSpPr>
        <p:spPr>
          <a:xfrm xmlns:a="http://schemas.openxmlformats.org/drawingml/2006/main">
            <a:off x="9867900" y="2867025"/>
            <a:ext cx="1238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0">
                <a:solidFill>
                  <a:srgbClr val="53657A"/>
                </a:solidFill>
              </a:defRPr>
            </a:pPr>
            <a:r>
              <a:rPr sz="1050" b="0">
                <a:solidFill>
                  <a:srgbClr val="53657A"/>
                </a:solidFill>
              </a:rPr>
              <a:t>prefetch ahead</a:t>
            </a:r>
          </a:p>
        </p:txBody>
      </p:sp>
      <p:sp>
        <p:nvSpPr>
          <p:cNvPr id="44" name="">
            <a:extLst xmlns:a="http://schemas.openxmlformats.org/drawingml/2006/main">
              <a:ext uri="{FF2B5EF4-FFF2-40B4-BE49-F238E27FC236}">
                <a16:creationId xmlns:a16="http://schemas.microsoft.com/office/drawing/2014/main" id="{6BFA5AB9-E15F-4B34-B7C5-91583A2C8464}"/>
              </a:ext>
            </a:extLst>
          </p:cNvPr>
          <p:cNvSpPr>
            <a:spLocks xmlns:a="http://schemas.openxmlformats.org/drawingml/2006/main" noGrp="1"/>
          </p:cNvSpPr>
          <p:nvPr/>
        </p:nvSpPr>
        <p:spPr>
          <a:xfrm xmlns:a="http://schemas.openxmlformats.org/drawingml/2006/main">
            <a:off x="609600" y="3590925"/>
            <a:ext cx="95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a:solidFill>
                  <a:srgbClr val="53657A"/>
                </a:solidFill>
              </a:defRPr>
            </a:pPr>
            <a:r>
              <a:rPr sz="1275" b="1">
                <a:solidFill>
                  <a:srgbClr val="53657A"/>
                </a:solidFill>
              </a:rPr>
              <a:t>TIME →</a:t>
            </a:r>
          </a:p>
        </p:txBody>
      </p:sp>
      <p:sp>
        <p:nvSpPr>
          <p:cNvPr id="45" name="">
            <a:extLst xmlns:a="http://schemas.openxmlformats.org/drawingml/2006/main">
              <a:ext uri="{FF2B5EF4-FFF2-40B4-BE49-F238E27FC236}">
                <a16:creationId xmlns:a16="http://schemas.microsoft.com/office/drawing/2014/main" id="{773BD654-5503-4CAE-9E2F-1ABDF04DD1B2}"/>
              </a:ext>
            </a:extLst>
          </p:cNvPr>
          <p:cNvSpPr>
            <a:spLocks xmlns:a="http://schemas.openxmlformats.org/drawingml/2006/main" noGrp="1"/>
          </p:cNvSpPr>
          <p:nvPr/>
        </p:nvSpPr>
        <p:spPr>
          <a:xfrm xmlns:a="http://schemas.openxmlformats.org/drawingml/2006/main">
            <a:off x="609600" y="4010025"/>
            <a:ext cx="1047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1">
                <a:solidFill>
                  <a:srgbClr val="7157D9"/>
                </a:solidFill>
              </a:defRPr>
            </a:pPr>
            <a:r>
              <a:rPr sz="1800" b="1">
                <a:solidFill>
                  <a:srgbClr val="7157D9"/>
                </a:solidFill>
              </a:rPr>
              <a:t>GPU</a:t>
            </a:r>
          </a:p>
        </p:txBody>
      </p:sp>
      <p:sp>
        <p:nvSpPr>
          <p:cNvPr id="46" name="">
            <a:extLst xmlns:a="http://schemas.openxmlformats.org/drawingml/2006/main">
              <a:ext uri="{FF2B5EF4-FFF2-40B4-BE49-F238E27FC236}">
                <a16:creationId xmlns:a16="http://schemas.microsoft.com/office/drawing/2014/main" id="{86EAD185-E903-4D05-8242-AD1110D616B0}"/>
              </a:ext>
            </a:extLst>
          </p:cNvPr>
          <p:cNvSpPr>
            <a:spLocks xmlns:a="http://schemas.openxmlformats.org/drawingml/2006/main" noGrp="1"/>
          </p:cNvSpPr>
          <p:nvPr/>
        </p:nvSpPr>
        <p:spPr>
          <a:xfrm xmlns:a="http://schemas.openxmlformats.org/drawingml/2006/main">
            <a:off x="609600" y="4857750"/>
            <a:ext cx="114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1">
                <a:solidFill>
                  <a:srgbClr val="E98A15"/>
                </a:solidFill>
              </a:defRPr>
            </a:pPr>
            <a:r>
              <a:rPr sz="1800" b="1">
                <a:solidFill>
                  <a:srgbClr val="E98A15"/>
                </a:solidFill>
              </a:rPr>
              <a:t>SSD / PCIe</a:t>
            </a:r>
          </a:p>
        </p:txBody>
      </p:sp>
      <p:sp>
        <p:nvSpPr>
          <p:cNvPr id="47" name="">
            <a:extLst xmlns:a="http://schemas.openxmlformats.org/drawingml/2006/main">
              <a:ext uri="{FF2B5EF4-FFF2-40B4-BE49-F238E27FC236}">
                <a16:creationId xmlns:a16="http://schemas.microsoft.com/office/drawing/2014/main" id="{A128FCA6-2DF9-4D82-9F32-39710DCAB2B6}"/>
              </a:ext>
            </a:extLst>
          </p:cNvPr>
          <p:cNvSpPr>
            <a:spLocks xmlns:a="http://schemas.openxmlformats.org/drawingml/2006/main" noGrp="1"/>
          </p:cNvSpPr>
          <p:nvPr/>
        </p:nvSpPr>
        <p:spPr>
          <a:xfrm xmlns:a="http://schemas.openxmlformats.org/drawingml/2006/main">
            <a:off x="1704975" y="4429125"/>
            <a:ext cx="9858375" cy="0"/>
          </a:xfrm>
          <a:prstGeom xmlns:a="http://schemas.openxmlformats.org/drawingml/2006/main" prst="line">
            <a:avLst/>
          </a:prstGeom>
          <a:noFill xmlns:a="http://schemas.openxmlformats.org/drawingml/2006/main"/>
          <a:ln xmlns:a="http://schemas.openxmlformats.org/drawingml/2006/main" w="9525">
            <a:solidFill>
              <a:srgbClr val="C8D3E0"/>
            </a:solidFill>
            <a:prstDash val="solid"/>
          </a:ln>
        </p:spPr>
      </p:sp>
      <p:sp>
        <p:nvSpPr>
          <p:cNvPr id="48" name="">
            <a:extLst xmlns:a="http://schemas.openxmlformats.org/drawingml/2006/main">
              <a:ext uri="{FF2B5EF4-FFF2-40B4-BE49-F238E27FC236}">
                <a16:creationId xmlns:a16="http://schemas.microsoft.com/office/drawing/2014/main" id="{909557F9-ED41-466F-A355-1D2B58AFE4BC}"/>
              </a:ext>
            </a:extLst>
          </p:cNvPr>
          <p:cNvSpPr>
            <a:spLocks xmlns:a="http://schemas.openxmlformats.org/drawingml/2006/main" noGrp="1"/>
          </p:cNvSpPr>
          <p:nvPr/>
        </p:nvSpPr>
        <p:spPr>
          <a:xfrm xmlns:a="http://schemas.openxmlformats.org/drawingml/2006/main">
            <a:off x="1704975" y="5276850"/>
            <a:ext cx="9858375" cy="0"/>
          </a:xfrm>
          <a:prstGeom xmlns:a="http://schemas.openxmlformats.org/drawingml/2006/main" prst="line">
            <a:avLst/>
          </a:prstGeom>
          <a:noFill xmlns:a="http://schemas.openxmlformats.org/drawingml/2006/main"/>
          <a:ln xmlns:a="http://schemas.openxmlformats.org/drawingml/2006/main" w="9525">
            <a:solidFill>
              <a:srgbClr val="C8D3E0"/>
            </a:solidFill>
            <a:prstDash val="solid"/>
          </a:ln>
        </p:spPr>
      </p:sp>
      <p:sp>
        <p:nvSpPr>
          <p:cNvPr id="49" name="">
            <a:extLst xmlns:a="http://schemas.openxmlformats.org/drawingml/2006/main">
              <a:ext uri="{FF2B5EF4-FFF2-40B4-BE49-F238E27FC236}">
                <a16:creationId xmlns:a16="http://schemas.microsoft.com/office/drawing/2014/main" id="{19243CCB-91C3-455D-B708-027AA11C5BD3}"/>
              </a:ext>
            </a:extLst>
          </p:cNvPr>
          <p:cNvSpPr>
            <a:spLocks xmlns:a="http://schemas.openxmlformats.org/drawingml/2006/main" noGrp="1"/>
          </p:cNvSpPr>
          <p:nvPr/>
        </p:nvSpPr>
        <p:spPr>
          <a:xfrm xmlns:a="http://schemas.openxmlformats.org/drawingml/2006/main">
            <a:off x="1838325" y="3886200"/>
            <a:ext cx="2095500" cy="457200"/>
          </a:xfrm>
          <a:prstGeom xmlns:a="http://schemas.openxmlformats.org/drawingml/2006/main" prst="roundRect">
            <a:avLst>
              <a:gd name="adj" fmla="val 16667"/>
            </a:avLst>
          </a:prstGeom>
          <a:solidFill xmlns:a="http://schemas.openxmlformats.org/drawingml/2006/main">
            <a:srgbClr val="EEEAFE"/>
          </a:solidFill>
          <a:ln xmlns:a="http://schemas.openxmlformats.org/drawingml/2006/main" w="11430">
            <a:solidFill>
              <a:srgbClr val="7157D9"/>
            </a:solidFill>
            <a:prstDash val="solid"/>
          </a:ln>
        </p:spPr>
      </p:sp>
      <p:sp>
        <p:nvSpPr>
          <p:cNvPr id="50" name="">
            <a:extLst xmlns:a="http://schemas.openxmlformats.org/drawingml/2006/main">
              <a:ext uri="{FF2B5EF4-FFF2-40B4-BE49-F238E27FC236}">
                <a16:creationId xmlns:a16="http://schemas.microsoft.com/office/drawing/2014/main" id="{C2DB63D1-A527-4A3B-92A4-E12A3A555904}"/>
              </a:ext>
            </a:extLst>
          </p:cNvPr>
          <p:cNvSpPr>
            <a:spLocks xmlns:a="http://schemas.openxmlformats.org/drawingml/2006/main" noGrp="1"/>
          </p:cNvSpPr>
          <p:nvPr/>
        </p:nvSpPr>
        <p:spPr>
          <a:xfrm xmlns:a="http://schemas.openxmlformats.org/drawingml/2006/main">
            <a:off x="1981200" y="3990975"/>
            <a:ext cx="1809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7157D9"/>
                </a:solidFill>
              </a:defRPr>
            </a:pPr>
            <a:r>
              <a:rPr sz="1500" b="1">
                <a:solidFill>
                  <a:srgbClr val="7157D9"/>
                </a:solidFill>
              </a:rPr>
              <a:t>Compute N</a:t>
            </a:r>
          </a:p>
        </p:txBody>
      </p:sp>
      <p:sp>
        <p:nvSpPr>
          <p:cNvPr id="51" name="">
            <a:extLst xmlns:a="http://schemas.openxmlformats.org/drawingml/2006/main">
              <a:ext uri="{FF2B5EF4-FFF2-40B4-BE49-F238E27FC236}">
                <a16:creationId xmlns:a16="http://schemas.microsoft.com/office/drawing/2014/main" id="{6F6F8B21-F67D-4FB9-9C31-84A71235018B}"/>
              </a:ext>
            </a:extLst>
          </p:cNvPr>
          <p:cNvSpPr>
            <a:spLocks xmlns:a="http://schemas.openxmlformats.org/drawingml/2006/main" noGrp="1"/>
          </p:cNvSpPr>
          <p:nvPr/>
        </p:nvSpPr>
        <p:spPr>
          <a:xfrm xmlns:a="http://schemas.openxmlformats.org/drawingml/2006/main">
            <a:off x="4238625" y="3886200"/>
            <a:ext cx="2095500" cy="457200"/>
          </a:xfrm>
          <a:prstGeom xmlns:a="http://schemas.openxmlformats.org/drawingml/2006/main" prst="roundRect">
            <a:avLst>
              <a:gd name="adj" fmla="val 16667"/>
            </a:avLst>
          </a:prstGeom>
          <a:solidFill xmlns:a="http://schemas.openxmlformats.org/drawingml/2006/main">
            <a:srgbClr val="EEEAFE"/>
          </a:solidFill>
          <a:ln xmlns:a="http://schemas.openxmlformats.org/drawingml/2006/main" w="11430">
            <a:solidFill>
              <a:srgbClr val="7157D9"/>
            </a:solidFill>
            <a:prstDash val="solid"/>
          </a:ln>
        </p:spPr>
      </p:sp>
      <p:sp>
        <p:nvSpPr>
          <p:cNvPr id="52" name="">
            <a:extLst xmlns:a="http://schemas.openxmlformats.org/drawingml/2006/main">
              <a:ext uri="{FF2B5EF4-FFF2-40B4-BE49-F238E27FC236}">
                <a16:creationId xmlns:a16="http://schemas.microsoft.com/office/drawing/2014/main" id="{695B5860-1771-42EE-8378-588E49312262}"/>
              </a:ext>
            </a:extLst>
          </p:cNvPr>
          <p:cNvSpPr>
            <a:spLocks xmlns:a="http://schemas.openxmlformats.org/drawingml/2006/main" noGrp="1"/>
          </p:cNvSpPr>
          <p:nvPr/>
        </p:nvSpPr>
        <p:spPr>
          <a:xfrm xmlns:a="http://schemas.openxmlformats.org/drawingml/2006/main">
            <a:off x="4381500" y="3990975"/>
            <a:ext cx="1809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7157D9"/>
                </a:solidFill>
              </a:defRPr>
            </a:pPr>
            <a:r>
              <a:rPr sz="1500" b="1">
                <a:solidFill>
                  <a:srgbClr val="7157D9"/>
                </a:solidFill>
              </a:rPr>
              <a:t>Compute O</a:t>
            </a:r>
          </a:p>
        </p:txBody>
      </p:sp>
      <p:sp>
        <p:nvSpPr>
          <p:cNvPr id="53" name="">
            <a:extLst xmlns:a="http://schemas.openxmlformats.org/drawingml/2006/main">
              <a:ext uri="{FF2B5EF4-FFF2-40B4-BE49-F238E27FC236}">
                <a16:creationId xmlns:a16="http://schemas.microsoft.com/office/drawing/2014/main" id="{C719082C-89CD-49D3-9382-509503C6C822}"/>
              </a:ext>
            </a:extLst>
          </p:cNvPr>
          <p:cNvSpPr>
            <a:spLocks xmlns:a="http://schemas.openxmlformats.org/drawingml/2006/main" noGrp="1"/>
          </p:cNvSpPr>
          <p:nvPr/>
        </p:nvSpPr>
        <p:spPr>
          <a:xfrm xmlns:a="http://schemas.openxmlformats.org/drawingml/2006/main">
            <a:off x="6638925" y="3886200"/>
            <a:ext cx="2095500" cy="457200"/>
          </a:xfrm>
          <a:prstGeom xmlns:a="http://schemas.openxmlformats.org/drawingml/2006/main" prst="roundRect">
            <a:avLst>
              <a:gd name="adj" fmla="val 16667"/>
            </a:avLst>
          </a:prstGeom>
          <a:solidFill xmlns:a="http://schemas.openxmlformats.org/drawingml/2006/main">
            <a:srgbClr val="EEEAFE"/>
          </a:solidFill>
          <a:ln xmlns:a="http://schemas.openxmlformats.org/drawingml/2006/main" w="11430">
            <a:solidFill>
              <a:srgbClr val="7157D9"/>
            </a:solidFill>
            <a:prstDash val="solid"/>
          </a:ln>
        </p:spPr>
      </p:sp>
      <p:sp>
        <p:nvSpPr>
          <p:cNvPr id="54" name="">
            <a:extLst xmlns:a="http://schemas.openxmlformats.org/drawingml/2006/main">
              <a:ext uri="{FF2B5EF4-FFF2-40B4-BE49-F238E27FC236}">
                <a16:creationId xmlns:a16="http://schemas.microsoft.com/office/drawing/2014/main" id="{4C85AA1D-5972-4AA5-B053-C31EA118A94C}"/>
              </a:ext>
            </a:extLst>
          </p:cNvPr>
          <p:cNvSpPr>
            <a:spLocks xmlns:a="http://schemas.openxmlformats.org/drawingml/2006/main" noGrp="1"/>
          </p:cNvSpPr>
          <p:nvPr/>
        </p:nvSpPr>
        <p:spPr>
          <a:xfrm xmlns:a="http://schemas.openxmlformats.org/drawingml/2006/main">
            <a:off x="6781800" y="3990975"/>
            <a:ext cx="1809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7157D9"/>
                </a:solidFill>
              </a:defRPr>
            </a:pPr>
            <a:r>
              <a:rPr sz="1500" b="1">
                <a:solidFill>
                  <a:srgbClr val="7157D9"/>
                </a:solidFill>
              </a:rPr>
              <a:t>Compute P</a:t>
            </a:r>
          </a:p>
        </p:txBody>
      </p:sp>
      <p:sp>
        <p:nvSpPr>
          <p:cNvPr id="55" name="">
            <a:extLst xmlns:a="http://schemas.openxmlformats.org/drawingml/2006/main">
              <a:ext uri="{FF2B5EF4-FFF2-40B4-BE49-F238E27FC236}">
                <a16:creationId xmlns:a16="http://schemas.microsoft.com/office/drawing/2014/main" id="{7D0B1ADC-0B5C-44EC-BD7C-999EB3D52524}"/>
              </a:ext>
            </a:extLst>
          </p:cNvPr>
          <p:cNvSpPr>
            <a:spLocks xmlns:a="http://schemas.openxmlformats.org/drawingml/2006/main" noGrp="1"/>
          </p:cNvSpPr>
          <p:nvPr/>
        </p:nvSpPr>
        <p:spPr>
          <a:xfrm xmlns:a="http://schemas.openxmlformats.org/drawingml/2006/main">
            <a:off x="9039225" y="3886200"/>
            <a:ext cx="2095500" cy="457200"/>
          </a:xfrm>
          <a:prstGeom xmlns:a="http://schemas.openxmlformats.org/drawingml/2006/main" prst="roundRect">
            <a:avLst>
              <a:gd name="adj" fmla="val 16667"/>
            </a:avLst>
          </a:prstGeom>
          <a:solidFill xmlns:a="http://schemas.openxmlformats.org/drawingml/2006/main">
            <a:srgbClr val="EEEAFE"/>
          </a:solidFill>
          <a:ln xmlns:a="http://schemas.openxmlformats.org/drawingml/2006/main" w="11430">
            <a:solidFill>
              <a:srgbClr val="7157D9"/>
            </a:solidFill>
            <a:prstDash val="solid"/>
          </a:ln>
        </p:spPr>
      </p:sp>
      <p:sp>
        <p:nvSpPr>
          <p:cNvPr id="56" name="">
            <a:extLst xmlns:a="http://schemas.openxmlformats.org/drawingml/2006/main">
              <a:ext uri="{FF2B5EF4-FFF2-40B4-BE49-F238E27FC236}">
                <a16:creationId xmlns:a16="http://schemas.microsoft.com/office/drawing/2014/main" id="{E14C8B0A-1C81-45F2-830A-8895C123C23A}"/>
              </a:ext>
            </a:extLst>
          </p:cNvPr>
          <p:cNvSpPr>
            <a:spLocks xmlns:a="http://schemas.openxmlformats.org/drawingml/2006/main" noGrp="1"/>
          </p:cNvSpPr>
          <p:nvPr/>
        </p:nvSpPr>
        <p:spPr>
          <a:xfrm xmlns:a="http://schemas.openxmlformats.org/drawingml/2006/main">
            <a:off x="9182100" y="3990975"/>
            <a:ext cx="1809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7157D9"/>
                </a:solidFill>
              </a:defRPr>
            </a:pPr>
            <a:r>
              <a:rPr sz="1500" b="1">
                <a:solidFill>
                  <a:srgbClr val="7157D9"/>
                </a:solidFill>
              </a:rPr>
              <a:t>Compute Q</a:t>
            </a:r>
          </a:p>
        </p:txBody>
      </p:sp>
      <p:sp>
        <p:nvSpPr>
          <p:cNvPr id="57" name="">
            <a:extLst xmlns:a="http://schemas.openxmlformats.org/drawingml/2006/main">
              <a:ext uri="{FF2B5EF4-FFF2-40B4-BE49-F238E27FC236}">
                <a16:creationId xmlns:a16="http://schemas.microsoft.com/office/drawing/2014/main" id="{9062C79D-0A97-4CD6-9179-6602788C9B48}"/>
              </a:ext>
            </a:extLst>
          </p:cNvPr>
          <p:cNvSpPr>
            <a:spLocks xmlns:a="http://schemas.openxmlformats.org/drawingml/2006/main" noGrp="1"/>
          </p:cNvSpPr>
          <p:nvPr/>
        </p:nvSpPr>
        <p:spPr>
          <a:xfrm xmlns:a="http://schemas.openxmlformats.org/drawingml/2006/main">
            <a:off x="3038475" y="4733925"/>
            <a:ext cx="2095500" cy="457200"/>
          </a:xfrm>
          <a:prstGeom xmlns:a="http://schemas.openxmlformats.org/drawingml/2006/main" prst="roundRect">
            <a:avLst>
              <a:gd name="adj" fmla="val 16667"/>
            </a:avLst>
          </a:prstGeom>
          <a:solidFill xmlns:a="http://schemas.openxmlformats.org/drawingml/2006/main">
            <a:srgbClr val="FFF2DF"/>
          </a:solidFill>
          <a:ln xmlns:a="http://schemas.openxmlformats.org/drawingml/2006/main" w="11430">
            <a:solidFill>
              <a:srgbClr val="E98A15"/>
            </a:solidFill>
            <a:prstDash val="solid"/>
          </a:ln>
        </p:spPr>
      </p:sp>
      <p:sp>
        <p:nvSpPr>
          <p:cNvPr id="58" name="">
            <a:extLst xmlns:a="http://schemas.openxmlformats.org/drawingml/2006/main">
              <a:ext uri="{FF2B5EF4-FFF2-40B4-BE49-F238E27FC236}">
                <a16:creationId xmlns:a16="http://schemas.microsoft.com/office/drawing/2014/main" id="{ED641F63-568C-400D-A6AA-C09881D67F33}"/>
              </a:ext>
            </a:extLst>
          </p:cNvPr>
          <p:cNvSpPr>
            <a:spLocks xmlns:a="http://schemas.openxmlformats.org/drawingml/2006/main" noGrp="1"/>
          </p:cNvSpPr>
          <p:nvPr/>
        </p:nvSpPr>
        <p:spPr>
          <a:xfrm xmlns:a="http://schemas.openxmlformats.org/drawingml/2006/main">
            <a:off x="3181350" y="4838700"/>
            <a:ext cx="1809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E98A15"/>
                </a:solidFill>
              </a:defRPr>
            </a:pPr>
            <a:r>
              <a:rPr sz="1500" b="1">
                <a:solidFill>
                  <a:srgbClr val="E98A15"/>
                </a:solidFill>
              </a:rPr>
              <a:t>Prefetch O</a:t>
            </a:r>
          </a:p>
        </p:txBody>
      </p:sp>
      <p:sp>
        <p:nvSpPr>
          <p:cNvPr id="59" name="">
            <a:extLst xmlns:a="http://schemas.openxmlformats.org/drawingml/2006/main">
              <a:ext uri="{FF2B5EF4-FFF2-40B4-BE49-F238E27FC236}">
                <a16:creationId xmlns:a16="http://schemas.microsoft.com/office/drawing/2014/main" id="{7EBD7AF3-6571-4173-B086-B07C02411E76}"/>
              </a:ext>
            </a:extLst>
          </p:cNvPr>
          <p:cNvSpPr>
            <a:spLocks xmlns:a="http://schemas.openxmlformats.org/drawingml/2006/main" noGrp="1"/>
          </p:cNvSpPr>
          <p:nvPr/>
        </p:nvSpPr>
        <p:spPr>
          <a:xfrm xmlns:a="http://schemas.openxmlformats.org/drawingml/2006/main">
            <a:off x="5438775" y="4733925"/>
            <a:ext cx="2095500" cy="457200"/>
          </a:xfrm>
          <a:prstGeom xmlns:a="http://schemas.openxmlformats.org/drawingml/2006/main" prst="roundRect">
            <a:avLst>
              <a:gd name="adj" fmla="val 16667"/>
            </a:avLst>
          </a:prstGeom>
          <a:solidFill xmlns:a="http://schemas.openxmlformats.org/drawingml/2006/main">
            <a:srgbClr val="FFF2DF"/>
          </a:solidFill>
          <a:ln xmlns:a="http://schemas.openxmlformats.org/drawingml/2006/main" w="11430">
            <a:solidFill>
              <a:srgbClr val="E98A15"/>
            </a:solidFill>
            <a:prstDash val="solid"/>
          </a:ln>
        </p:spPr>
      </p:sp>
      <p:sp>
        <p:nvSpPr>
          <p:cNvPr id="60" name="">
            <a:extLst xmlns:a="http://schemas.openxmlformats.org/drawingml/2006/main">
              <a:ext uri="{FF2B5EF4-FFF2-40B4-BE49-F238E27FC236}">
                <a16:creationId xmlns:a16="http://schemas.microsoft.com/office/drawing/2014/main" id="{6A1B56F6-B0CD-4CDF-BFFF-4D7818A6358E}"/>
              </a:ext>
            </a:extLst>
          </p:cNvPr>
          <p:cNvSpPr>
            <a:spLocks xmlns:a="http://schemas.openxmlformats.org/drawingml/2006/main" noGrp="1"/>
          </p:cNvSpPr>
          <p:nvPr/>
        </p:nvSpPr>
        <p:spPr>
          <a:xfrm xmlns:a="http://schemas.openxmlformats.org/drawingml/2006/main">
            <a:off x="5581650" y="4838700"/>
            <a:ext cx="1809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E98A15"/>
                </a:solidFill>
              </a:defRPr>
            </a:pPr>
            <a:r>
              <a:rPr sz="1500" b="1">
                <a:solidFill>
                  <a:srgbClr val="E98A15"/>
                </a:solidFill>
              </a:rPr>
              <a:t>Prefetch P</a:t>
            </a:r>
          </a:p>
        </p:txBody>
      </p:sp>
      <p:sp>
        <p:nvSpPr>
          <p:cNvPr id="61" name="">
            <a:extLst xmlns:a="http://schemas.openxmlformats.org/drawingml/2006/main">
              <a:ext uri="{FF2B5EF4-FFF2-40B4-BE49-F238E27FC236}">
                <a16:creationId xmlns:a16="http://schemas.microsoft.com/office/drawing/2014/main" id="{402412CD-0A62-4C7B-9C00-07E98CB2AD74}"/>
              </a:ext>
            </a:extLst>
          </p:cNvPr>
          <p:cNvSpPr>
            <a:spLocks xmlns:a="http://schemas.openxmlformats.org/drawingml/2006/main" noGrp="1"/>
          </p:cNvSpPr>
          <p:nvPr/>
        </p:nvSpPr>
        <p:spPr>
          <a:xfrm xmlns:a="http://schemas.openxmlformats.org/drawingml/2006/main">
            <a:off x="7839075" y="4733925"/>
            <a:ext cx="2095500" cy="457200"/>
          </a:xfrm>
          <a:prstGeom xmlns:a="http://schemas.openxmlformats.org/drawingml/2006/main" prst="roundRect">
            <a:avLst>
              <a:gd name="adj" fmla="val 16667"/>
            </a:avLst>
          </a:prstGeom>
          <a:solidFill xmlns:a="http://schemas.openxmlformats.org/drawingml/2006/main">
            <a:srgbClr val="FFF2DF"/>
          </a:solidFill>
          <a:ln xmlns:a="http://schemas.openxmlformats.org/drawingml/2006/main" w="11430">
            <a:solidFill>
              <a:srgbClr val="E98A15"/>
            </a:solidFill>
            <a:prstDash val="solid"/>
          </a:ln>
        </p:spPr>
      </p:sp>
      <p:sp>
        <p:nvSpPr>
          <p:cNvPr id="62" name="">
            <a:extLst xmlns:a="http://schemas.openxmlformats.org/drawingml/2006/main">
              <a:ext uri="{FF2B5EF4-FFF2-40B4-BE49-F238E27FC236}">
                <a16:creationId xmlns:a16="http://schemas.microsoft.com/office/drawing/2014/main" id="{8AC61F07-B50C-4175-A163-22867ECB86DD}"/>
              </a:ext>
            </a:extLst>
          </p:cNvPr>
          <p:cNvSpPr>
            <a:spLocks xmlns:a="http://schemas.openxmlformats.org/drawingml/2006/main" noGrp="1"/>
          </p:cNvSpPr>
          <p:nvPr/>
        </p:nvSpPr>
        <p:spPr>
          <a:xfrm xmlns:a="http://schemas.openxmlformats.org/drawingml/2006/main">
            <a:off x="7981950" y="4838700"/>
            <a:ext cx="1809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E98A15"/>
                </a:solidFill>
              </a:defRPr>
            </a:pPr>
            <a:r>
              <a:rPr sz="1500" b="1">
                <a:solidFill>
                  <a:srgbClr val="E98A15"/>
                </a:solidFill>
              </a:rPr>
              <a:t>Prefetch Q</a:t>
            </a:r>
          </a:p>
        </p:txBody>
      </p:sp>
      <p:sp>
        <p:nvSpPr>
          <p:cNvPr id="63" name="">
            <a:extLst xmlns:a="http://schemas.openxmlformats.org/drawingml/2006/main">
              <a:ext uri="{FF2B5EF4-FFF2-40B4-BE49-F238E27FC236}">
                <a16:creationId xmlns:a16="http://schemas.microsoft.com/office/drawing/2014/main" id="{A7A9A0DC-B066-446D-83AF-814EBE368E81}"/>
              </a:ext>
            </a:extLst>
          </p:cNvPr>
          <p:cNvSpPr>
            <a:spLocks xmlns:a="http://schemas.openxmlformats.org/drawingml/2006/main" noGrp="1"/>
          </p:cNvSpPr>
          <p:nvPr/>
        </p:nvSpPr>
        <p:spPr>
          <a:xfrm xmlns:a="http://schemas.openxmlformats.org/drawingml/2006/main">
            <a:off x="1704975" y="5600700"/>
            <a:ext cx="9858375" cy="600075"/>
          </a:xfrm>
          <a:prstGeom xmlns:a="http://schemas.openxmlformats.org/drawingml/2006/main" prst="roundRect">
            <a:avLst>
              <a:gd name="adj" fmla="val 12698"/>
            </a:avLst>
          </a:prstGeom>
          <a:solidFill xmlns:a="http://schemas.openxmlformats.org/drawingml/2006/main">
            <a:srgbClr val="10253F"/>
          </a:solidFill>
          <a:ln xmlns:a="http://schemas.openxmlformats.org/drawingml/2006/main" w="11430">
            <a:solidFill>
              <a:srgbClr val="10253F"/>
            </a:solidFill>
            <a:prstDash val="solid"/>
          </a:ln>
        </p:spPr>
      </p:sp>
      <p:sp>
        <p:nvSpPr>
          <p:cNvPr id="64" name="">
            <a:extLst xmlns:a="http://schemas.openxmlformats.org/drawingml/2006/main">
              <a:ext uri="{FF2B5EF4-FFF2-40B4-BE49-F238E27FC236}">
                <a16:creationId xmlns:a16="http://schemas.microsoft.com/office/drawing/2014/main" id="{7666AA35-5E26-4F46-B73B-0F648AB820D2}"/>
              </a:ext>
            </a:extLst>
          </p:cNvPr>
          <p:cNvSpPr>
            <a:spLocks xmlns:a="http://schemas.openxmlformats.org/drawingml/2006/main" noGrp="1"/>
          </p:cNvSpPr>
          <p:nvPr/>
        </p:nvSpPr>
        <p:spPr>
          <a:xfrm xmlns:a="http://schemas.openxmlformats.org/drawingml/2006/main">
            <a:off x="1885950" y="5734050"/>
            <a:ext cx="94964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425" b="1">
                <a:solidFill>
                  <a:srgbClr val="FFFFFF"/>
                </a:solidFill>
              </a:defRPr>
            </a:pPr>
            <a:r>
              <a:rPr sz="1425" b="1">
                <a:solidFill>
                  <a:srgbClr val="FFFFFF"/>
                </a:solidFill>
              </a:rPr>
              <a:t>If transfer time exceeds available compute overlap, GPU utilization collapses; topology, batch/sequence, locality, and queue behavior determine the stall.</a:t>
            </a:r>
          </a:p>
        </p:txBody>
      </p:sp>
    </p:spTree>
    <p:extLst>
      <p:ext uri="{BB962C8B-B14F-4D97-AF65-F5344CB8AC3E}">
        <p14:creationId xmlns:p14="http://schemas.microsoft.com/office/powerpoint/2010/main" val="517796524"/>
      </p:ext>
    </p:extLst>
  </p:cSld>
</p:sld>
</file>

<file path=ppt/slides/slide11.xml><?xml version="1.0" encoding="utf-8"?>
<p:sld xmlns:p="http://schemas.openxmlformats.org/presentationml/2006/main">
  <p:cSld>
    <p:bg>
      <p:bgPr>
        <a:solidFill xmlns:a="http://schemas.openxmlformats.org/drawingml/2006/main">
          <a:srgbClr val="F4F7FB"/>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9C68E872-8F92-482B-BD98-630511F0C61C}"/>
              </a:ext>
            </a:extLst>
          </p:cNvPr>
          <p:cNvSpPr>
            <a:spLocks xmlns:a="http://schemas.openxmlformats.org/drawingml/2006/main" noGrp="1"/>
          </p:cNvSpPr>
          <p:nvPr/>
        </p:nvSpPr>
        <p:spPr>
          <a:xfrm xmlns:a="http://schemas.openxmlformats.org/drawingml/2006/main">
            <a:off x="609600" y="257175"/>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2B6DE9"/>
                </a:solidFill>
              </a:defRPr>
            </a:pPr>
            <a:r>
              <a:rPr sz="1050" b="1">
                <a:solidFill>
                  <a:srgbClr val="2B6DE9"/>
                </a:solidFill>
              </a:rPr>
              <a:t>BENEFITS AND LIMITATIONS</a:t>
            </a:r>
          </a:p>
        </p:txBody>
      </p:sp>
      <p:sp>
        <p:nvSpPr>
          <p:cNvPr id="2" name="">
            <a:extLst xmlns:a="http://schemas.openxmlformats.org/drawingml/2006/main">
              <a:ext uri="{FF2B5EF4-FFF2-40B4-BE49-F238E27FC236}">
                <a16:creationId xmlns:a16="http://schemas.microsoft.com/office/drawing/2014/main" id="{E4A08D73-912D-40E4-9A80-F13441265FEA}"/>
              </a:ext>
            </a:extLst>
          </p:cNvPr>
          <p:cNvSpPr>
            <a:spLocks xmlns:a="http://schemas.openxmlformats.org/drawingml/2006/main" noGrp="1"/>
          </p:cNvSpPr>
          <p:nvPr/>
        </p:nvSpPr>
        <p:spPr>
          <a:xfrm xmlns:a="http://schemas.openxmlformats.org/drawingml/2006/main">
            <a:off x="11191875" y="219075"/>
            <a:ext cx="476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200" b="1">
                <a:solidFill>
                  <a:srgbClr val="53657A"/>
                </a:solidFill>
              </a:defRPr>
            </a:pPr>
            <a:r>
              <a:rPr sz="1200" b="1">
                <a:solidFill>
                  <a:srgbClr val="53657A"/>
                </a:solidFill>
              </a:rPr>
              <a:t>11</a:t>
            </a:r>
          </a:p>
        </p:txBody>
      </p:sp>
      <p:sp>
        <p:nvSpPr>
          <p:cNvPr id="3" name="">
            <a:extLst xmlns:a="http://schemas.openxmlformats.org/drawingml/2006/main">
              <a:ext uri="{FF2B5EF4-FFF2-40B4-BE49-F238E27FC236}">
                <a16:creationId xmlns:a16="http://schemas.microsoft.com/office/drawing/2014/main" id="{DCF51BA7-C699-4664-BEEB-524561D36C60}"/>
              </a:ext>
            </a:extLst>
          </p:cNvPr>
          <p:cNvSpPr>
            <a:spLocks xmlns:a="http://schemas.openxmlformats.org/drawingml/2006/main" noGrp="1"/>
          </p:cNvSpPr>
          <p:nvPr/>
        </p:nvSpPr>
        <p:spPr>
          <a:xfrm xmlns:a="http://schemas.openxmlformats.org/drawingml/2006/main">
            <a:off x="609600" y="552450"/>
            <a:ext cx="109061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600" b="1">
                <a:solidFill>
                  <a:srgbClr val="0A1628"/>
                </a:solidFill>
              </a:defRPr>
            </a:pPr>
            <a:r>
              <a:rPr sz="3600" b="1">
                <a:solidFill>
                  <a:srgbClr val="0A1628"/>
                </a:solidFill>
              </a:rPr>
              <a:t>aiDAPTIV adds capacity—with hard I/O limits</a:t>
            </a:r>
          </a:p>
        </p:txBody>
      </p:sp>
      <p:sp>
        <p:nvSpPr>
          <p:cNvPr id="4" name="">
            <a:extLst xmlns:a="http://schemas.openxmlformats.org/drawingml/2006/main">
              <a:ext uri="{FF2B5EF4-FFF2-40B4-BE49-F238E27FC236}">
                <a16:creationId xmlns:a16="http://schemas.microsoft.com/office/drawing/2014/main" id="{6AB9251B-1E19-4EA1-B6D7-84D8BDC41DB3}"/>
              </a:ext>
            </a:extLst>
          </p:cNvPr>
          <p:cNvSpPr>
            <a:spLocks xmlns:a="http://schemas.openxmlformats.org/drawingml/2006/main" noGrp="1"/>
          </p:cNvSpPr>
          <p:nvPr/>
        </p:nvSpPr>
        <p:spPr>
          <a:xfrm xmlns:a="http://schemas.openxmlformats.org/drawingml/2006/main">
            <a:off x="609600" y="1200150"/>
            <a:ext cx="10972800" cy="0"/>
          </a:xfrm>
          <a:prstGeom xmlns:a="http://schemas.openxmlformats.org/drawingml/2006/main" prst="line">
            <a:avLst/>
          </a:prstGeom>
          <a:noFill xmlns:a="http://schemas.openxmlformats.org/drawingml/2006/main"/>
          <a:ln xmlns:a="http://schemas.openxmlformats.org/drawingml/2006/main" w="11430">
            <a:solidFill>
              <a:srgbClr val="C8D3E0"/>
            </a:solidFill>
            <a:prstDash val="solid"/>
          </a:ln>
        </p:spPr>
      </p:sp>
      <p:sp>
        <p:nvSpPr>
          <p:cNvPr id="5" name="">
            <a:extLst xmlns:a="http://schemas.openxmlformats.org/drawingml/2006/main">
              <a:ext uri="{FF2B5EF4-FFF2-40B4-BE49-F238E27FC236}">
                <a16:creationId xmlns:a16="http://schemas.microsoft.com/office/drawing/2014/main" id="{0A379EF3-8B10-4798-BC04-9C44936827C5}"/>
              </a:ext>
            </a:extLst>
          </p:cNvPr>
          <p:cNvSpPr>
            <a:spLocks xmlns:a="http://schemas.openxmlformats.org/drawingml/2006/main" noGrp="1"/>
          </p:cNvSpPr>
          <p:nvPr/>
        </p:nvSpPr>
        <p:spPr>
          <a:xfrm xmlns:a="http://schemas.openxmlformats.org/drawingml/2006/main">
            <a:off x="609600" y="6543675"/>
            <a:ext cx="10096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7B8796"/>
                </a:solidFill>
              </a:defRPr>
            </a:pPr>
            <a:r>
              <a:rPr sz="900" b="0">
                <a:solidFill>
                  <a:srgbClr val="7B8796"/>
                </a:solidFill>
              </a:rPr>
              <a:t>Phison aiDAPTIV technical architecture  •  Sources and claim boundaries in speaker notes</a:t>
            </a:r>
          </a:p>
        </p:txBody>
      </p:sp>
      <p:sp>
        <p:nvSpPr>
          <p:cNvPr id="6" name="">
            <a:extLst xmlns:a="http://schemas.openxmlformats.org/drawingml/2006/main">
              <a:ext uri="{FF2B5EF4-FFF2-40B4-BE49-F238E27FC236}">
                <a16:creationId xmlns:a16="http://schemas.microsoft.com/office/drawing/2014/main" id="{624C3E53-56EB-4E99-8DEB-8F471B0CBCD7}"/>
              </a:ext>
            </a:extLst>
          </p:cNvPr>
          <p:cNvSpPr>
            <a:spLocks xmlns:a="http://schemas.openxmlformats.org/drawingml/2006/main" noGrp="1"/>
          </p:cNvSpPr>
          <p:nvPr/>
        </p:nvSpPr>
        <p:spPr>
          <a:xfrm xmlns:a="http://schemas.openxmlformats.org/drawingml/2006/main">
            <a:off x="609600" y="1562100"/>
            <a:ext cx="5257800" cy="4048125"/>
          </a:xfrm>
          <a:prstGeom xmlns:a="http://schemas.openxmlformats.org/drawingml/2006/main" prst="roundRect">
            <a:avLst>
              <a:gd name="adj" fmla="val 3294"/>
            </a:avLst>
          </a:prstGeom>
          <a:solidFill xmlns:a="http://schemas.openxmlformats.org/drawingml/2006/main">
            <a:srgbClr val="E4F5F0"/>
          </a:solidFill>
          <a:ln xmlns:a="http://schemas.openxmlformats.org/drawingml/2006/main" w="11430">
            <a:solidFill>
              <a:srgbClr val="09866A"/>
            </a:solidFill>
            <a:prstDash val="solid"/>
          </a:ln>
        </p:spPr>
      </p:sp>
      <p:sp>
        <p:nvSpPr>
          <p:cNvPr id="7" name="">
            <a:extLst xmlns:a="http://schemas.openxmlformats.org/drawingml/2006/main">
              <a:ext uri="{FF2B5EF4-FFF2-40B4-BE49-F238E27FC236}">
                <a16:creationId xmlns:a16="http://schemas.microsoft.com/office/drawing/2014/main" id="{7B368371-0390-479D-935C-6FE4FB72F16A}"/>
              </a:ext>
            </a:extLst>
          </p:cNvPr>
          <p:cNvSpPr>
            <a:spLocks xmlns:a="http://schemas.openxmlformats.org/drawingml/2006/main" noGrp="1"/>
          </p:cNvSpPr>
          <p:nvPr/>
        </p:nvSpPr>
        <p:spPr>
          <a:xfrm xmlns:a="http://schemas.openxmlformats.org/drawingml/2006/main">
            <a:off x="885825" y="1790700"/>
            <a:ext cx="4286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400" b="1">
                <a:solidFill>
                  <a:srgbClr val="09866A"/>
                </a:solidFill>
              </a:defRPr>
            </a:pPr>
            <a:r>
              <a:rPr sz="2400" b="1">
                <a:solidFill>
                  <a:srgbClr val="09866A"/>
                </a:solidFill>
              </a:rPr>
              <a:t>Where it helps</a:t>
            </a:r>
          </a:p>
        </p:txBody>
      </p:sp>
      <p:sp>
        <p:nvSpPr>
          <p:cNvPr id="8" name="">
            <a:extLst xmlns:a="http://schemas.openxmlformats.org/drawingml/2006/main">
              <a:ext uri="{FF2B5EF4-FFF2-40B4-BE49-F238E27FC236}">
                <a16:creationId xmlns:a16="http://schemas.microsoft.com/office/drawing/2014/main" id="{59F7C5E1-E02D-4E6F-9F41-7739DB46544A}"/>
              </a:ext>
            </a:extLst>
          </p:cNvPr>
          <p:cNvSpPr>
            <a:spLocks xmlns:a="http://schemas.openxmlformats.org/drawingml/2006/main" noGrp="1"/>
          </p:cNvSpPr>
          <p:nvPr/>
        </p:nvSpPr>
        <p:spPr>
          <a:xfrm xmlns:a="http://schemas.openxmlformats.org/drawingml/2006/main">
            <a:off x="885825" y="2466975"/>
            <a:ext cx="76200" cy="76200"/>
          </a:xfrm>
          <a:prstGeom xmlns:a="http://schemas.openxmlformats.org/drawingml/2006/main" prst="roundRect">
            <a:avLst>
              <a:gd name="adj" fmla="val 50000"/>
            </a:avLst>
          </a:prstGeom>
          <a:solidFill xmlns:a="http://schemas.openxmlformats.org/drawingml/2006/main">
            <a:srgbClr val="2B6DE9"/>
          </a:solidFill>
          <a:ln xmlns:a="http://schemas.openxmlformats.org/drawingml/2006/main" w="11430">
            <a:solidFill>
              <a:srgbClr val="2B6DE9"/>
            </a:solidFill>
            <a:prstDash val="solid"/>
          </a:ln>
        </p:spPr>
      </p:sp>
      <p:sp>
        <p:nvSpPr>
          <p:cNvPr id="9" name="">
            <a:extLst xmlns:a="http://schemas.openxmlformats.org/drawingml/2006/main">
              <a:ext uri="{FF2B5EF4-FFF2-40B4-BE49-F238E27FC236}">
                <a16:creationId xmlns:a16="http://schemas.microsoft.com/office/drawing/2014/main" id="{CF4A9505-FCC5-4B91-9079-2433FAB44E0F}"/>
              </a:ext>
            </a:extLst>
          </p:cNvPr>
          <p:cNvSpPr>
            <a:spLocks xmlns:a="http://schemas.openxmlformats.org/drawingml/2006/main" noGrp="1"/>
          </p:cNvSpPr>
          <p:nvPr/>
        </p:nvSpPr>
        <p:spPr>
          <a:xfrm xmlns:a="http://schemas.openxmlformats.org/drawingml/2006/main">
            <a:off x="1095375" y="2381250"/>
            <a:ext cx="4362450"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0">
                <a:solidFill>
                  <a:srgbClr val="0A1628"/>
                </a:solidFill>
              </a:defRPr>
            </a:pPr>
            <a:r>
              <a:rPr sz="1575" b="0">
                <a:solidFill>
                  <a:srgbClr val="0A1628"/>
                </a:solidFill>
              </a:rPr>
              <a:t>larger models than GPU VRAM alone permits</a:t>
            </a:r>
          </a:p>
        </p:txBody>
      </p:sp>
      <p:sp>
        <p:nvSpPr>
          <p:cNvPr id="10" name="">
            <a:extLst xmlns:a="http://schemas.openxmlformats.org/drawingml/2006/main">
              <a:ext uri="{FF2B5EF4-FFF2-40B4-BE49-F238E27FC236}">
                <a16:creationId xmlns:a16="http://schemas.microsoft.com/office/drawing/2014/main" id="{CFBAEC64-AA03-43F1-86F0-E8DFB8A26F79}"/>
              </a:ext>
            </a:extLst>
          </p:cNvPr>
          <p:cNvSpPr>
            <a:spLocks xmlns:a="http://schemas.openxmlformats.org/drawingml/2006/main" noGrp="1"/>
          </p:cNvSpPr>
          <p:nvPr/>
        </p:nvSpPr>
        <p:spPr>
          <a:xfrm xmlns:a="http://schemas.openxmlformats.org/drawingml/2006/main">
            <a:off x="885825" y="3028950"/>
            <a:ext cx="76200" cy="76200"/>
          </a:xfrm>
          <a:prstGeom xmlns:a="http://schemas.openxmlformats.org/drawingml/2006/main" prst="roundRect">
            <a:avLst>
              <a:gd name="adj" fmla="val 50000"/>
            </a:avLst>
          </a:prstGeom>
          <a:solidFill xmlns:a="http://schemas.openxmlformats.org/drawingml/2006/main">
            <a:srgbClr val="2B6DE9"/>
          </a:solidFill>
          <a:ln xmlns:a="http://schemas.openxmlformats.org/drawingml/2006/main" w="11430">
            <a:solidFill>
              <a:srgbClr val="2B6DE9"/>
            </a:solidFill>
            <a:prstDash val="solid"/>
          </a:ln>
        </p:spPr>
      </p:sp>
      <p:sp>
        <p:nvSpPr>
          <p:cNvPr id="11" name="">
            <a:extLst xmlns:a="http://schemas.openxmlformats.org/drawingml/2006/main">
              <a:ext uri="{FF2B5EF4-FFF2-40B4-BE49-F238E27FC236}">
                <a16:creationId xmlns:a16="http://schemas.microsoft.com/office/drawing/2014/main" id="{604E5D97-97E6-483D-B425-CFCB44F1E3BF}"/>
              </a:ext>
            </a:extLst>
          </p:cNvPr>
          <p:cNvSpPr>
            <a:spLocks xmlns:a="http://schemas.openxmlformats.org/drawingml/2006/main" noGrp="1"/>
          </p:cNvSpPr>
          <p:nvPr/>
        </p:nvSpPr>
        <p:spPr>
          <a:xfrm xmlns:a="http://schemas.openxmlformats.org/drawingml/2006/main">
            <a:off x="1095375" y="2943225"/>
            <a:ext cx="4362450"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0">
                <a:solidFill>
                  <a:srgbClr val="0A1628"/>
                </a:solidFill>
              </a:defRPr>
            </a:pPr>
            <a:r>
              <a:rPr sz="1575" b="0">
                <a:solidFill>
                  <a:srgbClr val="0A1628"/>
                </a:solidFill>
              </a:rPr>
              <a:t>long-lived or reusable context and KV state</a:t>
            </a:r>
          </a:p>
        </p:txBody>
      </p:sp>
      <p:sp>
        <p:nvSpPr>
          <p:cNvPr id="12" name="">
            <a:extLst xmlns:a="http://schemas.openxmlformats.org/drawingml/2006/main">
              <a:ext uri="{FF2B5EF4-FFF2-40B4-BE49-F238E27FC236}">
                <a16:creationId xmlns:a16="http://schemas.microsoft.com/office/drawing/2014/main" id="{D0C5973A-8A66-4E66-ACBF-82C29A87964B}"/>
              </a:ext>
            </a:extLst>
          </p:cNvPr>
          <p:cNvSpPr>
            <a:spLocks xmlns:a="http://schemas.openxmlformats.org/drawingml/2006/main" noGrp="1"/>
          </p:cNvSpPr>
          <p:nvPr/>
        </p:nvSpPr>
        <p:spPr>
          <a:xfrm xmlns:a="http://schemas.openxmlformats.org/drawingml/2006/main">
            <a:off x="885825" y="3590925"/>
            <a:ext cx="76200" cy="76200"/>
          </a:xfrm>
          <a:prstGeom xmlns:a="http://schemas.openxmlformats.org/drawingml/2006/main" prst="roundRect">
            <a:avLst>
              <a:gd name="adj" fmla="val 50000"/>
            </a:avLst>
          </a:prstGeom>
          <a:solidFill xmlns:a="http://schemas.openxmlformats.org/drawingml/2006/main">
            <a:srgbClr val="2B6DE9"/>
          </a:solidFill>
          <a:ln xmlns:a="http://schemas.openxmlformats.org/drawingml/2006/main" w="11430">
            <a:solidFill>
              <a:srgbClr val="2B6DE9"/>
            </a:solidFill>
            <a:prstDash val="solid"/>
          </a:ln>
        </p:spPr>
      </p:sp>
      <p:sp>
        <p:nvSpPr>
          <p:cNvPr id="13" name="">
            <a:extLst xmlns:a="http://schemas.openxmlformats.org/drawingml/2006/main">
              <a:ext uri="{FF2B5EF4-FFF2-40B4-BE49-F238E27FC236}">
                <a16:creationId xmlns:a16="http://schemas.microsoft.com/office/drawing/2014/main" id="{52296FB6-55C9-41BC-95C8-92901206DDB9}"/>
              </a:ext>
            </a:extLst>
          </p:cNvPr>
          <p:cNvSpPr>
            <a:spLocks xmlns:a="http://schemas.openxmlformats.org/drawingml/2006/main" noGrp="1"/>
          </p:cNvSpPr>
          <p:nvPr/>
        </p:nvSpPr>
        <p:spPr>
          <a:xfrm xmlns:a="http://schemas.openxmlformats.org/drawingml/2006/main">
            <a:off x="1095375" y="3505200"/>
            <a:ext cx="4362450"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0">
                <a:solidFill>
                  <a:srgbClr val="0A1628"/>
                </a:solidFill>
              </a:defRPr>
            </a:pPr>
            <a:r>
              <a:rPr sz="1575" b="0">
                <a:solidFill>
                  <a:srgbClr val="0A1628"/>
                </a:solidFill>
              </a:rPr>
              <a:t>sparse MoE models with useful expert locality</a:t>
            </a:r>
          </a:p>
        </p:txBody>
      </p:sp>
      <p:sp>
        <p:nvSpPr>
          <p:cNvPr id="14" name="">
            <a:extLst xmlns:a="http://schemas.openxmlformats.org/drawingml/2006/main">
              <a:ext uri="{FF2B5EF4-FFF2-40B4-BE49-F238E27FC236}">
                <a16:creationId xmlns:a16="http://schemas.microsoft.com/office/drawing/2014/main" id="{2D40CA9E-83BD-4174-AC50-1C611515A20C}"/>
              </a:ext>
            </a:extLst>
          </p:cNvPr>
          <p:cNvSpPr>
            <a:spLocks xmlns:a="http://schemas.openxmlformats.org/drawingml/2006/main" noGrp="1"/>
          </p:cNvSpPr>
          <p:nvPr/>
        </p:nvSpPr>
        <p:spPr>
          <a:xfrm xmlns:a="http://schemas.openxmlformats.org/drawingml/2006/main">
            <a:off x="885825" y="4152900"/>
            <a:ext cx="76200" cy="76200"/>
          </a:xfrm>
          <a:prstGeom xmlns:a="http://schemas.openxmlformats.org/drawingml/2006/main" prst="roundRect">
            <a:avLst>
              <a:gd name="adj" fmla="val 50000"/>
            </a:avLst>
          </a:prstGeom>
          <a:solidFill xmlns:a="http://schemas.openxmlformats.org/drawingml/2006/main">
            <a:srgbClr val="2B6DE9"/>
          </a:solidFill>
          <a:ln xmlns:a="http://schemas.openxmlformats.org/drawingml/2006/main" w="11430">
            <a:solidFill>
              <a:srgbClr val="2B6DE9"/>
            </a:solidFill>
            <a:prstDash val="solid"/>
          </a:ln>
        </p:spPr>
      </p:sp>
      <p:sp>
        <p:nvSpPr>
          <p:cNvPr id="15" name="">
            <a:extLst xmlns:a="http://schemas.openxmlformats.org/drawingml/2006/main">
              <a:ext uri="{FF2B5EF4-FFF2-40B4-BE49-F238E27FC236}">
                <a16:creationId xmlns:a16="http://schemas.microsoft.com/office/drawing/2014/main" id="{FD71AF6A-DFC0-468A-B045-5D59BBF59CE5}"/>
              </a:ext>
            </a:extLst>
          </p:cNvPr>
          <p:cNvSpPr>
            <a:spLocks xmlns:a="http://schemas.openxmlformats.org/drawingml/2006/main" noGrp="1"/>
          </p:cNvSpPr>
          <p:nvPr/>
        </p:nvSpPr>
        <p:spPr>
          <a:xfrm xmlns:a="http://schemas.openxmlformats.org/drawingml/2006/main">
            <a:off x="1095375" y="4067175"/>
            <a:ext cx="4362450"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0">
                <a:solidFill>
                  <a:srgbClr val="0A1628"/>
                </a:solidFill>
              </a:defRPr>
            </a:pPr>
            <a:r>
              <a:rPr sz="1575" b="0">
                <a:solidFill>
                  <a:srgbClr val="0A1628"/>
                </a:solidFill>
              </a:rPr>
              <a:t>memory-constrained LoRA, QLoRA, or full fine-tuning</a:t>
            </a:r>
          </a:p>
        </p:txBody>
      </p:sp>
      <p:sp>
        <p:nvSpPr>
          <p:cNvPr id="16" name="">
            <a:extLst xmlns:a="http://schemas.openxmlformats.org/drawingml/2006/main">
              <a:ext uri="{FF2B5EF4-FFF2-40B4-BE49-F238E27FC236}">
                <a16:creationId xmlns:a16="http://schemas.microsoft.com/office/drawing/2014/main" id="{7978D339-DB05-4767-BCEB-BEF65607CEDF}"/>
              </a:ext>
            </a:extLst>
          </p:cNvPr>
          <p:cNvSpPr>
            <a:spLocks xmlns:a="http://schemas.openxmlformats.org/drawingml/2006/main" noGrp="1"/>
          </p:cNvSpPr>
          <p:nvPr/>
        </p:nvSpPr>
        <p:spPr>
          <a:xfrm xmlns:a="http://schemas.openxmlformats.org/drawingml/2006/main">
            <a:off x="885825" y="4714875"/>
            <a:ext cx="76200" cy="76200"/>
          </a:xfrm>
          <a:prstGeom xmlns:a="http://schemas.openxmlformats.org/drawingml/2006/main" prst="roundRect">
            <a:avLst>
              <a:gd name="adj" fmla="val 50000"/>
            </a:avLst>
          </a:prstGeom>
          <a:solidFill xmlns:a="http://schemas.openxmlformats.org/drawingml/2006/main">
            <a:srgbClr val="2B6DE9"/>
          </a:solidFill>
          <a:ln xmlns:a="http://schemas.openxmlformats.org/drawingml/2006/main" w="11430">
            <a:solidFill>
              <a:srgbClr val="2B6DE9"/>
            </a:solidFill>
            <a:prstDash val="solid"/>
          </a:ln>
        </p:spPr>
      </p:sp>
      <p:sp>
        <p:nvSpPr>
          <p:cNvPr id="17" name="">
            <a:extLst xmlns:a="http://schemas.openxmlformats.org/drawingml/2006/main">
              <a:ext uri="{FF2B5EF4-FFF2-40B4-BE49-F238E27FC236}">
                <a16:creationId xmlns:a16="http://schemas.microsoft.com/office/drawing/2014/main" id="{B12480F9-7B0A-418B-959D-D9027ED97666}"/>
              </a:ext>
            </a:extLst>
          </p:cNvPr>
          <p:cNvSpPr>
            <a:spLocks xmlns:a="http://schemas.openxmlformats.org/drawingml/2006/main" noGrp="1"/>
          </p:cNvSpPr>
          <p:nvPr/>
        </p:nvSpPr>
        <p:spPr>
          <a:xfrm xmlns:a="http://schemas.openxmlformats.org/drawingml/2006/main">
            <a:off x="1095375" y="4629150"/>
            <a:ext cx="4362450"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0">
                <a:solidFill>
                  <a:srgbClr val="0A1628"/>
                </a:solidFill>
              </a:defRPr>
            </a:pPr>
            <a:r>
              <a:rPr sz="1575" b="0">
                <a:solidFill>
                  <a:srgbClr val="0A1628"/>
                </a:solidFill>
              </a:rPr>
              <a:t>private on-prem deployments with fixed hardware</a:t>
            </a:r>
          </a:p>
        </p:txBody>
      </p:sp>
      <p:sp>
        <p:nvSpPr>
          <p:cNvPr id="18" name="">
            <a:extLst xmlns:a="http://schemas.openxmlformats.org/drawingml/2006/main">
              <a:ext uri="{FF2B5EF4-FFF2-40B4-BE49-F238E27FC236}">
                <a16:creationId xmlns:a16="http://schemas.microsoft.com/office/drawing/2014/main" id="{2D412D9A-159C-4A54-BDA6-C2D46C884655}"/>
              </a:ext>
            </a:extLst>
          </p:cNvPr>
          <p:cNvSpPr>
            <a:spLocks xmlns:a="http://schemas.openxmlformats.org/drawingml/2006/main" noGrp="1"/>
          </p:cNvSpPr>
          <p:nvPr/>
        </p:nvSpPr>
        <p:spPr>
          <a:xfrm xmlns:a="http://schemas.openxmlformats.org/drawingml/2006/main">
            <a:off x="6172200" y="1562100"/>
            <a:ext cx="5391150" cy="4048125"/>
          </a:xfrm>
          <a:prstGeom xmlns:a="http://schemas.openxmlformats.org/drawingml/2006/main" prst="roundRect">
            <a:avLst>
              <a:gd name="adj" fmla="val 3294"/>
            </a:avLst>
          </a:prstGeom>
          <a:solidFill xmlns:a="http://schemas.openxmlformats.org/drawingml/2006/main">
            <a:srgbClr val="FBEAEC"/>
          </a:solidFill>
          <a:ln xmlns:a="http://schemas.openxmlformats.org/drawingml/2006/main" w="11430">
            <a:solidFill>
              <a:srgbClr val="C74B50"/>
            </a:solidFill>
            <a:prstDash val="solid"/>
          </a:ln>
        </p:spPr>
      </p:sp>
      <p:sp>
        <p:nvSpPr>
          <p:cNvPr id="19" name="">
            <a:extLst xmlns:a="http://schemas.openxmlformats.org/drawingml/2006/main">
              <a:ext uri="{FF2B5EF4-FFF2-40B4-BE49-F238E27FC236}">
                <a16:creationId xmlns:a16="http://schemas.microsoft.com/office/drawing/2014/main" id="{617582CA-FCC9-4550-877A-C22AA900D5DA}"/>
              </a:ext>
            </a:extLst>
          </p:cNvPr>
          <p:cNvSpPr>
            <a:spLocks xmlns:a="http://schemas.openxmlformats.org/drawingml/2006/main" noGrp="1"/>
          </p:cNvSpPr>
          <p:nvPr/>
        </p:nvSpPr>
        <p:spPr>
          <a:xfrm xmlns:a="http://schemas.openxmlformats.org/drawingml/2006/main">
            <a:off x="6448425" y="1790700"/>
            <a:ext cx="4476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400" b="1">
                <a:solidFill>
                  <a:srgbClr val="C74B50"/>
                </a:solidFill>
              </a:defRPr>
            </a:pPr>
            <a:r>
              <a:rPr sz="2400" b="1">
                <a:solidFill>
                  <a:srgbClr val="C74B50"/>
                </a:solidFill>
              </a:rPr>
              <a:t>Where it can hurt</a:t>
            </a:r>
          </a:p>
        </p:txBody>
      </p:sp>
      <p:sp>
        <p:nvSpPr>
          <p:cNvPr id="20" name="">
            <a:extLst xmlns:a="http://schemas.openxmlformats.org/drawingml/2006/main">
              <a:ext uri="{FF2B5EF4-FFF2-40B4-BE49-F238E27FC236}">
                <a16:creationId xmlns:a16="http://schemas.microsoft.com/office/drawing/2014/main" id="{C7CFBC6B-A5CB-4A44-8FCD-6A1498EDFD30}"/>
              </a:ext>
            </a:extLst>
          </p:cNvPr>
          <p:cNvSpPr>
            <a:spLocks xmlns:a="http://schemas.openxmlformats.org/drawingml/2006/main" noGrp="1"/>
          </p:cNvSpPr>
          <p:nvPr/>
        </p:nvSpPr>
        <p:spPr>
          <a:xfrm xmlns:a="http://schemas.openxmlformats.org/drawingml/2006/main">
            <a:off x="6448425" y="2466975"/>
            <a:ext cx="76200" cy="76200"/>
          </a:xfrm>
          <a:prstGeom xmlns:a="http://schemas.openxmlformats.org/drawingml/2006/main" prst="roundRect">
            <a:avLst>
              <a:gd name="adj" fmla="val 50000"/>
            </a:avLst>
          </a:prstGeom>
          <a:solidFill xmlns:a="http://schemas.openxmlformats.org/drawingml/2006/main">
            <a:srgbClr val="2B6DE9"/>
          </a:solidFill>
          <a:ln xmlns:a="http://schemas.openxmlformats.org/drawingml/2006/main" w="11430">
            <a:solidFill>
              <a:srgbClr val="2B6DE9"/>
            </a:solidFill>
            <a:prstDash val="solid"/>
          </a:ln>
        </p:spPr>
      </p:sp>
      <p:sp>
        <p:nvSpPr>
          <p:cNvPr id="21" name="">
            <a:extLst xmlns:a="http://schemas.openxmlformats.org/drawingml/2006/main">
              <a:ext uri="{FF2B5EF4-FFF2-40B4-BE49-F238E27FC236}">
                <a16:creationId xmlns:a16="http://schemas.microsoft.com/office/drawing/2014/main" id="{84A01CBA-452F-4193-AC1E-66C73EA4D7A7}"/>
              </a:ext>
            </a:extLst>
          </p:cNvPr>
          <p:cNvSpPr>
            <a:spLocks xmlns:a="http://schemas.openxmlformats.org/drawingml/2006/main" noGrp="1"/>
          </p:cNvSpPr>
          <p:nvPr/>
        </p:nvSpPr>
        <p:spPr>
          <a:xfrm xmlns:a="http://schemas.openxmlformats.org/drawingml/2006/main">
            <a:off x="6657975" y="2381250"/>
            <a:ext cx="4552950"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0">
                <a:solidFill>
                  <a:srgbClr val="0A1628"/>
                </a:solidFill>
              </a:defRPr>
            </a:pPr>
            <a:r>
              <a:rPr sz="1575" b="0">
                <a:solidFill>
                  <a:srgbClr val="0A1628"/>
                </a:solidFill>
              </a:rPr>
              <a:t>very low-latency or small-batch token generation</a:t>
            </a:r>
          </a:p>
        </p:txBody>
      </p:sp>
      <p:sp>
        <p:nvSpPr>
          <p:cNvPr id="22" name="">
            <a:extLst xmlns:a="http://schemas.openxmlformats.org/drawingml/2006/main">
              <a:ext uri="{FF2B5EF4-FFF2-40B4-BE49-F238E27FC236}">
                <a16:creationId xmlns:a16="http://schemas.microsoft.com/office/drawing/2014/main" id="{0EFB4048-F351-49D2-B193-C251DE70F8F4}"/>
              </a:ext>
            </a:extLst>
          </p:cNvPr>
          <p:cNvSpPr>
            <a:spLocks xmlns:a="http://schemas.openxmlformats.org/drawingml/2006/main" noGrp="1"/>
          </p:cNvSpPr>
          <p:nvPr/>
        </p:nvSpPr>
        <p:spPr>
          <a:xfrm xmlns:a="http://schemas.openxmlformats.org/drawingml/2006/main">
            <a:off x="6448425" y="3028950"/>
            <a:ext cx="76200" cy="76200"/>
          </a:xfrm>
          <a:prstGeom xmlns:a="http://schemas.openxmlformats.org/drawingml/2006/main" prst="roundRect">
            <a:avLst>
              <a:gd name="adj" fmla="val 50000"/>
            </a:avLst>
          </a:prstGeom>
          <a:solidFill xmlns:a="http://schemas.openxmlformats.org/drawingml/2006/main">
            <a:srgbClr val="2B6DE9"/>
          </a:solidFill>
          <a:ln xmlns:a="http://schemas.openxmlformats.org/drawingml/2006/main" w="11430">
            <a:solidFill>
              <a:srgbClr val="2B6DE9"/>
            </a:solidFill>
            <a:prstDash val="solid"/>
          </a:ln>
        </p:spPr>
      </p:sp>
      <p:sp>
        <p:nvSpPr>
          <p:cNvPr id="23" name="">
            <a:extLst xmlns:a="http://schemas.openxmlformats.org/drawingml/2006/main">
              <a:ext uri="{FF2B5EF4-FFF2-40B4-BE49-F238E27FC236}">
                <a16:creationId xmlns:a16="http://schemas.microsoft.com/office/drawing/2014/main" id="{90735950-8104-425E-AD4F-6ECFE6C3F5A0}"/>
              </a:ext>
            </a:extLst>
          </p:cNvPr>
          <p:cNvSpPr>
            <a:spLocks xmlns:a="http://schemas.openxmlformats.org/drawingml/2006/main" noGrp="1"/>
          </p:cNvSpPr>
          <p:nvPr/>
        </p:nvSpPr>
        <p:spPr>
          <a:xfrm xmlns:a="http://schemas.openxmlformats.org/drawingml/2006/main">
            <a:off x="6657975" y="2943225"/>
            <a:ext cx="4552950"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0">
                <a:solidFill>
                  <a:srgbClr val="0A1628"/>
                </a:solidFill>
              </a:defRPr>
            </a:pPr>
            <a:r>
              <a:rPr sz="1575" b="0">
                <a:solidFill>
                  <a:srgbClr val="0A1628"/>
                </a:solidFill>
              </a:rPr>
              <a:t>models already resident in VRAM</a:t>
            </a:r>
          </a:p>
        </p:txBody>
      </p:sp>
      <p:sp>
        <p:nvSpPr>
          <p:cNvPr id="24" name="">
            <a:extLst xmlns:a="http://schemas.openxmlformats.org/drawingml/2006/main">
              <a:ext uri="{FF2B5EF4-FFF2-40B4-BE49-F238E27FC236}">
                <a16:creationId xmlns:a16="http://schemas.microsoft.com/office/drawing/2014/main" id="{EBBFCCF6-795B-4562-8CF5-31B1E7A43328}"/>
              </a:ext>
            </a:extLst>
          </p:cNvPr>
          <p:cNvSpPr>
            <a:spLocks xmlns:a="http://schemas.openxmlformats.org/drawingml/2006/main" noGrp="1"/>
          </p:cNvSpPr>
          <p:nvPr/>
        </p:nvSpPr>
        <p:spPr>
          <a:xfrm xmlns:a="http://schemas.openxmlformats.org/drawingml/2006/main">
            <a:off x="6448425" y="3590925"/>
            <a:ext cx="76200" cy="76200"/>
          </a:xfrm>
          <a:prstGeom xmlns:a="http://schemas.openxmlformats.org/drawingml/2006/main" prst="roundRect">
            <a:avLst>
              <a:gd name="adj" fmla="val 50000"/>
            </a:avLst>
          </a:prstGeom>
          <a:solidFill xmlns:a="http://schemas.openxmlformats.org/drawingml/2006/main">
            <a:srgbClr val="2B6DE9"/>
          </a:solidFill>
          <a:ln xmlns:a="http://schemas.openxmlformats.org/drawingml/2006/main" w="11430">
            <a:solidFill>
              <a:srgbClr val="2B6DE9"/>
            </a:solidFill>
            <a:prstDash val="solid"/>
          </a:ln>
        </p:spPr>
      </p:sp>
      <p:sp>
        <p:nvSpPr>
          <p:cNvPr id="25" name="">
            <a:extLst xmlns:a="http://schemas.openxmlformats.org/drawingml/2006/main">
              <a:ext uri="{FF2B5EF4-FFF2-40B4-BE49-F238E27FC236}">
                <a16:creationId xmlns:a16="http://schemas.microsoft.com/office/drawing/2014/main" id="{BBFF2714-0409-4E2F-BA4E-BBC868CAD49D}"/>
              </a:ext>
            </a:extLst>
          </p:cNvPr>
          <p:cNvSpPr>
            <a:spLocks xmlns:a="http://schemas.openxmlformats.org/drawingml/2006/main" noGrp="1"/>
          </p:cNvSpPr>
          <p:nvPr/>
        </p:nvSpPr>
        <p:spPr>
          <a:xfrm xmlns:a="http://schemas.openxmlformats.org/drawingml/2006/main">
            <a:off x="6657975" y="3505200"/>
            <a:ext cx="4552950"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0">
                <a:solidFill>
                  <a:srgbClr val="0A1628"/>
                </a:solidFill>
              </a:defRPr>
            </a:pPr>
            <a:r>
              <a:rPr sz="1575" b="0">
                <a:solidFill>
                  <a:srgbClr val="0A1628"/>
                </a:solidFill>
              </a:rPr>
              <a:t>poor prefetch, expert locality, or prefix reuse</a:t>
            </a:r>
          </a:p>
        </p:txBody>
      </p:sp>
      <p:sp>
        <p:nvSpPr>
          <p:cNvPr id="26" name="">
            <a:extLst xmlns:a="http://schemas.openxmlformats.org/drawingml/2006/main">
              <a:ext uri="{FF2B5EF4-FFF2-40B4-BE49-F238E27FC236}">
                <a16:creationId xmlns:a16="http://schemas.microsoft.com/office/drawing/2014/main" id="{F0215128-76E5-4B7F-9194-0143CF830CB3}"/>
              </a:ext>
            </a:extLst>
          </p:cNvPr>
          <p:cNvSpPr>
            <a:spLocks xmlns:a="http://schemas.openxmlformats.org/drawingml/2006/main" noGrp="1"/>
          </p:cNvSpPr>
          <p:nvPr/>
        </p:nvSpPr>
        <p:spPr>
          <a:xfrm xmlns:a="http://schemas.openxmlformats.org/drawingml/2006/main">
            <a:off x="6448425" y="4152900"/>
            <a:ext cx="76200" cy="76200"/>
          </a:xfrm>
          <a:prstGeom xmlns:a="http://schemas.openxmlformats.org/drawingml/2006/main" prst="roundRect">
            <a:avLst>
              <a:gd name="adj" fmla="val 50000"/>
            </a:avLst>
          </a:prstGeom>
          <a:solidFill xmlns:a="http://schemas.openxmlformats.org/drawingml/2006/main">
            <a:srgbClr val="2B6DE9"/>
          </a:solidFill>
          <a:ln xmlns:a="http://schemas.openxmlformats.org/drawingml/2006/main" w="11430">
            <a:solidFill>
              <a:srgbClr val="2B6DE9"/>
            </a:solidFill>
            <a:prstDash val="solid"/>
          </a:ln>
        </p:spPr>
      </p:sp>
      <p:sp>
        <p:nvSpPr>
          <p:cNvPr id="27" name="">
            <a:extLst xmlns:a="http://schemas.openxmlformats.org/drawingml/2006/main">
              <a:ext uri="{FF2B5EF4-FFF2-40B4-BE49-F238E27FC236}">
                <a16:creationId xmlns:a16="http://schemas.microsoft.com/office/drawing/2014/main" id="{E49BF854-1901-40A2-9E65-9C7AB59407CA}"/>
              </a:ext>
            </a:extLst>
          </p:cNvPr>
          <p:cNvSpPr>
            <a:spLocks xmlns:a="http://schemas.openxmlformats.org/drawingml/2006/main" noGrp="1"/>
          </p:cNvSpPr>
          <p:nvPr/>
        </p:nvSpPr>
        <p:spPr>
          <a:xfrm xmlns:a="http://schemas.openxmlformats.org/drawingml/2006/main">
            <a:off x="6657975" y="4067175"/>
            <a:ext cx="4552950"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0">
                <a:solidFill>
                  <a:srgbClr val="0A1628"/>
                </a:solidFill>
              </a:defRPr>
            </a:pPr>
            <a:r>
              <a:rPr sz="1575" b="0">
                <a:solidFill>
                  <a:srgbClr val="0A1628"/>
                </a:solidFill>
              </a:rPr>
              <a:t>oversubscribed PCIe roots or NUMA-unaware placement</a:t>
            </a:r>
          </a:p>
        </p:txBody>
      </p:sp>
      <p:sp>
        <p:nvSpPr>
          <p:cNvPr id="28" name="">
            <a:extLst xmlns:a="http://schemas.openxmlformats.org/drawingml/2006/main">
              <a:ext uri="{FF2B5EF4-FFF2-40B4-BE49-F238E27FC236}">
                <a16:creationId xmlns:a16="http://schemas.microsoft.com/office/drawing/2014/main" id="{603E655A-F7BD-463D-AF43-A76FEAC0779B}"/>
              </a:ext>
            </a:extLst>
          </p:cNvPr>
          <p:cNvSpPr>
            <a:spLocks xmlns:a="http://schemas.openxmlformats.org/drawingml/2006/main" noGrp="1"/>
          </p:cNvSpPr>
          <p:nvPr/>
        </p:nvSpPr>
        <p:spPr>
          <a:xfrm xmlns:a="http://schemas.openxmlformats.org/drawingml/2006/main">
            <a:off x="6448425" y="4714875"/>
            <a:ext cx="76200" cy="76200"/>
          </a:xfrm>
          <a:prstGeom xmlns:a="http://schemas.openxmlformats.org/drawingml/2006/main" prst="roundRect">
            <a:avLst>
              <a:gd name="adj" fmla="val 50000"/>
            </a:avLst>
          </a:prstGeom>
          <a:solidFill xmlns:a="http://schemas.openxmlformats.org/drawingml/2006/main">
            <a:srgbClr val="2B6DE9"/>
          </a:solidFill>
          <a:ln xmlns:a="http://schemas.openxmlformats.org/drawingml/2006/main" w="11430">
            <a:solidFill>
              <a:srgbClr val="2B6DE9"/>
            </a:solidFill>
            <a:prstDash val="solid"/>
          </a:ln>
        </p:spPr>
      </p:sp>
      <p:sp>
        <p:nvSpPr>
          <p:cNvPr id="29" name="">
            <a:extLst xmlns:a="http://schemas.openxmlformats.org/drawingml/2006/main">
              <a:ext uri="{FF2B5EF4-FFF2-40B4-BE49-F238E27FC236}">
                <a16:creationId xmlns:a16="http://schemas.microsoft.com/office/drawing/2014/main" id="{258E0B82-6F03-4D1D-A2B0-468AD4E6E056}"/>
              </a:ext>
            </a:extLst>
          </p:cNvPr>
          <p:cNvSpPr>
            <a:spLocks xmlns:a="http://schemas.openxmlformats.org/drawingml/2006/main" noGrp="1"/>
          </p:cNvSpPr>
          <p:nvPr/>
        </p:nvSpPr>
        <p:spPr>
          <a:xfrm xmlns:a="http://schemas.openxmlformats.org/drawingml/2006/main">
            <a:off x="6657975" y="4629150"/>
            <a:ext cx="4552950"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0">
                <a:solidFill>
                  <a:srgbClr val="0A1628"/>
                </a:solidFill>
              </a:defRPr>
            </a:pPr>
            <a:r>
              <a:rPr sz="1575" b="0">
                <a:solidFill>
                  <a:srgbClr val="0A1628"/>
                </a:solidFill>
              </a:rPr>
              <a:t>heavy write churn without endurance / thermal headroom</a:t>
            </a:r>
          </a:p>
        </p:txBody>
      </p:sp>
      <p:sp>
        <p:nvSpPr>
          <p:cNvPr id="30" name="">
            <a:extLst xmlns:a="http://schemas.openxmlformats.org/drawingml/2006/main">
              <a:ext uri="{FF2B5EF4-FFF2-40B4-BE49-F238E27FC236}">
                <a16:creationId xmlns:a16="http://schemas.microsoft.com/office/drawing/2014/main" id="{2B1CFF6B-B33E-49D1-8269-8EAEAB1CE024}"/>
              </a:ext>
            </a:extLst>
          </p:cNvPr>
          <p:cNvSpPr>
            <a:spLocks xmlns:a="http://schemas.openxmlformats.org/drawingml/2006/main" noGrp="1"/>
          </p:cNvSpPr>
          <p:nvPr/>
        </p:nvSpPr>
        <p:spPr>
          <a:xfrm xmlns:a="http://schemas.openxmlformats.org/drawingml/2006/main">
            <a:off x="609600" y="5867400"/>
            <a:ext cx="10953750" cy="438150"/>
          </a:xfrm>
          <a:prstGeom xmlns:a="http://schemas.openxmlformats.org/drawingml/2006/main" prst="roundRect">
            <a:avLst>
              <a:gd name="adj" fmla="val 17391"/>
            </a:avLst>
          </a:prstGeom>
          <a:solidFill xmlns:a="http://schemas.openxmlformats.org/drawingml/2006/main">
            <a:srgbClr val="10253F"/>
          </a:solidFill>
          <a:ln xmlns:a="http://schemas.openxmlformats.org/drawingml/2006/main" w="11430">
            <a:solidFill>
              <a:srgbClr val="10253F"/>
            </a:solidFill>
            <a:prstDash val="solid"/>
          </a:ln>
        </p:spPr>
      </p:sp>
      <p:sp>
        <p:nvSpPr>
          <p:cNvPr id="31" name="">
            <a:extLst xmlns:a="http://schemas.openxmlformats.org/drawingml/2006/main">
              <a:ext uri="{FF2B5EF4-FFF2-40B4-BE49-F238E27FC236}">
                <a16:creationId xmlns:a16="http://schemas.microsoft.com/office/drawing/2014/main" id="{873CC893-80B5-47FA-8D00-A0E706207486}"/>
              </a:ext>
            </a:extLst>
          </p:cNvPr>
          <p:cNvSpPr>
            <a:spLocks xmlns:a="http://schemas.openxmlformats.org/drawingml/2006/main" noGrp="1"/>
          </p:cNvSpPr>
          <p:nvPr/>
        </p:nvSpPr>
        <p:spPr>
          <a:xfrm xmlns:a="http://schemas.openxmlformats.org/drawingml/2006/main">
            <a:off x="781050" y="5962650"/>
            <a:ext cx="106108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75" b="1">
                <a:solidFill>
                  <a:srgbClr val="FFFFFF"/>
                </a:solidFill>
              </a:defRPr>
            </a:pPr>
            <a:r>
              <a:rPr sz="1275" b="1">
                <a:solidFill>
                  <a:srgbClr val="FFFFFF"/>
                </a:solidFill>
              </a:rPr>
              <a:t>Measure TTFT • inter-token latency • throughput • GPU idle • PCIe utilization • SSD P99 latency • temperature • write amplification</a:t>
            </a:r>
          </a:p>
        </p:txBody>
      </p:sp>
    </p:spTree>
    <p:extLst>
      <p:ext uri="{BB962C8B-B14F-4D97-AF65-F5344CB8AC3E}">
        <p14:creationId xmlns:p14="http://schemas.microsoft.com/office/powerpoint/2010/main" val="1029814286"/>
      </p:ext>
    </p:extLst>
  </p:cSld>
</p:sld>
</file>

<file path=ppt/slides/slide12.xml><?xml version="1.0" encoding="utf-8"?>
<p:sld xmlns:p="http://schemas.openxmlformats.org/presentationml/2006/main">
  <p:cSld>
    <p:bg>
      <p:bgPr>
        <a:solidFill xmlns:a="http://schemas.openxmlformats.org/drawingml/2006/main">
          <a:srgbClr val="F4F7FB"/>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0C5C98E4-3B77-4EA8-A29E-FEC6072569CC}"/>
              </a:ext>
            </a:extLst>
          </p:cNvPr>
          <p:cNvSpPr>
            <a:spLocks xmlns:a="http://schemas.openxmlformats.org/drawingml/2006/main" noGrp="1"/>
          </p:cNvSpPr>
          <p:nvPr/>
        </p:nvSpPr>
        <p:spPr>
          <a:xfrm xmlns:a="http://schemas.openxmlformats.org/drawingml/2006/main">
            <a:off x="609600" y="257175"/>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2B6DE9"/>
                </a:solidFill>
              </a:defRPr>
            </a:pPr>
            <a:r>
              <a:rPr sz="1050" b="1">
                <a:solidFill>
                  <a:srgbClr val="2B6DE9"/>
                </a:solidFill>
              </a:rPr>
              <a:t>KEY TAKEAWAYS</a:t>
            </a:r>
          </a:p>
        </p:txBody>
      </p:sp>
      <p:sp>
        <p:nvSpPr>
          <p:cNvPr id="2" name="">
            <a:extLst xmlns:a="http://schemas.openxmlformats.org/drawingml/2006/main">
              <a:ext uri="{FF2B5EF4-FFF2-40B4-BE49-F238E27FC236}">
                <a16:creationId xmlns:a16="http://schemas.microsoft.com/office/drawing/2014/main" id="{AE4A9B37-D7FC-476A-ADFF-EEA77FA648B7}"/>
              </a:ext>
            </a:extLst>
          </p:cNvPr>
          <p:cNvSpPr>
            <a:spLocks xmlns:a="http://schemas.openxmlformats.org/drawingml/2006/main" noGrp="1"/>
          </p:cNvSpPr>
          <p:nvPr/>
        </p:nvSpPr>
        <p:spPr>
          <a:xfrm xmlns:a="http://schemas.openxmlformats.org/drawingml/2006/main">
            <a:off x="11191875" y="219075"/>
            <a:ext cx="476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200" b="1">
                <a:solidFill>
                  <a:srgbClr val="53657A"/>
                </a:solidFill>
              </a:defRPr>
            </a:pPr>
            <a:r>
              <a:rPr sz="1200" b="1">
                <a:solidFill>
                  <a:srgbClr val="53657A"/>
                </a:solidFill>
              </a:rPr>
              <a:t>12</a:t>
            </a:r>
          </a:p>
        </p:txBody>
      </p:sp>
      <p:sp>
        <p:nvSpPr>
          <p:cNvPr id="3" name="">
            <a:extLst xmlns:a="http://schemas.openxmlformats.org/drawingml/2006/main">
              <a:ext uri="{FF2B5EF4-FFF2-40B4-BE49-F238E27FC236}">
                <a16:creationId xmlns:a16="http://schemas.microsoft.com/office/drawing/2014/main" id="{28837354-1178-40B8-915E-8D259022AA2B}"/>
              </a:ext>
            </a:extLst>
          </p:cNvPr>
          <p:cNvSpPr>
            <a:spLocks xmlns:a="http://schemas.openxmlformats.org/drawingml/2006/main" noGrp="1"/>
          </p:cNvSpPr>
          <p:nvPr/>
        </p:nvSpPr>
        <p:spPr>
          <a:xfrm xmlns:a="http://schemas.openxmlformats.org/drawingml/2006/main">
            <a:off x="609600" y="552450"/>
            <a:ext cx="109061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600" b="1">
                <a:solidFill>
                  <a:srgbClr val="0A1628"/>
                </a:solidFill>
              </a:defRPr>
            </a:pPr>
            <a:r>
              <a:rPr sz="3600" b="1">
                <a:solidFill>
                  <a:srgbClr val="0A1628"/>
                </a:solidFill>
              </a:rPr>
              <a:t>Five interview-ready conclusions</a:t>
            </a:r>
          </a:p>
        </p:txBody>
      </p:sp>
      <p:sp>
        <p:nvSpPr>
          <p:cNvPr id="4" name="">
            <a:extLst xmlns:a="http://schemas.openxmlformats.org/drawingml/2006/main">
              <a:ext uri="{FF2B5EF4-FFF2-40B4-BE49-F238E27FC236}">
                <a16:creationId xmlns:a16="http://schemas.microsoft.com/office/drawing/2014/main" id="{6E3E2E76-483F-43DF-95C4-32D75CC8CE16}"/>
              </a:ext>
            </a:extLst>
          </p:cNvPr>
          <p:cNvSpPr>
            <a:spLocks xmlns:a="http://schemas.openxmlformats.org/drawingml/2006/main" noGrp="1"/>
          </p:cNvSpPr>
          <p:nvPr/>
        </p:nvSpPr>
        <p:spPr>
          <a:xfrm xmlns:a="http://schemas.openxmlformats.org/drawingml/2006/main">
            <a:off x="609600" y="1200150"/>
            <a:ext cx="10972800" cy="0"/>
          </a:xfrm>
          <a:prstGeom xmlns:a="http://schemas.openxmlformats.org/drawingml/2006/main" prst="line">
            <a:avLst/>
          </a:prstGeom>
          <a:noFill xmlns:a="http://schemas.openxmlformats.org/drawingml/2006/main"/>
          <a:ln xmlns:a="http://schemas.openxmlformats.org/drawingml/2006/main" w="11430">
            <a:solidFill>
              <a:srgbClr val="C8D3E0"/>
            </a:solidFill>
            <a:prstDash val="solid"/>
          </a:ln>
        </p:spPr>
      </p:sp>
      <p:sp>
        <p:nvSpPr>
          <p:cNvPr id="5" name="">
            <a:extLst xmlns:a="http://schemas.openxmlformats.org/drawingml/2006/main">
              <a:ext uri="{FF2B5EF4-FFF2-40B4-BE49-F238E27FC236}">
                <a16:creationId xmlns:a16="http://schemas.microsoft.com/office/drawing/2014/main" id="{0A801699-2D35-48C1-BA7A-6DE8FC704A85}"/>
              </a:ext>
            </a:extLst>
          </p:cNvPr>
          <p:cNvSpPr>
            <a:spLocks xmlns:a="http://schemas.openxmlformats.org/drawingml/2006/main" noGrp="1"/>
          </p:cNvSpPr>
          <p:nvPr/>
        </p:nvSpPr>
        <p:spPr>
          <a:xfrm xmlns:a="http://schemas.openxmlformats.org/drawingml/2006/main">
            <a:off x="609600" y="6543675"/>
            <a:ext cx="10096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7B8796"/>
                </a:solidFill>
              </a:defRPr>
            </a:pPr>
            <a:r>
              <a:rPr sz="900" b="0">
                <a:solidFill>
                  <a:srgbClr val="7B8796"/>
                </a:solidFill>
              </a:rPr>
              <a:t>Phison aiDAPTIV technical architecture  •  Sources and claim boundaries in speaker notes</a:t>
            </a:r>
          </a:p>
        </p:txBody>
      </p:sp>
      <p:sp>
        <p:nvSpPr>
          <p:cNvPr id="6" name="">
            <a:extLst xmlns:a="http://schemas.openxmlformats.org/drawingml/2006/main">
              <a:ext uri="{FF2B5EF4-FFF2-40B4-BE49-F238E27FC236}">
                <a16:creationId xmlns:a16="http://schemas.microsoft.com/office/drawing/2014/main" id="{798C5915-B219-45CD-8897-F7F88A91ED3F}"/>
              </a:ext>
            </a:extLst>
          </p:cNvPr>
          <p:cNvSpPr>
            <a:spLocks xmlns:a="http://schemas.openxmlformats.org/drawingml/2006/main" noGrp="1"/>
          </p:cNvSpPr>
          <p:nvPr/>
        </p:nvSpPr>
        <p:spPr>
          <a:xfrm xmlns:a="http://schemas.openxmlformats.org/drawingml/2006/main">
            <a:off x="609600" y="1504950"/>
            <a:ext cx="723900" cy="628650"/>
          </a:xfrm>
          <a:prstGeom xmlns:a="http://schemas.openxmlformats.org/drawingml/2006/main" prst="roundRect">
            <a:avLst>
              <a:gd name="adj" fmla="val 15152"/>
            </a:avLst>
          </a:prstGeom>
          <a:solidFill xmlns:a="http://schemas.openxmlformats.org/drawingml/2006/main">
            <a:srgbClr val="E98A15"/>
          </a:solidFill>
          <a:ln xmlns:a="http://schemas.openxmlformats.org/drawingml/2006/main" w="11430">
            <a:solidFill>
              <a:srgbClr val="E98A15"/>
            </a:solidFill>
            <a:prstDash val="solid"/>
          </a:ln>
        </p:spPr>
      </p:sp>
      <p:sp>
        <p:nvSpPr>
          <p:cNvPr id="7" name="">
            <a:extLst xmlns:a="http://schemas.openxmlformats.org/drawingml/2006/main">
              <a:ext uri="{FF2B5EF4-FFF2-40B4-BE49-F238E27FC236}">
                <a16:creationId xmlns:a16="http://schemas.microsoft.com/office/drawing/2014/main" id="{EBA6BFCA-7659-43AE-AEFA-39C47F78F6B3}"/>
              </a:ext>
            </a:extLst>
          </p:cNvPr>
          <p:cNvSpPr>
            <a:spLocks xmlns:a="http://schemas.openxmlformats.org/drawingml/2006/main" noGrp="1"/>
          </p:cNvSpPr>
          <p:nvPr/>
        </p:nvSpPr>
        <p:spPr>
          <a:xfrm xmlns:a="http://schemas.openxmlformats.org/drawingml/2006/main">
            <a:off x="714375" y="1647825"/>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00" b="1">
                <a:solidFill>
                  <a:srgbClr val="FFFFFF"/>
                </a:solidFill>
              </a:defRPr>
            </a:pPr>
            <a:r>
              <a:rPr sz="1800" b="1">
                <a:solidFill>
                  <a:srgbClr val="FFFFFF"/>
                </a:solidFill>
              </a:rPr>
              <a:t>01</a:t>
            </a:r>
          </a:p>
        </p:txBody>
      </p:sp>
      <p:sp>
        <p:nvSpPr>
          <p:cNvPr id="8" name="">
            <a:extLst xmlns:a="http://schemas.openxmlformats.org/drawingml/2006/main">
              <a:ext uri="{FF2B5EF4-FFF2-40B4-BE49-F238E27FC236}">
                <a16:creationId xmlns:a16="http://schemas.microsoft.com/office/drawing/2014/main" id="{7CEC7F26-1A89-43D1-B404-C764B0E1F64B}"/>
              </a:ext>
            </a:extLst>
          </p:cNvPr>
          <p:cNvSpPr>
            <a:spLocks xmlns:a="http://schemas.openxmlformats.org/drawingml/2006/main" noGrp="1"/>
          </p:cNvSpPr>
          <p:nvPr/>
        </p:nvSpPr>
        <p:spPr>
          <a:xfrm xmlns:a="http://schemas.openxmlformats.org/drawingml/2006/main">
            <a:off x="1571625" y="1571625"/>
            <a:ext cx="985837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0A1628"/>
                </a:solidFill>
              </a:defRPr>
            </a:pPr>
            <a:r>
              <a:rPr sz="1725" b="1">
                <a:solidFill>
                  <a:srgbClr val="0A1628"/>
                </a:solidFill>
              </a:rPr>
              <a:t>aiDAPTIV makes flash an active, managed AI memory tier—not a substitute for GPU compute.</a:t>
            </a:r>
          </a:p>
        </p:txBody>
      </p:sp>
      <p:sp>
        <p:nvSpPr>
          <p:cNvPr id="9" name="">
            <a:extLst xmlns:a="http://schemas.openxmlformats.org/drawingml/2006/main">
              <a:ext uri="{FF2B5EF4-FFF2-40B4-BE49-F238E27FC236}">
                <a16:creationId xmlns:a16="http://schemas.microsoft.com/office/drawing/2014/main" id="{360DEB7B-DE9E-4D01-8530-833AD59CAE46}"/>
              </a:ext>
            </a:extLst>
          </p:cNvPr>
          <p:cNvSpPr>
            <a:spLocks xmlns:a="http://schemas.openxmlformats.org/drawingml/2006/main" noGrp="1"/>
          </p:cNvSpPr>
          <p:nvPr/>
        </p:nvSpPr>
        <p:spPr>
          <a:xfrm xmlns:a="http://schemas.openxmlformats.org/drawingml/2006/main">
            <a:off x="1571625" y="2200275"/>
            <a:ext cx="9858375" cy="0"/>
          </a:xfrm>
          <a:prstGeom xmlns:a="http://schemas.openxmlformats.org/drawingml/2006/main" prst="line">
            <a:avLst/>
          </a:prstGeom>
          <a:noFill xmlns:a="http://schemas.openxmlformats.org/drawingml/2006/main"/>
          <a:ln xmlns:a="http://schemas.openxmlformats.org/drawingml/2006/main" w="9525">
            <a:solidFill>
              <a:srgbClr val="C8D3E0"/>
            </a:solidFill>
            <a:prstDash val="solid"/>
          </a:ln>
        </p:spPr>
      </p:sp>
      <p:sp>
        <p:nvSpPr>
          <p:cNvPr id="10" name="">
            <a:extLst xmlns:a="http://schemas.openxmlformats.org/drawingml/2006/main">
              <a:ext uri="{FF2B5EF4-FFF2-40B4-BE49-F238E27FC236}">
                <a16:creationId xmlns:a16="http://schemas.microsoft.com/office/drawing/2014/main" id="{2A2ADEA7-1AFD-4531-851E-6FA84D0FB754}"/>
              </a:ext>
            </a:extLst>
          </p:cNvPr>
          <p:cNvSpPr>
            <a:spLocks xmlns:a="http://schemas.openxmlformats.org/drawingml/2006/main" noGrp="1"/>
          </p:cNvSpPr>
          <p:nvPr/>
        </p:nvSpPr>
        <p:spPr>
          <a:xfrm xmlns:a="http://schemas.openxmlformats.org/drawingml/2006/main">
            <a:off x="609600" y="2343150"/>
            <a:ext cx="723900" cy="628650"/>
          </a:xfrm>
          <a:prstGeom xmlns:a="http://schemas.openxmlformats.org/drawingml/2006/main" prst="roundRect">
            <a:avLst>
              <a:gd name="adj" fmla="val 15152"/>
            </a:avLst>
          </a:prstGeom>
          <a:solidFill xmlns:a="http://schemas.openxmlformats.org/drawingml/2006/main">
            <a:srgbClr val="09866A"/>
          </a:solidFill>
          <a:ln xmlns:a="http://schemas.openxmlformats.org/drawingml/2006/main" w="11430">
            <a:solidFill>
              <a:srgbClr val="09866A"/>
            </a:solidFill>
            <a:prstDash val="solid"/>
          </a:ln>
        </p:spPr>
      </p:sp>
      <p:sp>
        <p:nvSpPr>
          <p:cNvPr id="11" name="">
            <a:extLst xmlns:a="http://schemas.openxmlformats.org/drawingml/2006/main">
              <a:ext uri="{FF2B5EF4-FFF2-40B4-BE49-F238E27FC236}">
                <a16:creationId xmlns:a16="http://schemas.microsoft.com/office/drawing/2014/main" id="{D5F0C722-BFE1-44E2-8E41-0EC8BEF12C16}"/>
              </a:ext>
            </a:extLst>
          </p:cNvPr>
          <p:cNvSpPr>
            <a:spLocks xmlns:a="http://schemas.openxmlformats.org/drawingml/2006/main" noGrp="1"/>
          </p:cNvSpPr>
          <p:nvPr/>
        </p:nvSpPr>
        <p:spPr>
          <a:xfrm xmlns:a="http://schemas.openxmlformats.org/drawingml/2006/main">
            <a:off x="714375" y="2486025"/>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00" b="1">
                <a:solidFill>
                  <a:srgbClr val="FFFFFF"/>
                </a:solidFill>
              </a:defRPr>
            </a:pPr>
            <a:r>
              <a:rPr sz="1800" b="1">
                <a:solidFill>
                  <a:srgbClr val="FFFFFF"/>
                </a:solidFill>
              </a:rPr>
              <a:t>02</a:t>
            </a:r>
          </a:p>
        </p:txBody>
      </p:sp>
      <p:sp>
        <p:nvSpPr>
          <p:cNvPr id="12" name="">
            <a:extLst xmlns:a="http://schemas.openxmlformats.org/drawingml/2006/main">
              <a:ext uri="{FF2B5EF4-FFF2-40B4-BE49-F238E27FC236}">
                <a16:creationId xmlns:a16="http://schemas.microsoft.com/office/drawing/2014/main" id="{36C18AA9-87B2-4092-B081-2D75E4C907FE}"/>
              </a:ext>
            </a:extLst>
          </p:cNvPr>
          <p:cNvSpPr>
            <a:spLocks xmlns:a="http://schemas.openxmlformats.org/drawingml/2006/main" noGrp="1"/>
          </p:cNvSpPr>
          <p:nvPr/>
        </p:nvSpPr>
        <p:spPr>
          <a:xfrm xmlns:a="http://schemas.openxmlformats.org/drawingml/2006/main">
            <a:off x="1571625" y="2409825"/>
            <a:ext cx="985837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0A1628"/>
                </a:solidFill>
              </a:defRPr>
            </a:pPr>
            <a:r>
              <a:rPr sz="1725" b="1">
                <a:solidFill>
                  <a:srgbClr val="0A1628"/>
                </a:solidFill>
              </a:rPr>
              <a:t>Inference value is concrete: retain/reuse KV state and exploit sparse MoE expert locality.</a:t>
            </a:r>
          </a:p>
        </p:txBody>
      </p:sp>
      <p:sp>
        <p:nvSpPr>
          <p:cNvPr id="13" name="">
            <a:extLst xmlns:a="http://schemas.openxmlformats.org/drawingml/2006/main">
              <a:ext uri="{FF2B5EF4-FFF2-40B4-BE49-F238E27FC236}">
                <a16:creationId xmlns:a16="http://schemas.microsoft.com/office/drawing/2014/main" id="{3245D10A-69C9-4C02-BA59-5CC57FA15500}"/>
              </a:ext>
            </a:extLst>
          </p:cNvPr>
          <p:cNvSpPr>
            <a:spLocks xmlns:a="http://schemas.openxmlformats.org/drawingml/2006/main" noGrp="1"/>
          </p:cNvSpPr>
          <p:nvPr/>
        </p:nvSpPr>
        <p:spPr>
          <a:xfrm xmlns:a="http://schemas.openxmlformats.org/drawingml/2006/main">
            <a:off x="1571625" y="3038475"/>
            <a:ext cx="9858375" cy="0"/>
          </a:xfrm>
          <a:prstGeom xmlns:a="http://schemas.openxmlformats.org/drawingml/2006/main" prst="line">
            <a:avLst/>
          </a:prstGeom>
          <a:noFill xmlns:a="http://schemas.openxmlformats.org/drawingml/2006/main"/>
          <a:ln xmlns:a="http://schemas.openxmlformats.org/drawingml/2006/main" w="9525">
            <a:solidFill>
              <a:srgbClr val="C8D3E0"/>
            </a:solidFill>
            <a:prstDash val="solid"/>
          </a:ln>
        </p:spPr>
      </p:sp>
      <p:sp>
        <p:nvSpPr>
          <p:cNvPr id="14" name="">
            <a:extLst xmlns:a="http://schemas.openxmlformats.org/drawingml/2006/main">
              <a:ext uri="{FF2B5EF4-FFF2-40B4-BE49-F238E27FC236}">
                <a16:creationId xmlns:a16="http://schemas.microsoft.com/office/drawing/2014/main" id="{456C21B2-D57D-4A2E-92F1-21BC2711B6EB}"/>
              </a:ext>
            </a:extLst>
          </p:cNvPr>
          <p:cNvSpPr>
            <a:spLocks xmlns:a="http://schemas.openxmlformats.org/drawingml/2006/main" noGrp="1"/>
          </p:cNvSpPr>
          <p:nvPr/>
        </p:nvSpPr>
        <p:spPr>
          <a:xfrm xmlns:a="http://schemas.openxmlformats.org/drawingml/2006/main">
            <a:off x="609600" y="3181350"/>
            <a:ext cx="723900" cy="628650"/>
          </a:xfrm>
          <a:prstGeom xmlns:a="http://schemas.openxmlformats.org/drawingml/2006/main" prst="roundRect">
            <a:avLst>
              <a:gd name="adj" fmla="val 15152"/>
            </a:avLst>
          </a:prstGeom>
          <a:solidFill xmlns:a="http://schemas.openxmlformats.org/drawingml/2006/main">
            <a:srgbClr val="2B6DE9"/>
          </a:solidFill>
          <a:ln xmlns:a="http://schemas.openxmlformats.org/drawingml/2006/main" w="11430">
            <a:solidFill>
              <a:srgbClr val="2B6DE9"/>
            </a:solidFill>
            <a:prstDash val="solid"/>
          </a:ln>
        </p:spPr>
      </p:sp>
      <p:sp>
        <p:nvSpPr>
          <p:cNvPr id="15" name="">
            <a:extLst xmlns:a="http://schemas.openxmlformats.org/drawingml/2006/main">
              <a:ext uri="{FF2B5EF4-FFF2-40B4-BE49-F238E27FC236}">
                <a16:creationId xmlns:a16="http://schemas.microsoft.com/office/drawing/2014/main" id="{6A8E4A81-5294-487D-8505-3C0A19AF82E1}"/>
              </a:ext>
            </a:extLst>
          </p:cNvPr>
          <p:cNvSpPr>
            <a:spLocks xmlns:a="http://schemas.openxmlformats.org/drawingml/2006/main" noGrp="1"/>
          </p:cNvSpPr>
          <p:nvPr/>
        </p:nvSpPr>
        <p:spPr>
          <a:xfrm xmlns:a="http://schemas.openxmlformats.org/drawingml/2006/main">
            <a:off x="714375" y="3324225"/>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00" b="1">
                <a:solidFill>
                  <a:srgbClr val="FFFFFF"/>
                </a:solidFill>
              </a:defRPr>
            </a:pPr>
            <a:r>
              <a:rPr sz="1800" b="1">
                <a:solidFill>
                  <a:srgbClr val="FFFFFF"/>
                </a:solidFill>
              </a:rPr>
              <a:t>03</a:t>
            </a:r>
          </a:p>
        </p:txBody>
      </p:sp>
      <p:sp>
        <p:nvSpPr>
          <p:cNvPr id="16" name="">
            <a:extLst xmlns:a="http://schemas.openxmlformats.org/drawingml/2006/main">
              <a:ext uri="{FF2B5EF4-FFF2-40B4-BE49-F238E27FC236}">
                <a16:creationId xmlns:a16="http://schemas.microsoft.com/office/drawing/2014/main" id="{DD80B645-BF5B-4C32-9E7F-2D52CD2C1CF1}"/>
              </a:ext>
            </a:extLst>
          </p:cNvPr>
          <p:cNvSpPr>
            <a:spLocks xmlns:a="http://schemas.openxmlformats.org/drawingml/2006/main" noGrp="1"/>
          </p:cNvSpPr>
          <p:nvPr/>
        </p:nvSpPr>
        <p:spPr>
          <a:xfrm xmlns:a="http://schemas.openxmlformats.org/drawingml/2006/main">
            <a:off x="1571625" y="3248025"/>
            <a:ext cx="985837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0A1628"/>
                </a:solidFill>
              </a:defRPr>
            </a:pPr>
            <a:r>
              <a:rPr sz="1725" b="1">
                <a:solidFill>
                  <a:srgbClr val="0A1628"/>
                </a:solidFill>
              </a:rPr>
              <a:t>Fine-tuning is equally central: Elastic Fine-Tuning and Link 2 support SSD offload, LoRA/full FT, CPU Adam, and scale-out.</a:t>
            </a:r>
          </a:p>
        </p:txBody>
      </p:sp>
      <p:sp>
        <p:nvSpPr>
          <p:cNvPr id="17" name="">
            <a:extLst xmlns:a="http://schemas.openxmlformats.org/drawingml/2006/main">
              <a:ext uri="{FF2B5EF4-FFF2-40B4-BE49-F238E27FC236}">
                <a16:creationId xmlns:a16="http://schemas.microsoft.com/office/drawing/2014/main" id="{BCEF8708-2CF7-41DC-BAF5-B8AC5BD7714D}"/>
              </a:ext>
            </a:extLst>
          </p:cNvPr>
          <p:cNvSpPr>
            <a:spLocks xmlns:a="http://schemas.openxmlformats.org/drawingml/2006/main" noGrp="1"/>
          </p:cNvSpPr>
          <p:nvPr/>
        </p:nvSpPr>
        <p:spPr>
          <a:xfrm xmlns:a="http://schemas.openxmlformats.org/drawingml/2006/main">
            <a:off x="1571625" y="3876675"/>
            <a:ext cx="9858375" cy="0"/>
          </a:xfrm>
          <a:prstGeom xmlns:a="http://schemas.openxmlformats.org/drawingml/2006/main" prst="line">
            <a:avLst/>
          </a:prstGeom>
          <a:noFill xmlns:a="http://schemas.openxmlformats.org/drawingml/2006/main"/>
          <a:ln xmlns:a="http://schemas.openxmlformats.org/drawingml/2006/main" w="9525">
            <a:solidFill>
              <a:srgbClr val="C8D3E0"/>
            </a:solidFill>
            <a:prstDash val="solid"/>
          </a:ln>
        </p:spPr>
      </p:sp>
      <p:sp>
        <p:nvSpPr>
          <p:cNvPr id="18" name="">
            <a:extLst xmlns:a="http://schemas.openxmlformats.org/drawingml/2006/main">
              <a:ext uri="{FF2B5EF4-FFF2-40B4-BE49-F238E27FC236}">
                <a16:creationId xmlns:a16="http://schemas.microsoft.com/office/drawing/2014/main" id="{5317B7C9-4637-42CB-A36F-6357CD87E52D}"/>
              </a:ext>
            </a:extLst>
          </p:cNvPr>
          <p:cNvSpPr>
            <a:spLocks xmlns:a="http://schemas.openxmlformats.org/drawingml/2006/main" noGrp="1"/>
          </p:cNvSpPr>
          <p:nvPr/>
        </p:nvSpPr>
        <p:spPr>
          <a:xfrm xmlns:a="http://schemas.openxmlformats.org/drawingml/2006/main">
            <a:off x="609600" y="4019550"/>
            <a:ext cx="723900" cy="628650"/>
          </a:xfrm>
          <a:prstGeom xmlns:a="http://schemas.openxmlformats.org/drawingml/2006/main" prst="roundRect">
            <a:avLst>
              <a:gd name="adj" fmla="val 15152"/>
            </a:avLst>
          </a:prstGeom>
          <a:solidFill xmlns:a="http://schemas.openxmlformats.org/drawingml/2006/main">
            <a:srgbClr val="0A9DB5"/>
          </a:solidFill>
          <a:ln xmlns:a="http://schemas.openxmlformats.org/drawingml/2006/main" w="11430">
            <a:solidFill>
              <a:srgbClr val="0A9DB5"/>
            </a:solidFill>
            <a:prstDash val="solid"/>
          </a:ln>
        </p:spPr>
      </p:sp>
      <p:sp>
        <p:nvSpPr>
          <p:cNvPr id="19" name="">
            <a:extLst xmlns:a="http://schemas.openxmlformats.org/drawingml/2006/main">
              <a:ext uri="{FF2B5EF4-FFF2-40B4-BE49-F238E27FC236}">
                <a16:creationId xmlns:a16="http://schemas.microsoft.com/office/drawing/2014/main" id="{1680E0F6-E3B9-4870-80DC-E23CDEDAC7FF}"/>
              </a:ext>
            </a:extLst>
          </p:cNvPr>
          <p:cNvSpPr>
            <a:spLocks xmlns:a="http://schemas.openxmlformats.org/drawingml/2006/main" noGrp="1"/>
          </p:cNvSpPr>
          <p:nvPr/>
        </p:nvSpPr>
        <p:spPr>
          <a:xfrm xmlns:a="http://schemas.openxmlformats.org/drawingml/2006/main">
            <a:off x="714375" y="4162425"/>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00" b="1">
                <a:solidFill>
                  <a:srgbClr val="FFFFFF"/>
                </a:solidFill>
              </a:defRPr>
            </a:pPr>
            <a:r>
              <a:rPr sz="1800" b="1">
                <a:solidFill>
                  <a:srgbClr val="FFFFFF"/>
                </a:solidFill>
              </a:rPr>
              <a:t>04</a:t>
            </a:r>
          </a:p>
        </p:txBody>
      </p:sp>
      <p:sp>
        <p:nvSpPr>
          <p:cNvPr id="20" name="">
            <a:extLst xmlns:a="http://schemas.openxmlformats.org/drawingml/2006/main">
              <a:ext uri="{FF2B5EF4-FFF2-40B4-BE49-F238E27FC236}">
                <a16:creationId xmlns:a16="http://schemas.microsoft.com/office/drawing/2014/main" id="{ECFF189E-232F-4E79-A9E2-A74EF4F79951}"/>
              </a:ext>
            </a:extLst>
          </p:cNvPr>
          <p:cNvSpPr>
            <a:spLocks xmlns:a="http://schemas.openxmlformats.org/drawingml/2006/main" noGrp="1"/>
          </p:cNvSpPr>
          <p:nvPr/>
        </p:nvSpPr>
        <p:spPr>
          <a:xfrm xmlns:a="http://schemas.openxmlformats.org/drawingml/2006/main">
            <a:off x="1571625" y="4086225"/>
            <a:ext cx="985837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0A1628"/>
                </a:solidFill>
              </a:defRPr>
            </a:pPr>
            <a:r>
              <a:rPr sz="1725" b="1">
                <a:solidFill>
                  <a:srgbClr val="0A1628"/>
                </a:solidFill>
              </a:rPr>
              <a:t>ZeRO and aiDAPTIV operate at different layers: software placement strategy versus an integrated SSD/NAND/middleware platform.</a:t>
            </a:r>
          </a:p>
        </p:txBody>
      </p:sp>
      <p:sp>
        <p:nvSpPr>
          <p:cNvPr id="21" name="">
            <a:extLst xmlns:a="http://schemas.openxmlformats.org/drawingml/2006/main">
              <a:ext uri="{FF2B5EF4-FFF2-40B4-BE49-F238E27FC236}">
                <a16:creationId xmlns:a16="http://schemas.microsoft.com/office/drawing/2014/main" id="{79673154-0D11-4570-822C-7F3B2548581F}"/>
              </a:ext>
            </a:extLst>
          </p:cNvPr>
          <p:cNvSpPr>
            <a:spLocks xmlns:a="http://schemas.openxmlformats.org/drawingml/2006/main" noGrp="1"/>
          </p:cNvSpPr>
          <p:nvPr/>
        </p:nvSpPr>
        <p:spPr>
          <a:xfrm xmlns:a="http://schemas.openxmlformats.org/drawingml/2006/main">
            <a:off x="1571625" y="4714875"/>
            <a:ext cx="9858375" cy="0"/>
          </a:xfrm>
          <a:prstGeom xmlns:a="http://schemas.openxmlformats.org/drawingml/2006/main" prst="line">
            <a:avLst/>
          </a:prstGeom>
          <a:noFill xmlns:a="http://schemas.openxmlformats.org/drawingml/2006/main"/>
          <a:ln xmlns:a="http://schemas.openxmlformats.org/drawingml/2006/main" w="9525">
            <a:solidFill>
              <a:srgbClr val="C8D3E0"/>
            </a:solidFill>
            <a:prstDash val="solid"/>
          </a:ln>
        </p:spPr>
      </p:sp>
      <p:sp>
        <p:nvSpPr>
          <p:cNvPr id="22" name="">
            <a:extLst xmlns:a="http://schemas.openxmlformats.org/drawingml/2006/main">
              <a:ext uri="{FF2B5EF4-FFF2-40B4-BE49-F238E27FC236}">
                <a16:creationId xmlns:a16="http://schemas.microsoft.com/office/drawing/2014/main" id="{FFD23214-FE81-4AB4-8163-402DD11C8724}"/>
              </a:ext>
            </a:extLst>
          </p:cNvPr>
          <p:cNvSpPr>
            <a:spLocks xmlns:a="http://schemas.openxmlformats.org/drawingml/2006/main" noGrp="1"/>
          </p:cNvSpPr>
          <p:nvPr/>
        </p:nvSpPr>
        <p:spPr>
          <a:xfrm xmlns:a="http://schemas.openxmlformats.org/drawingml/2006/main">
            <a:off x="609600" y="4857750"/>
            <a:ext cx="723900" cy="628650"/>
          </a:xfrm>
          <a:prstGeom xmlns:a="http://schemas.openxmlformats.org/drawingml/2006/main" prst="roundRect">
            <a:avLst>
              <a:gd name="adj" fmla="val 15152"/>
            </a:avLst>
          </a:prstGeom>
          <a:solidFill xmlns:a="http://schemas.openxmlformats.org/drawingml/2006/main">
            <a:srgbClr val="7157D9"/>
          </a:solidFill>
          <a:ln xmlns:a="http://schemas.openxmlformats.org/drawingml/2006/main" w="11430">
            <a:solidFill>
              <a:srgbClr val="7157D9"/>
            </a:solidFill>
            <a:prstDash val="solid"/>
          </a:ln>
        </p:spPr>
      </p:sp>
      <p:sp>
        <p:nvSpPr>
          <p:cNvPr id="23" name="">
            <a:extLst xmlns:a="http://schemas.openxmlformats.org/drawingml/2006/main">
              <a:ext uri="{FF2B5EF4-FFF2-40B4-BE49-F238E27FC236}">
                <a16:creationId xmlns:a16="http://schemas.microsoft.com/office/drawing/2014/main" id="{DC2712A5-A8CB-44AE-B325-F3FD7C92BA2B}"/>
              </a:ext>
            </a:extLst>
          </p:cNvPr>
          <p:cNvSpPr>
            <a:spLocks xmlns:a="http://schemas.openxmlformats.org/drawingml/2006/main" noGrp="1"/>
          </p:cNvSpPr>
          <p:nvPr/>
        </p:nvSpPr>
        <p:spPr>
          <a:xfrm xmlns:a="http://schemas.openxmlformats.org/drawingml/2006/main">
            <a:off x="714375" y="5000625"/>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00" b="1">
                <a:solidFill>
                  <a:srgbClr val="FFFFFF"/>
                </a:solidFill>
              </a:defRPr>
            </a:pPr>
            <a:r>
              <a:rPr sz="1800" b="1">
                <a:solidFill>
                  <a:srgbClr val="FFFFFF"/>
                </a:solidFill>
              </a:rPr>
              <a:t>05</a:t>
            </a:r>
          </a:p>
        </p:txBody>
      </p:sp>
      <p:sp>
        <p:nvSpPr>
          <p:cNvPr id="24" name="">
            <a:extLst xmlns:a="http://schemas.openxmlformats.org/drawingml/2006/main">
              <a:ext uri="{FF2B5EF4-FFF2-40B4-BE49-F238E27FC236}">
                <a16:creationId xmlns:a16="http://schemas.microsoft.com/office/drawing/2014/main" id="{23553006-40C5-4E9D-974C-CBCC25D92C16}"/>
              </a:ext>
            </a:extLst>
          </p:cNvPr>
          <p:cNvSpPr>
            <a:spLocks xmlns:a="http://schemas.openxmlformats.org/drawingml/2006/main" noGrp="1"/>
          </p:cNvSpPr>
          <p:nvPr/>
        </p:nvSpPr>
        <p:spPr>
          <a:xfrm xmlns:a="http://schemas.openxmlformats.org/drawingml/2006/main">
            <a:off x="1571625" y="4924425"/>
            <a:ext cx="985837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0A1628"/>
                </a:solidFill>
              </a:defRPr>
            </a:pPr>
            <a:r>
              <a:rPr sz="1725" b="1">
                <a:solidFill>
                  <a:srgbClr val="0A1628"/>
                </a:solidFill>
              </a:rPr>
              <a:t>Success depends on hiding transfer, preserving locality, and engineering the PCIe + SSD path for sustained, predictable service.</a:t>
            </a:r>
          </a:p>
        </p:txBody>
      </p:sp>
      <p:sp>
        <p:nvSpPr>
          <p:cNvPr id="25" name="">
            <a:extLst xmlns:a="http://schemas.openxmlformats.org/drawingml/2006/main">
              <a:ext uri="{FF2B5EF4-FFF2-40B4-BE49-F238E27FC236}">
                <a16:creationId xmlns:a16="http://schemas.microsoft.com/office/drawing/2014/main" id="{8123C0F1-3336-4142-997A-1FF747E77654}"/>
              </a:ext>
            </a:extLst>
          </p:cNvPr>
          <p:cNvSpPr>
            <a:spLocks xmlns:a="http://schemas.openxmlformats.org/drawingml/2006/main" noGrp="1"/>
          </p:cNvSpPr>
          <p:nvPr/>
        </p:nvSpPr>
        <p:spPr>
          <a:xfrm xmlns:a="http://schemas.openxmlformats.org/drawingml/2006/main">
            <a:off x="609600" y="5829300"/>
            <a:ext cx="10953750" cy="514350"/>
          </a:xfrm>
          <a:prstGeom xmlns:a="http://schemas.openxmlformats.org/drawingml/2006/main" prst="roundRect">
            <a:avLst>
              <a:gd name="adj" fmla="val 14815"/>
            </a:avLst>
          </a:prstGeom>
          <a:solidFill xmlns:a="http://schemas.openxmlformats.org/drawingml/2006/main">
            <a:srgbClr val="E7EDF4"/>
          </a:solidFill>
          <a:ln xmlns:a="http://schemas.openxmlformats.org/drawingml/2006/main" w="11430">
            <a:solidFill>
              <a:srgbClr val="C8D3E0"/>
            </a:solidFill>
            <a:prstDash val="solid"/>
          </a:ln>
        </p:spPr>
      </p:sp>
      <p:sp>
        <p:nvSpPr>
          <p:cNvPr id="26" name="">
            <a:extLst xmlns:a="http://schemas.openxmlformats.org/drawingml/2006/main">
              <a:ext uri="{FF2B5EF4-FFF2-40B4-BE49-F238E27FC236}">
                <a16:creationId xmlns:a16="http://schemas.microsoft.com/office/drawing/2014/main" id="{FA9A7A8B-7358-48A7-BFCC-39C09E6C00CA}"/>
              </a:ext>
            </a:extLst>
          </p:cNvPr>
          <p:cNvSpPr>
            <a:spLocks xmlns:a="http://schemas.openxmlformats.org/drawingml/2006/main" noGrp="1"/>
          </p:cNvSpPr>
          <p:nvPr/>
        </p:nvSpPr>
        <p:spPr>
          <a:xfrm xmlns:a="http://schemas.openxmlformats.org/drawingml/2006/main">
            <a:off x="781050" y="5953125"/>
            <a:ext cx="106203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1">
                <a:solidFill>
                  <a:srgbClr val="37475B"/>
                </a:solidFill>
              </a:defRPr>
            </a:pPr>
            <a:r>
              <a:rPr sz="1350" b="1">
                <a:solidFill>
                  <a:srgbClr val="37475B"/>
                </a:solidFill>
              </a:rPr>
              <a:t>Ask Phison: runtime matrix? state-placement policy? direct-storage roadmap? qualification method? endurance telemetry?</a:t>
            </a:r>
          </a:p>
        </p:txBody>
      </p:sp>
    </p:spTree>
    <p:extLst>
      <p:ext uri="{BB962C8B-B14F-4D97-AF65-F5344CB8AC3E}">
        <p14:creationId xmlns:p14="http://schemas.microsoft.com/office/powerpoint/2010/main" val="92158954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2026-08-29T08:09:15.9460000Z</dcterms:created>
  <dcterms:modified xsi:type="dcterms:W3CDTF">2026-08-29T08:09:15.9460000Z</dcterms:modified>
</coreProperties>
</file>